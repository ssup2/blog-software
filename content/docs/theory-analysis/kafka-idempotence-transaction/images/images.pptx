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16" r:id="rId2"/>
    <p:sldId id="396" r:id="rId3"/>
    <p:sldId id="419" r:id="rId4"/>
    <p:sldId id="418" r:id="rId5"/>
    <p:sldId id="417" r:id="rId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7" autoAdjust="0"/>
    <p:restoredTop sz="89760" autoAdjust="0"/>
  </p:normalViewPr>
  <p:slideViewPr>
    <p:cSldViewPr>
      <p:cViewPr>
        <p:scale>
          <a:sx n="203" d="100"/>
          <a:sy n="203" d="100"/>
        </p:scale>
        <p:origin x="1216" y="120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2D585-D0CA-F14B-143E-8011EF5B7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10C02-56AD-FFC3-B0A1-FBF3D2EB7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93C7AF-D4DD-910D-3300-CFBE3C152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6A6232-E39C-0AFE-3D9E-900B09C1D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157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ED96-8D05-8DCF-7DB3-F966A465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26E2AE-8E0F-E845-DB6E-311BBEFAA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043E28-4AD1-8EB2-C21D-BFA3BF0B5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FC32-9897-4F52-26F4-2E9C860EB9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604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9E9C-4D7E-00EA-C61C-0893A5E8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1A1407-9008-E747-353C-42F22C2DD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B3D106-BFDC-7696-3CF0-8A63F3632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2D13-5E40-4678-98FC-83A51C8B1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740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5B4C-4979-CE79-6E4C-BC2A918A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2B88D-D981-EC37-D3EF-F21034CD9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A4EE5E-ABE8-8217-CC82-4E4577E80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E47FF-F8BA-BE49-C868-6FED9014DD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94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2025. 11. 13.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7B0F-BF68-07D3-4C3B-21FE8505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F2ED092F-ACC2-2100-9293-543116AAA04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A08BF677-9AFB-B6A5-F1E6-1BC6B787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02D3FEE0-6F34-08B2-9CBC-DB5F0C08C865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AC17B257-0D98-5E5A-283F-E368FFA598C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message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16ED8D8A-CF09-476A-81B3-CC34FA1B48DE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4B39612B-28CA-E93B-49B2-92FF6003D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BD17C77D-CCE7-28BB-77D8-AF1097A0ECB2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7D44A04E-B3FE-D369-6684-CC7CCB9BADDA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DE0D9F5-09CC-8B3E-EED4-39325E27E5B3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1C07A8-C38F-6D2B-0E6F-A966EB11A226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E93053-6467-9510-1E84-8A0238B3D19F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AB4796-A71C-4BA2-6E06-7D641AA95869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E1A2E96D-C8D9-AF5D-6133-920A6EAE2F89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80BA95-5F81-9C39-B87B-F489E4CE3D5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01AEF36-A98E-A5F4-9A7F-4C1BCAC37FB7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5AE314BA-8CFF-6464-4663-C646D6607C79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581939-DE4D-F59C-B652-FC198E10277C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185573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90692C20-B2C0-66DC-A6EB-82AFC2737B56}"/>
              </a:ext>
            </a:extLst>
          </p:cNvPr>
          <p:cNvSpPr/>
          <p:nvPr/>
        </p:nvSpPr>
        <p:spPr>
          <a:xfrm>
            <a:off x="1474779" y="1038459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3741B50-8902-7461-5A09-2F2F81056B04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7816A207-43EF-F2F3-C9FE-0572C62A1987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E9C49E-6607-A510-F4AA-12EFFDE3112A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DB6378C3-E800-12B1-C286-52876428B1D9}"/>
              </a:ext>
            </a:extLst>
          </p:cNvPr>
          <p:cNvSpPr/>
          <p:nvPr/>
        </p:nvSpPr>
        <p:spPr>
          <a:xfrm>
            <a:off x="3923928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F6F6AEA-83D5-BC76-465A-A79B02CA0167}"/>
              </a:ext>
            </a:extLst>
          </p:cNvPr>
          <p:cNvSpPr/>
          <p:nvPr/>
        </p:nvSpPr>
        <p:spPr>
          <a:xfrm>
            <a:off x="1713425" y="2519864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58217613-4F56-6449-69AC-AC6AACF85D4C}"/>
              </a:ext>
            </a:extLst>
          </p:cNvPr>
          <p:cNvSpPr/>
          <p:nvPr/>
        </p:nvSpPr>
        <p:spPr>
          <a:xfrm>
            <a:off x="1818056" y="2480762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</a:t>
            </a:r>
            <a:br>
              <a:rPr lang="en-US" altLang="ko-KR" sz="1000" i="1">
                <a:solidFill>
                  <a:schemeClr val="tx1"/>
                </a:solidFill>
              </a:rPr>
            </a:br>
            <a:r>
              <a:rPr lang="en-US" altLang="ko-KR" sz="1000" i="1">
                <a:solidFill>
                  <a:schemeClr val="tx1"/>
                </a:solidFill>
              </a:rPr>
              <a:t>&amp;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5263329-1D09-6D02-AD2F-4F97BA784405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C9998529-9BC3-CB2D-3DAA-0659528280E0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569D087-D70C-FB02-1104-26A6083779B8}"/>
              </a:ext>
            </a:extLst>
          </p:cNvPr>
          <p:cNvSpPr/>
          <p:nvPr/>
        </p:nvSpPr>
        <p:spPr>
          <a:xfrm>
            <a:off x="6752032" y="2515543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4D693A9-BA0C-9492-B985-AFA2B553201E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1F9EF69C-41EF-7B71-2901-2C8BD78B4C15}"/>
              </a:ext>
            </a:extLst>
          </p:cNvPr>
          <p:cNvSpPr/>
          <p:nvPr/>
        </p:nvSpPr>
        <p:spPr>
          <a:xfrm>
            <a:off x="5443721" y="2481379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08AACADD-70D5-D936-4477-49F8DBB80C34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messages </a:t>
            </a:r>
            <a:br>
              <a:rPr lang="en-US" altLang="ko-KR" sz="1000" i="1">
                <a:solidFill>
                  <a:schemeClr val="tx1"/>
                </a:solidFill>
              </a:rPr>
            </a:br>
            <a:r>
              <a:rPr lang="en-US" altLang="ko-KR" sz="1000" i="1">
                <a:solidFill>
                  <a:schemeClr val="tx1"/>
                </a:solidFill>
              </a:rPr>
              <a:t>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CDA9F6E-A179-2120-1C55-7A4EAA0D7088}"/>
              </a:ext>
            </a:extLst>
          </p:cNvPr>
          <p:cNvSpPr/>
          <p:nvPr/>
        </p:nvSpPr>
        <p:spPr>
          <a:xfrm>
            <a:off x="7407175" y="3165289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B82C7360-C53D-7268-E337-33FB9C843B7A}"/>
              </a:ext>
            </a:extLst>
          </p:cNvPr>
          <p:cNvSpPr/>
          <p:nvPr/>
        </p:nvSpPr>
        <p:spPr>
          <a:xfrm>
            <a:off x="6579083" y="3350762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messages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B81F128-2883-6B98-6936-3DFB8C693503}"/>
              </a:ext>
            </a:extLst>
          </p:cNvPr>
          <p:cNvSpPr/>
          <p:nvPr/>
        </p:nvSpPr>
        <p:spPr>
          <a:xfrm>
            <a:off x="4917773" y="1669452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100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84" name="모서리가 둥근 직사각형 18">
            <a:extLst>
              <a:ext uri="{FF2B5EF4-FFF2-40B4-BE49-F238E27FC236}">
                <a16:creationId xmlns:a16="http://schemas.microsoft.com/office/drawing/2014/main" id="{3EA10CA4-A879-9EFE-8096-25CB88090A8A}"/>
              </a:ext>
            </a:extLst>
          </p:cNvPr>
          <p:cNvSpPr/>
          <p:nvPr/>
        </p:nvSpPr>
        <p:spPr>
          <a:xfrm>
            <a:off x="4917773" y="1634994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Caching stored schema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155F22-F3A1-7453-C14E-A56D393257A8}"/>
              </a:ext>
            </a:extLst>
          </p:cNvPr>
          <p:cNvSpPr txBox="1"/>
          <p:nvPr/>
        </p:nvSpPr>
        <p:spPr>
          <a:xfrm>
            <a:off x="3610708" y="43492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6637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4947E-ED35-400B-A070-F5C82E71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BCA73-BAFB-463B-8961-D3E290BC1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93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94487-4050-42AB-2DE1-A9F442CF6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4FFF2E80-DD2D-D5EC-42E6-0802AFA5359A}"/>
              </a:ext>
            </a:extLst>
          </p:cNvPr>
          <p:cNvSpPr/>
          <p:nvPr/>
        </p:nvSpPr>
        <p:spPr>
          <a:xfrm>
            <a:off x="3427356" y="2268951"/>
            <a:ext cx="1828712" cy="1512169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34D5A486-FCE0-5552-BA7D-9ABA487F6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135" y="3401460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47E7C4F5-9B2D-848B-6542-54F4E56BCF0B}"/>
              </a:ext>
            </a:extLst>
          </p:cNvPr>
          <p:cNvSpPr/>
          <p:nvPr/>
        </p:nvSpPr>
        <p:spPr>
          <a:xfrm>
            <a:off x="3528604" y="2368701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_schemas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84E15CD-D035-6CB8-9904-D5F9B97ECE00}"/>
              </a:ext>
            </a:extLst>
          </p:cNvPr>
          <p:cNvSpPr/>
          <p:nvPr/>
        </p:nvSpPr>
        <p:spPr>
          <a:xfrm>
            <a:off x="3528604" y="2883223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user-events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AD92DB93-553B-728E-C010-840E27856378}"/>
              </a:ext>
            </a:extLst>
          </p:cNvPr>
          <p:cNvSpPr/>
          <p:nvPr/>
        </p:nvSpPr>
        <p:spPr>
          <a:xfrm>
            <a:off x="3635896" y="1059582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Kafka Schema</a:t>
            </a:r>
          </a:p>
          <a:p>
            <a:pPr algn="ctr"/>
            <a:r>
              <a:rPr lang="en-US" altLang="ko-KR" sz="1000"/>
              <a:t>Registry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50EE0B99-6F0E-05A6-D85F-1102974F6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29" y="1143416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8">
            <a:extLst>
              <a:ext uri="{FF2B5EF4-FFF2-40B4-BE49-F238E27FC236}">
                <a16:creationId xmlns:a16="http://schemas.microsoft.com/office/drawing/2014/main" id="{0EA42608-676E-5C74-4F91-5609FEAF8BA4}"/>
              </a:ext>
            </a:extLst>
          </p:cNvPr>
          <p:cNvSpPr/>
          <p:nvPr/>
        </p:nvSpPr>
        <p:spPr>
          <a:xfrm>
            <a:off x="1115616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Producer</a:t>
            </a: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5A486939-BDB2-BF60-22B4-26AE885D113F}"/>
              </a:ext>
            </a:extLst>
          </p:cNvPr>
          <p:cNvSpPr/>
          <p:nvPr/>
        </p:nvSpPr>
        <p:spPr>
          <a:xfrm>
            <a:off x="6156163" y="2883223"/>
            <a:ext cx="1411645" cy="418488"/>
          </a:xfrm>
          <a:prstGeom prst="roundRect">
            <a:avLst>
              <a:gd name="adj" fmla="val 17911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Consumer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E1DFFA9-2E8E-F324-A60F-CD8591B0C698}"/>
              </a:ext>
            </a:extLst>
          </p:cNvPr>
          <p:cNvCxnSpPr>
            <a:cxnSpLocks/>
            <a:stCxn id="2" idx="0"/>
            <a:endCxn id="77" idx="1"/>
          </p:cNvCxnSpPr>
          <p:nvPr/>
        </p:nvCxnSpPr>
        <p:spPr>
          <a:xfrm rot="5400000" flipH="1" flipV="1">
            <a:off x="2010852" y="1258180"/>
            <a:ext cx="1435631" cy="18144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1B635B-CB25-A9A8-CADB-3F127DDBCD6B}"/>
              </a:ext>
            </a:extLst>
          </p:cNvPr>
          <p:cNvCxnSpPr>
            <a:cxnSpLocks/>
            <a:stCxn id="2" idx="3"/>
            <a:endCxn id="52" idx="1"/>
          </p:cNvCxnSpPr>
          <p:nvPr/>
        </p:nvCxnSpPr>
        <p:spPr>
          <a:xfrm>
            <a:off x="2527261" y="3092467"/>
            <a:ext cx="10013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D583F0-CC0B-2583-2974-60DD017B7200}"/>
              </a:ext>
            </a:extLst>
          </p:cNvPr>
          <p:cNvCxnSpPr>
            <a:cxnSpLocks/>
            <a:stCxn id="6" idx="1"/>
            <a:endCxn id="52" idx="3"/>
          </p:cNvCxnSpPr>
          <p:nvPr/>
        </p:nvCxnSpPr>
        <p:spPr>
          <a:xfrm flipH="1">
            <a:off x="5154821" y="3092467"/>
            <a:ext cx="10013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6B05A-617C-BCB0-FBA4-347051D9B38C}"/>
              </a:ext>
            </a:extLst>
          </p:cNvPr>
          <p:cNvCxnSpPr>
            <a:cxnSpLocks/>
            <a:stCxn id="77" idx="2"/>
            <a:endCxn id="30" idx="0"/>
          </p:cNvCxnSpPr>
          <p:nvPr/>
        </p:nvCxnSpPr>
        <p:spPr>
          <a:xfrm flipH="1">
            <a:off x="4341712" y="1835601"/>
            <a:ext cx="1" cy="53310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6AA3729-342B-E6FA-B7D6-7C1EFCCDD5CA}"/>
              </a:ext>
            </a:extLst>
          </p:cNvPr>
          <p:cNvCxnSpPr>
            <a:cxnSpLocks/>
            <a:stCxn id="6" idx="0"/>
            <a:endCxn id="77" idx="3"/>
          </p:cNvCxnSpPr>
          <p:nvPr/>
        </p:nvCxnSpPr>
        <p:spPr>
          <a:xfrm rot="16200000" flipV="1">
            <a:off x="5236943" y="1258180"/>
            <a:ext cx="1435631" cy="18144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8E0631-393D-F1CA-6F4D-4EDF9622F3A7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4341713" y="724928"/>
            <a:ext cx="0" cy="334654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9836AB-7C4D-96A0-88B8-1281EFDDB83F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115616" y="933837"/>
            <a:ext cx="360039" cy="0"/>
          </a:xfrm>
          <a:prstGeom prst="straightConnector1">
            <a:avLst/>
          </a:prstGeom>
          <a:ln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18">
            <a:extLst>
              <a:ext uri="{FF2B5EF4-FFF2-40B4-BE49-F238E27FC236}">
                <a16:creationId xmlns:a16="http://schemas.microsoft.com/office/drawing/2014/main" id="{2B41B531-0F03-4695-8B21-28BBA245F150}"/>
              </a:ext>
            </a:extLst>
          </p:cNvPr>
          <p:cNvSpPr/>
          <p:nvPr/>
        </p:nvSpPr>
        <p:spPr>
          <a:xfrm>
            <a:off x="1475655" y="786723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Register Schema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F74004-30F4-621C-B66E-CA92A9D2B39A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114740" y="1233719"/>
            <a:ext cx="360039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18">
            <a:extLst>
              <a:ext uri="{FF2B5EF4-FFF2-40B4-BE49-F238E27FC236}">
                <a16:creationId xmlns:a16="http://schemas.microsoft.com/office/drawing/2014/main" id="{8F45AFCF-7C7E-C104-C1D6-4C3650EF0728}"/>
              </a:ext>
            </a:extLst>
          </p:cNvPr>
          <p:cNvSpPr/>
          <p:nvPr/>
        </p:nvSpPr>
        <p:spPr>
          <a:xfrm>
            <a:off x="1474779" y="1086605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/>
              <a:t>Pub/Sub Messages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0B0B6C5-1238-A42E-E7EB-1A37444EC3B8}"/>
              </a:ext>
            </a:extLst>
          </p:cNvPr>
          <p:cNvSpPr/>
          <p:nvPr/>
        </p:nvSpPr>
        <p:spPr>
          <a:xfrm>
            <a:off x="4233700" y="72492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accent1"/>
                </a:solidFill>
              </a:rPr>
              <a:t>1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3" name="모서리가 둥근 직사각형 18">
            <a:extLst>
              <a:ext uri="{FF2B5EF4-FFF2-40B4-BE49-F238E27FC236}">
                <a16:creationId xmlns:a16="http://schemas.microsoft.com/office/drawing/2014/main" id="{F55DC18E-241C-B0B3-9D65-10AFCC43CD53}"/>
              </a:ext>
            </a:extLst>
          </p:cNvPr>
          <p:cNvSpPr/>
          <p:nvPr/>
        </p:nvSpPr>
        <p:spPr>
          <a:xfrm>
            <a:off x="4341712" y="685826"/>
            <a:ext cx="1237040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Register Schema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180A70C-8081-F007-A501-3A9856B003FE}"/>
              </a:ext>
            </a:extLst>
          </p:cNvPr>
          <p:cNvSpPr/>
          <p:nvPr/>
        </p:nvSpPr>
        <p:spPr>
          <a:xfrm>
            <a:off x="4233700" y="1943471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accent1"/>
                </a:solidFill>
              </a:rPr>
              <a:t>2</a:t>
            </a:r>
            <a:endParaRPr lang="en-KR" sz="1000">
              <a:solidFill>
                <a:schemeClr val="accent1"/>
              </a:solidFill>
            </a:endParaRPr>
          </a:p>
        </p:txBody>
      </p: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AE62495D-10E5-324A-0A60-3CE40675F1F3}"/>
              </a:ext>
            </a:extLst>
          </p:cNvPr>
          <p:cNvSpPr/>
          <p:nvPr/>
        </p:nvSpPr>
        <p:spPr>
          <a:xfrm>
            <a:off x="4263061" y="1904369"/>
            <a:ext cx="1893101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accent1"/>
                </a:solidFill>
              </a:rPr>
              <a:t>Store &amp;</a:t>
            </a:r>
            <a:r>
              <a:rPr lang="ko-KR" altLang="en-US" sz="1000" i="1">
                <a:solidFill>
                  <a:schemeClr val="accent1"/>
                </a:solidFill>
              </a:rPr>
              <a:t> </a:t>
            </a:r>
            <a:r>
              <a:rPr lang="en-US" altLang="ko-KR" sz="1000" i="1">
                <a:solidFill>
                  <a:schemeClr val="accent1"/>
                </a:solidFill>
              </a:rPr>
              <a:t>Caching Schema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AB348A6-FAAD-54B8-2A17-EBB8280FBD1C}"/>
              </a:ext>
            </a:extLst>
          </p:cNvPr>
          <p:cNvSpPr/>
          <p:nvPr/>
        </p:nvSpPr>
        <p:spPr>
          <a:xfrm>
            <a:off x="1713425" y="2570906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1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7" name="모서리가 둥근 직사각형 18">
            <a:extLst>
              <a:ext uri="{FF2B5EF4-FFF2-40B4-BE49-F238E27FC236}">
                <a16:creationId xmlns:a16="http://schemas.microsoft.com/office/drawing/2014/main" id="{70500521-0F97-CDB4-7E64-119AF493CC30}"/>
              </a:ext>
            </a:extLst>
          </p:cNvPr>
          <p:cNvSpPr/>
          <p:nvPr/>
        </p:nvSpPr>
        <p:spPr>
          <a:xfrm>
            <a:off x="1850077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ID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by Name &amp; Version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E8B2969-3CD5-69E2-8F7A-7E6B193FAD2A}"/>
              </a:ext>
            </a:extLst>
          </p:cNvPr>
          <p:cNvSpPr/>
          <p:nvPr/>
        </p:nvSpPr>
        <p:spPr>
          <a:xfrm>
            <a:off x="2509514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69" name="모서리가 둥근 직사각형 18">
            <a:extLst>
              <a:ext uri="{FF2B5EF4-FFF2-40B4-BE49-F238E27FC236}">
                <a16:creationId xmlns:a16="http://schemas.microsoft.com/office/drawing/2014/main" id="{AF8563C3-87C1-9B7C-9659-D3FD8241E88D}"/>
              </a:ext>
            </a:extLst>
          </p:cNvPr>
          <p:cNvSpPr/>
          <p:nvPr/>
        </p:nvSpPr>
        <p:spPr>
          <a:xfrm>
            <a:off x="1681422" y="3273301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Serialized &amp; Send Message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 ID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096D47D-3D33-FFCA-238B-9D10CCC048EB}"/>
              </a:ext>
            </a:extLst>
          </p:cNvPr>
          <p:cNvSpPr/>
          <p:nvPr/>
        </p:nvSpPr>
        <p:spPr>
          <a:xfrm>
            <a:off x="6752032" y="2565968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053DB77-C8F7-9A1F-E3FE-AE969851C9F7}"/>
              </a:ext>
            </a:extLst>
          </p:cNvPr>
          <p:cNvSpPr/>
          <p:nvPr/>
        </p:nvSpPr>
        <p:spPr>
          <a:xfrm>
            <a:off x="5961889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75" name="모서리가 둥근 직사각형 18">
            <a:extLst>
              <a:ext uri="{FF2B5EF4-FFF2-40B4-BE49-F238E27FC236}">
                <a16:creationId xmlns:a16="http://schemas.microsoft.com/office/drawing/2014/main" id="{78689172-3AFD-BFE6-7019-1EC6EACA00A7}"/>
              </a:ext>
            </a:extLst>
          </p:cNvPr>
          <p:cNvSpPr/>
          <p:nvPr/>
        </p:nvSpPr>
        <p:spPr>
          <a:xfrm>
            <a:off x="5443721" y="2531804"/>
            <a:ext cx="1411645" cy="294228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Schema by ID</a:t>
            </a:r>
          </a:p>
        </p:txBody>
      </p:sp>
      <p:sp>
        <p:nvSpPr>
          <p:cNvPr id="76" name="모서리가 둥근 직사각형 18">
            <a:extLst>
              <a:ext uri="{FF2B5EF4-FFF2-40B4-BE49-F238E27FC236}">
                <a16:creationId xmlns:a16="http://schemas.microsoft.com/office/drawing/2014/main" id="{49F7783C-7B4E-1E51-2957-3E20737431E6}"/>
              </a:ext>
            </a:extLst>
          </p:cNvPr>
          <p:cNvSpPr/>
          <p:nvPr/>
        </p:nvSpPr>
        <p:spPr>
          <a:xfrm>
            <a:off x="5133797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Get Serialized Message &amp; Schema ID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45D0F2A-0E97-5B2F-3670-DC731AA5677E}"/>
              </a:ext>
            </a:extLst>
          </p:cNvPr>
          <p:cNvSpPr/>
          <p:nvPr/>
        </p:nvSpPr>
        <p:spPr>
          <a:xfrm>
            <a:off x="7459796" y="2979517"/>
            <a:ext cx="216024" cy="21602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  <a:endParaRPr lang="en-KR" sz="1000">
              <a:solidFill>
                <a:schemeClr val="tx1"/>
              </a:solidFill>
            </a:endParaRPr>
          </a:p>
        </p:txBody>
      </p:sp>
      <p:sp>
        <p:nvSpPr>
          <p:cNvPr id="80" name="모서리가 둥근 직사각형 18">
            <a:extLst>
              <a:ext uri="{FF2B5EF4-FFF2-40B4-BE49-F238E27FC236}">
                <a16:creationId xmlns:a16="http://schemas.microsoft.com/office/drawing/2014/main" id="{CF02B3DC-518B-8FF8-164E-C4060AACE2EE}"/>
              </a:ext>
            </a:extLst>
          </p:cNvPr>
          <p:cNvSpPr/>
          <p:nvPr/>
        </p:nvSpPr>
        <p:spPr>
          <a:xfrm>
            <a:off x="6631704" y="3277647"/>
            <a:ext cx="1872208" cy="418481"/>
          </a:xfrm>
          <a:prstGeom prst="roundRect">
            <a:avLst>
              <a:gd name="adj" fmla="val 17911"/>
            </a:avLst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Deserialized Message </a:t>
            </a:r>
          </a:p>
          <a:p>
            <a:pPr algn="ctr"/>
            <a:r>
              <a:rPr lang="en-US" altLang="ko-KR" sz="1000" i="1">
                <a:solidFill>
                  <a:schemeClr val="tx1"/>
                </a:solidFill>
              </a:rPr>
              <a:t>with Schema</a:t>
            </a:r>
          </a:p>
        </p:txBody>
      </p:sp>
    </p:spTree>
    <p:extLst>
      <p:ext uri="{BB962C8B-B14F-4D97-AF65-F5344CB8AC3E}">
        <p14:creationId xmlns:p14="http://schemas.microsoft.com/office/powerpoint/2010/main" val="295235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95541-9C69-0AEC-4210-98DF220A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78649504-6592-F8F5-85B4-E56237289B30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29202823-75F0-840C-5CEB-4DE03402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0EAD2EE7-C6DF-5717-C7D7-F4EE2C6DFE65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2293BAA7-6702-01FA-CC0A-BBE1ACE880D3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85F6F8B3-02B7-9BD5-45B3-16BA375B653C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6DFD520A-A0AB-7EC4-6C77-76E88F271AA1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02193C2-B3D9-C077-2CDD-24E8580DE57E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F62BE1E2-2F91-7ECD-7F79-C9FDF98EE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A4431C5F-EE34-9168-EABF-53AC8E2A2089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421B3EA0-AAED-1C00-DFF0-F9CE233BD40A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JDBC 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D070C02F-E5E6-F00F-7C41-C7A606E08AB6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8CD3CB9A-E2F2-CBA0-2E88-3AB7A7EFC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E5934A0D-B423-52B3-B25B-D262726A3E82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93F50397-BB5A-698A-B097-CA832A874E7B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D5628CA-9BA0-1B1D-7EF3-15ADAAC95149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014FA48C-06EA-9225-57B7-171C48A61620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A30E194-B126-6C70-171B-2ECC730A7868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16787265-9FD4-3465-890C-2D52F851D5A4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C6BD22C9-2A06-4FF8-EB98-A4BE9BFAE38D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6E538E9E-2D35-9B3D-5406-5F6EC73C373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C114515B-263C-82CA-4AAB-B8EA48A213CE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895BBEF6-8A8B-5323-D5AF-944B56548B6E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F80E6D2B-2FBB-0012-F881-871D74B13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38C75A43-F4C1-30E0-1E34-EE9F9984FCA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0CC62A75-6203-8084-1CBB-D91DF2195D32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969384C2-BC4E-C6E4-60C1-ACD5B2A335D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F577BEEC-0CBC-D83D-418F-DAA9922FFE2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4CE87F7-482B-3149-26FA-F64653EF7FD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343304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8503-3A30-E905-1EE0-EC3002CB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18">
            <a:extLst>
              <a:ext uri="{FF2B5EF4-FFF2-40B4-BE49-F238E27FC236}">
                <a16:creationId xmlns:a16="http://schemas.microsoft.com/office/drawing/2014/main" id="{F7D8BE2F-8283-50A0-FA99-BEEF04202651}"/>
              </a:ext>
            </a:extLst>
          </p:cNvPr>
          <p:cNvSpPr/>
          <p:nvPr/>
        </p:nvSpPr>
        <p:spPr>
          <a:xfrm>
            <a:off x="1187624" y="185273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PostgreSQL</a:t>
            </a:r>
          </a:p>
        </p:txBody>
      </p:sp>
      <p:pic>
        <p:nvPicPr>
          <p:cNvPr id="4" name="Picture 34" descr="PostgreSQL&quot; Icon - Download for free – Iconduck">
            <a:extLst>
              <a:ext uri="{FF2B5EF4-FFF2-40B4-BE49-F238E27FC236}">
                <a16:creationId xmlns:a16="http://schemas.microsoft.com/office/drawing/2014/main" id="{8D13FBA0-D30B-76FA-F3C4-4D5DA06ED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686" y="3780344"/>
            <a:ext cx="278851" cy="2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FF0750F8-084B-F778-4783-B20C75BBEFCE}"/>
              </a:ext>
            </a:extLst>
          </p:cNvPr>
          <p:cNvSpPr/>
          <p:nvPr/>
        </p:nvSpPr>
        <p:spPr>
          <a:xfrm>
            <a:off x="1311347" y="1924738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kafka_connect_src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91C752CD-5C69-756C-E3C7-6E4ECCED6895}"/>
              </a:ext>
            </a:extLst>
          </p:cNvPr>
          <p:cNvSpPr/>
          <p:nvPr/>
        </p:nvSpPr>
        <p:spPr>
          <a:xfrm>
            <a:off x="130989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sz="900" b="1"/>
              <a:t>kafka_connect_dst</a:t>
            </a:r>
          </a:p>
          <a:p>
            <a:pPr algn="ctr"/>
            <a:r>
              <a:rPr lang="en-US" altLang="ko-KR" sz="900"/>
              <a:t>Database</a:t>
            </a: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F049222B-ECE8-D02C-E9EB-E17943512C08}"/>
              </a:ext>
            </a:extLst>
          </p:cNvPr>
          <p:cNvSpPr/>
          <p:nvPr/>
        </p:nvSpPr>
        <p:spPr>
          <a:xfrm>
            <a:off x="1592249" y="2011480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9" name="모서리가 둥근 직사각형 18">
            <a:extLst>
              <a:ext uri="{FF2B5EF4-FFF2-40B4-BE49-F238E27FC236}">
                <a16:creationId xmlns:a16="http://schemas.microsoft.com/office/drawing/2014/main" id="{497A3440-5633-329E-BCA9-F6860460F229}"/>
              </a:ext>
            </a:extLst>
          </p:cNvPr>
          <p:cNvSpPr/>
          <p:nvPr/>
        </p:nvSpPr>
        <p:spPr>
          <a:xfrm>
            <a:off x="1590797" y="2939283"/>
            <a:ext cx="849839" cy="333175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User </a:t>
            </a:r>
            <a:r>
              <a:rPr lang="en-US" altLang="ko-KR" sz="900"/>
              <a:t>Table</a:t>
            </a:r>
          </a:p>
        </p:txBody>
      </p:sp>
      <p:sp>
        <p:nvSpPr>
          <p:cNvPr id="12" name="모서리가 둥근 직사각형 18">
            <a:extLst>
              <a:ext uri="{FF2B5EF4-FFF2-40B4-BE49-F238E27FC236}">
                <a16:creationId xmlns:a16="http://schemas.microsoft.com/office/drawing/2014/main" id="{F5586930-9367-83E1-E51D-8AAF23FDCD56}"/>
              </a:ext>
            </a:extLst>
          </p:cNvPr>
          <p:cNvSpPr/>
          <p:nvPr/>
        </p:nvSpPr>
        <p:spPr>
          <a:xfrm>
            <a:off x="3635896" y="1851670"/>
            <a:ext cx="1656184" cy="2249945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 Connect</a:t>
            </a:r>
          </a:p>
        </p:txBody>
      </p:sp>
      <p:pic>
        <p:nvPicPr>
          <p:cNvPr id="25" name="Picture 12" descr="kafka icon&quot; Icon - Download for free – Iconduck">
            <a:extLst>
              <a:ext uri="{FF2B5EF4-FFF2-40B4-BE49-F238E27FC236}">
                <a16:creationId xmlns:a16="http://schemas.microsoft.com/office/drawing/2014/main" id="{9BFE631C-EECA-A29A-CA5C-E5DC396D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80344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모서리가 둥근 직사각형 18">
            <a:extLst>
              <a:ext uri="{FF2B5EF4-FFF2-40B4-BE49-F238E27FC236}">
                <a16:creationId xmlns:a16="http://schemas.microsoft.com/office/drawing/2014/main" id="{60BAD0BC-9751-7906-399A-370AC48EB71C}"/>
              </a:ext>
            </a:extLst>
          </p:cNvPr>
          <p:cNvSpPr/>
          <p:nvPr/>
        </p:nvSpPr>
        <p:spPr>
          <a:xfrm>
            <a:off x="3758165" y="1924737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postgresql-src-connector</a:t>
            </a:r>
            <a:endParaRPr lang="en-US" altLang="ko-KR" sz="900"/>
          </a:p>
          <a:p>
            <a:pPr algn="ctr"/>
            <a:r>
              <a:rPr lang="en-US" altLang="ko-KR" sz="900"/>
              <a:t>Kafka Source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7" name="모서리가 둥근 직사각형 18">
            <a:extLst>
              <a:ext uri="{FF2B5EF4-FFF2-40B4-BE49-F238E27FC236}">
                <a16:creationId xmlns:a16="http://schemas.microsoft.com/office/drawing/2014/main" id="{87DC8609-9080-190E-1672-716DA5B4973F}"/>
              </a:ext>
            </a:extLst>
          </p:cNvPr>
          <p:cNvSpPr/>
          <p:nvPr/>
        </p:nvSpPr>
        <p:spPr>
          <a:xfrm>
            <a:off x="3758165" y="2852541"/>
            <a:ext cx="1411645" cy="810229"/>
          </a:xfrm>
          <a:prstGeom prst="roundRect">
            <a:avLst>
              <a:gd name="adj" fmla="val 11578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postgresql-dst-connector</a:t>
            </a:r>
            <a:endParaRPr lang="en-US" altLang="ko-KR" sz="900"/>
          </a:p>
          <a:p>
            <a:pPr algn="ctr"/>
            <a:r>
              <a:rPr lang="en-US" altLang="ko-KR" sz="900"/>
              <a:t>Kafka Sink</a:t>
            </a:r>
          </a:p>
          <a:p>
            <a:pPr algn="ctr"/>
            <a:r>
              <a:rPr lang="en-US" altLang="ko-KR" sz="900"/>
              <a:t>Connector</a:t>
            </a:r>
          </a:p>
        </p:txBody>
      </p:sp>
      <p:sp>
        <p:nvSpPr>
          <p:cNvPr id="28" name="모서리가 둥근 직사각형 18">
            <a:extLst>
              <a:ext uri="{FF2B5EF4-FFF2-40B4-BE49-F238E27FC236}">
                <a16:creationId xmlns:a16="http://schemas.microsoft.com/office/drawing/2014/main" id="{74D8AEDB-DEAC-FF47-FB40-30F142923D11}"/>
              </a:ext>
            </a:extLst>
          </p:cNvPr>
          <p:cNvSpPr/>
          <p:nvPr/>
        </p:nvSpPr>
        <p:spPr>
          <a:xfrm>
            <a:off x="6084168" y="1851669"/>
            <a:ext cx="1872208" cy="2520281"/>
          </a:xfrm>
          <a:prstGeom prst="roundRect">
            <a:avLst>
              <a:gd name="adj" fmla="val 664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altLang="ko-KR" sz="1000"/>
              <a:t>Kafka</a:t>
            </a:r>
          </a:p>
        </p:txBody>
      </p:sp>
      <p:pic>
        <p:nvPicPr>
          <p:cNvPr id="29" name="Picture 12" descr="kafka icon&quot; Icon - Download for free – Iconduck">
            <a:extLst>
              <a:ext uri="{FF2B5EF4-FFF2-40B4-BE49-F238E27FC236}">
                <a16:creationId xmlns:a16="http://schemas.microsoft.com/office/drawing/2014/main" id="{90CBDB2E-DC36-B885-9033-C88853E3D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347" y="4011541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모서리가 둥근 직사각형 18">
            <a:extLst>
              <a:ext uri="{FF2B5EF4-FFF2-40B4-BE49-F238E27FC236}">
                <a16:creationId xmlns:a16="http://schemas.microsoft.com/office/drawing/2014/main" id="{CECC0C1A-5CF4-8F06-6089-E3B6BE939521}"/>
              </a:ext>
            </a:extLst>
          </p:cNvPr>
          <p:cNvSpPr/>
          <p:nvPr/>
        </p:nvSpPr>
        <p:spPr>
          <a:xfrm>
            <a:off x="6206437" y="1924737"/>
            <a:ext cx="1626216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postgresql-users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0576FDB-0F68-EB01-C63B-DD1B3BAEF4E0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2442088" y="2178068"/>
            <a:ext cx="1316077" cy="151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DC502473-B8CB-1568-3A9B-5B433675C0FE}"/>
              </a:ext>
            </a:extLst>
          </p:cNvPr>
          <p:cNvCxnSpPr>
            <a:cxnSpLocks/>
            <a:stCxn id="26" idx="3"/>
            <a:endCxn id="30" idx="0"/>
          </p:cNvCxnSpPr>
          <p:nvPr/>
        </p:nvCxnSpPr>
        <p:spPr>
          <a:xfrm flipV="1">
            <a:off x="5169810" y="1924737"/>
            <a:ext cx="1849735" cy="405115"/>
          </a:xfrm>
          <a:prstGeom prst="bentConnector4">
            <a:avLst>
              <a:gd name="adj1" fmla="val 18575"/>
              <a:gd name="adj2" fmla="val 15642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258F753-DAB5-7D7D-DBF1-4A1EAC233205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rot="10800000" flipV="1">
            <a:off x="5169811" y="2133980"/>
            <a:ext cx="1036627" cy="11236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6731AF85-D64C-91D9-E0BA-AEC1386BFE35}"/>
              </a:ext>
            </a:extLst>
          </p:cNvPr>
          <p:cNvCxnSpPr>
            <a:cxnSpLocks/>
            <a:stCxn id="27" idx="1"/>
            <a:endCxn id="9" idx="3"/>
          </p:cNvCxnSpPr>
          <p:nvPr/>
        </p:nvCxnSpPr>
        <p:spPr>
          <a:xfrm rot="10800000">
            <a:off x="2440637" y="3105872"/>
            <a:ext cx="1317529" cy="15178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18">
            <a:extLst>
              <a:ext uri="{FF2B5EF4-FFF2-40B4-BE49-F238E27FC236}">
                <a16:creationId xmlns:a16="http://schemas.microsoft.com/office/drawing/2014/main" id="{49513BC4-6925-650E-B718-0167F337B099}"/>
              </a:ext>
            </a:extLst>
          </p:cNvPr>
          <p:cNvSpPr/>
          <p:nvPr/>
        </p:nvSpPr>
        <p:spPr>
          <a:xfrm>
            <a:off x="6206436" y="2439259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connect-cluster-configs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5" name="모서리가 둥근 직사각형 18">
            <a:extLst>
              <a:ext uri="{FF2B5EF4-FFF2-40B4-BE49-F238E27FC236}">
                <a16:creationId xmlns:a16="http://schemas.microsoft.com/office/drawing/2014/main" id="{74A9639C-8269-D1E7-D774-1F2EA947D882}"/>
              </a:ext>
            </a:extLst>
          </p:cNvPr>
          <p:cNvSpPr/>
          <p:nvPr/>
        </p:nvSpPr>
        <p:spPr>
          <a:xfrm>
            <a:off x="6212786" y="2953782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connect-cluster-offsets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sp>
        <p:nvSpPr>
          <p:cNvPr id="58" name="모서리가 둥근 직사각형 18">
            <a:extLst>
              <a:ext uri="{FF2B5EF4-FFF2-40B4-BE49-F238E27FC236}">
                <a16:creationId xmlns:a16="http://schemas.microsoft.com/office/drawing/2014/main" id="{013757C0-FF2F-92A2-ED0B-C780D723316B}"/>
              </a:ext>
            </a:extLst>
          </p:cNvPr>
          <p:cNvSpPr/>
          <p:nvPr/>
        </p:nvSpPr>
        <p:spPr>
          <a:xfrm>
            <a:off x="6212786" y="3468304"/>
            <a:ext cx="1626217" cy="418488"/>
          </a:xfrm>
          <a:prstGeom prst="roundRect">
            <a:avLst>
              <a:gd name="adj" fmla="val 20203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connect-cluster-status</a:t>
            </a:r>
          </a:p>
          <a:p>
            <a:pPr algn="ctr"/>
            <a:r>
              <a:rPr lang="en-US" altLang="ko-KR" sz="900"/>
              <a:t>Topic</a:t>
            </a: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EC429135-3AA0-53DE-2F68-BF50401D4E1F}"/>
              </a:ext>
            </a:extLst>
          </p:cNvPr>
          <p:cNvCxnSpPr>
            <a:cxnSpLocks/>
            <a:stCxn id="12" idx="2"/>
            <a:endCxn id="112" idx="2"/>
          </p:cNvCxnSpPr>
          <p:nvPr/>
        </p:nvCxnSpPr>
        <p:spPr>
          <a:xfrm rot="5400000" flipH="1" flipV="1">
            <a:off x="5662149" y="2744220"/>
            <a:ext cx="159233" cy="2555557"/>
          </a:xfrm>
          <a:prstGeom prst="bentConnector3">
            <a:avLst>
              <a:gd name="adj1" fmla="val -97764"/>
            </a:avLst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8">
            <a:extLst>
              <a:ext uri="{FF2B5EF4-FFF2-40B4-BE49-F238E27FC236}">
                <a16:creationId xmlns:a16="http://schemas.microsoft.com/office/drawing/2014/main" id="{7EDAE339-6383-C338-8C9D-729C75ED73C8}"/>
              </a:ext>
            </a:extLst>
          </p:cNvPr>
          <p:cNvSpPr/>
          <p:nvPr/>
        </p:nvSpPr>
        <p:spPr>
          <a:xfrm>
            <a:off x="3758170" y="714309"/>
            <a:ext cx="1411634" cy="776019"/>
          </a:xfrm>
          <a:prstGeom prst="roundRect">
            <a:avLst>
              <a:gd name="adj" fmla="val 15414"/>
            </a:avLst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sz="1000"/>
          </a:p>
          <a:p>
            <a:pPr algn="ctr"/>
            <a:endParaRPr lang="en-US" altLang="ko-KR" sz="1000"/>
          </a:p>
          <a:p>
            <a:pPr algn="ctr"/>
            <a:r>
              <a:rPr lang="en-US" altLang="ko-KR" sz="1000"/>
              <a:t>Strimzi Cluster </a:t>
            </a:r>
          </a:p>
          <a:p>
            <a:pPr algn="ctr"/>
            <a:r>
              <a:rPr lang="en-US" altLang="ko-KR" sz="1000"/>
              <a:t>Operator</a:t>
            </a:r>
          </a:p>
        </p:txBody>
      </p:sp>
      <p:pic>
        <p:nvPicPr>
          <p:cNvPr id="79" name="Picture 12" descr="kafka icon&quot; Icon - Download for free – Iconduck">
            <a:extLst>
              <a:ext uri="{FF2B5EF4-FFF2-40B4-BE49-F238E27FC236}">
                <a16:creationId xmlns:a16="http://schemas.microsoft.com/office/drawing/2014/main" id="{E2E57FFC-A745-D1D4-74A3-11A65B0B8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503" y="798143"/>
            <a:ext cx="176967" cy="285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F8D0ED9-0EAD-C33A-2B60-1DA14A4CAA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65006" y="1671000"/>
            <a:ext cx="361342" cy="1"/>
          </a:xfrm>
          <a:prstGeom prst="bentConnector3">
            <a:avLst>
              <a:gd name="adj1" fmla="val 51613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71D2781D-6700-5B2E-D31B-1565E6AA5293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169804" y="1102319"/>
            <a:ext cx="2370155" cy="749350"/>
          </a:xfrm>
          <a:prstGeom prst="bentConnector3">
            <a:avLst>
              <a:gd name="adj1" fmla="val 9994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D42919A2-E01A-990A-F6E9-7652F3B5FF04}"/>
              </a:ext>
            </a:extLst>
          </p:cNvPr>
          <p:cNvCxnSpPr>
            <a:cxnSpLocks/>
            <a:stCxn id="77" idx="2"/>
            <a:endCxn id="26" idx="0"/>
          </p:cNvCxnSpPr>
          <p:nvPr/>
        </p:nvCxnSpPr>
        <p:spPr>
          <a:xfrm rot="16200000" flipH="1">
            <a:off x="4246783" y="1707531"/>
            <a:ext cx="434409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D5F4F34C-BE5E-35AE-7098-121EABE0D4A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01192" y="2171433"/>
            <a:ext cx="1362213" cy="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8">
            <a:extLst>
              <a:ext uri="{FF2B5EF4-FFF2-40B4-BE49-F238E27FC236}">
                <a16:creationId xmlns:a16="http://schemas.microsoft.com/office/drawing/2014/main" id="{1C160E8A-5D86-90EF-C855-FB2DBAD7286F}"/>
              </a:ext>
            </a:extLst>
          </p:cNvPr>
          <p:cNvSpPr/>
          <p:nvPr/>
        </p:nvSpPr>
        <p:spPr>
          <a:xfrm>
            <a:off x="6148151" y="2399011"/>
            <a:ext cx="1742787" cy="1543371"/>
          </a:xfrm>
          <a:prstGeom prst="roundRect">
            <a:avLst>
              <a:gd name="adj" fmla="val 5274"/>
            </a:avLst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altLang="ko-KR" sz="800"/>
          </a:p>
        </p:txBody>
      </p:sp>
    </p:spTree>
    <p:extLst>
      <p:ext uri="{BB962C8B-B14F-4D97-AF65-F5344CB8AC3E}">
        <p14:creationId xmlns:p14="http://schemas.microsoft.com/office/powerpoint/2010/main" val="286721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53058</TotalTime>
  <Words>206</Words>
  <Application>Microsoft Macintosh PowerPoint</Application>
  <PresentationFormat>On-screen Show (16:9)</PresentationFormat>
  <Paragraphs>120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5720</cp:revision>
  <dcterms:created xsi:type="dcterms:W3CDTF">2006-10-05T04:04:58Z</dcterms:created>
  <dcterms:modified xsi:type="dcterms:W3CDTF">2025-11-12T15:10:06Z</dcterms:modified>
</cp:coreProperties>
</file>