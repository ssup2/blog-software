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98" r:id="rId2"/>
    <p:sldId id="456" r:id="rId3"/>
    <p:sldId id="457" r:id="rId4"/>
    <p:sldId id="425" r:id="rId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정섭" initials="신정" lastIdx="1" clrIdx="0">
    <p:extLst>
      <p:ext uri="{19B8F6BF-5375-455C-9EA6-DF929625EA0E}">
        <p15:presenceInfo xmlns:p15="http://schemas.microsoft.com/office/powerpoint/2012/main" userId="2e700d248d239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84" autoAdjust="0"/>
    <p:restoredTop sz="93091" autoAdjust="0"/>
  </p:normalViewPr>
  <p:slideViewPr>
    <p:cSldViewPr>
      <p:cViewPr>
        <p:scale>
          <a:sx n="200" d="100"/>
          <a:sy n="200" d="100"/>
        </p:scale>
        <p:origin x="408" y="176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719D-B266-16CC-C562-6996970E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E5905F3A-7036-4CDE-4198-9FB6D36A9AAF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>
            <a:off x="5372245" y="2371688"/>
            <a:ext cx="0" cy="17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29">
            <a:extLst>
              <a:ext uri="{FF2B5EF4-FFF2-40B4-BE49-F238E27FC236}">
                <a16:creationId xmlns:a16="http://schemas.microsoft.com/office/drawing/2014/main" id="{85641599-95DD-45BF-D4F4-3A50F04D2562}"/>
              </a:ext>
            </a:extLst>
          </p:cNvPr>
          <p:cNvSpPr/>
          <p:nvPr/>
        </p:nvSpPr>
        <p:spPr>
          <a:xfrm>
            <a:off x="4733242" y="3251516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726E044F-1A65-8804-CFC2-46BCCA04155E}"/>
              </a:ext>
            </a:extLst>
          </p:cNvPr>
          <p:cNvSpPr/>
          <p:nvPr/>
        </p:nvSpPr>
        <p:spPr>
          <a:xfrm>
            <a:off x="4733241" y="2544938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DestinationRule</a:t>
            </a:r>
            <a:endParaRPr lang="ko-KR" altLang="en-US" sz="1000"/>
          </a:p>
        </p:txBody>
      </p:sp>
      <p:sp>
        <p:nvSpPr>
          <p:cNvPr id="9" name="사각형: 둥근 모서리 29">
            <a:extLst>
              <a:ext uri="{FF2B5EF4-FFF2-40B4-BE49-F238E27FC236}">
                <a16:creationId xmlns:a16="http://schemas.microsoft.com/office/drawing/2014/main" id="{6A93278C-E31C-E585-CF63-674AB91E87C7}"/>
              </a:ext>
            </a:extLst>
          </p:cNvPr>
          <p:cNvSpPr/>
          <p:nvPr/>
        </p:nvSpPr>
        <p:spPr>
          <a:xfrm>
            <a:off x="4733241" y="1845759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VirtualService</a:t>
            </a:r>
            <a:endParaRPr lang="ko-KR" altLang="en-US" sz="1000"/>
          </a:p>
        </p:txBody>
      </p: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47222323-B67F-18C2-875C-D82748BDCA42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5372245" y="3070867"/>
            <a:ext cx="1" cy="180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9">
            <a:extLst>
              <a:ext uri="{FF2B5EF4-FFF2-40B4-BE49-F238E27FC236}">
                <a16:creationId xmlns:a16="http://schemas.microsoft.com/office/drawing/2014/main" id="{0BF34E4E-D819-D227-3EB9-B02A8298008D}"/>
              </a:ext>
            </a:extLst>
          </p:cNvPr>
          <p:cNvSpPr/>
          <p:nvPr/>
        </p:nvSpPr>
        <p:spPr>
          <a:xfrm>
            <a:off x="1821220" y="1006925"/>
            <a:ext cx="2551069" cy="3048161"/>
          </a:xfrm>
          <a:prstGeom prst="roundRect">
            <a:avLst>
              <a:gd name="adj" fmla="val 2826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27" name="사각형: 둥근 모서리 29">
            <a:extLst>
              <a:ext uri="{FF2B5EF4-FFF2-40B4-BE49-F238E27FC236}">
                <a16:creationId xmlns:a16="http://schemas.microsoft.com/office/drawing/2014/main" id="{E097F662-9C91-B3D9-B15F-F660A0526DEF}"/>
              </a:ext>
            </a:extLst>
          </p:cNvPr>
          <p:cNvSpPr/>
          <p:nvPr/>
        </p:nvSpPr>
        <p:spPr>
          <a:xfrm>
            <a:off x="1911729" y="2887226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C9454E-4573-AF98-DEF0-375D7AED75F1}"/>
              </a:ext>
            </a:extLst>
          </p:cNvPr>
          <p:cNvSpPr/>
          <p:nvPr/>
        </p:nvSpPr>
        <p:spPr>
          <a:xfrm>
            <a:off x="3298725" y="2982034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7BCD3A1A-69FC-D273-70A9-D694743F2497}"/>
              </a:ext>
            </a:extLst>
          </p:cNvPr>
          <p:cNvSpPr/>
          <p:nvPr/>
        </p:nvSpPr>
        <p:spPr>
          <a:xfrm>
            <a:off x="2009488" y="2982034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0" name="Straight Arrow Connector 81">
            <a:extLst>
              <a:ext uri="{FF2B5EF4-FFF2-40B4-BE49-F238E27FC236}">
                <a16:creationId xmlns:a16="http://schemas.microsoft.com/office/drawing/2014/main" id="{AFA355D9-47D5-662F-1A7B-8C2D92C053B5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>
            <a:off x="2998945" y="3201732"/>
            <a:ext cx="29978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29">
            <a:extLst>
              <a:ext uri="{FF2B5EF4-FFF2-40B4-BE49-F238E27FC236}">
                <a16:creationId xmlns:a16="http://schemas.microsoft.com/office/drawing/2014/main" id="{A87D3520-DD14-E30C-4291-1C37B4DCDB91}"/>
              </a:ext>
            </a:extLst>
          </p:cNvPr>
          <p:cNvSpPr/>
          <p:nvPr/>
        </p:nvSpPr>
        <p:spPr>
          <a:xfrm>
            <a:off x="6372200" y="2160821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213B2CC5-D52F-D2A4-CADD-7C6EA9B23701}"/>
              </a:ext>
            </a:extLst>
          </p:cNvPr>
          <p:cNvSpPr/>
          <p:nvPr/>
        </p:nvSpPr>
        <p:spPr>
          <a:xfrm>
            <a:off x="6462709" y="2260273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EC26083D-6DBA-A754-DB94-36D4550FB3A2}"/>
              </a:ext>
            </a:extLst>
          </p:cNvPr>
          <p:cNvSpPr/>
          <p:nvPr/>
        </p:nvSpPr>
        <p:spPr>
          <a:xfrm>
            <a:off x="7751530" y="2355081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id="{7D67EF93-D3CB-BDE4-08F7-694E0D9B1738}"/>
              </a:ext>
            </a:extLst>
          </p:cNvPr>
          <p:cNvSpPr/>
          <p:nvPr/>
        </p:nvSpPr>
        <p:spPr>
          <a:xfrm>
            <a:off x="6560468" y="2355081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348CB496-C848-EE63-622E-4EBF46BB10D7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>
            <a:off x="7451750" y="2574779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80">
            <a:extLst>
              <a:ext uri="{FF2B5EF4-FFF2-40B4-BE49-F238E27FC236}">
                <a16:creationId xmlns:a16="http://schemas.microsoft.com/office/drawing/2014/main" id="{60D77C7A-7EB3-5D25-0373-DA9D1152FF5A}"/>
              </a:ext>
            </a:extLst>
          </p:cNvPr>
          <p:cNvCxnSpPr>
            <a:cxnSpLocks/>
            <a:stCxn id="28" idx="0"/>
            <a:endCxn id="9" idx="1"/>
          </p:cNvCxnSpPr>
          <p:nvPr/>
        </p:nvCxnSpPr>
        <p:spPr>
          <a:xfrm rot="5400000" flipH="1" flipV="1">
            <a:off x="3802148" y="2050942"/>
            <a:ext cx="873310" cy="988875"/>
          </a:xfrm>
          <a:prstGeom prst="bentConnector2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80">
            <a:extLst>
              <a:ext uri="{FF2B5EF4-FFF2-40B4-BE49-F238E27FC236}">
                <a16:creationId xmlns:a16="http://schemas.microsoft.com/office/drawing/2014/main" id="{08F1DEB0-4265-25DB-7A8D-0D7B60041B5C}"/>
              </a:ext>
            </a:extLst>
          </p:cNvPr>
          <p:cNvCxnSpPr>
            <a:cxnSpLocks/>
            <a:stCxn id="2" idx="3"/>
            <a:endCxn id="34" idx="2"/>
          </p:cNvCxnSpPr>
          <p:nvPr/>
        </p:nvCxnSpPr>
        <p:spPr>
          <a:xfrm flipV="1">
            <a:off x="6011249" y="2794477"/>
            <a:ext cx="994860" cy="72000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4C41D045-B3C2-EBE3-0442-B57773BDF9A5}"/>
              </a:ext>
            </a:extLst>
          </p:cNvPr>
          <p:cNvSpPr/>
          <p:nvPr/>
        </p:nvSpPr>
        <p:spPr>
          <a:xfrm>
            <a:off x="1911729" y="1090180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istio-ingressgateway </a:t>
            </a:r>
            <a:r>
              <a:rPr lang="en-US" altLang="ko-KR" sz="1000"/>
              <a:t>Pod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AA1DC170-379D-2484-331B-16C878611D41}"/>
              </a:ext>
            </a:extLst>
          </p:cNvPr>
          <p:cNvSpPr/>
          <p:nvPr/>
        </p:nvSpPr>
        <p:spPr>
          <a:xfrm>
            <a:off x="2651113" y="1184987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7" name="사각형: 둥근 모서리 29">
            <a:extLst>
              <a:ext uri="{FF2B5EF4-FFF2-40B4-BE49-F238E27FC236}">
                <a16:creationId xmlns:a16="http://schemas.microsoft.com/office/drawing/2014/main" id="{E75CFF09-12CB-DCBB-0CD1-FAE170A92A13}"/>
              </a:ext>
            </a:extLst>
          </p:cNvPr>
          <p:cNvSpPr/>
          <p:nvPr/>
        </p:nvSpPr>
        <p:spPr>
          <a:xfrm>
            <a:off x="182260" y="2140353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istio-ingressgateway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 / MetalLB</a:t>
            </a:r>
            <a:endParaRPr lang="ko-KR" altLang="en-US" sz="1000"/>
          </a:p>
        </p:txBody>
      </p:sp>
      <p:cxnSp>
        <p:nvCxnSpPr>
          <p:cNvPr id="19" name="Elbow Connector 80">
            <a:extLst>
              <a:ext uri="{FF2B5EF4-FFF2-40B4-BE49-F238E27FC236}">
                <a16:creationId xmlns:a16="http://schemas.microsoft.com/office/drawing/2014/main" id="{3946BA55-F508-0BB6-36BD-5F886E2B82AC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4284255" y="1534280"/>
            <a:ext cx="1087990" cy="311479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3F07E2C7-B96C-B68F-C373-B11B89EC7F6D}"/>
              </a:ext>
            </a:extLst>
          </p:cNvPr>
          <p:cNvSpPr/>
          <p:nvPr/>
        </p:nvSpPr>
        <p:spPr>
          <a:xfrm>
            <a:off x="326534" y="1314582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curl</a:t>
            </a: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95DFB79B-0B58-AED8-27F3-0EC061BCF8B6}"/>
              </a:ext>
            </a:extLst>
          </p:cNvPr>
          <p:cNvCxnSpPr>
            <a:cxnSpLocks/>
            <a:stCxn id="22" idx="2"/>
            <a:endCxn id="17" idx="0"/>
          </p:cNvCxnSpPr>
          <p:nvPr/>
        </p:nvCxnSpPr>
        <p:spPr>
          <a:xfrm>
            <a:off x="821263" y="1753978"/>
            <a:ext cx="1" cy="38637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29">
            <a:extLst>
              <a:ext uri="{FF2B5EF4-FFF2-40B4-BE49-F238E27FC236}">
                <a16:creationId xmlns:a16="http://schemas.microsoft.com/office/drawing/2014/main" id="{09E052AD-264E-9FDE-F3CA-D57EEF561C55}"/>
              </a:ext>
            </a:extLst>
          </p:cNvPr>
          <p:cNvSpPr/>
          <p:nvPr/>
        </p:nvSpPr>
        <p:spPr>
          <a:xfrm>
            <a:off x="2550733" y="2140353"/>
            <a:ext cx="1094520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SNAT Rule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iptables</a:t>
            </a:r>
            <a:endParaRPr lang="ko-KR" altLang="en-US" sz="1000"/>
          </a:p>
        </p:txBody>
      </p: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E8FD0021-32E1-0E5E-3128-1F3DDB9B98D8}"/>
              </a:ext>
            </a:extLst>
          </p:cNvPr>
          <p:cNvCxnSpPr>
            <a:cxnSpLocks/>
            <a:stCxn id="17" idx="3"/>
            <a:endCxn id="45" idx="1"/>
          </p:cNvCxnSpPr>
          <p:nvPr/>
        </p:nvCxnSpPr>
        <p:spPr>
          <a:xfrm>
            <a:off x="1460267" y="2403318"/>
            <a:ext cx="109046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81">
            <a:extLst>
              <a:ext uri="{FF2B5EF4-FFF2-40B4-BE49-F238E27FC236}">
                <a16:creationId xmlns:a16="http://schemas.microsoft.com/office/drawing/2014/main" id="{7F2A12D6-5C00-A6CE-7568-964761E0DFD2}"/>
              </a:ext>
            </a:extLst>
          </p:cNvPr>
          <p:cNvCxnSpPr>
            <a:cxnSpLocks/>
            <a:stCxn id="45" idx="0"/>
            <a:endCxn id="6" idx="2"/>
          </p:cNvCxnSpPr>
          <p:nvPr/>
        </p:nvCxnSpPr>
        <p:spPr>
          <a:xfrm flipH="1" flipV="1">
            <a:off x="3097992" y="1978380"/>
            <a:ext cx="1" cy="1619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8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3126-A441-6A62-3F75-FEEC1E2E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9">
            <a:extLst>
              <a:ext uri="{FF2B5EF4-FFF2-40B4-BE49-F238E27FC236}">
                <a16:creationId xmlns:a16="http://schemas.microsoft.com/office/drawing/2014/main" id="{FA5DF90E-C015-E283-A42D-DC0483419466}"/>
              </a:ext>
            </a:extLst>
          </p:cNvPr>
          <p:cNvSpPr/>
          <p:nvPr/>
        </p:nvSpPr>
        <p:spPr>
          <a:xfrm>
            <a:off x="204887" y="2250505"/>
            <a:ext cx="3256332" cy="897299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289E86EE-8643-1CDE-F715-A61E60BA84AF}"/>
              </a:ext>
            </a:extLst>
          </p:cNvPr>
          <p:cNvSpPr/>
          <p:nvPr/>
        </p:nvSpPr>
        <p:spPr>
          <a:xfrm>
            <a:off x="2451206" y="2355081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24F56A7F-9011-AB47-6D08-2FCB924D9EC9}"/>
              </a:ext>
            </a:extLst>
          </p:cNvPr>
          <p:cNvSpPr/>
          <p:nvPr/>
        </p:nvSpPr>
        <p:spPr>
          <a:xfrm>
            <a:off x="316354" y="2355081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0" name="Straight Arrow Connector 81">
            <a:extLst>
              <a:ext uri="{FF2B5EF4-FFF2-40B4-BE49-F238E27FC236}">
                <a16:creationId xmlns:a16="http://schemas.microsoft.com/office/drawing/2014/main" id="{BBE54B6A-30E4-CDC5-A9E3-23E810931FAF}"/>
              </a:ext>
            </a:extLst>
          </p:cNvPr>
          <p:cNvCxnSpPr>
            <a:cxnSpLocks/>
          </p:cNvCxnSpPr>
          <p:nvPr/>
        </p:nvCxnSpPr>
        <p:spPr>
          <a:xfrm>
            <a:off x="1305811" y="2427734"/>
            <a:ext cx="11453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91884C88-7A3D-9CA5-53C4-2CE4B019CAEF}"/>
              </a:ext>
            </a:extLst>
          </p:cNvPr>
          <p:cNvSpPr/>
          <p:nvPr/>
        </p:nvSpPr>
        <p:spPr>
          <a:xfrm>
            <a:off x="5372138" y="2250505"/>
            <a:ext cx="3561980" cy="897299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B8D855C9-80C1-DFC9-1E3E-81C1017BA22C}"/>
              </a:ext>
            </a:extLst>
          </p:cNvPr>
          <p:cNvSpPr/>
          <p:nvPr/>
        </p:nvSpPr>
        <p:spPr>
          <a:xfrm>
            <a:off x="7828449" y="2355081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id="{C8589DAC-F80F-01C2-58A7-7C96C45DAEC9}"/>
              </a:ext>
            </a:extLst>
          </p:cNvPr>
          <p:cNvSpPr/>
          <p:nvPr/>
        </p:nvSpPr>
        <p:spPr>
          <a:xfrm>
            <a:off x="5487505" y="2355081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B82501F6-1D66-BD81-A8BB-E59682AC7EE6}"/>
              </a:ext>
            </a:extLst>
          </p:cNvPr>
          <p:cNvCxnSpPr>
            <a:cxnSpLocks/>
          </p:cNvCxnSpPr>
          <p:nvPr/>
        </p:nvCxnSpPr>
        <p:spPr>
          <a:xfrm>
            <a:off x="6378787" y="2427734"/>
            <a:ext cx="14496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81">
            <a:extLst>
              <a:ext uri="{FF2B5EF4-FFF2-40B4-BE49-F238E27FC236}">
                <a16:creationId xmlns:a16="http://schemas.microsoft.com/office/drawing/2014/main" id="{02A5DF64-0322-2155-6B61-B108837C70FE}"/>
              </a:ext>
            </a:extLst>
          </p:cNvPr>
          <p:cNvCxnSpPr>
            <a:cxnSpLocks/>
          </p:cNvCxnSpPr>
          <p:nvPr/>
        </p:nvCxnSpPr>
        <p:spPr>
          <a:xfrm>
            <a:off x="3342488" y="2427734"/>
            <a:ext cx="21450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799C7692-9980-8ACA-F9D6-4BBFCAAE1BCE}"/>
              </a:ext>
            </a:extLst>
          </p:cNvPr>
          <p:cNvCxnSpPr>
            <a:cxnSpLocks/>
          </p:cNvCxnSpPr>
          <p:nvPr/>
        </p:nvCxnSpPr>
        <p:spPr>
          <a:xfrm>
            <a:off x="1305811" y="2708026"/>
            <a:ext cx="114539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28F4B5A8-7D0B-73AD-E5D7-FF1A1D1A5460}"/>
              </a:ext>
            </a:extLst>
          </p:cNvPr>
          <p:cNvCxnSpPr>
            <a:cxnSpLocks/>
          </p:cNvCxnSpPr>
          <p:nvPr/>
        </p:nvCxnSpPr>
        <p:spPr>
          <a:xfrm>
            <a:off x="6378787" y="2708026"/>
            <a:ext cx="144966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188AF428-A71D-FBF9-5171-7BA84F21B239}"/>
              </a:ext>
            </a:extLst>
          </p:cNvPr>
          <p:cNvCxnSpPr>
            <a:cxnSpLocks/>
          </p:cNvCxnSpPr>
          <p:nvPr/>
        </p:nvCxnSpPr>
        <p:spPr>
          <a:xfrm>
            <a:off x="3342488" y="2708026"/>
            <a:ext cx="214501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446612-16F2-4B1D-5C63-B067C317BF47}"/>
              </a:ext>
            </a:extLst>
          </p:cNvPr>
          <p:cNvSpPr txBox="1"/>
          <p:nvPr/>
        </p:nvSpPr>
        <p:spPr>
          <a:xfrm>
            <a:off x="3177872" y="1225468"/>
            <a:ext cx="247424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800" i="1"/>
              <a:t>x-forwarded-proto : http, https</a:t>
            </a:r>
          </a:p>
          <a:p>
            <a:r>
              <a:rPr kumimoji="1" lang="en" altLang="ko-KR" sz="800" i="1"/>
              <a:t>x-request-id : [UUID]</a:t>
            </a:r>
          </a:p>
          <a:p>
            <a:r>
              <a:rPr kumimoji="1" lang="en" altLang="ko-KR" sz="800" i="1"/>
              <a:t>x-envoy-decorator-operation : mock-server</a:t>
            </a:r>
          </a:p>
          <a:p>
            <a:r>
              <a:rPr kumimoji="1" lang="en" altLang="ko-KR" sz="800" i="1"/>
              <a:t>x-envoy-peer-metadata-id : [shell pod id]</a:t>
            </a:r>
          </a:p>
          <a:p>
            <a:r>
              <a:rPr kumimoji="1" lang="en" altLang="ko-KR" sz="800" i="1"/>
              <a:t>x-envoy-peer-metadata : [shell pod info]</a:t>
            </a:r>
            <a:br>
              <a:rPr kumimoji="1" lang="en" altLang="ko-KR" sz="800" i="1"/>
            </a:br>
            <a:r>
              <a:rPr kumimoji="1" lang="en" altLang="ko-KR" sz="800" i="1"/>
              <a:t>x-envoy-attempt-count : [retry count]</a:t>
            </a:r>
            <a:endParaRPr kumimoji="1" lang="ko-KR" altLang="en-US" sz="80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8B0006-5A0F-A762-DDDA-4CD0CFBD4FF2}"/>
              </a:ext>
            </a:extLst>
          </p:cNvPr>
          <p:cNvSpPr txBox="1"/>
          <p:nvPr/>
        </p:nvSpPr>
        <p:spPr>
          <a:xfrm>
            <a:off x="5912359" y="1471690"/>
            <a:ext cx="247424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800" i="1"/>
              <a:t>x-forwarded-proto : http, https</a:t>
            </a:r>
          </a:p>
          <a:p>
            <a:r>
              <a:rPr kumimoji="1" lang="en" altLang="ko-KR" sz="800" i="1"/>
              <a:t>x-request-id : [UUID]</a:t>
            </a:r>
          </a:p>
          <a:p>
            <a:r>
              <a:rPr kumimoji="1" lang="en" altLang="ko-KR" sz="800" i="1"/>
              <a:t>x-envoy-attempt-count : [retry count]</a:t>
            </a:r>
          </a:p>
          <a:p>
            <a:r>
              <a:rPr kumimoji="1" lang="en" altLang="ko-KR" sz="800" i="1"/>
              <a:t>x-forwarded-client-cert : [shell pod cert]</a:t>
            </a:r>
            <a:endParaRPr kumimoji="1" lang="ko-KR" altLang="en-US" sz="80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7DA9A7-D96C-18DF-DF76-1B56EC517535}"/>
              </a:ext>
            </a:extLst>
          </p:cNvPr>
          <p:cNvSpPr txBox="1"/>
          <p:nvPr/>
        </p:nvSpPr>
        <p:spPr>
          <a:xfrm>
            <a:off x="3177872" y="3341844"/>
            <a:ext cx="247424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ko-KR" sz="800" i="1"/>
              <a:t>x-envoy-upstream-service-time : [process time]</a:t>
            </a:r>
          </a:p>
          <a:p>
            <a:r>
              <a:rPr kumimoji="1" lang="en" altLang="ko-KR" sz="800" i="1"/>
              <a:t>x-envoy-peer-metadata-id : [mock-server pod id]</a:t>
            </a:r>
          </a:p>
          <a:p>
            <a:r>
              <a:rPr kumimoji="1" lang="en" altLang="ko-KR" sz="800" i="1"/>
              <a:t>x-envoy-peer-metadata : [mock-server pod info]</a:t>
            </a:r>
            <a:br>
              <a:rPr kumimoji="1" lang="en" altLang="ko-KR" sz="800" i="1"/>
            </a:br>
            <a:r>
              <a:rPr kumimoji="1" lang="en" altLang="ko-KR" sz="800" i="1"/>
              <a:t>server : istio-envoy</a:t>
            </a:r>
            <a:endParaRPr kumimoji="1" lang="ko-KR" altLang="en-US" sz="800" i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B8007C-BAE9-8C9D-FC90-B9C732820F34}"/>
              </a:ext>
            </a:extLst>
          </p:cNvPr>
          <p:cNvSpPr txBox="1"/>
          <p:nvPr/>
        </p:nvSpPr>
        <p:spPr>
          <a:xfrm>
            <a:off x="595929" y="3341844"/>
            <a:ext cx="247424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ko-KR" sz="800" i="1"/>
              <a:t>x-envoy-upstream-service-time : [process time]</a:t>
            </a:r>
            <a:br>
              <a:rPr kumimoji="1" lang="en" altLang="ko-KR" sz="800" i="1"/>
            </a:br>
            <a:r>
              <a:rPr kumimoji="1" lang="en" altLang="ko-KR" sz="800" i="1"/>
              <a:t>server : envoy</a:t>
            </a:r>
            <a:endParaRPr kumimoji="1" lang="ko-KR" altLang="en-US" sz="800" i="1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F04F8DA-8E1C-1D09-6859-5B384E605EBA}"/>
              </a:ext>
            </a:extLst>
          </p:cNvPr>
          <p:cNvSpPr/>
          <p:nvPr/>
        </p:nvSpPr>
        <p:spPr>
          <a:xfrm>
            <a:off x="1141234" y="231972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1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E5D785D-90F0-433C-B41B-D522809A39F0}"/>
              </a:ext>
            </a:extLst>
          </p:cNvPr>
          <p:cNvSpPr/>
          <p:nvPr/>
        </p:nvSpPr>
        <p:spPr>
          <a:xfrm>
            <a:off x="3234476" y="231972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2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77E875FB-B035-DFCC-217A-398E0E307676}"/>
              </a:ext>
            </a:extLst>
          </p:cNvPr>
          <p:cNvSpPr/>
          <p:nvPr/>
        </p:nvSpPr>
        <p:spPr>
          <a:xfrm>
            <a:off x="6270775" y="231972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3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70DACB4-D30D-6668-1BFD-FCACAF93D028}"/>
              </a:ext>
            </a:extLst>
          </p:cNvPr>
          <p:cNvSpPr/>
          <p:nvPr/>
        </p:nvSpPr>
        <p:spPr>
          <a:xfrm>
            <a:off x="7720437" y="259510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4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E0C1553C-805D-0B3A-40F2-9DCD9A5B22F3}"/>
              </a:ext>
            </a:extLst>
          </p:cNvPr>
          <p:cNvSpPr/>
          <p:nvPr/>
        </p:nvSpPr>
        <p:spPr>
          <a:xfrm>
            <a:off x="5379493" y="259510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5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9F5D429-D480-EA6A-BD5D-5AF207E69E3F}"/>
              </a:ext>
            </a:extLst>
          </p:cNvPr>
          <p:cNvSpPr/>
          <p:nvPr/>
        </p:nvSpPr>
        <p:spPr>
          <a:xfrm>
            <a:off x="2343194" y="259510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6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9909B4EF-E59F-6DFB-8A65-DDAF40C86F6C}"/>
              </a:ext>
            </a:extLst>
          </p:cNvPr>
          <p:cNvCxnSpPr>
            <a:cxnSpLocks/>
            <a:stCxn id="55" idx="0"/>
            <a:endCxn id="47" idx="2"/>
          </p:cNvCxnSpPr>
          <p:nvPr/>
        </p:nvCxnSpPr>
        <p:spPr>
          <a:xfrm flipV="1">
            <a:off x="3342488" y="2056465"/>
            <a:ext cx="1072508" cy="2632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5F8D7F60-0808-C9D2-F6E3-C9044EE2F635}"/>
              </a:ext>
            </a:extLst>
          </p:cNvPr>
          <p:cNvCxnSpPr>
            <a:cxnSpLocks/>
            <a:stCxn id="56" idx="1"/>
            <a:endCxn id="50" idx="2"/>
          </p:cNvCxnSpPr>
          <p:nvPr/>
        </p:nvCxnSpPr>
        <p:spPr>
          <a:xfrm flipV="1">
            <a:off x="6302411" y="2056465"/>
            <a:ext cx="847072" cy="29489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EDFE8753-0614-9028-948C-80A1B0930799}"/>
              </a:ext>
            </a:extLst>
          </p:cNvPr>
          <p:cNvCxnSpPr>
            <a:cxnSpLocks/>
            <a:stCxn id="51" idx="0"/>
            <a:endCxn id="58" idx="4"/>
          </p:cNvCxnSpPr>
          <p:nvPr/>
        </p:nvCxnSpPr>
        <p:spPr>
          <a:xfrm flipV="1">
            <a:off x="4414996" y="2811125"/>
            <a:ext cx="1072509" cy="5307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id="{9371DF66-FA54-6C92-A0E6-4AF49197F492}"/>
              </a:ext>
            </a:extLst>
          </p:cNvPr>
          <p:cNvCxnSpPr>
            <a:cxnSpLocks/>
            <a:stCxn id="52" idx="0"/>
            <a:endCxn id="59" idx="4"/>
          </p:cNvCxnSpPr>
          <p:nvPr/>
        </p:nvCxnSpPr>
        <p:spPr>
          <a:xfrm flipV="1">
            <a:off x="1833053" y="2811125"/>
            <a:ext cx="618153" cy="5307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53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B84A-2886-F54F-8D49-179CD220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9">
            <a:extLst>
              <a:ext uri="{FF2B5EF4-FFF2-40B4-BE49-F238E27FC236}">
                <a16:creationId xmlns:a16="http://schemas.microsoft.com/office/drawing/2014/main" id="{738BC7DD-B1CD-253C-7112-2F5170C8B142}"/>
              </a:ext>
            </a:extLst>
          </p:cNvPr>
          <p:cNvSpPr/>
          <p:nvPr/>
        </p:nvSpPr>
        <p:spPr>
          <a:xfrm>
            <a:off x="1952162" y="2250505"/>
            <a:ext cx="1871294" cy="897285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istiod-ingressgateway </a:t>
            </a:r>
            <a:r>
              <a:rPr lang="en-US" altLang="ko-KR" sz="1000"/>
              <a:t>Pod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8A53DE7-21F8-C1BA-6DB8-F11353625BCE}"/>
              </a:ext>
            </a:extLst>
          </p:cNvPr>
          <p:cNvSpPr/>
          <p:nvPr/>
        </p:nvSpPr>
        <p:spPr>
          <a:xfrm>
            <a:off x="2451206" y="2355081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0D3CEAE4-8275-69AB-4848-D281BA5524AB}"/>
              </a:ext>
            </a:extLst>
          </p:cNvPr>
          <p:cNvSpPr/>
          <p:nvPr/>
        </p:nvSpPr>
        <p:spPr>
          <a:xfrm>
            <a:off x="316354" y="2355081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curl</a:t>
            </a:r>
          </a:p>
        </p:txBody>
      </p:sp>
      <p:cxnSp>
        <p:nvCxnSpPr>
          <p:cNvPr id="30" name="Straight Arrow Connector 81">
            <a:extLst>
              <a:ext uri="{FF2B5EF4-FFF2-40B4-BE49-F238E27FC236}">
                <a16:creationId xmlns:a16="http://schemas.microsoft.com/office/drawing/2014/main" id="{5123805B-73A2-112F-05BE-B33D29AD592A}"/>
              </a:ext>
            </a:extLst>
          </p:cNvPr>
          <p:cNvCxnSpPr>
            <a:cxnSpLocks/>
          </p:cNvCxnSpPr>
          <p:nvPr/>
        </p:nvCxnSpPr>
        <p:spPr>
          <a:xfrm>
            <a:off x="1305811" y="2427734"/>
            <a:ext cx="11453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EC9E7A5D-AB09-13FD-B4DC-0AC2AD1D0D92}"/>
              </a:ext>
            </a:extLst>
          </p:cNvPr>
          <p:cNvSpPr/>
          <p:nvPr/>
        </p:nvSpPr>
        <p:spPr>
          <a:xfrm>
            <a:off x="5372138" y="2250505"/>
            <a:ext cx="3561980" cy="897285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8A1D425E-EBF9-BF5F-2D74-6DD9B871F5F9}"/>
              </a:ext>
            </a:extLst>
          </p:cNvPr>
          <p:cNvSpPr/>
          <p:nvPr/>
        </p:nvSpPr>
        <p:spPr>
          <a:xfrm>
            <a:off x="7828449" y="2355081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id="{06E5FB7F-08AB-ADA5-0A04-B6F924B92F66}"/>
              </a:ext>
            </a:extLst>
          </p:cNvPr>
          <p:cNvSpPr/>
          <p:nvPr/>
        </p:nvSpPr>
        <p:spPr>
          <a:xfrm>
            <a:off x="5487505" y="2355081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733F3776-33FA-A6BB-C0E6-A0AEBD811D69}"/>
              </a:ext>
            </a:extLst>
          </p:cNvPr>
          <p:cNvCxnSpPr>
            <a:cxnSpLocks/>
          </p:cNvCxnSpPr>
          <p:nvPr/>
        </p:nvCxnSpPr>
        <p:spPr>
          <a:xfrm>
            <a:off x="6378787" y="2427734"/>
            <a:ext cx="14496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81">
            <a:extLst>
              <a:ext uri="{FF2B5EF4-FFF2-40B4-BE49-F238E27FC236}">
                <a16:creationId xmlns:a16="http://schemas.microsoft.com/office/drawing/2014/main" id="{1C11DCA4-8AB5-61BF-14FC-615C0297A972}"/>
              </a:ext>
            </a:extLst>
          </p:cNvPr>
          <p:cNvCxnSpPr>
            <a:cxnSpLocks/>
          </p:cNvCxnSpPr>
          <p:nvPr/>
        </p:nvCxnSpPr>
        <p:spPr>
          <a:xfrm>
            <a:off x="3342488" y="2427734"/>
            <a:ext cx="21450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836819D6-ED79-53D6-E47C-793F3D826A51}"/>
              </a:ext>
            </a:extLst>
          </p:cNvPr>
          <p:cNvCxnSpPr>
            <a:cxnSpLocks/>
          </p:cNvCxnSpPr>
          <p:nvPr/>
        </p:nvCxnSpPr>
        <p:spPr>
          <a:xfrm>
            <a:off x="1305811" y="2708026"/>
            <a:ext cx="114539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958D7F01-CF9A-650E-992B-C0039DDB9A22}"/>
              </a:ext>
            </a:extLst>
          </p:cNvPr>
          <p:cNvCxnSpPr>
            <a:cxnSpLocks/>
          </p:cNvCxnSpPr>
          <p:nvPr/>
        </p:nvCxnSpPr>
        <p:spPr>
          <a:xfrm>
            <a:off x="6378787" y="2708026"/>
            <a:ext cx="144966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83F773BD-6E4C-2BA0-57C1-334755A07914}"/>
              </a:ext>
            </a:extLst>
          </p:cNvPr>
          <p:cNvCxnSpPr>
            <a:cxnSpLocks/>
          </p:cNvCxnSpPr>
          <p:nvPr/>
        </p:nvCxnSpPr>
        <p:spPr>
          <a:xfrm>
            <a:off x="3342488" y="2708026"/>
            <a:ext cx="214501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567B5C2-0965-A4B1-0A5F-53F83B8EBA4C}"/>
              </a:ext>
            </a:extLst>
          </p:cNvPr>
          <p:cNvSpPr txBox="1"/>
          <p:nvPr/>
        </p:nvSpPr>
        <p:spPr>
          <a:xfrm>
            <a:off x="3177872" y="979247"/>
            <a:ext cx="24742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800" i="1"/>
              <a:t>x-forwarded-for: [XFF IPs]</a:t>
            </a:r>
          </a:p>
          <a:p>
            <a:r>
              <a:rPr kumimoji="1" lang="en-US" altLang="ko-KR" sz="800" i="1"/>
              <a:t>x-forwarded-proto : http, https</a:t>
            </a:r>
          </a:p>
          <a:p>
            <a:r>
              <a:rPr kumimoji="1" lang="en-US" altLang="ko-KR" sz="800" i="1"/>
              <a:t>x-envoy-external-address : [Client IP]</a:t>
            </a:r>
          </a:p>
          <a:p>
            <a:r>
              <a:rPr kumimoji="1" lang="en" altLang="ko-KR" sz="800" i="1"/>
              <a:t>x-request-id : [UUID]</a:t>
            </a:r>
          </a:p>
          <a:p>
            <a:r>
              <a:rPr kumimoji="1" lang="en" altLang="ko-KR" sz="800" i="1"/>
              <a:t>x-envoy-decorator-operation : ingressgw</a:t>
            </a:r>
          </a:p>
          <a:p>
            <a:r>
              <a:rPr kumimoji="1" lang="en" altLang="ko-KR" sz="800" i="1"/>
              <a:t>x-envoy-peer-metadata-id : [ingressgw pod id]</a:t>
            </a:r>
          </a:p>
          <a:p>
            <a:r>
              <a:rPr kumimoji="1" lang="en" altLang="ko-KR" sz="800" i="1"/>
              <a:t>x-envoy-peer-metadata : [ingressgw pod info]</a:t>
            </a:r>
            <a:br>
              <a:rPr kumimoji="1" lang="en" altLang="ko-KR" sz="800" i="1"/>
            </a:br>
            <a:r>
              <a:rPr kumimoji="1" lang="en" altLang="ko-KR" sz="800" i="1"/>
              <a:t>x-envoy-attempt-count : [ingressgw count]</a:t>
            </a:r>
            <a:endParaRPr kumimoji="1" lang="ko-KR" altLang="en-US" sz="80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B8BA37-83B7-A392-C116-0C22F6B69AA0}"/>
              </a:ext>
            </a:extLst>
          </p:cNvPr>
          <p:cNvSpPr txBox="1"/>
          <p:nvPr/>
        </p:nvSpPr>
        <p:spPr>
          <a:xfrm>
            <a:off x="5912359" y="1224465"/>
            <a:ext cx="247424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800" i="1"/>
              <a:t>x-forwarded-for: [XFF IPs]</a:t>
            </a:r>
          </a:p>
          <a:p>
            <a:r>
              <a:rPr kumimoji="1" lang="en-US" altLang="ko-KR" sz="800" i="1"/>
              <a:t>x-forwarded-proto : http, https</a:t>
            </a:r>
          </a:p>
          <a:p>
            <a:r>
              <a:rPr kumimoji="1" lang="en-US" altLang="ko-KR" sz="800" i="1"/>
              <a:t>x-envoy-external-address : [Client IP]</a:t>
            </a:r>
          </a:p>
          <a:p>
            <a:r>
              <a:rPr kumimoji="1" lang="en" altLang="ko-KR" sz="800" i="1"/>
              <a:t>x-request-id : [UUID]</a:t>
            </a:r>
          </a:p>
          <a:p>
            <a:r>
              <a:rPr kumimoji="1" lang="en" altLang="ko-KR" sz="800" i="1"/>
              <a:t>x-envoy-attempt-count : [retry count]</a:t>
            </a:r>
          </a:p>
          <a:p>
            <a:r>
              <a:rPr kumimoji="1" lang="en" altLang="ko-KR" sz="800" i="1"/>
              <a:t>x-forwarded-client-cert : [ingressgw pod cert]</a:t>
            </a:r>
            <a:endParaRPr kumimoji="1" lang="ko-KR" altLang="en-US" sz="80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09937D-C227-A562-7D04-88FE684BB2A4}"/>
              </a:ext>
            </a:extLst>
          </p:cNvPr>
          <p:cNvSpPr txBox="1"/>
          <p:nvPr/>
        </p:nvSpPr>
        <p:spPr>
          <a:xfrm>
            <a:off x="3177872" y="3341830"/>
            <a:ext cx="247424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ko-KR" sz="800" i="1"/>
              <a:t>x-envoy-upstream-service-time : [process time]</a:t>
            </a:r>
          </a:p>
          <a:p>
            <a:r>
              <a:rPr kumimoji="1" lang="en" altLang="ko-KR" sz="800" i="1"/>
              <a:t>x-envoy-peer-metadata-id : [mock-server pod id]</a:t>
            </a:r>
          </a:p>
          <a:p>
            <a:r>
              <a:rPr kumimoji="1" lang="en" altLang="ko-KR" sz="800" i="1"/>
              <a:t>x-envoy-peer-metadata : [mock-server pod info]</a:t>
            </a:r>
            <a:br>
              <a:rPr kumimoji="1" lang="en" altLang="ko-KR" sz="800" i="1"/>
            </a:br>
            <a:r>
              <a:rPr kumimoji="1" lang="en" altLang="ko-KR" sz="800" i="1"/>
              <a:t>server : istio-envoy</a:t>
            </a:r>
            <a:endParaRPr kumimoji="1" lang="ko-KR" altLang="en-US" sz="800" i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9BE27-966F-D685-2FB4-3181A99DC014}"/>
              </a:ext>
            </a:extLst>
          </p:cNvPr>
          <p:cNvSpPr txBox="1"/>
          <p:nvPr/>
        </p:nvSpPr>
        <p:spPr>
          <a:xfrm>
            <a:off x="595929" y="3341830"/>
            <a:ext cx="247424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ko-KR" sz="800" i="1"/>
              <a:t>x-envoy-upstream-service-time : [process time]</a:t>
            </a:r>
            <a:br>
              <a:rPr kumimoji="1" lang="en" altLang="ko-KR" sz="800" i="1"/>
            </a:br>
            <a:r>
              <a:rPr kumimoji="1" lang="en" altLang="ko-KR" sz="800" i="1"/>
              <a:t>server : istio-envoy</a:t>
            </a:r>
            <a:endParaRPr kumimoji="1" lang="ko-KR" altLang="en-US" sz="800" i="1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E26174FA-23AD-61E6-1898-EE5790136827}"/>
              </a:ext>
            </a:extLst>
          </p:cNvPr>
          <p:cNvSpPr/>
          <p:nvPr/>
        </p:nvSpPr>
        <p:spPr>
          <a:xfrm>
            <a:off x="1141234" y="231972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1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38CA35DD-7C88-67C9-2C85-5CB7ED645AA9}"/>
              </a:ext>
            </a:extLst>
          </p:cNvPr>
          <p:cNvSpPr/>
          <p:nvPr/>
        </p:nvSpPr>
        <p:spPr>
          <a:xfrm>
            <a:off x="3234476" y="231972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2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03047B94-3697-64AB-C6C9-F3B087AA36D5}"/>
              </a:ext>
            </a:extLst>
          </p:cNvPr>
          <p:cNvSpPr/>
          <p:nvPr/>
        </p:nvSpPr>
        <p:spPr>
          <a:xfrm>
            <a:off x="6270775" y="231972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3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70F4A3B3-288D-0B58-AE37-F97010BD61BA}"/>
              </a:ext>
            </a:extLst>
          </p:cNvPr>
          <p:cNvSpPr/>
          <p:nvPr/>
        </p:nvSpPr>
        <p:spPr>
          <a:xfrm>
            <a:off x="7720437" y="259510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4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FAE9EF4D-BE61-93DE-FCC8-D126CA074930}"/>
              </a:ext>
            </a:extLst>
          </p:cNvPr>
          <p:cNvSpPr/>
          <p:nvPr/>
        </p:nvSpPr>
        <p:spPr>
          <a:xfrm>
            <a:off x="5379493" y="259510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5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FEB2809-A5BA-0783-3F1E-3E0481AA9E07}"/>
              </a:ext>
            </a:extLst>
          </p:cNvPr>
          <p:cNvSpPr/>
          <p:nvPr/>
        </p:nvSpPr>
        <p:spPr>
          <a:xfrm>
            <a:off x="2343194" y="259510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>
                <a:solidFill>
                  <a:schemeClr val="tx1"/>
                </a:solidFill>
              </a:rPr>
              <a:t>6</a:t>
            </a:r>
            <a:endParaRPr kumimoji="1" lang="ko-KR" altLang="en-US" sz="1050">
              <a:solidFill>
                <a:schemeClr val="tx1"/>
              </a:solidFill>
            </a:endParaRPr>
          </a:p>
        </p:txBody>
      </p: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011129BE-61FF-DBA5-9263-479F25E6A891}"/>
              </a:ext>
            </a:extLst>
          </p:cNvPr>
          <p:cNvCxnSpPr>
            <a:cxnSpLocks/>
            <a:stCxn id="55" idx="0"/>
            <a:endCxn id="47" idx="2"/>
          </p:cNvCxnSpPr>
          <p:nvPr/>
        </p:nvCxnSpPr>
        <p:spPr>
          <a:xfrm flipV="1">
            <a:off x="3342488" y="2056465"/>
            <a:ext cx="1072508" cy="2632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9B57E14C-B4BE-52FE-DD36-6D1DCEEAEAC4}"/>
              </a:ext>
            </a:extLst>
          </p:cNvPr>
          <p:cNvCxnSpPr>
            <a:cxnSpLocks/>
            <a:stCxn id="56" idx="1"/>
            <a:endCxn id="50" idx="2"/>
          </p:cNvCxnSpPr>
          <p:nvPr/>
        </p:nvCxnSpPr>
        <p:spPr>
          <a:xfrm flipV="1">
            <a:off x="6302411" y="2055462"/>
            <a:ext cx="847072" cy="29589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65C38A34-8B1E-3FFD-AFEE-D6981DA688ED}"/>
              </a:ext>
            </a:extLst>
          </p:cNvPr>
          <p:cNvCxnSpPr>
            <a:cxnSpLocks/>
            <a:stCxn id="51" idx="0"/>
            <a:endCxn id="58" idx="4"/>
          </p:cNvCxnSpPr>
          <p:nvPr/>
        </p:nvCxnSpPr>
        <p:spPr>
          <a:xfrm flipV="1">
            <a:off x="4414996" y="2811125"/>
            <a:ext cx="1072509" cy="5307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id="{80E16261-3BC3-8E37-0FD7-28C126E368B4}"/>
              </a:ext>
            </a:extLst>
          </p:cNvPr>
          <p:cNvCxnSpPr>
            <a:cxnSpLocks/>
            <a:stCxn id="52" idx="0"/>
            <a:endCxn id="59" idx="4"/>
          </p:cNvCxnSpPr>
          <p:nvPr/>
        </p:nvCxnSpPr>
        <p:spPr>
          <a:xfrm flipV="1">
            <a:off x="1833053" y="2811125"/>
            <a:ext cx="618153" cy="5307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28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1732-004B-1080-5A4B-6E97898E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D1C6B-1951-402E-604B-8DFAE4A3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636D9-0DCF-66B0-651C-09D5F0A1D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97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65452</TotalTime>
  <Words>277</Words>
  <Application>Microsoft Macintosh PowerPoint</Application>
  <PresentationFormat>화면 슬라이드 쇼(16:9)</PresentationFormat>
  <Paragraphs>89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5709</cp:revision>
  <dcterms:created xsi:type="dcterms:W3CDTF">2006-10-05T04:04:58Z</dcterms:created>
  <dcterms:modified xsi:type="dcterms:W3CDTF">2026-08-31T17:56:59Z</dcterms:modified>
</cp:coreProperties>
</file>