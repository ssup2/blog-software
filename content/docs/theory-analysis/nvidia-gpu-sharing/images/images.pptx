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9"/>
  </p:notesMasterIdLst>
  <p:sldIdLst>
    <p:sldId id="422" r:id="rId2"/>
    <p:sldId id="441" r:id="rId3"/>
    <p:sldId id="430" r:id="rId4"/>
    <p:sldId id="440" r:id="rId5"/>
    <p:sldId id="429" r:id="rId6"/>
    <p:sldId id="439" r:id="rId7"/>
    <p:sldId id="424" r:id="rId8"/>
    <p:sldId id="442" r:id="rId9"/>
    <p:sldId id="438" r:id="rId10"/>
    <p:sldId id="425" r:id="rId11"/>
    <p:sldId id="448" r:id="rId12"/>
    <p:sldId id="423" r:id="rId13"/>
    <p:sldId id="445" r:id="rId14"/>
    <p:sldId id="444" r:id="rId15"/>
    <p:sldId id="443" r:id="rId16"/>
    <p:sldId id="446" r:id="rId17"/>
    <p:sldId id="447" r:id="rId18"/>
    <p:sldId id="433" r:id="rId19"/>
    <p:sldId id="435" r:id="rId20"/>
    <p:sldId id="436" r:id="rId21"/>
    <p:sldId id="437" r:id="rId22"/>
    <p:sldId id="434" r:id="rId23"/>
    <p:sldId id="432" r:id="rId24"/>
    <p:sldId id="431" r:id="rId25"/>
    <p:sldId id="427" r:id="rId26"/>
    <p:sldId id="428" r:id="rId27"/>
    <p:sldId id="421" r:id="rId28"/>
  </p:sldIdLst>
  <p:sldSz cx="9144000" cy="5143500" type="screen16x9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16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B301B821-A1FF-4177-AEE7-76D212191A09}" styleName="보통 스타일 1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BC89EF96-8CEA-46FF-86C4-4CE0E7609802}" styleName="밝은 스타일 3 - 강조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787" autoAdjust="0"/>
    <p:restoredTop sz="87520" autoAdjust="0"/>
  </p:normalViewPr>
  <p:slideViewPr>
    <p:cSldViewPr>
      <p:cViewPr>
        <p:scale>
          <a:sx n="200" d="100"/>
          <a:sy n="200" d="100"/>
        </p:scale>
        <p:origin x="648" y="1136"/>
      </p:cViewPr>
      <p:guideLst>
        <p:guide orient="horz" pos="2160"/>
        <p:guide pos="2880"/>
        <p:guide orient="horz" pos="16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D5550B-26C4-49A9-A5BA-636EF7BE6CE9}" type="datetimeFigureOut">
              <a:rPr lang="ko-KR" altLang="en-US" smtClean="0"/>
              <a:t>2026. 3. 23.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5DFA43-8D57-47FB-BC46-057616015C3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33502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5DFA43-8D57-47FB-BC46-057616015C3B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14734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5DFA43-8D57-47FB-BC46-057616015C3B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11883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5DFA43-8D57-47FB-BC46-057616015C3B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29317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1597820"/>
            <a:ext cx="7772400" cy="1102519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2026. 3. 23.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2026. 3. 23.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2026. 3. 23.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2026. 3. 23.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8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8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2026. 3. 23.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2026. 3. 23.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2026. 3. 23.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3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3" y="1076327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2026. 3. 23.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2026. 3. 23.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2026. 3. 23.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4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2026. 3. 23.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30EDBD-1C2D-4C1E-B459-B60219FAB484}" type="datetimeFigureOut">
              <a:rPr lang="ko-KR" altLang="en-US" smtClean="0"/>
              <a:t>2026. 3. 23.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7B11F11-D42D-3599-4CAA-04CE5FB7F9F6}"/>
              </a:ext>
            </a:extLst>
          </p:cNvPr>
          <p:cNvSpPr txBox="1">
            <a:spLocks/>
          </p:cNvSpPr>
          <p:nvPr/>
        </p:nvSpPr>
        <p:spPr>
          <a:xfrm>
            <a:off x="457200" y="-141895"/>
            <a:ext cx="8229600" cy="857250"/>
          </a:xfrm>
          <a:prstGeom prst="rect">
            <a:avLst/>
          </a:prstGeom>
        </p:spPr>
        <p:txBody>
          <a:bodyPr/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dirty="0"/>
              <a:t>CUDA Apps</a:t>
            </a:r>
            <a:endParaRPr lang="ko-KR" altLang="en-US" dirty="0"/>
          </a:p>
        </p:txBody>
      </p:sp>
      <p:sp>
        <p:nvSpPr>
          <p:cNvPr id="8" name="모서리가 둥근 직사각형 7">
            <a:extLst>
              <a:ext uri="{FF2B5EF4-FFF2-40B4-BE49-F238E27FC236}">
                <a16:creationId xmlns:a16="http://schemas.microsoft.com/office/drawing/2014/main" id="{0EF48189-BA69-88F7-13F9-6C005C897FAA}"/>
              </a:ext>
            </a:extLst>
          </p:cNvPr>
          <p:cNvSpPr/>
          <p:nvPr/>
        </p:nvSpPr>
        <p:spPr>
          <a:xfrm>
            <a:off x="718555" y="723614"/>
            <a:ext cx="3682752" cy="1848136"/>
          </a:xfrm>
          <a:prstGeom prst="roundRect">
            <a:avLst>
              <a:gd name="adj" fmla="val 5166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kumimoji="1" lang="en-US" altLang="ko-KR" sz="1000" b="1">
                <a:solidFill>
                  <a:schemeClr val="tx1"/>
                </a:solidFill>
              </a:rPr>
              <a:t>CUDA App A</a:t>
            </a:r>
            <a:endParaRPr kumimoji="1" lang="ko-KR" altLang="en-US" sz="1000" b="1">
              <a:solidFill>
                <a:schemeClr val="tx1"/>
              </a:solidFill>
            </a:endParaRPr>
          </a:p>
        </p:txBody>
      </p: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CB68A536-6E35-8DE7-72C7-976692BCBDF3}"/>
              </a:ext>
            </a:extLst>
          </p:cNvPr>
          <p:cNvGrpSpPr/>
          <p:nvPr/>
        </p:nvGrpSpPr>
        <p:grpSpPr>
          <a:xfrm>
            <a:off x="849362" y="843558"/>
            <a:ext cx="3421137" cy="1437452"/>
            <a:chOff x="574798" y="826096"/>
            <a:chExt cx="3421137" cy="1437452"/>
          </a:xfrm>
        </p:grpSpPr>
        <p:sp>
          <p:nvSpPr>
            <p:cNvPr id="10" name="모서리가 둥근 직사각형 9">
              <a:extLst>
                <a:ext uri="{FF2B5EF4-FFF2-40B4-BE49-F238E27FC236}">
                  <a16:creationId xmlns:a16="http://schemas.microsoft.com/office/drawing/2014/main" id="{977CCB32-8A0B-A91F-51E6-385802CBF3B7}"/>
                </a:ext>
              </a:extLst>
            </p:cNvPr>
            <p:cNvSpPr/>
            <p:nvPr/>
          </p:nvSpPr>
          <p:spPr>
            <a:xfrm>
              <a:off x="1150863" y="907411"/>
              <a:ext cx="1656184" cy="288032"/>
            </a:xfrm>
            <a:prstGeom prst="roundRect">
              <a:avLst>
                <a:gd name="adj" fmla="val 15432"/>
              </a:avLst>
            </a:prstGeom>
            <a:solidFill>
              <a:schemeClr val="accent1">
                <a:lumMod val="20000"/>
                <a:lumOff val="8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900">
                  <a:solidFill>
                    <a:schemeClr val="tx1"/>
                  </a:solidFill>
                </a:rPr>
                <a:t>Kernel A1</a:t>
              </a:r>
              <a:endParaRPr kumimoji="1" lang="ko-KR" altLang="en-US" sz="900">
                <a:solidFill>
                  <a:schemeClr val="tx1"/>
                </a:solidFill>
              </a:endParaRPr>
            </a:p>
          </p:txBody>
        </p:sp>
        <p:sp>
          <p:nvSpPr>
            <p:cNvPr id="11" name="모서리가 둥근 직사각형 10">
              <a:extLst>
                <a:ext uri="{FF2B5EF4-FFF2-40B4-BE49-F238E27FC236}">
                  <a16:creationId xmlns:a16="http://schemas.microsoft.com/office/drawing/2014/main" id="{09A5D9C6-BBA3-0197-B9D4-FF6B1888BEE0}"/>
                </a:ext>
              </a:extLst>
            </p:cNvPr>
            <p:cNvSpPr/>
            <p:nvPr/>
          </p:nvSpPr>
          <p:spPr>
            <a:xfrm>
              <a:off x="1150863" y="1859789"/>
              <a:ext cx="1653356" cy="288032"/>
            </a:xfrm>
            <a:prstGeom prst="roundRect">
              <a:avLst>
                <a:gd name="adj" fmla="val 15432"/>
              </a:avLst>
            </a:prstGeom>
            <a:solidFill>
              <a:schemeClr val="accent1">
                <a:lumMod val="20000"/>
                <a:lumOff val="8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900">
                  <a:solidFill>
                    <a:schemeClr val="tx1"/>
                  </a:solidFill>
                </a:rPr>
                <a:t>Kernel A3</a:t>
              </a:r>
              <a:endParaRPr kumimoji="1" lang="ko-KR" altLang="en-US" sz="900">
                <a:solidFill>
                  <a:schemeClr val="tx1"/>
                </a:solidFill>
              </a:endParaRPr>
            </a:p>
          </p:txBody>
        </p:sp>
        <p:sp>
          <p:nvSpPr>
            <p:cNvPr id="12" name="모서리가 둥근 직사각형 11">
              <a:extLst>
                <a:ext uri="{FF2B5EF4-FFF2-40B4-BE49-F238E27FC236}">
                  <a16:creationId xmlns:a16="http://schemas.microsoft.com/office/drawing/2014/main" id="{71B0296D-CAB7-CD4B-89E5-E14E37D2C4D3}"/>
                </a:ext>
              </a:extLst>
            </p:cNvPr>
            <p:cNvSpPr/>
            <p:nvPr/>
          </p:nvSpPr>
          <p:spPr>
            <a:xfrm>
              <a:off x="3048744" y="907411"/>
              <a:ext cx="864096" cy="288032"/>
            </a:xfrm>
            <a:prstGeom prst="roundRect">
              <a:avLst>
                <a:gd name="adj" fmla="val 15432"/>
              </a:avLst>
            </a:prstGeom>
            <a:solidFill>
              <a:schemeClr val="accent1">
                <a:lumMod val="20000"/>
                <a:lumOff val="8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900">
                  <a:solidFill>
                    <a:schemeClr val="tx1"/>
                  </a:solidFill>
                </a:rPr>
                <a:t>Kernel A4</a:t>
              </a:r>
              <a:endParaRPr kumimoji="1" lang="ko-KR" altLang="en-US" sz="900">
                <a:solidFill>
                  <a:schemeClr val="tx1"/>
                </a:solidFill>
              </a:endParaRPr>
            </a:p>
          </p:txBody>
        </p:sp>
        <p:sp>
          <p:nvSpPr>
            <p:cNvPr id="23" name="모서리가 둥근 직사각형 22">
              <a:extLst>
                <a:ext uri="{FF2B5EF4-FFF2-40B4-BE49-F238E27FC236}">
                  <a16:creationId xmlns:a16="http://schemas.microsoft.com/office/drawing/2014/main" id="{E6EE8DC7-838F-6C71-AE3F-D3E5C10D4C52}"/>
                </a:ext>
              </a:extLst>
            </p:cNvPr>
            <p:cNvSpPr/>
            <p:nvPr/>
          </p:nvSpPr>
          <p:spPr>
            <a:xfrm>
              <a:off x="574798" y="826096"/>
              <a:ext cx="3421137" cy="809550"/>
            </a:xfrm>
            <a:prstGeom prst="roundRect">
              <a:avLst>
                <a:gd name="adj" fmla="val 12487"/>
              </a:avLst>
            </a:prstGeom>
            <a:noFill/>
            <a:ln w="12700"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ko-KR" sz="1000">
                  <a:solidFill>
                    <a:schemeClr val="tx1"/>
                  </a:solidFill>
                </a:rPr>
                <a:t>Stream</a:t>
              </a:r>
              <a:endParaRPr kumimoji="1" lang="ko-KR" altLang="en-US" sz="1000">
                <a:solidFill>
                  <a:schemeClr val="tx1"/>
                </a:solidFill>
              </a:endParaRPr>
            </a:p>
          </p:txBody>
        </p:sp>
        <p:sp>
          <p:nvSpPr>
            <p:cNvPr id="25" name="모서리가 둥근 직사각형 24">
              <a:extLst>
                <a:ext uri="{FF2B5EF4-FFF2-40B4-BE49-F238E27FC236}">
                  <a16:creationId xmlns:a16="http://schemas.microsoft.com/office/drawing/2014/main" id="{CAEA42A9-C65A-3A16-9366-DB7357065F1C}"/>
                </a:ext>
              </a:extLst>
            </p:cNvPr>
            <p:cNvSpPr/>
            <p:nvPr/>
          </p:nvSpPr>
          <p:spPr>
            <a:xfrm>
              <a:off x="1150863" y="1271528"/>
              <a:ext cx="864096" cy="288032"/>
            </a:xfrm>
            <a:prstGeom prst="roundRect">
              <a:avLst>
                <a:gd name="adj" fmla="val 15432"/>
              </a:avLst>
            </a:prstGeom>
            <a:solidFill>
              <a:schemeClr val="accent1">
                <a:lumMod val="20000"/>
                <a:lumOff val="8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900">
                  <a:solidFill>
                    <a:schemeClr val="tx1"/>
                  </a:solidFill>
                </a:rPr>
                <a:t>Kernel A2</a:t>
              </a:r>
              <a:endParaRPr kumimoji="1" lang="ko-KR" altLang="en-US" sz="900">
                <a:solidFill>
                  <a:schemeClr val="tx1"/>
                </a:solidFill>
              </a:endParaRPr>
            </a:p>
          </p:txBody>
        </p:sp>
        <p:sp>
          <p:nvSpPr>
            <p:cNvPr id="26" name="모서리가 둥근 직사각형 25">
              <a:extLst>
                <a:ext uri="{FF2B5EF4-FFF2-40B4-BE49-F238E27FC236}">
                  <a16:creationId xmlns:a16="http://schemas.microsoft.com/office/drawing/2014/main" id="{59852D17-FB7A-4DF2-9B42-EA4136137156}"/>
                </a:ext>
              </a:extLst>
            </p:cNvPr>
            <p:cNvSpPr/>
            <p:nvPr/>
          </p:nvSpPr>
          <p:spPr>
            <a:xfrm>
              <a:off x="574799" y="1744063"/>
              <a:ext cx="3421136" cy="519485"/>
            </a:xfrm>
            <a:prstGeom prst="roundRect">
              <a:avLst>
                <a:gd name="adj" fmla="val 12487"/>
              </a:avLst>
            </a:prstGeom>
            <a:noFill/>
            <a:ln w="12700"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ko-KR" sz="1000">
                  <a:solidFill>
                    <a:schemeClr val="tx1"/>
                  </a:solidFill>
                </a:rPr>
                <a:t>Stream</a:t>
              </a:r>
              <a:endParaRPr kumimoji="1" lang="ko-KR" altLang="en-US" sz="1000">
                <a:solidFill>
                  <a:schemeClr val="tx1"/>
                </a:solidFill>
              </a:endParaRPr>
            </a:p>
          </p:txBody>
        </p:sp>
      </p:grpSp>
      <p:sp>
        <p:nvSpPr>
          <p:cNvPr id="29" name="모서리가 둥근 직사각형 28">
            <a:extLst>
              <a:ext uri="{FF2B5EF4-FFF2-40B4-BE49-F238E27FC236}">
                <a16:creationId xmlns:a16="http://schemas.microsoft.com/office/drawing/2014/main" id="{96C6CA93-981E-C9AC-EEED-C94EE324EC7A}"/>
              </a:ext>
            </a:extLst>
          </p:cNvPr>
          <p:cNvSpPr/>
          <p:nvPr/>
        </p:nvSpPr>
        <p:spPr>
          <a:xfrm>
            <a:off x="4716016" y="723614"/>
            <a:ext cx="3682752" cy="1848136"/>
          </a:xfrm>
          <a:prstGeom prst="roundRect">
            <a:avLst>
              <a:gd name="adj" fmla="val 5166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kumimoji="1" lang="en-US" altLang="ko-KR" sz="1000" b="1">
                <a:solidFill>
                  <a:schemeClr val="tx1"/>
                </a:solidFill>
              </a:rPr>
              <a:t>CUDA App B</a:t>
            </a:r>
            <a:endParaRPr kumimoji="1" lang="ko-KR" altLang="en-US" sz="1000" b="1">
              <a:solidFill>
                <a:schemeClr val="tx1"/>
              </a:solidFill>
            </a:endParaRPr>
          </a:p>
        </p:txBody>
      </p: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729FE195-C856-F870-A669-31CC8543A8A8}"/>
              </a:ext>
            </a:extLst>
          </p:cNvPr>
          <p:cNvGrpSpPr/>
          <p:nvPr/>
        </p:nvGrpSpPr>
        <p:grpSpPr>
          <a:xfrm>
            <a:off x="4846823" y="843558"/>
            <a:ext cx="3421137" cy="1437452"/>
            <a:chOff x="574798" y="826096"/>
            <a:chExt cx="3421137" cy="1437452"/>
          </a:xfrm>
        </p:grpSpPr>
        <p:sp>
          <p:nvSpPr>
            <p:cNvPr id="31" name="모서리가 둥근 직사각형 30">
              <a:extLst>
                <a:ext uri="{FF2B5EF4-FFF2-40B4-BE49-F238E27FC236}">
                  <a16:creationId xmlns:a16="http://schemas.microsoft.com/office/drawing/2014/main" id="{F86B7F2A-F469-17AA-26A4-03CAC51DAB9A}"/>
                </a:ext>
              </a:extLst>
            </p:cNvPr>
            <p:cNvSpPr/>
            <p:nvPr/>
          </p:nvSpPr>
          <p:spPr>
            <a:xfrm>
              <a:off x="1150863" y="907411"/>
              <a:ext cx="1656184" cy="288032"/>
            </a:xfrm>
            <a:prstGeom prst="roundRect">
              <a:avLst>
                <a:gd name="adj" fmla="val 15432"/>
              </a:avLst>
            </a:prstGeom>
            <a:solidFill>
              <a:schemeClr val="accent3">
                <a:lumMod val="20000"/>
                <a:lumOff val="8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900">
                  <a:solidFill>
                    <a:schemeClr val="tx1"/>
                  </a:solidFill>
                </a:rPr>
                <a:t>Kernel B1</a:t>
              </a:r>
              <a:endParaRPr kumimoji="1" lang="ko-KR" altLang="en-US" sz="900">
                <a:solidFill>
                  <a:schemeClr val="tx1"/>
                </a:solidFill>
              </a:endParaRPr>
            </a:p>
          </p:txBody>
        </p:sp>
        <p:sp>
          <p:nvSpPr>
            <p:cNvPr id="32" name="모서리가 둥근 직사각형 31">
              <a:extLst>
                <a:ext uri="{FF2B5EF4-FFF2-40B4-BE49-F238E27FC236}">
                  <a16:creationId xmlns:a16="http://schemas.microsoft.com/office/drawing/2014/main" id="{0E2B865B-7194-97D2-BF2B-03E17368D09A}"/>
                </a:ext>
              </a:extLst>
            </p:cNvPr>
            <p:cNvSpPr/>
            <p:nvPr/>
          </p:nvSpPr>
          <p:spPr>
            <a:xfrm>
              <a:off x="1150863" y="1859789"/>
              <a:ext cx="864096" cy="288032"/>
            </a:xfrm>
            <a:prstGeom prst="roundRect">
              <a:avLst>
                <a:gd name="adj" fmla="val 15432"/>
              </a:avLst>
            </a:prstGeom>
            <a:solidFill>
              <a:schemeClr val="accent3">
                <a:lumMod val="20000"/>
                <a:lumOff val="8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900">
                  <a:solidFill>
                    <a:schemeClr val="tx1"/>
                  </a:solidFill>
                </a:rPr>
                <a:t>Kernel B3</a:t>
              </a:r>
              <a:endParaRPr kumimoji="1" lang="ko-KR" altLang="en-US" sz="900">
                <a:solidFill>
                  <a:schemeClr val="tx1"/>
                </a:solidFill>
              </a:endParaRPr>
            </a:p>
          </p:txBody>
        </p:sp>
        <p:sp>
          <p:nvSpPr>
            <p:cNvPr id="33" name="모서리가 둥근 직사각형 32">
              <a:extLst>
                <a:ext uri="{FF2B5EF4-FFF2-40B4-BE49-F238E27FC236}">
                  <a16:creationId xmlns:a16="http://schemas.microsoft.com/office/drawing/2014/main" id="{252839E0-EB43-506E-2AEF-E011806C74A2}"/>
                </a:ext>
              </a:extLst>
            </p:cNvPr>
            <p:cNvSpPr/>
            <p:nvPr/>
          </p:nvSpPr>
          <p:spPr>
            <a:xfrm>
              <a:off x="3048744" y="1859789"/>
              <a:ext cx="864096" cy="288032"/>
            </a:xfrm>
            <a:prstGeom prst="roundRect">
              <a:avLst>
                <a:gd name="adj" fmla="val 15432"/>
              </a:avLst>
            </a:prstGeom>
            <a:solidFill>
              <a:schemeClr val="accent3">
                <a:lumMod val="20000"/>
                <a:lumOff val="8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900">
                  <a:solidFill>
                    <a:schemeClr val="tx1"/>
                  </a:solidFill>
                </a:rPr>
                <a:t>Kernel B4</a:t>
              </a:r>
              <a:endParaRPr kumimoji="1" lang="ko-KR" altLang="en-US" sz="900">
                <a:solidFill>
                  <a:schemeClr val="tx1"/>
                </a:solidFill>
              </a:endParaRPr>
            </a:p>
          </p:txBody>
        </p:sp>
        <p:sp>
          <p:nvSpPr>
            <p:cNvPr id="34" name="모서리가 둥근 직사각형 33">
              <a:extLst>
                <a:ext uri="{FF2B5EF4-FFF2-40B4-BE49-F238E27FC236}">
                  <a16:creationId xmlns:a16="http://schemas.microsoft.com/office/drawing/2014/main" id="{E55A9179-C125-F41D-1F59-54348C05BDF5}"/>
                </a:ext>
              </a:extLst>
            </p:cNvPr>
            <p:cNvSpPr/>
            <p:nvPr/>
          </p:nvSpPr>
          <p:spPr>
            <a:xfrm>
              <a:off x="574798" y="826096"/>
              <a:ext cx="3421137" cy="809550"/>
            </a:xfrm>
            <a:prstGeom prst="roundRect">
              <a:avLst>
                <a:gd name="adj" fmla="val 12487"/>
              </a:avLst>
            </a:prstGeom>
            <a:noFill/>
            <a:ln w="12700"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ko-KR" sz="1000">
                  <a:solidFill>
                    <a:schemeClr val="tx1"/>
                  </a:solidFill>
                </a:rPr>
                <a:t>Stream</a:t>
              </a:r>
              <a:endParaRPr kumimoji="1" lang="ko-KR" altLang="en-US" sz="1000">
                <a:solidFill>
                  <a:schemeClr val="tx1"/>
                </a:solidFill>
              </a:endParaRPr>
            </a:p>
          </p:txBody>
        </p:sp>
        <p:sp>
          <p:nvSpPr>
            <p:cNvPr id="35" name="모서리가 둥근 직사각형 34">
              <a:extLst>
                <a:ext uri="{FF2B5EF4-FFF2-40B4-BE49-F238E27FC236}">
                  <a16:creationId xmlns:a16="http://schemas.microsoft.com/office/drawing/2014/main" id="{011E2EBE-DE1B-7953-637F-D41B473DEF57}"/>
                </a:ext>
              </a:extLst>
            </p:cNvPr>
            <p:cNvSpPr/>
            <p:nvPr/>
          </p:nvSpPr>
          <p:spPr>
            <a:xfrm>
              <a:off x="1150863" y="1271528"/>
              <a:ext cx="864096" cy="288032"/>
            </a:xfrm>
            <a:prstGeom prst="roundRect">
              <a:avLst>
                <a:gd name="adj" fmla="val 15432"/>
              </a:avLst>
            </a:prstGeom>
            <a:solidFill>
              <a:schemeClr val="accent3">
                <a:lumMod val="20000"/>
                <a:lumOff val="8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900">
                  <a:solidFill>
                    <a:schemeClr val="tx1"/>
                  </a:solidFill>
                </a:rPr>
                <a:t>Kernel B2</a:t>
              </a:r>
              <a:endParaRPr kumimoji="1" lang="ko-KR" altLang="en-US" sz="900">
                <a:solidFill>
                  <a:schemeClr val="tx1"/>
                </a:solidFill>
              </a:endParaRPr>
            </a:p>
          </p:txBody>
        </p:sp>
        <p:sp>
          <p:nvSpPr>
            <p:cNvPr id="36" name="모서리가 둥근 직사각형 35">
              <a:extLst>
                <a:ext uri="{FF2B5EF4-FFF2-40B4-BE49-F238E27FC236}">
                  <a16:creationId xmlns:a16="http://schemas.microsoft.com/office/drawing/2014/main" id="{8B1D1EBC-430A-8FC2-92E1-383DB0C4D598}"/>
                </a:ext>
              </a:extLst>
            </p:cNvPr>
            <p:cNvSpPr/>
            <p:nvPr/>
          </p:nvSpPr>
          <p:spPr>
            <a:xfrm>
              <a:off x="574799" y="1744063"/>
              <a:ext cx="3421136" cy="519485"/>
            </a:xfrm>
            <a:prstGeom prst="roundRect">
              <a:avLst>
                <a:gd name="adj" fmla="val 12487"/>
              </a:avLst>
            </a:prstGeom>
            <a:noFill/>
            <a:ln w="12700"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ko-KR" sz="1000">
                  <a:solidFill>
                    <a:schemeClr val="tx1"/>
                  </a:solidFill>
                </a:rPr>
                <a:t>Stream</a:t>
              </a:r>
              <a:endParaRPr kumimoji="1" lang="ko-KR" altLang="en-US" sz="1000">
                <a:solidFill>
                  <a:schemeClr val="tx1"/>
                </a:solidFill>
              </a:endParaRPr>
            </a:p>
          </p:txBody>
        </p:sp>
      </p:grpSp>
      <p:sp>
        <p:nvSpPr>
          <p:cNvPr id="37" name="모서리가 둥근 직사각형 36">
            <a:extLst>
              <a:ext uri="{FF2B5EF4-FFF2-40B4-BE49-F238E27FC236}">
                <a16:creationId xmlns:a16="http://schemas.microsoft.com/office/drawing/2014/main" id="{DDA8E23A-E43C-C6EE-CA88-E1FF9387CADB}"/>
              </a:ext>
            </a:extLst>
          </p:cNvPr>
          <p:cNvSpPr/>
          <p:nvPr/>
        </p:nvSpPr>
        <p:spPr>
          <a:xfrm>
            <a:off x="2730624" y="2859782"/>
            <a:ext cx="3682752" cy="1848136"/>
          </a:xfrm>
          <a:prstGeom prst="roundRect">
            <a:avLst>
              <a:gd name="adj" fmla="val 5166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kumimoji="1" lang="en-US" altLang="ko-KR" sz="1000" b="1">
                <a:solidFill>
                  <a:schemeClr val="tx1"/>
                </a:solidFill>
              </a:rPr>
              <a:t>CUDA App C</a:t>
            </a:r>
            <a:endParaRPr kumimoji="1" lang="ko-KR" altLang="en-US" sz="1000" b="1">
              <a:solidFill>
                <a:schemeClr val="tx1"/>
              </a:solidFill>
            </a:endParaRPr>
          </a:p>
        </p:txBody>
      </p: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A7D3C32A-E833-6278-F439-CF0E085495FC}"/>
              </a:ext>
            </a:extLst>
          </p:cNvPr>
          <p:cNvGrpSpPr/>
          <p:nvPr/>
        </p:nvGrpSpPr>
        <p:grpSpPr>
          <a:xfrm>
            <a:off x="2861431" y="2979726"/>
            <a:ext cx="3421137" cy="1437452"/>
            <a:chOff x="574798" y="826096"/>
            <a:chExt cx="3421137" cy="1437452"/>
          </a:xfrm>
        </p:grpSpPr>
        <p:sp>
          <p:nvSpPr>
            <p:cNvPr id="39" name="모서리가 둥근 직사각형 38">
              <a:extLst>
                <a:ext uri="{FF2B5EF4-FFF2-40B4-BE49-F238E27FC236}">
                  <a16:creationId xmlns:a16="http://schemas.microsoft.com/office/drawing/2014/main" id="{F43C4AA4-6D15-2EA8-E9C1-83704684C1BF}"/>
                </a:ext>
              </a:extLst>
            </p:cNvPr>
            <p:cNvSpPr/>
            <p:nvPr/>
          </p:nvSpPr>
          <p:spPr>
            <a:xfrm>
              <a:off x="1150863" y="907411"/>
              <a:ext cx="864096" cy="288032"/>
            </a:xfrm>
            <a:prstGeom prst="roundRect">
              <a:avLst>
                <a:gd name="adj" fmla="val 15432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900">
                  <a:solidFill>
                    <a:schemeClr val="tx1"/>
                  </a:solidFill>
                </a:rPr>
                <a:t>Kernel C1</a:t>
              </a:r>
              <a:endParaRPr kumimoji="1" lang="ko-KR" altLang="en-US" sz="900">
                <a:solidFill>
                  <a:schemeClr val="tx1"/>
                </a:solidFill>
              </a:endParaRPr>
            </a:p>
          </p:txBody>
        </p:sp>
        <p:sp>
          <p:nvSpPr>
            <p:cNvPr id="40" name="모서리가 둥근 직사각형 39">
              <a:extLst>
                <a:ext uri="{FF2B5EF4-FFF2-40B4-BE49-F238E27FC236}">
                  <a16:creationId xmlns:a16="http://schemas.microsoft.com/office/drawing/2014/main" id="{827B156C-C5AB-9897-DD19-AFD79773B979}"/>
                </a:ext>
              </a:extLst>
            </p:cNvPr>
            <p:cNvSpPr/>
            <p:nvPr/>
          </p:nvSpPr>
          <p:spPr>
            <a:xfrm>
              <a:off x="1150863" y="1859789"/>
              <a:ext cx="864096" cy="288032"/>
            </a:xfrm>
            <a:prstGeom prst="roundRect">
              <a:avLst>
                <a:gd name="adj" fmla="val 15432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900">
                  <a:solidFill>
                    <a:schemeClr val="tx1"/>
                  </a:solidFill>
                </a:rPr>
                <a:t>Kernel C3</a:t>
              </a:r>
              <a:endParaRPr kumimoji="1" lang="ko-KR" altLang="en-US" sz="900">
                <a:solidFill>
                  <a:schemeClr val="tx1"/>
                </a:solidFill>
              </a:endParaRPr>
            </a:p>
          </p:txBody>
        </p:sp>
        <p:sp>
          <p:nvSpPr>
            <p:cNvPr id="41" name="모서리가 둥근 직사각형 40">
              <a:extLst>
                <a:ext uri="{FF2B5EF4-FFF2-40B4-BE49-F238E27FC236}">
                  <a16:creationId xmlns:a16="http://schemas.microsoft.com/office/drawing/2014/main" id="{E87A6927-1904-BF2A-101E-AE3EE092C304}"/>
                </a:ext>
              </a:extLst>
            </p:cNvPr>
            <p:cNvSpPr/>
            <p:nvPr/>
          </p:nvSpPr>
          <p:spPr>
            <a:xfrm>
              <a:off x="3048744" y="1859789"/>
              <a:ext cx="864096" cy="288032"/>
            </a:xfrm>
            <a:prstGeom prst="roundRect">
              <a:avLst>
                <a:gd name="adj" fmla="val 15432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900">
                  <a:solidFill>
                    <a:schemeClr val="tx1"/>
                  </a:solidFill>
                </a:rPr>
                <a:t>Kernel C5</a:t>
              </a:r>
              <a:endParaRPr kumimoji="1" lang="ko-KR" altLang="en-US" sz="900">
                <a:solidFill>
                  <a:schemeClr val="tx1"/>
                </a:solidFill>
              </a:endParaRPr>
            </a:p>
          </p:txBody>
        </p:sp>
        <p:sp>
          <p:nvSpPr>
            <p:cNvPr id="42" name="모서리가 둥근 직사각형 41">
              <a:extLst>
                <a:ext uri="{FF2B5EF4-FFF2-40B4-BE49-F238E27FC236}">
                  <a16:creationId xmlns:a16="http://schemas.microsoft.com/office/drawing/2014/main" id="{072C5278-ED88-7951-1F16-D999E88F0ABF}"/>
                </a:ext>
              </a:extLst>
            </p:cNvPr>
            <p:cNvSpPr/>
            <p:nvPr/>
          </p:nvSpPr>
          <p:spPr>
            <a:xfrm>
              <a:off x="574798" y="826096"/>
              <a:ext cx="3421137" cy="809550"/>
            </a:xfrm>
            <a:prstGeom prst="roundRect">
              <a:avLst>
                <a:gd name="adj" fmla="val 12487"/>
              </a:avLst>
            </a:prstGeom>
            <a:noFill/>
            <a:ln w="12700"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ko-KR" sz="1000">
                  <a:solidFill>
                    <a:schemeClr val="tx1"/>
                  </a:solidFill>
                </a:rPr>
                <a:t>Stream</a:t>
              </a:r>
              <a:endParaRPr kumimoji="1" lang="ko-KR" altLang="en-US" sz="1000">
                <a:solidFill>
                  <a:schemeClr val="tx1"/>
                </a:solidFill>
              </a:endParaRPr>
            </a:p>
          </p:txBody>
        </p:sp>
        <p:sp>
          <p:nvSpPr>
            <p:cNvPr id="43" name="모서리가 둥근 직사각형 42">
              <a:extLst>
                <a:ext uri="{FF2B5EF4-FFF2-40B4-BE49-F238E27FC236}">
                  <a16:creationId xmlns:a16="http://schemas.microsoft.com/office/drawing/2014/main" id="{CA267AFA-8650-8F31-0210-EBF65A43730E}"/>
                </a:ext>
              </a:extLst>
            </p:cNvPr>
            <p:cNvSpPr/>
            <p:nvPr/>
          </p:nvSpPr>
          <p:spPr>
            <a:xfrm>
              <a:off x="1150863" y="1271528"/>
              <a:ext cx="1656184" cy="288032"/>
            </a:xfrm>
            <a:prstGeom prst="roundRect">
              <a:avLst>
                <a:gd name="adj" fmla="val 15432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900">
                  <a:solidFill>
                    <a:schemeClr val="tx1"/>
                  </a:solidFill>
                </a:rPr>
                <a:t>Kernel C2</a:t>
              </a:r>
              <a:endParaRPr kumimoji="1" lang="ko-KR" altLang="en-US" sz="900">
                <a:solidFill>
                  <a:schemeClr val="tx1"/>
                </a:solidFill>
              </a:endParaRPr>
            </a:p>
          </p:txBody>
        </p:sp>
        <p:sp>
          <p:nvSpPr>
            <p:cNvPr id="44" name="모서리가 둥근 직사각형 43">
              <a:extLst>
                <a:ext uri="{FF2B5EF4-FFF2-40B4-BE49-F238E27FC236}">
                  <a16:creationId xmlns:a16="http://schemas.microsoft.com/office/drawing/2014/main" id="{FB9D3E7E-04B3-EC3D-C464-A3A46E10AD16}"/>
                </a:ext>
              </a:extLst>
            </p:cNvPr>
            <p:cNvSpPr/>
            <p:nvPr/>
          </p:nvSpPr>
          <p:spPr>
            <a:xfrm>
              <a:off x="574799" y="1744063"/>
              <a:ext cx="3421136" cy="519485"/>
            </a:xfrm>
            <a:prstGeom prst="roundRect">
              <a:avLst>
                <a:gd name="adj" fmla="val 12487"/>
              </a:avLst>
            </a:prstGeom>
            <a:noFill/>
            <a:ln w="12700"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ko-KR" sz="1000">
                  <a:solidFill>
                    <a:schemeClr val="tx1"/>
                  </a:solidFill>
                </a:rPr>
                <a:t>Stream</a:t>
              </a:r>
              <a:endParaRPr kumimoji="1" lang="ko-KR" altLang="en-US" sz="1000">
                <a:solidFill>
                  <a:schemeClr val="tx1"/>
                </a:solidFill>
              </a:endParaRPr>
            </a:p>
          </p:txBody>
        </p:sp>
        <p:sp>
          <p:nvSpPr>
            <p:cNvPr id="45" name="모서리가 둥근 직사각형 44">
              <a:extLst>
                <a:ext uri="{FF2B5EF4-FFF2-40B4-BE49-F238E27FC236}">
                  <a16:creationId xmlns:a16="http://schemas.microsoft.com/office/drawing/2014/main" id="{BF79A16B-4DCF-89D2-720F-D6FA4B32AD16}"/>
                </a:ext>
              </a:extLst>
            </p:cNvPr>
            <p:cNvSpPr/>
            <p:nvPr/>
          </p:nvSpPr>
          <p:spPr>
            <a:xfrm>
              <a:off x="3048744" y="907411"/>
              <a:ext cx="864096" cy="288032"/>
            </a:xfrm>
            <a:prstGeom prst="roundRect">
              <a:avLst>
                <a:gd name="adj" fmla="val 15432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900">
                  <a:solidFill>
                    <a:schemeClr val="tx1"/>
                  </a:solidFill>
                </a:rPr>
                <a:t>Kernel C4</a:t>
              </a:r>
              <a:endParaRPr kumimoji="1" lang="ko-KR" altLang="en-US" sz="90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940060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09BFAF-AA64-AD21-97FF-38F81D7471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95A17275-8C40-0017-61D9-01C97D79D940}"/>
              </a:ext>
            </a:extLst>
          </p:cNvPr>
          <p:cNvSpPr txBox="1">
            <a:spLocks/>
          </p:cNvSpPr>
          <p:nvPr/>
        </p:nvSpPr>
        <p:spPr>
          <a:xfrm>
            <a:off x="457200" y="-141895"/>
            <a:ext cx="8229600" cy="857250"/>
          </a:xfrm>
          <a:prstGeom prst="rect">
            <a:avLst/>
          </a:prstGeom>
        </p:spPr>
        <p:txBody>
          <a:bodyPr/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/>
              <a:t>Time-slicing</a:t>
            </a:r>
            <a:endParaRPr lang="ko-KR" altLang="en-US" dirty="0"/>
          </a:p>
        </p:txBody>
      </p:sp>
      <p:sp>
        <p:nvSpPr>
          <p:cNvPr id="4" name="모서리가 둥근 직사각형 3">
            <a:extLst>
              <a:ext uri="{FF2B5EF4-FFF2-40B4-BE49-F238E27FC236}">
                <a16:creationId xmlns:a16="http://schemas.microsoft.com/office/drawing/2014/main" id="{3D0987C6-996F-42D3-59B0-A51ECCC9922D}"/>
              </a:ext>
            </a:extLst>
          </p:cNvPr>
          <p:cNvSpPr/>
          <p:nvPr/>
        </p:nvSpPr>
        <p:spPr>
          <a:xfrm>
            <a:off x="323528" y="1216855"/>
            <a:ext cx="1549189" cy="720080"/>
          </a:xfrm>
          <a:prstGeom prst="roundRect">
            <a:avLst>
              <a:gd name="adj" fmla="val 9264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1000" b="1">
                <a:solidFill>
                  <a:schemeClr val="tx1"/>
                </a:solidFill>
              </a:rPr>
              <a:t>CUDA App A Process</a:t>
            </a:r>
            <a:endParaRPr kumimoji="1" lang="ko-KR" altLang="en-US" sz="1000" b="1">
              <a:solidFill>
                <a:schemeClr val="tx1"/>
              </a:solidFill>
            </a:endParaRPr>
          </a:p>
        </p:txBody>
      </p:sp>
      <p:sp>
        <p:nvSpPr>
          <p:cNvPr id="8" name="모서리가 둥근 직사각형 7">
            <a:extLst>
              <a:ext uri="{FF2B5EF4-FFF2-40B4-BE49-F238E27FC236}">
                <a16:creationId xmlns:a16="http://schemas.microsoft.com/office/drawing/2014/main" id="{1377B0EE-5082-1735-10C4-50F355DFD26F}"/>
              </a:ext>
            </a:extLst>
          </p:cNvPr>
          <p:cNvSpPr/>
          <p:nvPr/>
        </p:nvSpPr>
        <p:spPr>
          <a:xfrm>
            <a:off x="473337" y="1568534"/>
            <a:ext cx="1237375" cy="288032"/>
          </a:xfrm>
          <a:prstGeom prst="roundRect">
            <a:avLst>
              <a:gd name="adj" fmla="val 15432"/>
            </a:avLst>
          </a:prstGeom>
          <a:solidFill>
            <a:schemeClr val="accent1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CUDA Context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9" name="모서리가 둥근 직사각형 8">
            <a:extLst>
              <a:ext uri="{FF2B5EF4-FFF2-40B4-BE49-F238E27FC236}">
                <a16:creationId xmlns:a16="http://schemas.microsoft.com/office/drawing/2014/main" id="{8E566554-0381-524E-B78A-502340BF51D7}"/>
              </a:ext>
            </a:extLst>
          </p:cNvPr>
          <p:cNvSpPr/>
          <p:nvPr/>
        </p:nvSpPr>
        <p:spPr>
          <a:xfrm>
            <a:off x="2051720" y="1216855"/>
            <a:ext cx="1549189" cy="720080"/>
          </a:xfrm>
          <a:prstGeom prst="roundRect">
            <a:avLst>
              <a:gd name="adj" fmla="val 9264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1000" b="1">
                <a:solidFill>
                  <a:schemeClr val="tx1"/>
                </a:solidFill>
              </a:rPr>
              <a:t>CUDA App B Process</a:t>
            </a:r>
            <a:endParaRPr kumimoji="1" lang="ko-KR" altLang="en-US" sz="1000" b="1">
              <a:solidFill>
                <a:schemeClr val="tx1"/>
              </a:solidFill>
            </a:endParaRPr>
          </a:p>
        </p:txBody>
      </p:sp>
      <p:sp>
        <p:nvSpPr>
          <p:cNvPr id="10" name="모서리가 둥근 직사각형 9">
            <a:extLst>
              <a:ext uri="{FF2B5EF4-FFF2-40B4-BE49-F238E27FC236}">
                <a16:creationId xmlns:a16="http://schemas.microsoft.com/office/drawing/2014/main" id="{88C5A14C-8060-B6BB-D865-5DD26A0800F9}"/>
              </a:ext>
            </a:extLst>
          </p:cNvPr>
          <p:cNvSpPr/>
          <p:nvPr/>
        </p:nvSpPr>
        <p:spPr>
          <a:xfrm>
            <a:off x="3779912" y="1216855"/>
            <a:ext cx="1549189" cy="720080"/>
          </a:xfrm>
          <a:prstGeom prst="roundRect">
            <a:avLst>
              <a:gd name="adj" fmla="val 9264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1000" b="1">
                <a:solidFill>
                  <a:schemeClr val="tx1"/>
                </a:solidFill>
              </a:rPr>
              <a:t>CUDA App C Process</a:t>
            </a:r>
            <a:endParaRPr kumimoji="1" lang="ko-KR" altLang="en-US" sz="1000" b="1">
              <a:solidFill>
                <a:schemeClr val="tx1"/>
              </a:solidFill>
            </a:endParaRPr>
          </a:p>
        </p:txBody>
      </p:sp>
      <p:sp>
        <p:nvSpPr>
          <p:cNvPr id="11" name="모서리가 둥근 직사각형 10">
            <a:extLst>
              <a:ext uri="{FF2B5EF4-FFF2-40B4-BE49-F238E27FC236}">
                <a16:creationId xmlns:a16="http://schemas.microsoft.com/office/drawing/2014/main" id="{10697BF3-CA16-4CDB-F4CA-FC7284B8084D}"/>
              </a:ext>
            </a:extLst>
          </p:cNvPr>
          <p:cNvSpPr/>
          <p:nvPr/>
        </p:nvSpPr>
        <p:spPr>
          <a:xfrm>
            <a:off x="323528" y="2111920"/>
            <a:ext cx="5005573" cy="2836094"/>
          </a:xfrm>
          <a:prstGeom prst="roundRect">
            <a:avLst>
              <a:gd name="adj" fmla="val 3017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kumimoji="1" lang="en-US" altLang="ko-KR" sz="1000" b="1">
                <a:solidFill>
                  <a:schemeClr val="tx1"/>
                </a:solidFill>
              </a:rPr>
              <a:t>GPU</a:t>
            </a:r>
            <a:endParaRPr kumimoji="1" lang="ko-KR" altLang="en-US" sz="1000" b="1">
              <a:solidFill>
                <a:schemeClr val="tx1"/>
              </a:solidFill>
            </a:endParaRPr>
          </a:p>
        </p:txBody>
      </p:sp>
      <p:sp>
        <p:nvSpPr>
          <p:cNvPr id="12" name="모서리가 둥근 직사각형 11">
            <a:extLst>
              <a:ext uri="{FF2B5EF4-FFF2-40B4-BE49-F238E27FC236}">
                <a16:creationId xmlns:a16="http://schemas.microsoft.com/office/drawing/2014/main" id="{F1EC8110-9AE1-5C0C-03AF-1AD069E58A5B}"/>
              </a:ext>
            </a:extLst>
          </p:cNvPr>
          <p:cNvSpPr/>
          <p:nvPr/>
        </p:nvSpPr>
        <p:spPr>
          <a:xfrm>
            <a:off x="2207626" y="1568534"/>
            <a:ext cx="1237375" cy="288032"/>
          </a:xfrm>
          <a:prstGeom prst="roundRect">
            <a:avLst>
              <a:gd name="adj" fmla="val 15432"/>
            </a:avLst>
          </a:prstGeom>
          <a:solidFill>
            <a:schemeClr val="accent3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CUDA Context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13" name="모서리가 둥근 직사각형 12">
            <a:extLst>
              <a:ext uri="{FF2B5EF4-FFF2-40B4-BE49-F238E27FC236}">
                <a16:creationId xmlns:a16="http://schemas.microsoft.com/office/drawing/2014/main" id="{25262996-E701-C215-5813-06DACE69E7AB}"/>
              </a:ext>
            </a:extLst>
          </p:cNvPr>
          <p:cNvSpPr/>
          <p:nvPr/>
        </p:nvSpPr>
        <p:spPr>
          <a:xfrm>
            <a:off x="3935818" y="1568534"/>
            <a:ext cx="1237375" cy="288032"/>
          </a:xfrm>
          <a:prstGeom prst="roundRect">
            <a:avLst>
              <a:gd name="adj" fmla="val 15432"/>
            </a:avLst>
          </a:prstGeom>
          <a:solidFill>
            <a:schemeClr val="accent2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CUDA Context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14" name="모서리가 둥근 직사각형 13">
            <a:extLst>
              <a:ext uri="{FF2B5EF4-FFF2-40B4-BE49-F238E27FC236}">
                <a16:creationId xmlns:a16="http://schemas.microsoft.com/office/drawing/2014/main" id="{543E0A39-E6C0-EA34-5627-B0972D86622D}"/>
              </a:ext>
            </a:extLst>
          </p:cNvPr>
          <p:cNvSpPr/>
          <p:nvPr/>
        </p:nvSpPr>
        <p:spPr>
          <a:xfrm>
            <a:off x="473338" y="4393667"/>
            <a:ext cx="4705952" cy="288032"/>
          </a:xfrm>
          <a:prstGeom prst="roundRect">
            <a:avLst>
              <a:gd name="adj" fmla="val 15432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 b="1" u="sng">
                <a:solidFill>
                  <a:schemeClr val="tx1"/>
                </a:solidFill>
              </a:rPr>
              <a:t>Time-sliced</a:t>
            </a:r>
            <a:r>
              <a:rPr kumimoji="1" lang="en-US" altLang="ko-KR" sz="900">
                <a:solidFill>
                  <a:schemeClr val="tx1"/>
                </a:solidFill>
              </a:rPr>
              <a:t> GPU Context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15" name="모서리가 둥근 직사각형 14">
            <a:extLst>
              <a:ext uri="{FF2B5EF4-FFF2-40B4-BE49-F238E27FC236}">
                <a16:creationId xmlns:a16="http://schemas.microsoft.com/office/drawing/2014/main" id="{280B8D8C-E31F-20CB-49F5-731D069A048A}"/>
              </a:ext>
            </a:extLst>
          </p:cNvPr>
          <p:cNvSpPr/>
          <p:nvPr/>
        </p:nvSpPr>
        <p:spPr>
          <a:xfrm>
            <a:off x="570473" y="3343361"/>
            <a:ext cx="1043104" cy="691524"/>
          </a:xfrm>
          <a:prstGeom prst="roundRect">
            <a:avLst>
              <a:gd name="adj" fmla="val 6582"/>
            </a:avLst>
          </a:prstGeom>
          <a:solidFill>
            <a:schemeClr val="accent1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App A Memory</a:t>
            </a:r>
          </a:p>
          <a:p>
            <a:pPr algn="ctr"/>
            <a:endParaRPr kumimoji="1" lang="en-US" altLang="ko-KR" sz="900">
              <a:solidFill>
                <a:schemeClr val="tx1"/>
              </a:solidFill>
            </a:endParaRPr>
          </a:p>
          <a:p>
            <a:pPr algn="ctr"/>
            <a:r>
              <a:rPr kumimoji="1" lang="en-US" altLang="ko-KR" sz="900" b="1" u="sng">
                <a:solidFill>
                  <a:schemeClr val="tx1"/>
                </a:solidFill>
              </a:rPr>
              <a:t>GPU Context</a:t>
            </a:r>
            <a:r>
              <a:rPr kumimoji="1" lang="en-US" altLang="ko-KR" sz="900">
                <a:solidFill>
                  <a:schemeClr val="tx1"/>
                </a:solidFill>
              </a:rPr>
              <a:t>, </a:t>
            </a:r>
            <a:br>
              <a:rPr kumimoji="1" lang="en-US" altLang="ko-KR" sz="900">
                <a:solidFill>
                  <a:schemeClr val="tx1"/>
                </a:solidFill>
              </a:rPr>
            </a:br>
            <a:r>
              <a:rPr kumimoji="1" lang="en-US" altLang="ko-KR" sz="900">
                <a:solidFill>
                  <a:schemeClr val="tx1"/>
                </a:solidFill>
              </a:rPr>
              <a:t>Kernel, Data</a:t>
            </a:r>
          </a:p>
        </p:txBody>
      </p:sp>
      <p:sp>
        <p:nvSpPr>
          <p:cNvPr id="16" name="모서리가 둥근 직사각형 15">
            <a:extLst>
              <a:ext uri="{FF2B5EF4-FFF2-40B4-BE49-F238E27FC236}">
                <a16:creationId xmlns:a16="http://schemas.microsoft.com/office/drawing/2014/main" id="{BFBA934B-CC8F-BCF1-3C65-FCB28E66930C}"/>
              </a:ext>
            </a:extLst>
          </p:cNvPr>
          <p:cNvSpPr/>
          <p:nvPr/>
        </p:nvSpPr>
        <p:spPr>
          <a:xfrm>
            <a:off x="473337" y="2211710"/>
            <a:ext cx="4699856" cy="689111"/>
          </a:xfrm>
          <a:prstGeom prst="roundRect">
            <a:avLst>
              <a:gd name="adj" fmla="val 8070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900" b="1" u="sng">
                <a:solidFill>
                  <a:schemeClr val="tx1"/>
                </a:solidFill>
              </a:rPr>
              <a:t>Time-sliced</a:t>
            </a:r>
            <a:r>
              <a:rPr kumimoji="1" lang="en-US" altLang="ko-KR" sz="900">
                <a:solidFill>
                  <a:schemeClr val="tx1"/>
                </a:solidFill>
              </a:rPr>
              <a:t> SM (Streaming Multiprocessor) 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18" name="모서리가 둥근 직사각형 17">
            <a:extLst>
              <a:ext uri="{FF2B5EF4-FFF2-40B4-BE49-F238E27FC236}">
                <a16:creationId xmlns:a16="http://schemas.microsoft.com/office/drawing/2014/main" id="{FD9B6B71-D130-6D90-FAF9-76D72B63E51B}"/>
              </a:ext>
            </a:extLst>
          </p:cNvPr>
          <p:cNvSpPr/>
          <p:nvPr/>
        </p:nvSpPr>
        <p:spPr>
          <a:xfrm>
            <a:off x="2301713" y="3343361"/>
            <a:ext cx="1043104" cy="691524"/>
          </a:xfrm>
          <a:prstGeom prst="roundRect">
            <a:avLst>
              <a:gd name="adj" fmla="val 11293"/>
            </a:avLst>
          </a:prstGeom>
          <a:solidFill>
            <a:schemeClr val="accent3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App B Memory</a:t>
            </a:r>
          </a:p>
          <a:p>
            <a:pPr algn="ctr"/>
            <a:endParaRPr kumimoji="1" lang="en-US" altLang="ko-KR" sz="900">
              <a:solidFill>
                <a:schemeClr val="tx1"/>
              </a:solidFill>
            </a:endParaRPr>
          </a:p>
          <a:p>
            <a:pPr algn="ctr"/>
            <a:r>
              <a:rPr kumimoji="1" lang="en-US" altLang="ko-KR" sz="900" b="1" u="sng">
                <a:solidFill>
                  <a:schemeClr val="tx1"/>
                </a:solidFill>
              </a:rPr>
              <a:t>GPU Context</a:t>
            </a:r>
            <a:r>
              <a:rPr kumimoji="1" lang="en-US" altLang="ko-KR" sz="900">
                <a:solidFill>
                  <a:schemeClr val="tx1"/>
                </a:solidFill>
              </a:rPr>
              <a:t>, </a:t>
            </a:r>
            <a:br>
              <a:rPr kumimoji="1" lang="en-US" altLang="ko-KR" sz="900">
                <a:solidFill>
                  <a:schemeClr val="tx1"/>
                </a:solidFill>
              </a:rPr>
            </a:br>
            <a:r>
              <a:rPr kumimoji="1" lang="en-US" altLang="ko-KR" sz="900">
                <a:solidFill>
                  <a:schemeClr val="tx1"/>
                </a:solidFill>
              </a:rPr>
              <a:t>Kernel, Data</a:t>
            </a:r>
          </a:p>
        </p:txBody>
      </p:sp>
      <p:sp>
        <p:nvSpPr>
          <p:cNvPr id="19" name="모서리가 둥근 직사각형 18">
            <a:extLst>
              <a:ext uri="{FF2B5EF4-FFF2-40B4-BE49-F238E27FC236}">
                <a16:creationId xmlns:a16="http://schemas.microsoft.com/office/drawing/2014/main" id="{35620534-EBF1-C47E-54C7-B0DB80109D29}"/>
              </a:ext>
            </a:extLst>
          </p:cNvPr>
          <p:cNvSpPr/>
          <p:nvPr/>
        </p:nvSpPr>
        <p:spPr>
          <a:xfrm>
            <a:off x="4032953" y="3343361"/>
            <a:ext cx="1043104" cy="691524"/>
          </a:xfrm>
          <a:prstGeom prst="roundRect">
            <a:avLst>
              <a:gd name="adj" fmla="val 11293"/>
            </a:avLst>
          </a:prstGeom>
          <a:solidFill>
            <a:schemeClr val="accent2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App C Memory</a:t>
            </a:r>
          </a:p>
          <a:p>
            <a:pPr algn="ctr"/>
            <a:endParaRPr kumimoji="1" lang="en-US" altLang="ko-KR" sz="900">
              <a:solidFill>
                <a:schemeClr val="tx1"/>
              </a:solidFill>
            </a:endParaRPr>
          </a:p>
          <a:p>
            <a:pPr algn="ctr"/>
            <a:r>
              <a:rPr kumimoji="1" lang="en-US" altLang="ko-KR" sz="900" b="1" u="sng">
                <a:solidFill>
                  <a:schemeClr val="tx1"/>
                </a:solidFill>
              </a:rPr>
              <a:t>GPU Context</a:t>
            </a:r>
            <a:r>
              <a:rPr kumimoji="1" lang="en-US" altLang="ko-KR" sz="900">
                <a:solidFill>
                  <a:schemeClr val="tx1"/>
                </a:solidFill>
              </a:rPr>
              <a:t>, </a:t>
            </a:r>
            <a:br>
              <a:rPr kumimoji="1" lang="en-US" altLang="ko-KR" sz="900">
                <a:solidFill>
                  <a:schemeClr val="tx1"/>
                </a:solidFill>
              </a:rPr>
            </a:br>
            <a:r>
              <a:rPr kumimoji="1" lang="en-US" altLang="ko-KR" sz="900">
                <a:solidFill>
                  <a:schemeClr val="tx1"/>
                </a:solidFill>
              </a:rPr>
              <a:t>Kernel, Data</a:t>
            </a:r>
          </a:p>
        </p:txBody>
      </p: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2E13E43F-F364-5336-C00A-CE26F00F3AAE}"/>
              </a:ext>
            </a:extLst>
          </p:cNvPr>
          <p:cNvCxnSpPr>
            <a:cxnSpLocks/>
            <a:stCxn id="15" idx="2"/>
            <a:endCxn id="14" idx="0"/>
          </p:cNvCxnSpPr>
          <p:nvPr/>
        </p:nvCxnSpPr>
        <p:spPr>
          <a:xfrm>
            <a:off x="1092025" y="4034885"/>
            <a:ext cx="1734289" cy="358782"/>
          </a:xfrm>
          <a:prstGeom prst="straightConnector1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28C5E658-D63A-D963-D6BB-943EB1F934D8}"/>
              </a:ext>
            </a:extLst>
          </p:cNvPr>
          <p:cNvCxnSpPr>
            <a:cxnSpLocks/>
            <a:stCxn id="18" idx="2"/>
            <a:endCxn id="14" idx="0"/>
          </p:cNvCxnSpPr>
          <p:nvPr/>
        </p:nvCxnSpPr>
        <p:spPr>
          <a:xfrm>
            <a:off x="2823265" y="4034885"/>
            <a:ext cx="3049" cy="358782"/>
          </a:xfrm>
          <a:prstGeom prst="straightConnector1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29CDC975-C3D5-9C54-E9EF-2B02E85970E7}"/>
              </a:ext>
            </a:extLst>
          </p:cNvPr>
          <p:cNvCxnSpPr>
            <a:cxnSpLocks/>
            <a:stCxn id="19" idx="2"/>
            <a:endCxn id="14" idx="0"/>
          </p:cNvCxnSpPr>
          <p:nvPr/>
        </p:nvCxnSpPr>
        <p:spPr>
          <a:xfrm flipH="1">
            <a:off x="2826314" y="4034885"/>
            <a:ext cx="1728191" cy="358782"/>
          </a:xfrm>
          <a:prstGeom prst="straightConnector1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D33D99BE-FD95-5283-BB19-A37A8D663B35}"/>
              </a:ext>
            </a:extLst>
          </p:cNvPr>
          <p:cNvSpPr txBox="1"/>
          <p:nvPr/>
        </p:nvSpPr>
        <p:spPr>
          <a:xfrm>
            <a:off x="335774" y="4146007"/>
            <a:ext cx="1631881" cy="2308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kumimoji="1" lang="en-US" altLang="ko-KR" sz="900" b="1" i="1"/>
              <a:t>Context Switch</a:t>
            </a:r>
            <a:endParaRPr kumimoji="1" lang="ko-KR" altLang="en-US" sz="900" b="1" i="1"/>
          </a:p>
        </p:txBody>
      </p:sp>
      <p:sp>
        <p:nvSpPr>
          <p:cNvPr id="47" name="모서리가 둥근 직사각형 46">
            <a:extLst>
              <a:ext uri="{FF2B5EF4-FFF2-40B4-BE49-F238E27FC236}">
                <a16:creationId xmlns:a16="http://schemas.microsoft.com/office/drawing/2014/main" id="{46600B1D-9D26-2A52-39F8-561531B688BD}"/>
              </a:ext>
            </a:extLst>
          </p:cNvPr>
          <p:cNvSpPr/>
          <p:nvPr/>
        </p:nvSpPr>
        <p:spPr>
          <a:xfrm>
            <a:off x="473337" y="3030472"/>
            <a:ext cx="4699856" cy="1107841"/>
          </a:xfrm>
          <a:prstGeom prst="roundRect">
            <a:avLst>
              <a:gd name="adj" fmla="val 5754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900" b="1" u="sng">
                <a:solidFill>
                  <a:schemeClr val="tx1"/>
                </a:solidFill>
              </a:rPr>
              <a:t>Shared</a:t>
            </a:r>
            <a:r>
              <a:rPr kumimoji="1" lang="en-US" altLang="ko-KR" sz="900">
                <a:solidFill>
                  <a:schemeClr val="tx1"/>
                </a:solidFill>
              </a:rPr>
              <a:t> Memory</a:t>
            </a:r>
            <a:r>
              <a:rPr kumimoji="1" lang="ko-KR" altLang="en-US" sz="900">
                <a:solidFill>
                  <a:schemeClr val="tx1"/>
                </a:solidFill>
              </a:rPr>
              <a:t> </a:t>
            </a:r>
            <a:r>
              <a:rPr kumimoji="1" lang="en-US" altLang="ko-KR" sz="900">
                <a:solidFill>
                  <a:schemeClr val="tx1"/>
                </a:solidFill>
              </a:rPr>
              <a:t> 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6" name="모서리가 둥근 직사각형 5">
            <a:extLst>
              <a:ext uri="{FF2B5EF4-FFF2-40B4-BE49-F238E27FC236}">
                <a16:creationId xmlns:a16="http://schemas.microsoft.com/office/drawing/2014/main" id="{BD9C7520-9BE9-4F91-13CC-16B179E8122A}"/>
              </a:ext>
            </a:extLst>
          </p:cNvPr>
          <p:cNvSpPr/>
          <p:nvPr/>
        </p:nvSpPr>
        <p:spPr>
          <a:xfrm>
            <a:off x="570473" y="2555059"/>
            <a:ext cx="4505584" cy="274775"/>
          </a:xfrm>
          <a:prstGeom prst="roundRect">
            <a:avLst>
              <a:gd name="adj" fmla="val 1282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App A </a:t>
            </a:r>
            <a:r>
              <a:rPr kumimoji="1" lang="en-US" altLang="ko-KR" sz="900">
                <a:solidFill>
                  <a:schemeClr val="tx1"/>
                </a:solidFill>
                <a:sym typeface="Wingdings" pitchFamily="2" charset="2"/>
              </a:rPr>
              <a:t> App B  App C  …</a:t>
            </a:r>
            <a:endParaRPr kumimoji="1" lang="en-US" altLang="ko-KR" sz="900">
              <a:solidFill>
                <a:schemeClr val="tx1"/>
              </a:solidFill>
            </a:endParaRPr>
          </a:p>
        </p:txBody>
      </p: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B7E3DAB2-742C-CA4B-9521-72C4D9C43EE0}"/>
              </a:ext>
            </a:extLst>
          </p:cNvPr>
          <p:cNvCxnSpPr>
            <a:cxnSpLocks/>
          </p:cNvCxnSpPr>
          <p:nvPr/>
        </p:nvCxnSpPr>
        <p:spPr>
          <a:xfrm flipH="1">
            <a:off x="1092025" y="1936935"/>
            <a:ext cx="6098" cy="140642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AEFD2760-F6B6-BA18-3EF3-B81529E554F2}"/>
              </a:ext>
            </a:extLst>
          </p:cNvPr>
          <p:cNvCxnSpPr>
            <a:cxnSpLocks/>
          </p:cNvCxnSpPr>
          <p:nvPr/>
        </p:nvCxnSpPr>
        <p:spPr>
          <a:xfrm flipH="1">
            <a:off x="2823265" y="1936935"/>
            <a:ext cx="3050" cy="140642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9C34C65E-3311-39FF-FE5B-C9D069180DE8}"/>
              </a:ext>
            </a:extLst>
          </p:cNvPr>
          <p:cNvCxnSpPr>
            <a:cxnSpLocks/>
          </p:cNvCxnSpPr>
          <p:nvPr/>
        </p:nvCxnSpPr>
        <p:spPr>
          <a:xfrm flipH="1">
            <a:off x="4554505" y="1936935"/>
            <a:ext cx="2" cy="140642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0FCF5F5C-0AD5-71D3-A431-5B54E6050ED8}"/>
              </a:ext>
            </a:extLst>
          </p:cNvPr>
          <p:cNvSpPr txBox="1"/>
          <p:nvPr/>
        </p:nvSpPr>
        <p:spPr>
          <a:xfrm>
            <a:off x="936117" y="1907478"/>
            <a:ext cx="1549189" cy="2308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kumimoji="1" lang="en-US" altLang="ko-KR" sz="900" b="1" i="1"/>
              <a:t>Kernel,</a:t>
            </a:r>
            <a:r>
              <a:rPr kumimoji="1" lang="ko-KR" altLang="en-US" sz="900" b="1" i="1"/>
              <a:t> </a:t>
            </a:r>
            <a:r>
              <a:rPr kumimoji="1" lang="en-US" altLang="ko-KR" sz="900" b="1" i="1"/>
              <a:t>Data,</a:t>
            </a:r>
            <a:r>
              <a:rPr kumimoji="1" lang="ko-KR" altLang="en-US" sz="900" b="1" i="1"/>
              <a:t> </a:t>
            </a:r>
            <a:r>
              <a:rPr kumimoji="1" lang="en-US" altLang="ko-KR" sz="900" b="1" i="1"/>
              <a:t>Configs</a:t>
            </a:r>
            <a:endParaRPr kumimoji="1" lang="ko-KR" altLang="en-US" sz="900" b="1" i="1"/>
          </a:p>
        </p:txBody>
      </p:sp>
    </p:spTree>
    <p:extLst>
      <p:ext uri="{BB962C8B-B14F-4D97-AF65-F5344CB8AC3E}">
        <p14:creationId xmlns:p14="http://schemas.microsoft.com/office/powerpoint/2010/main" val="31799964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D43061-535F-D3A6-EE65-B8DB472FE4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모서리가 둥근 직사각형 40">
            <a:extLst>
              <a:ext uri="{FF2B5EF4-FFF2-40B4-BE49-F238E27FC236}">
                <a16:creationId xmlns:a16="http://schemas.microsoft.com/office/drawing/2014/main" id="{B745305D-47B0-05D4-CED7-FBDFB961E91E}"/>
              </a:ext>
            </a:extLst>
          </p:cNvPr>
          <p:cNvSpPr/>
          <p:nvPr/>
        </p:nvSpPr>
        <p:spPr>
          <a:xfrm>
            <a:off x="4316405" y="1347614"/>
            <a:ext cx="2086240" cy="1239949"/>
          </a:xfrm>
          <a:prstGeom prst="roundRect">
            <a:avLst>
              <a:gd name="adj" fmla="val 6199"/>
            </a:avLst>
          </a:prstGeom>
          <a:noFill/>
          <a:ln w="12700"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kumimoji="1" lang="en-US" altLang="ko-KR" sz="1000" b="1">
                <a:solidFill>
                  <a:schemeClr val="tx1"/>
                </a:solidFill>
              </a:rPr>
              <a:t>CUDA App C </a:t>
            </a:r>
          </a:p>
        </p:txBody>
      </p:sp>
      <p:sp>
        <p:nvSpPr>
          <p:cNvPr id="44" name="모서리가 둥근 직사각형 43">
            <a:extLst>
              <a:ext uri="{FF2B5EF4-FFF2-40B4-BE49-F238E27FC236}">
                <a16:creationId xmlns:a16="http://schemas.microsoft.com/office/drawing/2014/main" id="{F0AE2F73-D1EF-654A-4F2D-7818618D9966}"/>
              </a:ext>
            </a:extLst>
          </p:cNvPr>
          <p:cNvSpPr/>
          <p:nvPr/>
        </p:nvSpPr>
        <p:spPr>
          <a:xfrm>
            <a:off x="8254952" y="1347614"/>
            <a:ext cx="853552" cy="1239949"/>
          </a:xfrm>
          <a:prstGeom prst="roundRect">
            <a:avLst>
              <a:gd name="adj" fmla="val 6199"/>
            </a:avLst>
          </a:prstGeom>
          <a:noFill/>
          <a:ln w="12700"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kumimoji="1" lang="en-US" altLang="ko-KR" sz="1000" b="1">
                <a:solidFill>
                  <a:schemeClr val="tx1"/>
                </a:solidFill>
              </a:rPr>
              <a:t>CUDA App C</a:t>
            </a:r>
            <a:endParaRPr kumimoji="1" lang="ko-KR" altLang="en-US" sz="1000" b="1">
              <a:solidFill>
                <a:schemeClr val="tx1"/>
              </a:solidFill>
            </a:endParaRPr>
          </a:p>
        </p:txBody>
      </p:sp>
      <p:sp>
        <p:nvSpPr>
          <p:cNvPr id="39" name="모서리가 둥근 직사각형 38">
            <a:extLst>
              <a:ext uri="{FF2B5EF4-FFF2-40B4-BE49-F238E27FC236}">
                <a16:creationId xmlns:a16="http://schemas.microsoft.com/office/drawing/2014/main" id="{45DAFC7F-E7E8-EA2B-ECA5-F5E675A20E87}"/>
              </a:ext>
            </a:extLst>
          </p:cNvPr>
          <p:cNvSpPr/>
          <p:nvPr/>
        </p:nvSpPr>
        <p:spPr>
          <a:xfrm>
            <a:off x="2179109" y="1347614"/>
            <a:ext cx="2086240" cy="1239949"/>
          </a:xfrm>
          <a:prstGeom prst="roundRect">
            <a:avLst>
              <a:gd name="adj" fmla="val 6199"/>
            </a:avLst>
          </a:prstGeom>
          <a:noFill/>
          <a:ln w="12700"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kumimoji="1" lang="en-US" altLang="ko-KR" sz="1000" b="1">
                <a:solidFill>
                  <a:schemeClr val="tx1"/>
                </a:solidFill>
              </a:rPr>
              <a:t>CUDA App B </a:t>
            </a:r>
          </a:p>
        </p:txBody>
      </p:sp>
      <p:sp>
        <p:nvSpPr>
          <p:cNvPr id="43" name="모서리가 둥근 직사각형 42">
            <a:extLst>
              <a:ext uri="{FF2B5EF4-FFF2-40B4-BE49-F238E27FC236}">
                <a16:creationId xmlns:a16="http://schemas.microsoft.com/office/drawing/2014/main" id="{93EFF14A-F2F8-64A7-B38F-C7AE98A36966}"/>
              </a:ext>
            </a:extLst>
          </p:cNvPr>
          <p:cNvSpPr/>
          <p:nvPr/>
        </p:nvSpPr>
        <p:spPr>
          <a:xfrm>
            <a:off x="7351709" y="1347614"/>
            <a:ext cx="853552" cy="1239949"/>
          </a:xfrm>
          <a:prstGeom prst="roundRect">
            <a:avLst>
              <a:gd name="adj" fmla="val 6199"/>
            </a:avLst>
          </a:prstGeom>
          <a:noFill/>
          <a:ln w="12700"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kumimoji="1" lang="en-US" altLang="ko-KR" sz="1000" b="1">
                <a:solidFill>
                  <a:schemeClr val="tx1"/>
                </a:solidFill>
              </a:rPr>
              <a:t>CUDA App B</a:t>
            </a:r>
            <a:endParaRPr kumimoji="1" lang="ko-KR" altLang="en-US" sz="1000" b="1">
              <a:solidFill>
                <a:schemeClr val="tx1"/>
              </a:solidFill>
            </a:endParaRPr>
          </a:p>
        </p:txBody>
      </p:sp>
      <p:sp>
        <p:nvSpPr>
          <p:cNvPr id="35" name="모서리가 둥근 직사각형 34">
            <a:extLst>
              <a:ext uri="{FF2B5EF4-FFF2-40B4-BE49-F238E27FC236}">
                <a16:creationId xmlns:a16="http://schemas.microsoft.com/office/drawing/2014/main" id="{0837AE70-1B05-0981-2AED-014737531268}"/>
              </a:ext>
            </a:extLst>
          </p:cNvPr>
          <p:cNvSpPr/>
          <p:nvPr/>
        </p:nvSpPr>
        <p:spPr>
          <a:xfrm>
            <a:off x="44450" y="1347614"/>
            <a:ext cx="2086240" cy="1239949"/>
          </a:xfrm>
          <a:prstGeom prst="roundRect">
            <a:avLst>
              <a:gd name="adj" fmla="val 6199"/>
            </a:avLst>
          </a:prstGeom>
          <a:noFill/>
          <a:ln w="12700"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kumimoji="1" lang="en-US" altLang="ko-KR" sz="1000" b="1">
                <a:solidFill>
                  <a:schemeClr val="tx1"/>
                </a:solidFill>
              </a:rPr>
              <a:t>CUDA App A </a:t>
            </a:r>
          </a:p>
        </p:txBody>
      </p:sp>
      <p:sp>
        <p:nvSpPr>
          <p:cNvPr id="42" name="모서리가 둥근 직사각형 41">
            <a:extLst>
              <a:ext uri="{FF2B5EF4-FFF2-40B4-BE49-F238E27FC236}">
                <a16:creationId xmlns:a16="http://schemas.microsoft.com/office/drawing/2014/main" id="{6EEA26F9-586E-05CC-86B8-62E7067DE43F}"/>
              </a:ext>
            </a:extLst>
          </p:cNvPr>
          <p:cNvSpPr/>
          <p:nvPr/>
        </p:nvSpPr>
        <p:spPr>
          <a:xfrm>
            <a:off x="6448467" y="1347614"/>
            <a:ext cx="853552" cy="1239949"/>
          </a:xfrm>
          <a:prstGeom prst="roundRect">
            <a:avLst>
              <a:gd name="adj" fmla="val 6199"/>
            </a:avLst>
          </a:prstGeom>
          <a:noFill/>
          <a:ln w="12700"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kumimoji="1" lang="en-US" altLang="ko-KR" sz="1000" b="1">
                <a:solidFill>
                  <a:schemeClr val="tx1"/>
                </a:solidFill>
              </a:rPr>
              <a:t>CUDA App A</a:t>
            </a:r>
            <a:endParaRPr kumimoji="1" lang="ko-KR" altLang="en-US" sz="1000" b="1">
              <a:solidFill>
                <a:schemeClr val="tx1"/>
              </a:solidFill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C8A93FB-253F-3F0A-6781-066DAF6A81DE}"/>
              </a:ext>
            </a:extLst>
          </p:cNvPr>
          <p:cNvSpPr txBox="1">
            <a:spLocks/>
          </p:cNvSpPr>
          <p:nvPr/>
        </p:nvSpPr>
        <p:spPr>
          <a:xfrm>
            <a:off x="457200" y="-141895"/>
            <a:ext cx="8229600" cy="857250"/>
          </a:xfrm>
          <a:prstGeom prst="rect">
            <a:avLst/>
          </a:prstGeom>
        </p:spPr>
        <p:txBody>
          <a:bodyPr/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/>
              <a:t>Time-slicing</a:t>
            </a:r>
            <a:endParaRPr lang="ko-KR" altLang="en-US" dirty="0"/>
          </a:p>
        </p:txBody>
      </p: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43D5AECD-A792-94C4-DBE6-E61934266346}"/>
              </a:ext>
            </a:extLst>
          </p:cNvPr>
          <p:cNvGrpSpPr/>
          <p:nvPr/>
        </p:nvGrpSpPr>
        <p:grpSpPr>
          <a:xfrm>
            <a:off x="107486" y="1419622"/>
            <a:ext cx="1954202" cy="720080"/>
            <a:chOff x="236727" y="987574"/>
            <a:chExt cx="1957044" cy="720080"/>
          </a:xfrm>
          <a:solidFill>
            <a:schemeClr val="accent1">
              <a:lumMod val="20000"/>
              <a:lumOff val="80000"/>
            </a:schemeClr>
          </a:solidFill>
        </p:grpSpPr>
        <p:sp>
          <p:nvSpPr>
            <p:cNvPr id="18" name="모서리가 둥근 직사각형 17">
              <a:extLst>
                <a:ext uri="{FF2B5EF4-FFF2-40B4-BE49-F238E27FC236}">
                  <a16:creationId xmlns:a16="http://schemas.microsoft.com/office/drawing/2014/main" id="{8EE8A261-B242-0F86-5601-D30D083989AE}"/>
                </a:ext>
              </a:extLst>
            </p:cNvPr>
            <p:cNvSpPr/>
            <p:nvPr/>
          </p:nvSpPr>
          <p:spPr>
            <a:xfrm>
              <a:off x="236727" y="987574"/>
              <a:ext cx="1241295" cy="288032"/>
            </a:xfrm>
            <a:prstGeom prst="roundRect">
              <a:avLst>
                <a:gd name="adj" fmla="val 15432"/>
              </a:avLst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900">
                  <a:solidFill>
                    <a:schemeClr val="tx1"/>
                  </a:solidFill>
                </a:rPr>
                <a:t>Kernel A1</a:t>
              </a:r>
              <a:endParaRPr kumimoji="1" lang="ko-KR" altLang="en-US" sz="900">
                <a:solidFill>
                  <a:schemeClr val="tx1"/>
                </a:solidFill>
              </a:endParaRPr>
            </a:p>
          </p:txBody>
        </p:sp>
        <p:sp>
          <p:nvSpPr>
            <p:cNvPr id="19" name="모서리가 둥근 직사각형 18">
              <a:extLst>
                <a:ext uri="{FF2B5EF4-FFF2-40B4-BE49-F238E27FC236}">
                  <a16:creationId xmlns:a16="http://schemas.microsoft.com/office/drawing/2014/main" id="{3EB270B7-ED6F-1BF7-F82D-BC4FF44D7789}"/>
                </a:ext>
              </a:extLst>
            </p:cNvPr>
            <p:cNvSpPr/>
            <p:nvPr/>
          </p:nvSpPr>
          <p:spPr>
            <a:xfrm>
              <a:off x="1478244" y="987574"/>
              <a:ext cx="715527" cy="288032"/>
            </a:xfrm>
            <a:prstGeom prst="roundRect">
              <a:avLst>
                <a:gd name="adj" fmla="val 15432"/>
              </a:avLst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900">
                  <a:solidFill>
                    <a:schemeClr val="tx1"/>
                  </a:solidFill>
                </a:rPr>
                <a:t>Kernel A2</a:t>
              </a:r>
              <a:endParaRPr kumimoji="1" lang="ko-KR" altLang="en-US" sz="900">
                <a:solidFill>
                  <a:schemeClr val="tx1"/>
                </a:solidFill>
              </a:endParaRPr>
            </a:p>
          </p:txBody>
        </p:sp>
        <p:sp>
          <p:nvSpPr>
            <p:cNvPr id="20" name="모서리가 둥근 직사각형 19">
              <a:extLst>
                <a:ext uri="{FF2B5EF4-FFF2-40B4-BE49-F238E27FC236}">
                  <a16:creationId xmlns:a16="http://schemas.microsoft.com/office/drawing/2014/main" id="{94DE471C-515E-DE95-B563-A67FFCA6DA33}"/>
                </a:ext>
              </a:extLst>
            </p:cNvPr>
            <p:cNvSpPr/>
            <p:nvPr/>
          </p:nvSpPr>
          <p:spPr>
            <a:xfrm>
              <a:off x="239069" y="1419622"/>
              <a:ext cx="1239175" cy="288032"/>
            </a:xfrm>
            <a:prstGeom prst="roundRect">
              <a:avLst>
                <a:gd name="adj" fmla="val 15432"/>
              </a:avLst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900">
                  <a:solidFill>
                    <a:schemeClr val="tx1"/>
                  </a:solidFill>
                </a:rPr>
                <a:t>Kernel A3</a:t>
              </a:r>
              <a:endParaRPr kumimoji="1" lang="ko-KR" altLang="en-US" sz="900">
                <a:solidFill>
                  <a:schemeClr val="tx1"/>
                </a:solidFill>
              </a:endParaRPr>
            </a:p>
          </p:txBody>
        </p:sp>
      </p:grp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D2B8B2D2-4E62-A48A-9D77-331CB44D711C}"/>
              </a:ext>
            </a:extLst>
          </p:cNvPr>
          <p:cNvGrpSpPr/>
          <p:nvPr/>
        </p:nvGrpSpPr>
        <p:grpSpPr>
          <a:xfrm>
            <a:off x="2243072" y="1419622"/>
            <a:ext cx="1954544" cy="720080"/>
            <a:chOff x="2331399" y="987574"/>
            <a:chExt cx="1957387" cy="720080"/>
          </a:xfrm>
          <a:solidFill>
            <a:schemeClr val="accent3">
              <a:lumMod val="20000"/>
              <a:lumOff val="80000"/>
            </a:schemeClr>
          </a:solidFill>
        </p:grpSpPr>
        <p:sp>
          <p:nvSpPr>
            <p:cNvPr id="21" name="모서리가 둥근 직사각형 20">
              <a:extLst>
                <a:ext uri="{FF2B5EF4-FFF2-40B4-BE49-F238E27FC236}">
                  <a16:creationId xmlns:a16="http://schemas.microsoft.com/office/drawing/2014/main" id="{C4ACBFB6-2079-AA71-017F-41B1DE8ED94D}"/>
                </a:ext>
              </a:extLst>
            </p:cNvPr>
            <p:cNvSpPr/>
            <p:nvPr/>
          </p:nvSpPr>
          <p:spPr>
            <a:xfrm>
              <a:off x="2331964" y="987574"/>
              <a:ext cx="1241295" cy="288032"/>
            </a:xfrm>
            <a:prstGeom prst="roundRect">
              <a:avLst>
                <a:gd name="adj" fmla="val 15432"/>
              </a:avLst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900">
                  <a:solidFill>
                    <a:schemeClr val="tx1"/>
                  </a:solidFill>
                </a:rPr>
                <a:t>Kernel B1</a:t>
              </a:r>
              <a:endParaRPr kumimoji="1" lang="ko-KR" altLang="en-US" sz="900">
                <a:solidFill>
                  <a:schemeClr val="tx1"/>
                </a:solidFill>
              </a:endParaRPr>
            </a:p>
          </p:txBody>
        </p:sp>
        <p:sp>
          <p:nvSpPr>
            <p:cNvPr id="22" name="모서리가 둥근 직사각형 21">
              <a:extLst>
                <a:ext uri="{FF2B5EF4-FFF2-40B4-BE49-F238E27FC236}">
                  <a16:creationId xmlns:a16="http://schemas.microsoft.com/office/drawing/2014/main" id="{8D5E023C-B442-C410-C97F-F2BE0C1F06BC}"/>
                </a:ext>
              </a:extLst>
            </p:cNvPr>
            <p:cNvSpPr/>
            <p:nvPr/>
          </p:nvSpPr>
          <p:spPr>
            <a:xfrm>
              <a:off x="2331399" y="1419622"/>
              <a:ext cx="715527" cy="288032"/>
            </a:xfrm>
            <a:prstGeom prst="roundRect">
              <a:avLst>
                <a:gd name="adj" fmla="val 15432"/>
              </a:avLst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900">
                  <a:solidFill>
                    <a:schemeClr val="tx1"/>
                  </a:solidFill>
                </a:rPr>
                <a:t>Kernel B3</a:t>
              </a:r>
              <a:endParaRPr kumimoji="1" lang="ko-KR" altLang="en-US" sz="900">
                <a:solidFill>
                  <a:schemeClr val="tx1"/>
                </a:solidFill>
              </a:endParaRPr>
            </a:p>
          </p:txBody>
        </p:sp>
        <p:sp>
          <p:nvSpPr>
            <p:cNvPr id="23" name="모서리가 둥근 직사각형 22">
              <a:extLst>
                <a:ext uri="{FF2B5EF4-FFF2-40B4-BE49-F238E27FC236}">
                  <a16:creationId xmlns:a16="http://schemas.microsoft.com/office/drawing/2014/main" id="{D462DD91-B495-595D-E4C6-19B106E33C35}"/>
                </a:ext>
              </a:extLst>
            </p:cNvPr>
            <p:cNvSpPr/>
            <p:nvPr/>
          </p:nvSpPr>
          <p:spPr>
            <a:xfrm>
              <a:off x="3573259" y="987574"/>
              <a:ext cx="715527" cy="288032"/>
            </a:xfrm>
            <a:prstGeom prst="roundRect">
              <a:avLst>
                <a:gd name="adj" fmla="val 15432"/>
              </a:avLst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900">
                  <a:solidFill>
                    <a:schemeClr val="tx1"/>
                  </a:solidFill>
                </a:rPr>
                <a:t>Kernel B2</a:t>
              </a:r>
              <a:endParaRPr kumimoji="1" lang="ko-KR" altLang="en-US" sz="900">
                <a:solidFill>
                  <a:schemeClr val="tx1"/>
                </a:solidFill>
              </a:endParaRPr>
            </a:p>
          </p:txBody>
        </p:sp>
      </p:grp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F1452831-D6BB-FF61-5647-C3BF065F2592}"/>
              </a:ext>
            </a:extLst>
          </p:cNvPr>
          <p:cNvGrpSpPr/>
          <p:nvPr/>
        </p:nvGrpSpPr>
        <p:grpSpPr>
          <a:xfrm>
            <a:off x="4383594" y="1419622"/>
            <a:ext cx="1951863" cy="720080"/>
            <a:chOff x="4427984" y="987574"/>
            <a:chExt cx="1954702" cy="720080"/>
          </a:xfrm>
        </p:grpSpPr>
        <p:sp>
          <p:nvSpPr>
            <p:cNvPr id="24" name="모서리가 둥근 직사각형 23">
              <a:extLst>
                <a:ext uri="{FF2B5EF4-FFF2-40B4-BE49-F238E27FC236}">
                  <a16:creationId xmlns:a16="http://schemas.microsoft.com/office/drawing/2014/main" id="{7F09DECF-5A67-4CE8-E4B8-93AAD412AC8C}"/>
                </a:ext>
              </a:extLst>
            </p:cNvPr>
            <p:cNvSpPr/>
            <p:nvPr/>
          </p:nvSpPr>
          <p:spPr>
            <a:xfrm>
              <a:off x="4427984" y="987574"/>
              <a:ext cx="715527" cy="288032"/>
            </a:xfrm>
            <a:prstGeom prst="roundRect">
              <a:avLst>
                <a:gd name="adj" fmla="val 15432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900">
                  <a:solidFill>
                    <a:schemeClr val="tx1"/>
                  </a:solidFill>
                </a:rPr>
                <a:t>Kernel C1</a:t>
              </a:r>
              <a:endParaRPr kumimoji="1" lang="ko-KR" altLang="en-US" sz="900">
                <a:solidFill>
                  <a:schemeClr val="tx1"/>
                </a:solidFill>
              </a:endParaRPr>
            </a:p>
          </p:txBody>
        </p:sp>
        <p:sp>
          <p:nvSpPr>
            <p:cNvPr id="25" name="모서리가 둥근 직사각형 24">
              <a:extLst>
                <a:ext uri="{FF2B5EF4-FFF2-40B4-BE49-F238E27FC236}">
                  <a16:creationId xmlns:a16="http://schemas.microsoft.com/office/drawing/2014/main" id="{DF582E56-3238-A620-6111-6035FCE6780C}"/>
                </a:ext>
              </a:extLst>
            </p:cNvPr>
            <p:cNvSpPr/>
            <p:nvPr/>
          </p:nvSpPr>
          <p:spPr>
            <a:xfrm>
              <a:off x="5143511" y="987574"/>
              <a:ext cx="1239175" cy="288032"/>
            </a:xfrm>
            <a:prstGeom prst="roundRect">
              <a:avLst>
                <a:gd name="adj" fmla="val 15432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900">
                  <a:solidFill>
                    <a:schemeClr val="tx1"/>
                  </a:solidFill>
                </a:rPr>
                <a:t>Kernel C2</a:t>
              </a:r>
              <a:endParaRPr kumimoji="1" lang="ko-KR" altLang="en-US" sz="900">
                <a:solidFill>
                  <a:schemeClr val="tx1"/>
                </a:solidFill>
              </a:endParaRPr>
            </a:p>
          </p:txBody>
        </p:sp>
        <p:sp>
          <p:nvSpPr>
            <p:cNvPr id="26" name="모서리가 둥근 직사각형 25">
              <a:extLst>
                <a:ext uri="{FF2B5EF4-FFF2-40B4-BE49-F238E27FC236}">
                  <a16:creationId xmlns:a16="http://schemas.microsoft.com/office/drawing/2014/main" id="{36960F39-0AEB-3D6B-B1E3-90B31562F661}"/>
                </a:ext>
              </a:extLst>
            </p:cNvPr>
            <p:cNvSpPr/>
            <p:nvPr/>
          </p:nvSpPr>
          <p:spPr>
            <a:xfrm>
              <a:off x="4427984" y="1419622"/>
              <a:ext cx="715527" cy="288032"/>
            </a:xfrm>
            <a:prstGeom prst="roundRect">
              <a:avLst>
                <a:gd name="adj" fmla="val 15432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900">
                  <a:solidFill>
                    <a:schemeClr val="tx1"/>
                  </a:solidFill>
                </a:rPr>
                <a:t>Kernel C3</a:t>
              </a:r>
              <a:endParaRPr kumimoji="1" lang="ko-KR" altLang="en-US" sz="900">
                <a:solidFill>
                  <a:schemeClr val="tx1"/>
                </a:solidFill>
              </a:endParaRPr>
            </a:p>
          </p:txBody>
        </p:sp>
      </p:grpSp>
      <p:sp>
        <p:nvSpPr>
          <p:cNvPr id="28" name="모서리가 둥근 직사각형 27">
            <a:extLst>
              <a:ext uri="{FF2B5EF4-FFF2-40B4-BE49-F238E27FC236}">
                <a16:creationId xmlns:a16="http://schemas.microsoft.com/office/drawing/2014/main" id="{F31E354A-4CC3-4B2F-964B-FEB4C507FE63}"/>
              </a:ext>
            </a:extLst>
          </p:cNvPr>
          <p:cNvSpPr/>
          <p:nvPr/>
        </p:nvSpPr>
        <p:spPr>
          <a:xfrm>
            <a:off x="6517303" y="1419622"/>
            <a:ext cx="714487" cy="288032"/>
          </a:xfrm>
          <a:prstGeom prst="roundRect">
            <a:avLst>
              <a:gd name="adj" fmla="val 15432"/>
            </a:avLst>
          </a:prstGeom>
          <a:solidFill>
            <a:schemeClr val="accent1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Kernel A4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31" name="모서리가 둥근 직사각형 30">
            <a:extLst>
              <a:ext uri="{FF2B5EF4-FFF2-40B4-BE49-F238E27FC236}">
                <a16:creationId xmlns:a16="http://schemas.microsoft.com/office/drawing/2014/main" id="{94912D51-F529-598B-4855-8A3CFB80FB41}"/>
              </a:ext>
            </a:extLst>
          </p:cNvPr>
          <p:cNvSpPr/>
          <p:nvPr/>
        </p:nvSpPr>
        <p:spPr>
          <a:xfrm>
            <a:off x="7417585" y="1419622"/>
            <a:ext cx="714487" cy="288032"/>
          </a:xfrm>
          <a:prstGeom prst="roundRect">
            <a:avLst>
              <a:gd name="adj" fmla="val 15432"/>
            </a:avLst>
          </a:prstGeom>
          <a:solidFill>
            <a:schemeClr val="accent3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Kernel B4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32" name="모서리가 둥근 직사각형 31">
            <a:extLst>
              <a:ext uri="{FF2B5EF4-FFF2-40B4-BE49-F238E27FC236}">
                <a16:creationId xmlns:a16="http://schemas.microsoft.com/office/drawing/2014/main" id="{01742F19-1A3B-6402-49F6-BDA490724716}"/>
              </a:ext>
            </a:extLst>
          </p:cNvPr>
          <p:cNvSpPr/>
          <p:nvPr/>
        </p:nvSpPr>
        <p:spPr>
          <a:xfrm>
            <a:off x="8316364" y="1419622"/>
            <a:ext cx="714487" cy="288032"/>
          </a:xfrm>
          <a:prstGeom prst="roundRect">
            <a:avLst>
              <a:gd name="adj" fmla="val 15432"/>
            </a:avLst>
          </a:prstGeom>
          <a:solidFill>
            <a:schemeClr val="accent2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Kernel C4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34" name="모서리가 둥근 직사각형 33">
            <a:extLst>
              <a:ext uri="{FF2B5EF4-FFF2-40B4-BE49-F238E27FC236}">
                <a16:creationId xmlns:a16="http://schemas.microsoft.com/office/drawing/2014/main" id="{9E412808-14AE-83A6-7478-A85AACCA2E38}"/>
              </a:ext>
            </a:extLst>
          </p:cNvPr>
          <p:cNvSpPr/>
          <p:nvPr/>
        </p:nvSpPr>
        <p:spPr>
          <a:xfrm>
            <a:off x="8316364" y="1851670"/>
            <a:ext cx="714487" cy="288032"/>
          </a:xfrm>
          <a:prstGeom prst="roundRect">
            <a:avLst>
              <a:gd name="adj" fmla="val 15432"/>
            </a:avLst>
          </a:prstGeom>
          <a:solidFill>
            <a:schemeClr val="accent2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Kernel C5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55" name="호 54">
            <a:extLst>
              <a:ext uri="{FF2B5EF4-FFF2-40B4-BE49-F238E27FC236}">
                <a16:creationId xmlns:a16="http://schemas.microsoft.com/office/drawing/2014/main" id="{2BA30377-9616-52C3-22B9-E841B6976331}"/>
              </a:ext>
            </a:extLst>
          </p:cNvPr>
          <p:cNvSpPr/>
          <p:nvPr/>
        </p:nvSpPr>
        <p:spPr>
          <a:xfrm>
            <a:off x="1942541" y="1203598"/>
            <a:ext cx="422080" cy="288032"/>
          </a:xfrm>
          <a:prstGeom prst="arc">
            <a:avLst>
              <a:gd name="adj1" fmla="val 10916784"/>
              <a:gd name="adj2" fmla="val 0"/>
            </a:avLst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3559125-1ADB-E99F-8C8D-BB08AB1E7090}"/>
              </a:ext>
            </a:extLst>
          </p:cNvPr>
          <p:cNvSpPr txBox="1"/>
          <p:nvPr/>
        </p:nvSpPr>
        <p:spPr>
          <a:xfrm>
            <a:off x="1838430" y="830821"/>
            <a:ext cx="630301" cy="3693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kumimoji="1" lang="en-US" altLang="ko-KR" sz="900" i="1"/>
              <a:t>Context </a:t>
            </a:r>
          </a:p>
          <a:p>
            <a:pPr algn="ctr"/>
            <a:r>
              <a:rPr kumimoji="1" lang="en-US" altLang="ko-KR" sz="900" i="1"/>
              <a:t>Switch</a:t>
            </a:r>
            <a:endParaRPr kumimoji="1" lang="ko-KR" altLang="en-US" sz="900" i="1"/>
          </a:p>
        </p:txBody>
      </p:sp>
      <p:sp>
        <p:nvSpPr>
          <p:cNvPr id="57" name="호 56">
            <a:extLst>
              <a:ext uri="{FF2B5EF4-FFF2-40B4-BE49-F238E27FC236}">
                <a16:creationId xmlns:a16="http://schemas.microsoft.com/office/drawing/2014/main" id="{F6A2C708-138C-60EE-E961-059684FB677F}"/>
              </a:ext>
            </a:extLst>
          </p:cNvPr>
          <p:cNvSpPr/>
          <p:nvPr/>
        </p:nvSpPr>
        <p:spPr>
          <a:xfrm>
            <a:off x="4075264" y="1203598"/>
            <a:ext cx="422080" cy="288032"/>
          </a:xfrm>
          <a:prstGeom prst="arc">
            <a:avLst>
              <a:gd name="adj1" fmla="val 10916784"/>
              <a:gd name="adj2" fmla="val 0"/>
            </a:avLst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4D93E331-2855-379A-F4E6-E4D065FC746F}"/>
              </a:ext>
            </a:extLst>
          </p:cNvPr>
          <p:cNvSpPr txBox="1"/>
          <p:nvPr/>
        </p:nvSpPr>
        <p:spPr>
          <a:xfrm>
            <a:off x="3971153" y="830821"/>
            <a:ext cx="630301" cy="3693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kumimoji="1" lang="en-US" altLang="ko-KR" sz="900" i="1"/>
              <a:t>Context </a:t>
            </a:r>
          </a:p>
          <a:p>
            <a:pPr algn="ctr"/>
            <a:r>
              <a:rPr kumimoji="1" lang="en-US" altLang="ko-KR" sz="900" i="1"/>
              <a:t>Switch</a:t>
            </a:r>
            <a:endParaRPr kumimoji="1" lang="ko-KR" altLang="en-US" sz="900" i="1"/>
          </a:p>
        </p:txBody>
      </p:sp>
      <p:sp>
        <p:nvSpPr>
          <p:cNvPr id="62" name="호 61">
            <a:extLst>
              <a:ext uri="{FF2B5EF4-FFF2-40B4-BE49-F238E27FC236}">
                <a16:creationId xmlns:a16="http://schemas.microsoft.com/office/drawing/2014/main" id="{1D4BC569-22BB-5593-84E2-2B784A081115}"/>
              </a:ext>
            </a:extLst>
          </p:cNvPr>
          <p:cNvSpPr/>
          <p:nvPr/>
        </p:nvSpPr>
        <p:spPr>
          <a:xfrm>
            <a:off x="6212582" y="1203598"/>
            <a:ext cx="422080" cy="288032"/>
          </a:xfrm>
          <a:prstGeom prst="arc">
            <a:avLst>
              <a:gd name="adj1" fmla="val 10916784"/>
              <a:gd name="adj2" fmla="val 0"/>
            </a:avLst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E024C27C-6CDF-7704-C069-93C323819C1E}"/>
              </a:ext>
            </a:extLst>
          </p:cNvPr>
          <p:cNvSpPr txBox="1"/>
          <p:nvPr/>
        </p:nvSpPr>
        <p:spPr>
          <a:xfrm>
            <a:off x="6108471" y="830821"/>
            <a:ext cx="630301" cy="3693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kumimoji="1" lang="en-US" altLang="ko-KR" sz="900" i="1"/>
              <a:t>Context </a:t>
            </a:r>
          </a:p>
          <a:p>
            <a:pPr algn="ctr"/>
            <a:r>
              <a:rPr kumimoji="1" lang="en-US" altLang="ko-KR" sz="900" i="1"/>
              <a:t>Switch</a:t>
            </a:r>
            <a:endParaRPr kumimoji="1" lang="ko-KR" altLang="en-US" sz="900" i="1"/>
          </a:p>
        </p:txBody>
      </p:sp>
      <p:sp>
        <p:nvSpPr>
          <p:cNvPr id="64" name="호 63">
            <a:extLst>
              <a:ext uri="{FF2B5EF4-FFF2-40B4-BE49-F238E27FC236}">
                <a16:creationId xmlns:a16="http://schemas.microsoft.com/office/drawing/2014/main" id="{CEEAE0A6-A9B3-FB7A-37E1-2AE51FB0B2C2}"/>
              </a:ext>
            </a:extLst>
          </p:cNvPr>
          <p:cNvSpPr/>
          <p:nvPr/>
        </p:nvSpPr>
        <p:spPr>
          <a:xfrm>
            <a:off x="7115824" y="1203598"/>
            <a:ext cx="422080" cy="288032"/>
          </a:xfrm>
          <a:prstGeom prst="arc">
            <a:avLst>
              <a:gd name="adj1" fmla="val 10916784"/>
              <a:gd name="adj2" fmla="val 0"/>
            </a:avLst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9D27E9D7-DE3C-CBCF-196E-30F2DEE7D1B0}"/>
              </a:ext>
            </a:extLst>
          </p:cNvPr>
          <p:cNvSpPr txBox="1"/>
          <p:nvPr/>
        </p:nvSpPr>
        <p:spPr>
          <a:xfrm>
            <a:off x="7011713" y="830821"/>
            <a:ext cx="630301" cy="3693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kumimoji="1" lang="en-US" altLang="ko-KR" sz="900" i="1"/>
              <a:t>Context </a:t>
            </a:r>
          </a:p>
          <a:p>
            <a:pPr algn="ctr"/>
            <a:r>
              <a:rPr kumimoji="1" lang="en-US" altLang="ko-KR" sz="900" i="1"/>
              <a:t>Switch</a:t>
            </a:r>
            <a:endParaRPr kumimoji="1" lang="ko-KR" altLang="en-US" sz="900" i="1"/>
          </a:p>
        </p:txBody>
      </p:sp>
      <p:sp>
        <p:nvSpPr>
          <p:cNvPr id="66" name="호 65">
            <a:extLst>
              <a:ext uri="{FF2B5EF4-FFF2-40B4-BE49-F238E27FC236}">
                <a16:creationId xmlns:a16="http://schemas.microsoft.com/office/drawing/2014/main" id="{69796E5D-2D9A-E087-19E7-A26A769EC1BF}"/>
              </a:ext>
            </a:extLst>
          </p:cNvPr>
          <p:cNvSpPr/>
          <p:nvPr/>
        </p:nvSpPr>
        <p:spPr>
          <a:xfrm>
            <a:off x="8013773" y="1203598"/>
            <a:ext cx="422080" cy="288032"/>
          </a:xfrm>
          <a:prstGeom prst="arc">
            <a:avLst>
              <a:gd name="adj1" fmla="val 10916784"/>
              <a:gd name="adj2" fmla="val 0"/>
            </a:avLst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449BA3A9-66A5-0293-E7DA-697C4A378D1E}"/>
              </a:ext>
            </a:extLst>
          </p:cNvPr>
          <p:cNvSpPr txBox="1"/>
          <p:nvPr/>
        </p:nvSpPr>
        <p:spPr>
          <a:xfrm>
            <a:off x="7909662" y="830821"/>
            <a:ext cx="630301" cy="3693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kumimoji="1" lang="en-US" altLang="ko-KR" sz="900" i="1"/>
              <a:t>Context </a:t>
            </a:r>
          </a:p>
          <a:p>
            <a:pPr algn="ctr"/>
            <a:r>
              <a:rPr kumimoji="1" lang="en-US" altLang="ko-KR" sz="900" i="1"/>
              <a:t>Switch</a:t>
            </a:r>
            <a:endParaRPr kumimoji="1" lang="ko-KR" altLang="en-US" sz="900" i="1"/>
          </a:p>
        </p:txBody>
      </p:sp>
      <p:sp>
        <p:nvSpPr>
          <p:cNvPr id="68" name="모서리가 둥근 직사각형 67">
            <a:extLst>
              <a:ext uri="{FF2B5EF4-FFF2-40B4-BE49-F238E27FC236}">
                <a16:creationId xmlns:a16="http://schemas.microsoft.com/office/drawing/2014/main" id="{767019E3-79DD-80D9-1452-43ADFBD3EF31}"/>
              </a:ext>
            </a:extLst>
          </p:cNvPr>
          <p:cNvSpPr/>
          <p:nvPr/>
        </p:nvSpPr>
        <p:spPr>
          <a:xfrm>
            <a:off x="44449" y="3452529"/>
            <a:ext cx="7257569" cy="327545"/>
          </a:xfrm>
          <a:prstGeom prst="roundRect">
            <a:avLst>
              <a:gd name="adj" fmla="val 15205"/>
            </a:avLst>
          </a:prstGeom>
          <a:solidFill>
            <a:schemeClr val="accent1">
              <a:lumMod val="20000"/>
              <a:lumOff val="80000"/>
            </a:schemeClr>
          </a:solidFill>
          <a:ln w="12700"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 b="1">
                <a:solidFill>
                  <a:schemeClr val="tx1"/>
                </a:solidFill>
              </a:rPr>
              <a:t>CUDA App A </a:t>
            </a:r>
          </a:p>
        </p:txBody>
      </p:sp>
      <p:sp>
        <p:nvSpPr>
          <p:cNvPr id="69" name="모서리가 둥근 직사각형 68">
            <a:extLst>
              <a:ext uri="{FF2B5EF4-FFF2-40B4-BE49-F238E27FC236}">
                <a16:creationId xmlns:a16="http://schemas.microsoft.com/office/drawing/2014/main" id="{14EAC49F-3A09-AADF-E56E-3208D2712CF0}"/>
              </a:ext>
            </a:extLst>
          </p:cNvPr>
          <p:cNvSpPr/>
          <p:nvPr/>
        </p:nvSpPr>
        <p:spPr>
          <a:xfrm>
            <a:off x="44449" y="4003255"/>
            <a:ext cx="8160812" cy="327545"/>
          </a:xfrm>
          <a:prstGeom prst="roundRect">
            <a:avLst>
              <a:gd name="adj" fmla="val 10702"/>
            </a:avLst>
          </a:prstGeom>
          <a:solidFill>
            <a:schemeClr val="accent3">
              <a:lumMod val="20000"/>
              <a:lumOff val="80000"/>
            </a:schemeClr>
          </a:solidFill>
          <a:ln w="12700"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 b="1">
                <a:solidFill>
                  <a:schemeClr val="tx1"/>
                </a:solidFill>
              </a:rPr>
              <a:t>CUDA App B </a:t>
            </a:r>
          </a:p>
        </p:txBody>
      </p:sp>
      <p:sp>
        <p:nvSpPr>
          <p:cNvPr id="70" name="모서리가 둥근 직사각형 69">
            <a:extLst>
              <a:ext uri="{FF2B5EF4-FFF2-40B4-BE49-F238E27FC236}">
                <a16:creationId xmlns:a16="http://schemas.microsoft.com/office/drawing/2014/main" id="{70AC2771-C02C-5D04-F5ED-1DB1B114C8AC}"/>
              </a:ext>
            </a:extLst>
          </p:cNvPr>
          <p:cNvSpPr/>
          <p:nvPr/>
        </p:nvSpPr>
        <p:spPr>
          <a:xfrm>
            <a:off x="44448" y="4560156"/>
            <a:ext cx="9064055" cy="327545"/>
          </a:xfrm>
          <a:prstGeom prst="roundRect">
            <a:avLst>
              <a:gd name="adj" fmla="val 15133"/>
            </a:avLst>
          </a:prstGeom>
          <a:solidFill>
            <a:schemeClr val="accent2">
              <a:lumMod val="20000"/>
              <a:lumOff val="80000"/>
            </a:schemeClr>
          </a:solidFill>
          <a:ln w="12700"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 b="1">
                <a:solidFill>
                  <a:schemeClr val="tx1"/>
                </a:solidFill>
              </a:rPr>
              <a:t>CUDA App C </a:t>
            </a:r>
          </a:p>
        </p:txBody>
      </p:sp>
      <p:cxnSp>
        <p:nvCxnSpPr>
          <p:cNvPr id="74" name="직선 연결선[R] 73">
            <a:extLst>
              <a:ext uri="{FF2B5EF4-FFF2-40B4-BE49-F238E27FC236}">
                <a16:creationId xmlns:a16="http://schemas.microsoft.com/office/drawing/2014/main" id="{7109EBED-20E6-30AB-BD86-0FF0F127C469}"/>
              </a:ext>
            </a:extLst>
          </p:cNvPr>
          <p:cNvCxnSpPr>
            <a:cxnSpLocks/>
          </p:cNvCxnSpPr>
          <p:nvPr/>
        </p:nvCxnSpPr>
        <p:spPr>
          <a:xfrm>
            <a:off x="-36512" y="3003798"/>
            <a:ext cx="9289032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TextBox 77">
            <a:extLst>
              <a:ext uri="{FF2B5EF4-FFF2-40B4-BE49-F238E27FC236}">
                <a16:creationId xmlns:a16="http://schemas.microsoft.com/office/drawing/2014/main" id="{9BDC45AA-828F-3729-21D7-91CB8AB5D909}"/>
              </a:ext>
            </a:extLst>
          </p:cNvPr>
          <p:cNvSpPr txBox="1"/>
          <p:nvPr/>
        </p:nvSpPr>
        <p:spPr>
          <a:xfrm>
            <a:off x="44450" y="3003798"/>
            <a:ext cx="10887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100" b="1"/>
              <a:t>GPU Memory</a:t>
            </a:r>
            <a:endParaRPr kumimoji="1" lang="ko-KR" altLang="en-US" sz="1100" b="1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34DABE42-7C45-DCBF-EF4D-CD37D9FE5DCF}"/>
              </a:ext>
            </a:extLst>
          </p:cNvPr>
          <p:cNvSpPr txBox="1"/>
          <p:nvPr/>
        </p:nvSpPr>
        <p:spPr>
          <a:xfrm>
            <a:off x="44450" y="2742188"/>
            <a:ext cx="83708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100" b="1"/>
              <a:t>GPU Core</a:t>
            </a:r>
            <a:endParaRPr kumimoji="1" lang="ko-KR" altLang="en-US" sz="1100" b="1"/>
          </a:p>
        </p:txBody>
      </p:sp>
      <p:cxnSp>
        <p:nvCxnSpPr>
          <p:cNvPr id="3" name="직선 화살표 연결선 2">
            <a:extLst>
              <a:ext uri="{FF2B5EF4-FFF2-40B4-BE49-F238E27FC236}">
                <a16:creationId xmlns:a16="http://schemas.microsoft.com/office/drawing/2014/main" id="{237CC06D-C550-B65E-0543-ED70E5E55DF1}"/>
              </a:ext>
            </a:extLst>
          </p:cNvPr>
          <p:cNvCxnSpPr>
            <a:cxnSpLocks/>
          </p:cNvCxnSpPr>
          <p:nvPr/>
        </p:nvCxnSpPr>
        <p:spPr>
          <a:xfrm>
            <a:off x="8228525" y="3147814"/>
            <a:ext cx="853551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C7427F9D-12E3-28F6-145B-1574699B7723}"/>
              </a:ext>
            </a:extLst>
          </p:cNvPr>
          <p:cNvSpPr txBox="1"/>
          <p:nvPr/>
        </p:nvSpPr>
        <p:spPr>
          <a:xfrm>
            <a:off x="7734319" y="3020046"/>
            <a:ext cx="511679" cy="2616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kumimoji="1" lang="en-US" altLang="ko-KR" sz="1100" b="1" i="1"/>
              <a:t>Time</a:t>
            </a:r>
            <a:endParaRPr kumimoji="1" lang="ko-KR" altLang="en-US" sz="900" b="1" i="1"/>
          </a:p>
        </p:txBody>
      </p:sp>
    </p:spTree>
    <p:extLst>
      <p:ext uri="{BB962C8B-B14F-4D97-AF65-F5344CB8AC3E}">
        <p14:creationId xmlns:p14="http://schemas.microsoft.com/office/powerpoint/2010/main" val="31214262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82758C-637E-D286-C75E-BFD5AACC60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D9CEB03-3C52-1D93-D929-0E1C747B3222}"/>
              </a:ext>
            </a:extLst>
          </p:cNvPr>
          <p:cNvSpPr txBox="1">
            <a:spLocks/>
          </p:cNvSpPr>
          <p:nvPr/>
        </p:nvSpPr>
        <p:spPr>
          <a:xfrm>
            <a:off x="457200" y="-739613"/>
            <a:ext cx="8229600" cy="857250"/>
          </a:xfrm>
          <a:prstGeom prst="rect">
            <a:avLst/>
          </a:prstGeom>
        </p:spPr>
        <p:txBody>
          <a:bodyPr/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/>
              <a:t>MPS Before Volta</a:t>
            </a:r>
            <a:endParaRPr lang="ko-KR" altLang="en-US" dirty="0"/>
          </a:p>
        </p:txBody>
      </p:sp>
      <p:sp>
        <p:nvSpPr>
          <p:cNvPr id="3" name="모서리가 둥근 직사각형 2">
            <a:extLst>
              <a:ext uri="{FF2B5EF4-FFF2-40B4-BE49-F238E27FC236}">
                <a16:creationId xmlns:a16="http://schemas.microsoft.com/office/drawing/2014/main" id="{76047F13-1921-A9E2-E679-2E5CD479EFC1}"/>
              </a:ext>
            </a:extLst>
          </p:cNvPr>
          <p:cNvSpPr/>
          <p:nvPr/>
        </p:nvSpPr>
        <p:spPr>
          <a:xfrm>
            <a:off x="323528" y="320404"/>
            <a:ext cx="1549189" cy="720080"/>
          </a:xfrm>
          <a:prstGeom prst="roundRect">
            <a:avLst>
              <a:gd name="adj" fmla="val 9264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1000" b="1">
                <a:solidFill>
                  <a:schemeClr val="tx1"/>
                </a:solidFill>
              </a:rPr>
              <a:t>CUDA App A Process</a:t>
            </a:r>
            <a:endParaRPr kumimoji="1" lang="ko-KR" altLang="en-US" sz="1000" b="1">
              <a:solidFill>
                <a:schemeClr val="tx1"/>
              </a:solidFill>
            </a:endParaRPr>
          </a:p>
        </p:txBody>
      </p:sp>
      <p:sp>
        <p:nvSpPr>
          <p:cNvPr id="4" name="모서리가 둥근 직사각형 3">
            <a:extLst>
              <a:ext uri="{FF2B5EF4-FFF2-40B4-BE49-F238E27FC236}">
                <a16:creationId xmlns:a16="http://schemas.microsoft.com/office/drawing/2014/main" id="{24F0E7A4-2517-5C37-E058-34D52969131B}"/>
              </a:ext>
            </a:extLst>
          </p:cNvPr>
          <p:cNvSpPr/>
          <p:nvPr/>
        </p:nvSpPr>
        <p:spPr>
          <a:xfrm>
            <a:off x="473337" y="672083"/>
            <a:ext cx="1237375" cy="288032"/>
          </a:xfrm>
          <a:prstGeom prst="roundRect">
            <a:avLst>
              <a:gd name="adj" fmla="val 15432"/>
            </a:avLst>
          </a:prstGeom>
          <a:solidFill>
            <a:schemeClr val="accent1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CUDA Context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5" name="모서리가 둥근 직사각형 4">
            <a:extLst>
              <a:ext uri="{FF2B5EF4-FFF2-40B4-BE49-F238E27FC236}">
                <a16:creationId xmlns:a16="http://schemas.microsoft.com/office/drawing/2014/main" id="{03D07E9F-4493-FB3F-27E7-74A3988977CA}"/>
              </a:ext>
            </a:extLst>
          </p:cNvPr>
          <p:cNvSpPr/>
          <p:nvPr/>
        </p:nvSpPr>
        <p:spPr>
          <a:xfrm>
            <a:off x="2051720" y="320404"/>
            <a:ext cx="1549189" cy="720080"/>
          </a:xfrm>
          <a:prstGeom prst="roundRect">
            <a:avLst>
              <a:gd name="adj" fmla="val 9264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1000" b="1">
                <a:solidFill>
                  <a:schemeClr val="tx1"/>
                </a:solidFill>
              </a:rPr>
              <a:t>CUDA App B Process</a:t>
            </a:r>
            <a:endParaRPr kumimoji="1" lang="ko-KR" altLang="en-US" sz="1000" b="1">
              <a:solidFill>
                <a:schemeClr val="tx1"/>
              </a:solidFill>
            </a:endParaRPr>
          </a:p>
        </p:txBody>
      </p:sp>
      <p:sp>
        <p:nvSpPr>
          <p:cNvPr id="6" name="모서리가 둥근 직사각형 5">
            <a:extLst>
              <a:ext uri="{FF2B5EF4-FFF2-40B4-BE49-F238E27FC236}">
                <a16:creationId xmlns:a16="http://schemas.microsoft.com/office/drawing/2014/main" id="{DE0ED7F2-BFC4-DF9D-20E5-C03580B84442}"/>
              </a:ext>
            </a:extLst>
          </p:cNvPr>
          <p:cNvSpPr/>
          <p:nvPr/>
        </p:nvSpPr>
        <p:spPr>
          <a:xfrm>
            <a:off x="3779912" y="320404"/>
            <a:ext cx="1549189" cy="720080"/>
          </a:xfrm>
          <a:prstGeom prst="roundRect">
            <a:avLst>
              <a:gd name="adj" fmla="val 9264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1000" b="1">
                <a:solidFill>
                  <a:schemeClr val="tx1"/>
                </a:solidFill>
              </a:rPr>
              <a:t>CUDA App C Process</a:t>
            </a:r>
            <a:endParaRPr kumimoji="1" lang="ko-KR" altLang="en-US" sz="1000" b="1">
              <a:solidFill>
                <a:schemeClr val="tx1"/>
              </a:solidFill>
            </a:endParaRPr>
          </a:p>
        </p:txBody>
      </p:sp>
      <p:sp>
        <p:nvSpPr>
          <p:cNvPr id="7" name="모서리가 둥근 직사각형 6">
            <a:extLst>
              <a:ext uri="{FF2B5EF4-FFF2-40B4-BE49-F238E27FC236}">
                <a16:creationId xmlns:a16="http://schemas.microsoft.com/office/drawing/2014/main" id="{366CF97C-20A2-93D3-7C92-0FCA1CC30EE7}"/>
              </a:ext>
            </a:extLst>
          </p:cNvPr>
          <p:cNvSpPr/>
          <p:nvPr/>
        </p:nvSpPr>
        <p:spPr>
          <a:xfrm>
            <a:off x="323528" y="2139702"/>
            <a:ext cx="5005573" cy="2808312"/>
          </a:xfrm>
          <a:prstGeom prst="roundRect">
            <a:avLst>
              <a:gd name="adj" fmla="val 3017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kumimoji="1" lang="en-US" altLang="ko-KR" sz="1000" b="1">
                <a:solidFill>
                  <a:schemeClr val="tx1"/>
                </a:solidFill>
              </a:rPr>
              <a:t>GPU</a:t>
            </a:r>
            <a:endParaRPr kumimoji="1" lang="ko-KR" altLang="en-US" sz="1000" b="1">
              <a:solidFill>
                <a:schemeClr val="tx1"/>
              </a:solidFill>
            </a:endParaRPr>
          </a:p>
        </p:txBody>
      </p:sp>
      <p:sp>
        <p:nvSpPr>
          <p:cNvPr id="8" name="모서리가 둥근 직사각형 7">
            <a:extLst>
              <a:ext uri="{FF2B5EF4-FFF2-40B4-BE49-F238E27FC236}">
                <a16:creationId xmlns:a16="http://schemas.microsoft.com/office/drawing/2014/main" id="{1933D5CA-5B2D-994D-9593-3EE5356B9013}"/>
              </a:ext>
            </a:extLst>
          </p:cNvPr>
          <p:cNvSpPr/>
          <p:nvPr/>
        </p:nvSpPr>
        <p:spPr>
          <a:xfrm>
            <a:off x="2207626" y="672083"/>
            <a:ext cx="1237375" cy="288032"/>
          </a:xfrm>
          <a:prstGeom prst="roundRect">
            <a:avLst>
              <a:gd name="adj" fmla="val 15432"/>
            </a:avLst>
          </a:prstGeom>
          <a:solidFill>
            <a:schemeClr val="accent3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CUDA Context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9" name="모서리가 둥근 직사각형 8">
            <a:extLst>
              <a:ext uri="{FF2B5EF4-FFF2-40B4-BE49-F238E27FC236}">
                <a16:creationId xmlns:a16="http://schemas.microsoft.com/office/drawing/2014/main" id="{60B63884-296F-E67C-2C35-8D169EF432DC}"/>
              </a:ext>
            </a:extLst>
          </p:cNvPr>
          <p:cNvSpPr/>
          <p:nvPr/>
        </p:nvSpPr>
        <p:spPr>
          <a:xfrm>
            <a:off x="3935818" y="672083"/>
            <a:ext cx="1237375" cy="288032"/>
          </a:xfrm>
          <a:prstGeom prst="roundRect">
            <a:avLst>
              <a:gd name="adj" fmla="val 15432"/>
            </a:avLst>
          </a:prstGeom>
          <a:solidFill>
            <a:schemeClr val="accent2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CUDA Context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11" name="모서리가 둥근 직사각형 10">
            <a:extLst>
              <a:ext uri="{FF2B5EF4-FFF2-40B4-BE49-F238E27FC236}">
                <a16:creationId xmlns:a16="http://schemas.microsoft.com/office/drawing/2014/main" id="{6630E33C-5898-534E-3BB6-1F824DDB76E5}"/>
              </a:ext>
            </a:extLst>
          </p:cNvPr>
          <p:cNvSpPr/>
          <p:nvPr/>
        </p:nvSpPr>
        <p:spPr>
          <a:xfrm>
            <a:off x="681319" y="3597961"/>
            <a:ext cx="1012610" cy="529248"/>
          </a:xfrm>
          <a:prstGeom prst="roundRect">
            <a:avLst>
              <a:gd name="adj" fmla="val 6582"/>
            </a:avLst>
          </a:prstGeom>
          <a:solidFill>
            <a:schemeClr val="accent1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App A Memory</a:t>
            </a:r>
          </a:p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 </a:t>
            </a:r>
            <a:br>
              <a:rPr kumimoji="1" lang="en-US" altLang="ko-KR" sz="900">
                <a:solidFill>
                  <a:schemeClr val="tx1"/>
                </a:solidFill>
              </a:rPr>
            </a:br>
            <a:r>
              <a:rPr kumimoji="1" lang="en-US" altLang="ko-KR" sz="900">
                <a:solidFill>
                  <a:schemeClr val="tx1"/>
                </a:solidFill>
              </a:rPr>
              <a:t>Kernel, Data</a:t>
            </a:r>
          </a:p>
        </p:txBody>
      </p:sp>
      <p:sp>
        <p:nvSpPr>
          <p:cNvPr id="12" name="모서리가 둥근 직사각형 11">
            <a:extLst>
              <a:ext uri="{FF2B5EF4-FFF2-40B4-BE49-F238E27FC236}">
                <a16:creationId xmlns:a16="http://schemas.microsoft.com/office/drawing/2014/main" id="{9B76E2BE-B7FF-281C-5147-435C5334031F}"/>
              </a:ext>
            </a:extLst>
          </p:cNvPr>
          <p:cNvSpPr/>
          <p:nvPr/>
        </p:nvSpPr>
        <p:spPr>
          <a:xfrm>
            <a:off x="473337" y="2239492"/>
            <a:ext cx="4699856" cy="689111"/>
          </a:xfrm>
          <a:prstGeom prst="roundRect">
            <a:avLst>
              <a:gd name="adj" fmla="val 8070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900" b="1" u="sng">
                <a:solidFill>
                  <a:schemeClr val="tx1"/>
                </a:solidFill>
              </a:rPr>
              <a:t>Shared</a:t>
            </a:r>
            <a:r>
              <a:rPr kumimoji="1" lang="en-US" altLang="ko-KR" sz="900">
                <a:solidFill>
                  <a:schemeClr val="tx1"/>
                </a:solidFill>
              </a:rPr>
              <a:t> SM (Streaming Multiprocessor) 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13" name="모서리가 둥근 직사각형 12">
            <a:extLst>
              <a:ext uri="{FF2B5EF4-FFF2-40B4-BE49-F238E27FC236}">
                <a16:creationId xmlns:a16="http://schemas.microsoft.com/office/drawing/2014/main" id="{8D60AE36-F34A-4417-875D-442D3FFFC5BB}"/>
              </a:ext>
            </a:extLst>
          </p:cNvPr>
          <p:cNvSpPr/>
          <p:nvPr/>
        </p:nvSpPr>
        <p:spPr>
          <a:xfrm>
            <a:off x="2316960" y="3597961"/>
            <a:ext cx="1012610" cy="529248"/>
          </a:xfrm>
          <a:prstGeom prst="roundRect">
            <a:avLst>
              <a:gd name="adj" fmla="val 11293"/>
            </a:avLst>
          </a:prstGeom>
          <a:solidFill>
            <a:schemeClr val="accent3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App B Memory</a:t>
            </a:r>
          </a:p>
          <a:p>
            <a:pPr algn="ctr"/>
            <a:br>
              <a:rPr kumimoji="1" lang="en-US" altLang="ko-KR" sz="900">
                <a:solidFill>
                  <a:schemeClr val="tx1"/>
                </a:solidFill>
              </a:rPr>
            </a:br>
            <a:r>
              <a:rPr kumimoji="1" lang="en-US" altLang="ko-KR" sz="900">
                <a:solidFill>
                  <a:schemeClr val="tx1"/>
                </a:solidFill>
              </a:rPr>
              <a:t>Kernel, Data</a:t>
            </a:r>
          </a:p>
        </p:txBody>
      </p:sp>
      <p:sp>
        <p:nvSpPr>
          <p:cNvPr id="14" name="모서리가 둥근 직사각형 13">
            <a:extLst>
              <a:ext uri="{FF2B5EF4-FFF2-40B4-BE49-F238E27FC236}">
                <a16:creationId xmlns:a16="http://schemas.microsoft.com/office/drawing/2014/main" id="{8FC3CA83-9744-F22A-81D0-7854F04B8F91}"/>
              </a:ext>
            </a:extLst>
          </p:cNvPr>
          <p:cNvSpPr/>
          <p:nvPr/>
        </p:nvSpPr>
        <p:spPr>
          <a:xfrm>
            <a:off x="3952601" y="3597961"/>
            <a:ext cx="1012610" cy="529248"/>
          </a:xfrm>
          <a:prstGeom prst="roundRect">
            <a:avLst>
              <a:gd name="adj" fmla="val 11293"/>
            </a:avLst>
          </a:prstGeom>
          <a:solidFill>
            <a:schemeClr val="accent2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App C Memory</a:t>
            </a:r>
          </a:p>
          <a:p>
            <a:pPr algn="ctr"/>
            <a:br>
              <a:rPr kumimoji="1" lang="en-US" altLang="ko-KR" sz="900">
                <a:solidFill>
                  <a:schemeClr val="tx1"/>
                </a:solidFill>
              </a:rPr>
            </a:br>
            <a:r>
              <a:rPr kumimoji="1" lang="en-US" altLang="ko-KR" sz="900">
                <a:solidFill>
                  <a:schemeClr val="tx1"/>
                </a:solidFill>
              </a:rPr>
              <a:t>Kernel, Data</a:t>
            </a:r>
          </a:p>
        </p:txBody>
      </p: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69019949-F6C5-4DB8-6194-31715202755D}"/>
              </a:ext>
            </a:extLst>
          </p:cNvPr>
          <p:cNvCxnSpPr>
            <a:cxnSpLocks/>
            <a:stCxn id="5" idx="2"/>
            <a:endCxn id="25" idx="0"/>
          </p:cNvCxnSpPr>
          <p:nvPr/>
        </p:nvCxnSpPr>
        <p:spPr>
          <a:xfrm flipH="1">
            <a:off x="1962219" y="1040484"/>
            <a:ext cx="864096" cy="174985"/>
          </a:xfrm>
          <a:prstGeom prst="straightConnector1">
            <a:avLst/>
          </a:prstGeom>
          <a:ln w="127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모서리가 둥근 직사각형 24">
            <a:extLst>
              <a:ext uri="{FF2B5EF4-FFF2-40B4-BE49-F238E27FC236}">
                <a16:creationId xmlns:a16="http://schemas.microsoft.com/office/drawing/2014/main" id="{A0FDCB7D-6C5D-5438-75F6-BFD53F97121E}"/>
              </a:ext>
            </a:extLst>
          </p:cNvPr>
          <p:cNvSpPr/>
          <p:nvPr/>
        </p:nvSpPr>
        <p:spPr>
          <a:xfrm>
            <a:off x="1187624" y="1215469"/>
            <a:ext cx="1549189" cy="720080"/>
          </a:xfrm>
          <a:prstGeom prst="roundRect">
            <a:avLst>
              <a:gd name="adj" fmla="val 9264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 b="1">
                <a:solidFill>
                  <a:schemeClr val="tx1"/>
                </a:solidFill>
              </a:rPr>
              <a:t>MPS Control</a:t>
            </a:r>
            <a:endParaRPr kumimoji="1" lang="ko-KR" altLang="en-US" sz="1000" b="1">
              <a:solidFill>
                <a:schemeClr val="tx1"/>
              </a:solidFill>
            </a:endParaRPr>
          </a:p>
        </p:txBody>
      </p: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50067F51-E3EB-E0CA-99F7-F7D97F19882D}"/>
              </a:ext>
            </a:extLst>
          </p:cNvPr>
          <p:cNvCxnSpPr>
            <a:cxnSpLocks/>
            <a:stCxn id="6" idx="2"/>
            <a:endCxn id="25" idx="0"/>
          </p:cNvCxnSpPr>
          <p:nvPr/>
        </p:nvCxnSpPr>
        <p:spPr>
          <a:xfrm flipH="1">
            <a:off x="1962219" y="1040484"/>
            <a:ext cx="2592288" cy="174985"/>
          </a:xfrm>
          <a:prstGeom prst="straightConnector1">
            <a:avLst/>
          </a:prstGeom>
          <a:ln w="127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77018B60-9B55-C04C-CB8C-FA139AEB401C}"/>
              </a:ext>
            </a:extLst>
          </p:cNvPr>
          <p:cNvCxnSpPr>
            <a:cxnSpLocks/>
            <a:stCxn id="3" idx="2"/>
            <a:endCxn id="25" idx="0"/>
          </p:cNvCxnSpPr>
          <p:nvPr/>
        </p:nvCxnSpPr>
        <p:spPr>
          <a:xfrm>
            <a:off x="1098123" y="1040484"/>
            <a:ext cx="864096" cy="174985"/>
          </a:xfrm>
          <a:prstGeom prst="straightConnector1">
            <a:avLst/>
          </a:prstGeom>
          <a:ln w="127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모서리가 둥근 직사각형 45">
            <a:extLst>
              <a:ext uri="{FF2B5EF4-FFF2-40B4-BE49-F238E27FC236}">
                <a16:creationId xmlns:a16="http://schemas.microsoft.com/office/drawing/2014/main" id="{758605E9-12E3-18AA-140D-E0F193D2D15C}"/>
              </a:ext>
            </a:extLst>
          </p:cNvPr>
          <p:cNvSpPr/>
          <p:nvPr/>
        </p:nvSpPr>
        <p:spPr>
          <a:xfrm>
            <a:off x="570474" y="3342607"/>
            <a:ext cx="4505582" cy="843864"/>
          </a:xfrm>
          <a:prstGeom prst="roundRect">
            <a:avLst>
              <a:gd name="adj" fmla="val 8070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900" b="1" u="sng">
                <a:solidFill>
                  <a:schemeClr val="tx1"/>
                </a:solidFill>
              </a:rPr>
              <a:t>MPS</a:t>
            </a:r>
            <a:r>
              <a:rPr kumimoji="1" lang="en-US" altLang="ko-KR" sz="900">
                <a:solidFill>
                  <a:schemeClr val="tx1"/>
                </a:solidFill>
              </a:rPr>
              <a:t> Memory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cxnSp>
        <p:nvCxnSpPr>
          <p:cNvPr id="52" name="직선 화살표 연결선 51">
            <a:extLst>
              <a:ext uri="{FF2B5EF4-FFF2-40B4-BE49-F238E27FC236}">
                <a16:creationId xmlns:a16="http://schemas.microsoft.com/office/drawing/2014/main" id="{E5E029DE-8A28-3ADC-F2C0-96EE9ACC7065}"/>
              </a:ext>
            </a:extLst>
          </p:cNvPr>
          <p:cNvCxnSpPr>
            <a:cxnSpLocks/>
            <a:stCxn id="39" idx="2"/>
          </p:cNvCxnSpPr>
          <p:nvPr/>
        </p:nvCxnSpPr>
        <p:spPr>
          <a:xfrm flipH="1">
            <a:off x="3690410" y="1935549"/>
            <a:ext cx="1" cy="1416419"/>
          </a:xfrm>
          <a:prstGeom prst="straightConnector1">
            <a:avLst/>
          </a:prstGeom>
          <a:ln w="127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모서리가 둥근 직사각형 14">
            <a:extLst>
              <a:ext uri="{FF2B5EF4-FFF2-40B4-BE49-F238E27FC236}">
                <a16:creationId xmlns:a16="http://schemas.microsoft.com/office/drawing/2014/main" id="{72C3A6C9-59F5-34F2-BE70-8A4A26727740}"/>
              </a:ext>
            </a:extLst>
          </p:cNvPr>
          <p:cNvSpPr/>
          <p:nvPr/>
        </p:nvSpPr>
        <p:spPr>
          <a:xfrm>
            <a:off x="473337" y="3078630"/>
            <a:ext cx="4699856" cy="1165010"/>
          </a:xfrm>
          <a:prstGeom prst="roundRect">
            <a:avLst>
              <a:gd name="adj" fmla="val 5754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900" b="1" u="sng">
                <a:solidFill>
                  <a:schemeClr val="tx1"/>
                </a:solidFill>
              </a:rPr>
              <a:t>Shared</a:t>
            </a:r>
            <a:r>
              <a:rPr kumimoji="1" lang="en-US" altLang="ko-KR" sz="900">
                <a:solidFill>
                  <a:schemeClr val="tx1"/>
                </a:solidFill>
              </a:rPr>
              <a:t> Memory 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17" name="모서리가 둥근 직사각형 16">
            <a:extLst>
              <a:ext uri="{FF2B5EF4-FFF2-40B4-BE49-F238E27FC236}">
                <a16:creationId xmlns:a16="http://schemas.microsoft.com/office/drawing/2014/main" id="{382F6156-24EF-49B0-71B2-D09F6B8846FC}"/>
              </a:ext>
            </a:extLst>
          </p:cNvPr>
          <p:cNvSpPr/>
          <p:nvPr/>
        </p:nvSpPr>
        <p:spPr>
          <a:xfrm>
            <a:off x="473338" y="4393667"/>
            <a:ext cx="4705952" cy="288032"/>
          </a:xfrm>
          <a:prstGeom prst="roundRect">
            <a:avLst>
              <a:gd name="adj" fmla="val 15432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 b="1" u="sng">
                <a:solidFill>
                  <a:schemeClr val="tx1"/>
                </a:solidFill>
              </a:rPr>
              <a:t>MPS</a:t>
            </a:r>
            <a:r>
              <a:rPr kumimoji="1" lang="en-US" altLang="ko-KR" sz="900">
                <a:solidFill>
                  <a:schemeClr val="tx1"/>
                </a:solidFill>
              </a:rPr>
              <a:t> GPU Context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39" name="모서리가 둥근 직사각형 38">
            <a:extLst>
              <a:ext uri="{FF2B5EF4-FFF2-40B4-BE49-F238E27FC236}">
                <a16:creationId xmlns:a16="http://schemas.microsoft.com/office/drawing/2014/main" id="{549B7494-C038-2154-99A5-CDCE16ADC1D9}"/>
              </a:ext>
            </a:extLst>
          </p:cNvPr>
          <p:cNvSpPr/>
          <p:nvPr/>
        </p:nvSpPr>
        <p:spPr>
          <a:xfrm>
            <a:off x="2915816" y="1215469"/>
            <a:ext cx="1549189" cy="720080"/>
          </a:xfrm>
          <a:prstGeom prst="roundRect">
            <a:avLst>
              <a:gd name="adj" fmla="val 9264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1000" b="1">
                <a:solidFill>
                  <a:schemeClr val="tx1"/>
                </a:solidFill>
              </a:rPr>
              <a:t>MPS Server</a:t>
            </a:r>
          </a:p>
        </p:txBody>
      </p:sp>
      <p:sp>
        <p:nvSpPr>
          <p:cNvPr id="40" name="모서리가 둥근 직사각형 39">
            <a:extLst>
              <a:ext uri="{FF2B5EF4-FFF2-40B4-BE49-F238E27FC236}">
                <a16:creationId xmlns:a16="http://schemas.microsoft.com/office/drawing/2014/main" id="{FC04D446-F2E0-C539-BC70-531BF02680A1}"/>
              </a:ext>
            </a:extLst>
          </p:cNvPr>
          <p:cNvSpPr/>
          <p:nvPr/>
        </p:nvSpPr>
        <p:spPr>
          <a:xfrm>
            <a:off x="3071722" y="1503501"/>
            <a:ext cx="1237375" cy="288032"/>
          </a:xfrm>
          <a:prstGeom prst="roundRect">
            <a:avLst>
              <a:gd name="adj" fmla="val 1543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MPS</a:t>
            </a:r>
          </a:p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CUDA Context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cxnSp>
        <p:nvCxnSpPr>
          <p:cNvPr id="42" name="직선 화살표 연결선 41">
            <a:extLst>
              <a:ext uri="{FF2B5EF4-FFF2-40B4-BE49-F238E27FC236}">
                <a16:creationId xmlns:a16="http://schemas.microsoft.com/office/drawing/2014/main" id="{BB38A00F-9E7F-2305-F0A3-6194E9348A33}"/>
              </a:ext>
            </a:extLst>
          </p:cNvPr>
          <p:cNvCxnSpPr>
            <a:cxnSpLocks/>
            <a:stCxn id="25" idx="3"/>
            <a:endCxn id="39" idx="1"/>
          </p:cNvCxnSpPr>
          <p:nvPr/>
        </p:nvCxnSpPr>
        <p:spPr>
          <a:xfrm>
            <a:off x="2736813" y="1575509"/>
            <a:ext cx="179003" cy="0"/>
          </a:xfrm>
          <a:prstGeom prst="straightConnector1">
            <a:avLst/>
          </a:prstGeom>
          <a:ln w="127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모서리가 둥근 직사각형 15">
            <a:extLst>
              <a:ext uri="{FF2B5EF4-FFF2-40B4-BE49-F238E27FC236}">
                <a16:creationId xmlns:a16="http://schemas.microsoft.com/office/drawing/2014/main" id="{836A0280-63E2-6A8A-3771-C7F05E705883}"/>
              </a:ext>
            </a:extLst>
          </p:cNvPr>
          <p:cNvSpPr/>
          <p:nvPr/>
        </p:nvSpPr>
        <p:spPr>
          <a:xfrm>
            <a:off x="681319" y="2524730"/>
            <a:ext cx="1012610" cy="335052"/>
          </a:xfrm>
          <a:prstGeom prst="roundRect">
            <a:avLst>
              <a:gd name="adj" fmla="val 15928"/>
            </a:avLst>
          </a:prstGeom>
          <a:solidFill>
            <a:schemeClr val="accent1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App A SM</a:t>
            </a:r>
          </a:p>
        </p:txBody>
      </p:sp>
      <p:sp>
        <p:nvSpPr>
          <p:cNvPr id="18" name="모서리가 둥근 직사각형 17">
            <a:extLst>
              <a:ext uri="{FF2B5EF4-FFF2-40B4-BE49-F238E27FC236}">
                <a16:creationId xmlns:a16="http://schemas.microsoft.com/office/drawing/2014/main" id="{2BA16603-4C8A-8592-DF55-0B27F468FFF4}"/>
              </a:ext>
            </a:extLst>
          </p:cNvPr>
          <p:cNvSpPr/>
          <p:nvPr/>
        </p:nvSpPr>
        <p:spPr>
          <a:xfrm>
            <a:off x="2316960" y="2524730"/>
            <a:ext cx="1012610" cy="335052"/>
          </a:xfrm>
          <a:prstGeom prst="roundRect">
            <a:avLst>
              <a:gd name="adj" fmla="val 18770"/>
            </a:avLst>
          </a:prstGeom>
          <a:solidFill>
            <a:schemeClr val="accent3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App B SM</a:t>
            </a:r>
          </a:p>
        </p:txBody>
      </p:sp>
      <p:sp>
        <p:nvSpPr>
          <p:cNvPr id="20" name="모서리가 둥근 직사각형 19">
            <a:extLst>
              <a:ext uri="{FF2B5EF4-FFF2-40B4-BE49-F238E27FC236}">
                <a16:creationId xmlns:a16="http://schemas.microsoft.com/office/drawing/2014/main" id="{E68E8DC8-344F-12B7-672F-011C27FC8359}"/>
              </a:ext>
            </a:extLst>
          </p:cNvPr>
          <p:cNvSpPr/>
          <p:nvPr/>
        </p:nvSpPr>
        <p:spPr>
          <a:xfrm>
            <a:off x="3952601" y="2524730"/>
            <a:ext cx="1012610" cy="335052"/>
          </a:xfrm>
          <a:prstGeom prst="roundRect">
            <a:avLst>
              <a:gd name="adj" fmla="val 18770"/>
            </a:avLst>
          </a:prstGeom>
          <a:solidFill>
            <a:schemeClr val="accent2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App C SM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5BFFFA7-6B58-F745-FBD2-9D9F625E5A54}"/>
              </a:ext>
            </a:extLst>
          </p:cNvPr>
          <p:cNvSpPr txBox="1"/>
          <p:nvPr/>
        </p:nvSpPr>
        <p:spPr>
          <a:xfrm>
            <a:off x="323528" y="89572"/>
            <a:ext cx="1029059" cy="2308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kumimoji="1" lang="en-US" altLang="ko-KR" sz="900" b="1" i="1">
                <a:solidFill>
                  <a:schemeClr val="tx2"/>
                </a:solidFill>
              </a:rPr>
              <a:t>Kernel,</a:t>
            </a:r>
            <a:r>
              <a:rPr kumimoji="1" lang="ko-KR" altLang="en-US" sz="900" b="1" i="1">
                <a:solidFill>
                  <a:schemeClr val="tx2"/>
                </a:solidFill>
              </a:rPr>
              <a:t> </a:t>
            </a:r>
            <a:r>
              <a:rPr kumimoji="1" lang="en-US" altLang="ko-KR" sz="900" b="1" i="1">
                <a:solidFill>
                  <a:schemeClr val="tx2"/>
                </a:solidFill>
              </a:rPr>
              <a:t>Configs</a:t>
            </a:r>
            <a:endParaRPr kumimoji="1" lang="ko-KR" altLang="en-US" sz="900" b="1" i="1">
              <a:solidFill>
                <a:schemeClr val="tx2"/>
              </a:solidFill>
            </a:endParaRPr>
          </a:p>
        </p:txBody>
      </p: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449D0A3A-8773-F0DA-AED7-F5E69129D57C}"/>
              </a:ext>
            </a:extLst>
          </p:cNvPr>
          <p:cNvCxnSpPr>
            <a:cxnSpLocks/>
            <a:stCxn id="3" idx="2"/>
            <a:endCxn id="11" idx="0"/>
          </p:cNvCxnSpPr>
          <p:nvPr/>
        </p:nvCxnSpPr>
        <p:spPr>
          <a:xfrm>
            <a:off x="1098123" y="1040484"/>
            <a:ext cx="89501" cy="2557477"/>
          </a:xfrm>
          <a:prstGeom prst="straightConnector1">
            <a:avLst/>
          </a:prstGeom>
          <a:ln w="127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직선 화살표 연결선 32">
            <a:extLst>
              <a:ext uri="{FF2B5EF4-FFF2-40B4-BE49-F238E27FC236}">
                <a16:creationId xmlns:a16="http://schemas.microsoft.com/office/drawing/2014/main" id="{F71423F4-E498-C56F-DD7D-8F83A0575217}"/>
              </a:ext>
            </a:extLst>
          </p:cNvPr>
          <p:cNvCxnSpPr>
            <a:cxnSpLocks/>
            <a:stCxn id="8" idx="2"/>
            <a:endCxn id="13" idx="0"/>
          </p:cNvCxnSpPr>
          <p:nvPr/>
        </p:nvCxnSpPr>
        <p:spPr>
          <a:xfrm flipH="1">
            <a:off x="2823265" y="960115"/>
            <a:ext cx="3049" cy="2637846"/>
          </a:xfrm>
          <a:prstGeom prst="straightConnector1">
            <a:avLst/>
          </a:prstGeom>
          <a:ln w="127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직선 화살표 연결선 46">
            <a:extLst>
              <a:ext uri="{FF2B5EF4-FFF2-40B4-BE49-F238E27FC236}">
                <a16:creationId xmlns:a16="http://schemas.microsoft.com/office/drawing/2014/main" id="{4265CC7E-5E03-DABF-C9BE-83F9A10B4091}"/>
              </a:ext>
            </a:extLst>
          </p:cNvPr>
          <p:cNvCxnSpPr>
            <a:cxnSpLocks/>
            <a:stCxn id="6" idx="2"/>
            <a:endCxn id="14" idx="0"/>
          </p:cNvCxnSpPr>
          <p:nvPr/>
        </p:nvCxnSpPr>
        <p:spPr>
          <a:xfrm flipH="1">
            <a:off x="4458906" y="1040484"/>
            <a:ext cx="95601" cy="2557477"/>
          </a:xfrm>
          <a:prstGeom prst="straightConnector1">
            <a:avLst/>
          </a:prstGeom>
          <a:ln w="127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직선 화살표 연결선 52">
            <a:extLst>
              <a:ext uri="{FF2B5EF4-FFF2-40B4-BE49-F238E27FC236}">
                <a16:creationId xmlns:a16="http://schemas.microsoft.com/office/drawing/2014/main" id="{4F7F06D1-C6BC-7718-F07F-408705558575}"/>
              </a:ext>
            </a:extLst>
          </p:cNvPr>
          <p:cNvCxnSpPr>
            <a:cxnSpLocks/>
            <a:stCxn id="21" idx="3"/>
          </p:cNvCxnSpPr>
          <p:nvPr/>
        </p:nvCxnSpPr>
        <p:spPr>
          <a:xfrm>
            <a:off x="1352587" y="204988"/>
            <a:ext cx="358125" cy="0"/>
          </a:xfrm>
          <a:prstGeom prst="straightConnector1">
            <a:avLst/>
          </a:prstGeom>
          <a:ln w="127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E80CBBAC-61C0-A06C-6A16-61E63246D3E6}"/>
              </a:ext>
            </a:extLst>
          </p:cNvPr>
          <p:cNvSpPr txBox="1"/>
          <p:nvPr/>
        </p:nvSpPr>
        <p:spPr>
          <a:xfrm>
            <a:off x="1804550" y="89572"/>
            <a:ext cx="440956" cy="2308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kumimoji="1" lang="en-US" altLang="ko-KR" sz="900" b="1" i="1">
                <a:solidFill>
                  <a:srgbClr val="C00000"/>
                </a:solidFill>
              </a:rPr>
              <a:t>Data</a:t>
            </a:r>
            <a:endParaRPr kumimoji="1" lang="ko-KR" altLang="en-US" sz="900" b="1" i="1">
              <a:solidFill>
                <a:srgbClr val="C00000"/>
              </a:solidFill>
            </a:endParaRPr>
          </a:p>
        </p:txBody>
      </p:sp>
      <p:cxnSp>
        <p:nvCxnSpPr>
          <p:cNvPr id="57" name="직선 화살표 연결선 56">
            <a:extLst>
              <a:ext uri="{FF2B5EF4-FFF2-40B4-BE49-F238E27FC236}">
                <a16:creationId xmlns:a16="http://schemas.microsoft.com/office/drawing/2014/main" id="{1EBF0A28-F5BA-65C3-8D43-167B96EE649C}"/>
              </a:ext>
            </a:extLst>
          </p:cNvPr>
          <p:cNvCxnSpPr>
            <a:cxnSpLocks/>
            <a:stCxn id="56" idx="3"/>
          </p:cNvCxnSpPr>
          <p:nvPr/>
        </p:nvCxnSpPr>
        <p:spPr>
          <a:xfrm>
            <a:off x="2245506" y="204988"/>
            <a:ext cx="358125" cy="0"/>
          </a:xfrm>
          <a:prstGeom prst="straightConnector1">
            <a:avLst/>
          </a:prstGeom>
          <a:ln w="127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369306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2788A7-BC62-29A1-C827-D7593CA4C5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5A0869-A939-CBAB-5E61-0BDDBEE1F75F}"/>
              </a:ext>
            </a:extLst>
          </p:cNvPr>
          <p:cNvSpPr txBox="1">
            <a:spLocks/>
          </p:cNvSpPr>
          <p:nvPr/>
        </p:nvSpPr>
        <p:spPr>
          <a:xfrm>
            <a:off x="457200" y="-1216369"/>
            <a:ext cx="8229600" cy="857250"/>
          </a:xfrm>
          <a:prstGeom prst="rect">
            <a:avLst/>
          </a:prstGeom>
        </p:spPr>
        <p:txBody>
          <a:bodyPr/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/>
              <a:t>MPS Before Volta</a:t>
            </a:r>
            <a:endParaRPr lang="ko-KR" altLang="en-US" dirty="0"/>
          </a:p>
        </p:txBody>
      </p:sp>
      <p:cxnSp>
        <p:nvCxnSpPr>
          <p:cNvPr id="3" name="직선 연결선[R] 2">
            <a:extLst>
              <a:ext uri="{FF2B5EF4-FFF2-40B4-BE49-F238E27FC236}">
                <a16:creationId xmlns:a16="http://schemas.microsoft.com/office/drawing/2014/main" id="{433FDAE4-7262-F130-8C4C-5ED4F54DC0BD}"/>
              </a:ext>
            </a:extLst>
          </p:cNvPr>
          <p:cNvCxnSpPr>
            <a:cxnSpLocks/>
          </p:cNvCxnSpPr>
          <p:nvPr/>
        </p:nvCxnSpPr>
        <p:spPr>
          <a:xfrm>
            <a:off x="-36512" y="3139439"/>
            <a:ext cx="9289032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B7442912-DFE9-18F8-4CEB-033D8611CF50}"/>
              </a:ext>
            </a:extLst>
          </p:cNvPr>
          <p:cNvSpPr txBox="1"/>
          <p:nvPr/>
        </p:nvSpPr>
        <p:spPr>
          <a:xfrm>
            <a:off x="44450" y="3139439"/>
            <a:ext cx="10887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100" b="1"/>
              <a:t>GPU Memory</a:t>
            </a:r>
            <a:endParaRPr kumimoji="1" lang="ko-KR" altLang="en-US" sz="1100" b="1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A866030-4231-F276-74A9-D157ABA2F63B}"/>
              </a:ext>
            </a:extLst>
          </p:cNvPr>
          <p:cNvSpPr txBox="1"/>
          <p:nvPr/>
        </p:nvSpPr>
        <p:spPr>
          <a:xfrm>
            <a:off x="44450" y="2877829"/>
            <a:ext cx="83708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100" b="1"/>
              <a:t>GPU Core</a:t>
            </a:r>
            <a:endParaRPr kumimoji="1" lang="ko-KR" altLang="en-US" sz="1100" b="1"/>
          </a:p>
        </p:txBody>
      </p:sp>
      <p:grpSp>
        <p:nvGrpSpPr>
          <p:cNvPr id="56" name="그룹 55">
            <a:extLst>
              <a:ext uri="{FF2B5EF4-FFF2-40B4-BE49-F238E27FC236}">
                <a16:creationId xmlns:a16="http://schemas.microsoft.com/office/drawing/2014/main" id="{2B63C2A4-89B4-D2AA-D679-BB0215EB0762}"/>
              </a:ext>
            </a:extLst>
          </p:cNvPr>
          <p:cNvGrpSpPr/>
          <p:nvPr/>
        </p:nvGrpSpPr>
        <p:grpSpPr>
          <a:xfrm>
            <a:off x="1267834" y="134307"/>
            <a:ext cx="7768662" cy="2671514"/>
            <a:chOff x="1267834" y="134307"/>
            <a:chExt cx="3018743" cy="2671514"/>
          </a:xfrm>
        </p:grpSpPr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id="{51515162-4084-E33C-5F77-6DC6E34B7B01}"/>
                </a:ext>
              </a:extLst>
            </p:cNvPr>
            <p:cNvGrpSpPr/>
            <p:nvPr/>
          </p:nvGrpSpPr>
          <p:grpSpPr>
            <a:xfrm>
              <a:off x="1267834" y="134307"/>
              <a:ext cx="1954202" cy="720080"/>
              <a:chOff x="236727" y="987574"/>
              <a:chExt cx="1957044" cy="720080"/>
            </a:xfrm>
            <a:solidFill>
              <a:schemeClr val="accent1">
                <a:lumMod val="20000"/>
                <a:lumOff val="80000"/>
              </a:schemeClr>
            </a:solidFill>
          </p:grpSpPr>
          <p:sp>
            <p:nvSpPr>
              <p:cNvPr id="7" name="모서리가 둥근 직사각형 6">
                <a:extLst>
                  <a:ext uri="{FF2B5EF4-FFF2-40B4-BE49-F238E27FC236}">
                    <a16:creationId xmlns:a16="http://schemas.microsoft.com/office/drawing/2014/main" id="{7C8F0DC0-6A71-0FED-D55A-8A160A14D809}"/>
                  </a:ext>
                </a:extLst>
              </p:cNvPr>
              <p:cNvSpPr/>
              <p:nvPr/>
            </p:nvSpPr>
            <p:spPr>
              <a:xfrm>
                <a:off x="236727" y="987574"/>
                <a:ext cx="1241295" cy="288032"/>
              </a:xfrm>
              <a:prstGeom prst="roundRect">
                <a:avLst>
                  <a:gd name="adj" fmla="val 15432"/>
                </a:avLst>
              </a:prstGeom>
              <a:grpFill/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ko-KR" sz="900">
                    <a:solidFill>
                      <a:schemeClr val="tx1"/>
                    </a:solidFill>
                  </a:rPr>
                  <a:t>Kernel A1</a:t>
                </a:r>
                <a:endParaRPr kumimoji="1" lang="ko-KR" altLang="en-US" sz="900">
                  <a:solidFill>
                    <a:schemeClr val="tx1"/>
                  </a:solidFill>
                </a:endParaRPr>
              </a:p>
            </p:txBody>
          </p:sp>
          <p:sp>
            <p:nvSpPr>
              <p:cNvPr id="8" name="모서리가 둥근 직사각형 7">
                <a:extLst>
                  <a:ext uri="{FF2B5EF4-FFF2-40B4-BE49-F238E27FC236}">
                    <a16:creationId xmlns:a16="http://schemas.microsoft.com/office/drawing/2014/main" id="{ABABDF85-D571-83B1-0069-D398A0701CCB}"/>
                  </a:ext>
                </a:extLst>
              </p:cNvPr>
              <p:cNvSpPr/>
              <p:nvPr/>
            </p:nvSpPr>
            <p:spPr>
              <a:xfrm>
                <a:off x="1478244" y="987574"/>
                <a:ext cx="715527" cy="288032"/>
              </a:xfrm>
              <a:prstGeom prst="roundRect">
                <a:avLst>
                  <a:gd name="adj" fmla="val 15432"/>
                </a:avLst>
              </a:prstGeom>
              <a:grpFill/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ko-KR" sz="900">
                    <a:solidFill>
                      <a:schemeClr val="tx1"/>
                    </a:solidFill>
                  </a:rPr>
                  <a:t>Kernel A2</a:t>
                </a:r>
                <a:endParaRPr kumimoji="1" lang="ko-KR" altLang="en-US" sz="900">
                  <a:solidFill>
                    <a:schemeClr val="tx1"/>
                  </a:solidFill>
                </a:endParaRPr>
              </a:p>
            </p:txBody>
          </p:sp>
          <p:sp>
            <p:nvSpPr>
              <p:cNvPr id="9" name="모서리가 둥근 직사각형 8">
                <a:extLst>
                  <a:ext uri="{FF2B5EF4-FFF2-40B4-BE49-F238E27FC236}">
                    <a16:creationId xmlns:a16="http://schemas.microsoft.com/office/drawing/2014/main" id="{927F1868-9D71-E396-1447-B894477129E0}"/>
                  </a:ext>
                </a:extLst>
              </p:cNvPr>
              <p:cNvSpPr/>
              <p:nvPr/>
            </p:nvSpPr>
            <p:spPr>
              <a:xfrm>
                <a:off x="239069" y="1419622"/>
                <a:ext cx="1239175" cy="288032"/>
              </a:xfrm>
              <a:prstGeom prst="roundRect">
                <a:avLst>
                  <a:gd name="adj" fmla="val 15432"/>
                </a:avLst>
              </a:prstGeom>
              <a:grpFill/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ko-KR" sz="900">
                    <a:solidFill>
                      <a:schemeClr val="tx1"/>
                    </a:solidFill>
                  </a:rPr>
                  <a:t>Kernel A3</a:t>
                </a:r>
                <a:endParaRPr kumimoji="1" lang="ko-KR" altLang="en-US" sz="90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0" name="그룹 9">
              <a:extLst>
                <a:ext uri="{FF2B5EF4-FFF2-40B4-BE49-F238E27FC236}">
                  <a16:creationId xmlns:a16="http://schemas.microsoft.com/office/drawing/2014/main" id="{C503EF0E-A5EE-EAB9-0F3C-3FE6DD106618}"/>
                </a:ext>
              </a:extLst>
            </p:cNvPr>
            <p:cNvGrpSpPr/>
            <p:nvPr/>
          </p:nvGrpSpPr>
          <p:grpSpPr>
            <a:xfrm>
              <a:off x="1267834" y="1110024"/>
              <a:ext cx="1954544" cy="720080"/>
              <a:chOff x="2331399" y="987574"/>
              <a:chExt cx="1957387" cy="720080"/>
            </a:xfrm>
            <a:solidFill>
              <a:schemeClr val="accent3">
                <a:lumMod val="20000"/>
                <a:lumOff val="80000"/>
              </a:schemeClr>
            </a:solidFill>
          </p:grpSpPr>
          <p:sp>
            <p:nvSpPr>
              <p:cNvPr id="11" name="모서리가 둥근 직사각형 10">
                <a:extLst>
                  <a:ext uri="{FF2B5EF4-FFF2-40B4-BE49-F238E27FC236}">
                    <a16:creationId xmlns:a16="http://schemas.microsoft.com/office/drawing/2014/main" id="{3CE8A3C0-5F00-8392-83C7-00A1319A5AA1}"/>
                  </a:ext>
                </a:extLst>
              </p:cNvPr>
              <p:cNvSpPr/>
              <p:nvPr/>
            </p:nvSpPr>
            <p:spPr>
              <a:xfrm>
                <a:off x="2331964" y="987574"/>
                <a:ext cx="1241295" cy="288032"/>
              </a:xfrm>
              <a:prstGeom prst="roundRect">
                <a:avLst>
                  <a:gd name="adj" fmla="val 15432"/>
                </a:avLst>
              </a:prstGeom>
              <a:grpFill/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ko-KR" sz="900">
                    <a:solidFill>
                      <a:schemeClr val="tx1"/>
                    </a:solidFill>
                  </a:rPr>
                  <a:t>Kernel B1</a:t>
                </a:r>
                <a:endParaRPr kumimoji="1" lang="ko-KR" altLang="en-US" sz="900">
                  <a:solidFill>
                    <a:schemeClr val="tx1"/>
                  </a:solidFill>
                </a:endParaRPr>
              </a:p>
            </p:txBody>
          </p:sp>
          <p:sp>
            <p:nvSpPr>
              <p:cNvPr id="12" name="모서리가 둥근 직사각형 11">
                <a:extLst>
                  <a:ext uri="{FF2B5EF4-FFF2-40B4-BE49-F238E27FC236}">
                    <a16:creationId xmlns:a16="http://schemas.microsoft.com/office/drawing/2014/main" id="{EF20CB5C-AC2E-E59F-1FAB-21B729B48EB8}"/>
                  </a:ext>
                </a:extLst>
              </p:cNvPr>
              <p:cNvSpPr/>
              <p:nvPr/>
            </p:nvSpPr>
            <p:spPr>
              <a:xfrm>
                <a:off x="2331399" y="1419622"/>
                <a:ext cx="715527" cy="288032"/>
              </a:xfrm>
              <a:prstGeom prst="roundRect">
                <a:avLst>
                  <a:gd name="adj" fmla="val 15432"/>
                </a:avLst>
              </a:prstGeom>
              <a:grpFill/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ko-KR" sz="900">
                    <a:solidFill>
                      <a:schemeClr val="tx1"/>
                    </a:solidFill>
                  </a:rPr>
                  <a:t>Kernel B3</a:t>
                </a:r>
                <a:endParaRPr kumimoji="1" lang="ko-KR" altLang="en-US" sz="900">
                  <a:solidFill>
                    <a:schemeClr val="tx1"/>
                  </a:solidFill>
                </a:endParaRPr>
              </a:p>
            </p:txBody>
          </p:sp>
          <p:sp>
            <p:nvSpPr>
              <p:cNvPr id="13" name="모서리가 둥근 직사각형 12">
                <a:extLst>
                  <a:ext uri="{FF2B5EF4-FFF2-40B4-BE49-F238E27FC236}">
                    <a16:creationId xmlns:a16="http://schemas.microsoft.com/office/drawing/2014/main" id="{31F4AE13-A35A-7A28-8F68-1D8D417A95F3}"/>
                  </a:ext>
                </a:extLst>
              </p:cNvPr>
              <p:cNvSpPr/>
              <p:nvPr/>
            </p:nvSpPr>
            <p:spPr>
              <a:xfrm>
                <a:off x="3573259" y="987574"/>
                <a:ext cx="715527" cy="288032"/>
              </a:xfrm>
              <a:prstGeom prst="roundRect">
                <a:avLst>
                  <a:gd name="adj" fmla="val 15432"/>
                </a:avLst>
              </a:prstGeom>
              <a:grpFill/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ko-KR" sz="900">
                    <a:solidFill>
                      <a:schemeClr val="tx1"/>
                    </a:solidFill>
                  </a:rPr>
                  <a:t>Kernel B2</a:t>
                </a:r>
                <a:endParaRPr kumimoji="1" lang="ko-KR" altLang="en-US" sz="90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4" name="그룹 13">
              <a:extLst>
                <a:ext uri="{FF2B5EF4-FFF2-40B4-BE49-F238E27FC236}">
                  <a16:creationId xmlns:a16="http://schemas.microsoft.com/office/drawing/2014/main" id="{5C710BDB-7439-7F3A-701C-97DA3E4E15BD}"/>
                </a:ext>
              </a:extLst>
            </p:cNvPr>
            <p:cNvGrpSpPr/>
            <p:nvPr/>
          </p:nvGrpSpPr>
          <p:grpSpPr>
            <a:xfrm>
              <a:off x="1270173" y="2085741"/>
              <a:ext cx="1951863" cy="720080"/>
              <a:chOff x="4427984" y="987574"/>
              <a:chExt cx="1954702" cy="720080"/>
            </a:xfrm>
          </p:grpSpPr>
          <p:sp>
            <p:nvSpPr>
              <p:cNvPr id="15" name="모서리가 둥근 직사각형 14">
                <a:extLst>
                  <a:ext uri="{FF2B5EF4-FFF2-40B4-BE49-F238E27FC236}">
                    <a16:creationId xmlns:a16="http://schemas.microsoft.com/office/drawing/2014/main" id="{1BC54DFC-EEC7-BAEA-DACA-238FFEB69DB2}"/>
                  </a:ext>
                </a:extLst>
              </p:cNvPr>
              <p:cNvSpPr/>
              <p:nvPr/>
            </p:nvSpPr>
            <p:spPr>
              <a:xfrm>
                <a:off x="4427984" y="987574"/>
                <a:ext cx="715527" cy="288032"/>
              </a:xfrm>
              <a:prstGeom prst="roundRect">
                <a:avLst>
                  <a:gd name="adj" fmla="val 15432"/>
                </a:avLst>
              </a:prstGeom>
              <a:solidFill>
                <a:schemeClr val="accent2">
                  <a:lumMod val="20000"/>
                  <a:lumOff val="80000"/>
                </a:schemeClr>
              </a:solidFill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ko-KR" sz="900">
                    <a:solidFill>
                      <a:schemeClr val="tx1"/>
                    </a:solidFill>
                  </a:rPr>
                  <a:t>Kernel C1</a:t>
                </a:r>
                <a:endParaRPr kumimoji="1" lang="ko-KR" altLang="en-US" sz="900">
                  <a:solidFill>
                    <a:schemeClr val="tx1"/>
                  </a:solidFill>
                </a:endParaRPr>
              </a:p>
            </p:txBody>
          </p:sp>
          <p:sp>
            <p:nvSpPr>
              <p:cNvPr id="16" name="모서리가 둥근 직사각형 15">
                <a:extLst>
                  <a:ext uri="{FF2B5EF4-FFF2-40B4-BE49-F238E27FC236}">
                    <a16:creationId xmlns:a16="http://schemas.microsoft.com/office/drawing/2014/main" id="{ED120A1A-289B-FC79-622B-3957444B4276}"/>
                  </a:ext>
                </a:extLst>
              </p:cNvPr>
              <p:cNvSpPr/>
              <p:nvPr/>
            </p:nvSpPr>
            <p:spPr>
              <a:xfrm>
                <a:off x="5143511" y="987574"/>
                <a:ext cx="1239175" cy="288032"/>
              </a:xfrm>
              <a:prstGeom prst="roundRect">
                <a:avLst>
                  <a:gd name="adj" fmla="val 15432"/>
                </a:avLst>
              </a:prstGeom>
              <a:solidFill>
                <a:schemeClr val="accent2">
                  <a:lumMod val="20000"/>
                  <a:lumOff val="80000"/>
                </a:schemeClr>
              </a:solidFill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ko-KR" sz="900">
                    <a:solidFill>
                      <a:schemeClr val="tx1"/>
                    </a:solidFill>
                  </a:rPr>
                  <a:t>Kernel C2</a:t>
                </a:r>
                <a:endParaRPr kumimoji="1" lang="ko-KR" altLang="en-US" sz="900">
                  <a:solidFill>
                    <a:schemeClr val="tx1"/>
                  </a:solidFill>
                </a:endParaRPr>
              </a:p>
            </p:txBody>
          </p:sp>
          <p:sp>
            <p:nvSpPr>
              <p:cNvPr id="17" name="모서리가 둥근 직사각형 16">
                <a:extLst>
                  <a:ext uri="{FF2B5EF4-FFF2-40B4-BE49-F238E27FC236}">
                    <a16:creationId xmlns:a16="http://schemas.microsoft.com/office/drawing/2014/main" id="{C6D39719-8C59-EE42-2F95-AD2797F7A740}"/>
                  </a:ext>
                </a:extLst>
              </p:cNvPr>
              <p:cNvSpPr/>
              <p:nvPr/>
            </p:nvSpPr>
            <p:spPr>
              <a:xfrm>
                <a:off x="4427984" y="1419622"/>
                <a:ext cx="715527" cy="288032"/>
              </a:xfrm>
              <a:prstGeom prst="roundRect">
                <a:avLst>
                  <a:gd name="adj" fmla="val 15432"/>
                </a:avLst>
              </a:prstGeom>
              <a:solidFill>
                <a:schemeClr val="accent2">
                  <a:lumMod val="20000"/>
                  <a:lumOff val="80000"/>
                </a:schemeClr>
              </a:solidFill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ko-KR" sz="900">
                    <a:solidFill>
                      <a:schemeClr val="tx1"/>
                    </a:solidFill>
                  </a:rPr>
                  <a:t>Kernel C3</a:t>
                </a:r>
                <a:endParaRPr kumimoji="1" lang="ko-KR" altLang="en-US" sz="90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8" name="모서리가 둥근 직사각형 17">
              <a:extLst>
                <a:ext uri="{FF2B5EF4-FFF2-40B4-BE49-F238E27FC236}">
                  <a16:creationId xmlns:a16="http://schemas.microsoft.com/office/drawing/2014/main" id="{4A5AA9DF-07A7-D742-7F86-72A4D5BE526F}"/>
                </a:ext>
              </a:extLst>
            </p:cNvPr>
            <p:cNvSpPr/>
            <p:nvPr/>
          </p:nvSpPr>
          <p:spPr>
            <a:xfrm>
              <a:off x="3572089" y="134307"/>
              <a:ext cx="714487" cy="288032"/>
            </a:xfrm>
            <a:prstGeom prst="roundRect">
              <a:avLst>
                <a:gd name="adj" fmla="val 15432"/>
              </a:avLst>
            </a:prstGeom>
            <a:solidFill>
              <a:schemeClr val="accent1">
                <a:lumMod val="20000"/>
                <a:lumOff val="8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900">
                  <a:solidFill>
                    <a:schemeClr val="tx1"/>
                  </a:solidFill>
                </a:rPr>
                <a:t>Kernel A4</a:t>
              </a:r>
              <a:endParaRPr kumimoji="1" lang="ko-KR" altLang="en-US" sz="900">
                <a:solidFill>
                  <a:schemeClr val="tx1"/>
                </a:solidFill>
              </a:endParaRPr>
            </a:p>
          </p:txBody>
        </p:sp>
        <p:sp>
          <p:nvSpPr>
            <p:cNvPr id="19" name="모서리가 둥근 직사각형 18">
              <a:extLst>
                <a:ext uri="{FF2B5EF4-FFF2-40B4-BE49-F238E27FC236}">
                  <a16:creationId xmlns:a16="http://schemas.microsoft.com/office/drawing/2014/main" id="{4896544E-6397-6EE9-0B70-77723DC49D61}"/>
                </a:ext>
              </a:extLst>
            </p:cNvPr>
            <p:cNvSpPr/>
            <p:nvPr/>
          </p:nvSpPr>
          <p:spPr>
            <a:xfrm>
              <a:off x="3572090" y="1536100"/>
              <a:ext cx="714487" cy="288032"/>
            </a:xfrm>
            <a:prstGeom prst="roundRect">
              <a:avLst>
                <a:gd name="adj" fmla="val 15432"/>
              </a:avLst>
            </a:prstGeom>
            <a:solidFill>
              <a:schemeClr val="accent3">
                <a:lumMod val="20000"/>
                <a:lumOff val="8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900">
                  <a:solidFill>
                    <a:schemeClr val="tx1"/>
                  </a:solidFill>
                </a:rPr>
                <a:t>Kernel B4</a:t>
              </a:r>
              <a:endParaRPr kumimoji="1" lang="ko-KR" altLang="en-US" sz="900">
                <a:solidFill>
                  <a:schemeClr val="tx1"/>
                </a:solidFill>
              </a:endParaRPr>
            </a:p>
          </p:txBody>
        </p:sp>
        <p:sp>
          <p:nvSpPr>
            <p:cNvPr id="20" name="모서리가 둥근 직사각형 19">
              <a:extLst>
                <a:ext uri="{FF2B5EF4-FFF2-40B4-BE49-F238E27FC236}">
                  <a16:creationId xmlns:a16="http://schemas.microsoft.com/office/drawing/2014/main" id="{23FCB73E-DFC5-00AA-8283-C00F87BC723D}"/>
                </a:ext>
              </a:extLst>
            </p:cNvPr>
            <p:cNvSpPr/>
            <p:nvPr/>
          </p:nvSpPr>
          <p:spPr>
            <a:xfrm>
              <a:off x="3572089" y="2085741"/>
              <a:ext cx="714487" cy="288032"/>
            </a:xfrm>
            <a:prstGeom prst="roundRect">
              <a:avLst>
                <a:gd name="adj" fmla="val 15432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900">
                  <a:solidFill>
                    <a:schemeClr val="tx1"/>
                  </a:solidFill>
                </a:rPr>
                <a:t>Kernel C4</a:t>
              </a:r>
              <a:endParaRPr kumimoji="1" lang="ko-KR" altLang="en-US" sz="900">
                <a:solidFill>
                  <a:schemeClr val="tx1"/>
                </a:solidFill>
              </a:endParaRPr>
            </a:p>
          </p:txBody>
        </p:sp>
        <p:sp>
          <p:nvSpPr>
            <p:cNvPr id="21" name="모서리가 둥근 직사각형 20">
              <a:extLst>
                <a:ext uri="{FF2B5EF4-FFF2-40B4-BE49-F238E27FC236}">
                  <a16:creationId xmlns:a16="http://schemas.microsoft.com/office/drawing/2014/main" id="{BB426B05-ABD7-68D9-BDA5-4356C9D62EDA}"/>
                </a:ext>
              </a:extLst>
            </p:cNvPr>
            <p:cNvSpPr/>
            <p:nvPr/>
          </p:nvSpPr>
          <p:spPr>
            <a:xfrm>
              <a:off x="3572089" y="2517789"/>
              <a:ext cx="714487" cy="288032"/>
            </a:xfrm>
            <a:prstGeom prst="roundRect">
              <a:avLst>
                <a:gd name="adj" fmla="val 15432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900">
                  <a:solidFill>
                    <a:schemeClr val="tx1"/>
                  </a:solidFill>
                </a:rPr>
                <a:t>Kernel C5</a:t>
              </a:r>
              <a:endParaRPr kumimoji="1" lang="ko-KR" altLang="en-US" sz="900">
                <a:solidFill>
                  <a:schemeClr val="tx1"/>
                </a:solidFill>
              </a:endParaRPr>
            </a:p>
          </p:txBody>
        </p:sp>
      </p:grpSp>
      <p:sp>
        <p:nvSpPr>
          <p:cNvPr id="22" name="모서리가 둥근 직사각형 21">
            <a:extLst>
              <a:ext uri="{FF2B5EF4-FFF2-40B4-BE49-F238E27FC236}">
                <a16:creationId xmlns:a16="http://schemas.microsoft.com/office/drawing/2014/main" id="{C1A447D0-BC80-05D6-F85B-40EF599F47F9}"/>
              </a:ext>
            </a:extLst>
          </p:cNvPr>
          <p:cNvSpPr/>
          <p:nvPr/>
        </p:nvSpPr>
        <p:spPr>
          <a:xfrm>
            <a:off x="107504" y="69529"/>
            <a:ext cx="8992046" cy="2808300"/>
          </a:xfrm>
          <a:prstGeom prst="roundRect">
            <a:avLst>
              <a:gd name="adj" fmla="val 2943"/>
            </a:avLst>
          </a:prstGeom>
          <a:noFill/>
          <a:ln w="12700"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kumimoji="1" lang="en-US" altLang="ko-KR" sz="1000" b="1">
                <a:solidFill>
                  <a:schemeClr val="tx1"/>
                </a:solidFill>
              </a:rPr>
              <a:t>MPS </a:t>
            </a:r>
          </a:p>
        </p:txBody>
      </p:sp>
      <p:sp>
        <p:nvSpPr>
          <p:cNvPr id="34" name="모서리가 둥근 직사각형 33">
            <a:extLst>
              <a:ext uri="{FF2B5EF4-FFF2-40B4-BE49-F238E27FC236}">
                <a16:creationId xmlns:a16="http://schemas.microsoft.com/office/drawing/2014/main" id="{2FE6E26F-5BCC-E5E2-4E0E-888031DB40A3}"/>
              </a:ext>
            </a:extLst>
          </p:cNvPr>
          <p:cNvSpPr/>
          <p:nvPr/>
        </p:nvSpPr>
        <p:spPr>
          <a:xfrm>
            <a:off x="107504" y="3409927"/>
            <a:ext cx="8992046" cy="1617050"/>
          </a:xfrm>
          <a:prstGeom prst="roundRect">
            <a:avLst>
              <a:gd name="adj" fmla="val 6199"/>
            </a:avLst>
          </a:prstGeom>
          <a:noFill/>
          <a:ln w="12700"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kumimoji="1" lang="en-US" altLang="ko-KR" sz="1000" b="1">
                <a:solidFill>
                  <a:schemeClr val="tx1"/>
                </a:solidFill>
              </a:rPr>
              <a:t>MPS</a:t>
            </a:r>
          </a:p>
        </p:txBody>
      </p:sp>
      <p:sp>
        <p:nvSpPr>
          <p:cNvPr id="47" name="모서리가 둥근 직사각형 46">
            <a:extLst>
              <a:ext uri="{FF2B5EF4-FFF2-40B4-BE49-F238E27FC236}">
                <a16:creationId xmlns:a16="http://schemas.microsoft.com/office/drawing/2014/main" id="{647888EF-17CF-2580-AA87-1EE7E47165C3}"/>
              </a:ext>
            </a:extLst>
          </p:cNvPr>
          <p:cNvSpPr/>
          <p:nvPr/>
        </p:nvSpPr>
        <p:spPr>
          <a:xfrm>
            <a:off x="1267834" y="3498855"/>
            <a:ext cx="7768659" cy="327545"/>
          </a:xfrm>
          <a:prstGeom prst="roundRect">
            <a:avLst>
              <a:gd name="adj" fmla="val 15205"/>
            </a:avLst>
          </a:prstGeom>
          <a:solidFill>
            <a:schemeClr val="accent1">
              <a:lumMod val="20000"/>
              <a:lumOff val="80000"/>
            </a:schemeClr>
          </a:solidFill>
          <a:ln w="12700"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 b="1">
                <a:solidFill>
                  <a:schemeClr val="tx1"/>
                </a:solidFill>
              </a:rPr>
              <a:t>CUDA App A </a:t>
            </a:r>
          </a:p>
        </p:txBody>
      </p:sp>
      <p:sp>
        <p:nvSpPr>
          <p:cNvPr id="48" name="모서리가 둥근 직사각형 47">
            <a:extLst>
              <a:ext uri="{FF2B5EF4-FFF2-40B4-BE49-F238E27FC236}">
                <a16:creationId xmlns:a16="http://schemas.microsoft.com/office/drawing/2014/main" id="{FAD83750-EF7F-9BBA-FCFF-5FEFB14ADA21}"/>
              </a:ext>
            </a:extLst>
          </p:cNvPr>
          <p:cNvSpPr/>
          <p:nvPr/>
        </p:nvSpPr>
        <p:spPr>
          <a:xfrm>
            <a:off x="1267833" y="4049581"/>
            <a:ext cx="7768659" cy="327545"/>
          </a:xfrm>
          <a:prstGeom prst="roundRect">
            <a:avLst>
              <a:gd name="adj" fmla="val 10702"/>
            </a:avLst>
          </a:prstGeom>
          <a:solidFill>
            <a:schemeClr val="accent3">
              <a:lumMod val="20000"/>
              <a:lumOff val="80000"/>
            </a:schemeClr>
          </a:solidFill>
          <a:ln w="12700"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 b="1">
                <a:solidFill>
                  <a:schemeClr val="tx1"/>
                </a:solidFill>
              </a:rPr>
              <a:t>CUDA App B </a:t>
            </a:r>
          </a:p>
        </p:txBody>
      </p:sp>
      <p:sp>
        <p:nvSpPr>
          <p:cNvPr id="49" name="모서리가 둥근 직사각형 48">
            <a:extLst>
              <a:ext uri="{FF2B5EF4-FFF2-40B4-BE49-F238E27FC236}">
                <a16:creationId xmlns:a16="http://schemas.microsoft.com/office/drawing/2014/main" id="{A8C0B63C-6ABF-24CD-A638-A0B0071430B8}"/>
              </a:ext>
            </a:extLst>
          </p:cNvPr>
          <p:cNvSpPr/>
          <p:nvPr/>
        </p:nvSpPr>
        <p:spPr>
          <a:xfrm>
            <a:off x="1267834" y="4606483"/>
            <a:ext cx="7768659" cy="327545"/>
          </a:xfrm>
          <a:prstGeom prst="roundRect">
            <a:avLst>
              <a:gd name="adj" fmla="val 15133"/>
            </a:avLst>
          </a:prstGeom>
          <a:solidFill>
            <a:schemeClr val="accent2">
              <a:lumMod val="20000"/>
              <a:lumOff val="80000"/>
            </a:schemeClr>
          </a:solidFill>
          <a:ln w="12700"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 b="1">
                <a:solidFill>
                  <a:schemeClr val="tx1"/>
                </a:solidFill>
              </a:rPr>
              <a:t>CUDA App C </a:t>
            </a:r>
          </a:p>
        </p:txBody>
      </p: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445ACE1B-F43C-5F29-E027-6042694270D4}"/>
              </a:ext>
            </a:extLst>
          </p:cNvPr>
          <p:cNvCxnSpPr>
            <a:cxnSpLocks/>
          </p:cNvCxnSpPr>
          <p:nvPr/>
        </p:nvCxnSpPr>
        <p:spPr>
          <a:xfrm>
            <a:off x="8245999" y="3276740"/>
            <a:ext cx="853551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783D3E93-A1DD-16FF-6E36-4A29DDBBA26A}"/>
              </a:ext>
            </a:extLst>
          </p:cNvPr>
          <p:cNvSpPr txBox="1"/>
          <p:nvPr/>
        </p:nvSpPr>
        <p:spPr>
          <a:xfrm>
            <a:off x="7734319" y="3141619"/>
            <a:ext cx="511679" cy="2616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kumimoji="1" lang="en-US" altLang="ko-KR" sz="1100" b="1" i="1"/>
              <a:t>Time</a:t>
            </a:r>
            <a:endParaRPr kumimoji="1" lang="ko-KR" altLang="en-US" sz="900" b="1" i="1"/>
          </a:p>
        </p:txBody>
      </p:sp>
    </p:spTree>
    <p:extLst>
      <p:ext uri="{BB962C8B-B14F-4D97-AF65-F5344CB8AC3E}">
        <p14:creationId xmlns:p14="http://schemas.microsoft.com/office/powerpoint/2010/main" val="11213602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858CD4-7A8C-937E-A71C-AA915AF2CE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F39848D-F552-009A-AA5E-FAF8FBDBD8CD}"/>
              </a:ext>
            </a:extLst>
          </p:cNvPr>
          <p:cNvSpPr txBox="1">
            <a:spLocks/>
          </p:cNvSpPr>
          <p:nvPr/>
        </p:nvSpPr>
        <p:spPr>
          <a:xfrm>
            <a:off x="457200" y="-739613"/>
            <a:ext cx="8229600" cy="857250"/>
          </a:xfrm>
          <a:prstGeom prst="rect">
            <a:avLst/>
          </a:prstGeom>
        </p:spPr>
        <p:txBody>
          <a:bodyPr/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/>
              <a:t>MPS After Volta Architecture</a:t>
            </a:r>
            <a:endParaRPr lang="ko-KR" altLang="en-US" dirty="0"/>
          </a:p>
        </p:txBody>
      </p:sp>
      <p:sp>
        <p:nvSpPr>
          <p:cNvPr id="3" name="모서리가 둥근 직사각형 2">
            <a:extLst>
              <a:ext uri="{FF2B5EF4-FFF2-40B4-BE49-F238E27FC236}">
                <a16:creationId xmlns:a16="http://schemas.microsoft.com/office/drawing/2014/main" id="{FEC0DBAE-FD73-D4BC-E5B7-814A94DAF60B}"/>
              </a:ext>
            </a:extLst>
          </p:cNvPr>
          <p:cNvSpPr/>
          <p:nvPr/>
        </p:nvSpPr>
        <p:spPr>
          <a:xfrm>
            <a:off x="323528" y="1216855"/>
            <a:ext cx="1549189" cy="720080"/>
          </a:xfrm>
          <a:prstGeom prst="roundRect">
            <a:avLst>
              <a:gd name="adj" fmla="val 9264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1000" b="1">
                <a:solidFill>
                  <a:schemeClr val="tx1"/>
                </a:solidFill>
              </a:rPr>
              <a:t>CUDA App A Process</a:t>
            </a:r>
            <a:endParaRPr kumimoji="1" lang="ko-KR" altLang="en-US" sz="1000" b="1">
              <a:solidFill>
                <a:schemeClr val="tx1"/>
              </a:solidFill>
            </a:endParaRPr>
          </a:p>
        </p:txBody>
      </p:sp>
      <p:sp>
        <p:nvSpPr>
          <p:cNvPr id="4" name="모서리가 둥근 직사각형 3">
            <a:extLst>
              <a:ext uri="{FF2B5EF4-FFF2-40B4-BE49-F238E27FC236}">
                <a16:creationId xmlns:a16="http://schemas.microsoft.com/office/drawing/2014/main" id="{0C3A2BA0-8D81-A822-0678-AE5F167D6E8B}"/>
              </a:ext>
            </a:extLst>
          </p:cNvPr>
          <p:cNvSpPr/>
          <p:nvPr/>
        </p:nvSpPr>
        <p:spPr>
          <a:xfrm>
            <a:off x="473337" y="1568534"/>
            <a:ext cx="1237375" cy="288032"/>
          </a:xfrm>
          <a:prstGeom prst="roundRect">
            <a:avLst>
              <a:gd name="adj" fmla="val 15432"/>
            </a:avLst>
          </a:prstGeom>
          <a:solidFill>
            <a:schemeClr val="accent1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CUDA Context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5" name="모서리가 둥근 직사각형 4">
            <a:extLst>
              <a:ext uri="{FF2B5EF4-FFF2-40B4-BE49-F238E27FC236}">
                <a16:creationId xmlns:a16="http://schemas.microsoft.com/office/drawing/2014/main" id="{A69CF672-26B4-BB69-7E3B-0BD7D80D2EE9}"/>
              </a:ext>
            </a:extLst>
          </p:cNvPr>
          <p:cNvSpPr/>
          <p:nvPr/>
        </p:nvSpPr>
        <p:spPr>
          <a:xfrm>
            <a:off x="2051720" y="1216855"/>
            <a:ext cx="1549189" cy="720080"/>
          </a:xfrm>
          <a:prstGeom prst="roundRect">
            <a:avLst>
              <a:gd name="adj" fmla="val 9264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1000" b="1">
                <a:solidFill>
                  <a:schemeClr val="tx1"/>
                </a:solidFill>
              </a:rPr>
              <a:t>CUDA App B Process</a:t>
            </a:r>
            <a:endParaRPr kumimoji="1" lang="ko-KR" altLang="en-US" sz="1000" b="1">
              <a:solidFill>
                <a:schemeClr val="tx1"/>
              </a:solidFill>
            </a:endParaRPr>
          </a:p>
        </p:txBody>
      </p:sp>
      <p:sp>
        <p:nvSpPr>
          <p:cNvPr id="6" name="모서리가 둥근 직사각형 5">
            <a:extLst>
              <a:ext uri="{FF2B5EF4-FFF2-40B4-BE49-F238E27FC236}">
                <a16:creationId xmlns:a16="http://schemas.microsoft.com/office/drawing/2014/main" id="{0E1F5F94-EF85-2AA7-BFCC-ECF0AE2F9DDC}"/>
              </a:ext>
            </a:extLst>
          </p:cNvPr>
          <p:cNvSpPr/>
          <p:nvPr/>
        </p:nvSpPr>
        <p:spPr>
          <a:xfrm>
            <a:off x="3779912" y="1216855"/>
            <a:ext cx="1549189" cy="720080"/>
          </a:xfrm>
          <a:prstGeom prst="roundRect">
            <a:avLst>
              <a:gd name="adj" fmla="val 9264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1000" b="1">
                <a:solidFill>
                  <a:schemeClr val="tx1"/>
                </a:solidFill>
              </a:rPr>
              <a:t>CUDA App C Process</a:t>
            </a:r>
            <a:endParaRPr kumimoji="1" lang="ko-KR" altLang="en-US" sz="1000" b="1">
              <a:solidFill>
                <a:schemeClr val="tx1"/>
              </a:solidFill>
            </a:endParaRPr>
          </a:p>
        </p:txBody>
      </p:sp>
      <p:sp>
        <p:nvSpPr>
          <p:cNvPr id="7" name="모서리가 둥근 직사각형 6">
            <a:extLst>
              <a:ext uri="{FF2B5EF4-FFF2-40B4-BE49-F238E27FC236}">
                <a16:creationId xmlns:a16="http://schemas.microsoft.com/office/drawing/2014/main" id="{6E38A47B-B110-951F-CDCA-99DF750FF557}"/>
              </a:ext>
            </a:extLst>
          </p:cNvPr>
          <p:cNvSpPr/>
          <p:nvPr/>
        </p:nvSpPr>
        <p:spPr>
          <a:xfrm>
            <a:off x="323528" y="2111920"/>
            <a:ext cx="5005573" cy="2764086"/>
          </a:xfrm>
          <a:prstGeom prst="roundRect">
            <a:avLst>
              <a:gd name="adj" fmla="val 3017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kumimoji="1" lang="en-US" altLang="ko-KR" sz="1000" b="1">
                <a:solidFill>
                  <a:schemeClr val="tx1"/>
                </a:solidFill>
              </a:rPr>
              <a:t>GPU</a:t>
            </a:r>
            <a:endParaRPr kumimoji="1" lang="ko-KR" altLang="en-US" sz="1000" b="1">
              <a:solidFill>
                <a:schemeClr val="tx1"/>
              </a:solidFill>
            </a:endParaRPr>
          </a:p>
        </p:txBody>
      </p:sp>
      <p:sp>
        <p:nvSpPr>
          <p:cNvPr id="8" name="모서리가 둥근 직사각형 7">
            <a:extLst>
              <a:ext uri="{FF2B5EF4-FFF2-40B4-BE49-F238E27FC236}">
                <a16:creationId xmlns:a16="http://schemas.microsoft.com/office/drawing/2014/main" id="{EADD2A82-FD24-42B8-C8F0-8701D5EFEC88}"/>
              </a:ext>
            </a:extLst>
          </p:cNvPr>
          <p:cNvSpPr/>
          <p:nvPr/>
        </p:nvSpPr>
        <p:spPr>
          <a:xfrm>
            <a:off x="2207626" y="1568534"/>
            <a:ext cx="1237375" cy="288032"/>
          </a:xfrm>
          <a:prstGeom prst="roundRect">
            <a:avLst>
              <a:gd name="adj" fmla="val 15432"/>
            </a:avLst>
          </a:prstGeom>
          <a:solidFill>
            <a:schemeClr val="accent3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CUDA Context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9" name="모서리가 둥근 직사각형 8">
            <a:extLst>
              <a:ext uri="{FF2B5EF4-FFF2-40B4-BE49-F238E27FC236}">
                <a16:creationId xmlns:a16="http://schemas.microsoft.com/office/drawing/2014/main" id="{33EBF4D8-800C-2B0B-4E4F-2C971221E138}"/>
              </a:ext>
            </a:extLst>
          </p:cNvPr>
          <p:cNvSpPr/>
          <p:nvPr/>
        </p:nvSpPr>
        <p:spPr>
          <a:xfrm>
            <a:off x="3935818" y="1568534"/>
            <a:ext cx="1237375" cy="288032"/>
          </a:xfrm>
          <a:prstGeom prst="roundRect">
            <a:avLst>
              <a:gd name="adj" fmla="val 15432"/>
            </a:avLst>
          </a:prstGeom>
          <a:solidFill>
            <a:schemeClr val="accent2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CUDA Context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12" name="모서리가 둥근 직사각형 11">
            <a:extLst>
              <a:ext uri="{FF2B5EF4-FFF2-40B4-BE49-F238E27FC236}">
                <a16:creationId xmlns:a16="http://schemas.microsoft.com/office/drawing/2014/main" id="{3F5CE0CD-A236-AA04-CEE3-D84A4B1E703D}"/>
              </a:ext>
            </a:extLst>
          </p:cNvPr>
          <p:cNvSpPr/>
          <p:nvPr/>
        </p:nvSpPr>
        <p:spPr>
          <a:xfrm>
            <a:off x="473337" y="2211710"/>
            <a:ext cx="4699856" cy="689111"/>
          </a:xfrm>
          <a:prstGeom prst="roundRect">
            <a:avLst>
              <a:gd name="adj" fmla="val 8070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900" b="1" u="sng">
                <a:solidFill>
                  <a:schemeClr val="tx1"/>
                </a:solidFill>
              </a:rPr>
              <a:t>Shared</a:t>
            </a:r>
            <a:r>
              <a:rPr kumimoji="1" lang="en-US" altLang="ko-KR" sz="900">
                <a:solidFill>
                  <a:schemeClr val="tx1"/>
                </a:solidFill>
              </a:rPr>
              <a:t> SM (Streaming Multiprocessor) 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8673A6DD-8045-BCD4-F287-93F00AFE3B45}"/>
              </a:ext>
            </a:extLst>
          </p:cNvPr>
          <p:cNvCxnSpPr>
            <a:cxnSpLocks/>
            <a:stCxn id="3" idx="0"/>
            <a:endCxn id="38" idx="2"/>
          </p:cNvCxnSpPr>
          <p:nvPr/>
        </p:nvCxnSpPr>
        <p:spPr>
          <a:xfrm flipV="1">
            <a:off x="1098123" y="933896"/>
            <a:ext cx="864096" cy="282959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5A7E9F9B-1E4B-26FA-EC25-FBC47C912FE7}"/>
              </a:ext>
            </a:extLst>
          </p:cNvPr>
          <p:cNvCxnSpPr>
            <a:cxnSpLocks/>
            <a:stCxn id="5" idx="0"/>
            <a:endCxn id="38" idx="2"/>
          </p:cNvCxnSpPr>
          <p:nvPr/>
        </p:nvCxnSpPr>
        <p:spPr>
          <a:xfrm flipH="1" flipV="1">
            <a:off x="1962219" y="933896"/>
            <a:ext cx="864096" cy="282959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DA38321C-A52D-BA78-DE73-2DF4C264BA80}"/>
              </a:ext>
            </a:extLst>
          </p:cNvPr>
          <p:cNvCxnSpPr>
            <a:cxnSpLocks/>
            <a:stCxn id="6" idx="0"/>
            <a:endCxn id="38" idx="2"/>
          </p:cNvCxnSpPr>
          <p:nvPr/>
        </p:nvCxnSpPr>
        <p:spPr>
          <a:xfrm flipH="1" flipV="1">
            <a:off x="1962219" y="933896"/>
            <a:ext cx="2592288" cy="282959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13ED8AF1-F1BE-4DAA-E450-0624B83D4CEF}"/>
              </a:ext>
            </a:extLst>
          </p:cNvPr>
          <p:cNvSpPr txBox="1"/>
          <p:nvPr/>
        </p:nvSpPr>
        <p:spPr>
          <a:xfrm>
            <a:off x="-53554" y="832134"/>
            <a:ext cx="1631881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kumimoji="1" lang="en-US" altLang="ko-KR" sz="900" b="1" i="1"/>
              <a:t>Mediate</a:t>
            </a:r>
          </a:p>
          <a:p>
            <a:pPr algn="ctr"/>
            <a:r>
              <a:rPr kumimoji="1" lang="en-US" altLang="ko-KR" sz="900" b="1" i="1"/>
              <a:t>App Requests</a:t>
            </a:r>
            <a:endParaRPr kumimoji="1" lang="ko-KR" altLang="en-US" sz="900" b="1" i="1"/>
          </a:p>
        </p:txBody>
      </p:sp>
      <p:sp>
        <p:nvSpPr>
          <p:cNvPr id="15" name="모서리가 둥근 직사각형 14">
            <a:extLst>
              <a:ext uri="{FF2B5EF4-FFF2-40B4-BE49-F238E27FC236}">
                <a16:creationId xmlns:a16="http://schemas.microsoft.com/office/drawing/2014/main" id="{82C7FEEE-B022-171E-0064-86ECBA682E41}"/>
              </a:ext>
            </a:extLst>
          </p:cNvPr>
          <p:cNvSpPr/>
          <p:nvPr/>
        </p:nvSpPr>
        <p:spPr>
          <a:xfrm>
            <a:off x="570473" y="3343361"/>
            <a:ext cx="1043104" cy="691524"/>
          </a:xfrm>
          <a:prstGeom prst="roundRect">
            <a:avLst>
              <a:gd name="adj" fmla="val 6582"/>
            </a:avLst>
          </a:prstGeom>
          <a:solidFill>
            <a:schemeClr val="accent1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 b="1" u="sng">
                <a:solidFill>
                  <a:schemeClr val="tx1"/>
                </a:solidFill>
              </a:rPr>
              <a:t>Limited</a:t>
            </a:r>
            <a:endParaRPr kumimoji="1" lang="en-US" altLang="ko-KR" sz="900">
              <a:solidFill>
                <a:schemeClr val="tx1"/>
              </a:solidFill>
            </a:endParaRPr>
          </a:p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App A Memory</a:t>
            </a:r>
          </a:p>
          <a:p>
            <a:pPr algn="ctr"/>
            <a:br>
              <a:rPr kumimoji="1" lang="en-US" altLang="ko-KR" sz="900">
                <a:solidFill>
                  <a:schemeClr val="tx1"/>
                </a:solidFill>
              </a:rPr>
            </a:br>
            <a:r>
              <a:rPr kumimoji="1" lang="en-US" altLang="ko-KR" sz="900">
                <a:solidFill>
                  <a:schemeClr val="tx1"/>
                </a:solidFill>
              </a:rPr>
              <a:t>Kernel, Data</a:t>
            </a:r>
          </a:p>
        </p:txBody>
      </p:sp>
      <p:sp>
        <p:nvSpPr>
          <p:cNvPr id="16" name="모서리가 둥근 직사각형 15">
            <a:extLst>
              <a:ext uri="{FF2B5EF4-FFF2-40B4-BE49-F238E27FC236}">
                <a16:creationId xmlns:a16="http://schemas.microsoft.com/office/drawing/2014/main" id="{1AFDB57E-0B1B-64AF-9B66-973E0ABC7C91}"/>
              </a:ext>
            </a:extLst>
          </p:cNvPr>
          <p:cNvSpPr/>
          <p:nvPr/>
        </p:nvSpPr>
        <p:spPr>
          <a:xfrm>
            <a:off x="2302128" y="3343361"/>
            <a:ext cx="1043104" cy="691524"/>
          </a:xfrm>
          <a:prstGeom prst="roundRect">
            <a:avLst>
              <a:gd name="adj" fmla="val 11293"/>
            </a:avLst>
          </a:prstGeom>
          <a:solidFill>
            <a:schemeClr val="accent3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 b="1" u="sng">
                <a:solidFill>
                  <a:schemeClr val="tx1"/>
                </a:solidFill>
              </a:rPr>
              <a:t>Limited</a:t>
            </a:r>
            <a:endParaRPr kumimoji="1" lang="en-US" altLang="ko-KR" sz="900">
              <a:solidFill>
                <a:schemeClr val="tx1"/>
              </a:solidFill>
            </a:endParaRPr>
          </a:p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App B Memory</a:t>
            </a:r>
          </a:p>
          <a:p>
            <a:pPr algn="ctr"/>
            <a:br>
              <a:rPr kumimoji="1" lang="en-US" altLang="ko-KR" sz="900">
                <a:solidFill>
                  <a:schemeClr val="tx1"/>
                </a:solidFill>
              </a:rPr>
            </a:br>
            <a:r>
              <a:rPr kumimoji="1" lang="en-US" altLang="ko-KR" sz="900">
                <a:solidFill>
                  <a:schemeClr val="tx1"/>
                </a:solidFill>
              </a:rPr>
              <a:t>Kernel, Data</a:t>
            </a:r>
          </a:p>
        </p:txBody>
      </p:sp>
      <p:sp>
        <p:nvSpPr>
          <p:cNvPr id="17" name="모서리가 둥근 직사각형 16">
            <a:extLst>
              <a:ext uri="{FF2B5EF4-FFF2-40B4-BE49-F238E27FC236}">
                <a16:creationId xmlns:a16="http://schemas.microsoft.com/office/drawing/2014/main" id="{E774F1BC-38D4-9790-778D-21E8A65B417F}"/>
              </a:ext>
            </a:extLst>
          </p:cNvPr>
          <p:cNvSpPr/>
          <p:nvPr/>
        </p:nvSpPr>
        <p:spPr>
          <a:xfrm>
            <a:off x="4032953" y="3343361"/>
            <a:ext cx="1043104" cy="691524"/>
          </a:xfrm>
          <a:prstGeom prst="roundRect">
            <a:avLst>
              <a:gd name="adj" fmla="val 11293"/>
            </a:avLst>
          </a:prstGeom>
          <a:solidFill>
            <a:schemeClr val="accent2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 b="1" u="sng">
                <a:solidFill>
                  <a:schemeClr val="tx1"/>
                </a:solidFill>
              </a:rPr>
              <a:t>Limited</a:t>
            </a:r>
            <a:endParaRPr kumimoji="1" lang="en-US" altLang="ko-KR" sz="900">
              <a:solidFill>
                <a:schemeClr val="tx1"/>
              </a:solidFill>
            </a:endParaRPr>
          </a:p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App C Memory</a:t>
            </a:r>
          </a:p>
          <a:p>
            <a:pPr algn="ctr"/>
            <a:br>
              <a:rPr kumimoji="1" lang="en-US" altLang="ko-KR" sz="900">
                <a:solidFill>
                  <a:schemeClr val="tx1"/>
                </a:solidFill>
              </a:rPr>
            </a:br>
            <a:r>
              <a:rPr kumimoji="1" lang="en-US" altLang="ko-KR" sz="900">
                <a:solidFill>
                  <a:schemeClr val="tx1"/>
                </a:solidFill>
              </a:rPr>
              <a:t>Kernel, Data</a:t>
            </a:r>
          </a:p>
        </p:txBody>
      </p:sp>
      <p:sp>
        <p:nvSpPr>
          <p:cNvPr id="21" name="모서리가 둥근 직사각형 20">
            <a:extLst>
              <a:ext uri="{FF2B5EF4-FFF2-40B4-BE49-F238E27FC236}">
                <a16:creationId xmlns:a16="http://schemas.microsoft.com/office/drawing/2014/main" id="{483215D7-A315-961A-3132-11862F763D3F}"/>
              </a:ext>
            </a:extLst>
          </p:cNvPr>
          <p:cNvSpPr/>
          <p:nvPr/>
        </p:nvSpPr>
        <p:spPr>
          <a:xfrm>
            <a:off x="473337" y="3030472"/>
            <a:ext cx="4699856" cy="1107841"/>
          </a:xfrm>
          <a:prstGeom prst="roundRect">
            <a:avLst>
              <a:gd name="adj" fmla="val 5754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900" b="1" u="sng">
                <a:solidFill>
                  <a:schemeClr val="tx1"/>
                </a:solidFill>
              </a:rPr>
              <a:t>Shared</a:t>
            </a:r>
            <a:r>
              <a:rPr kumimoji="1" lang="en-US" altLang="ko-KR" sz="900">
                <a:solidFill>
                  <a:schemeClr val="tx1"/>
                </a:solidFill>
              </a:rPr>
              <a:t> Memory 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24" name="모서리가 둥근 직사각형 23">
            <a:extLst>
              <a:ext uri="{FF2B5EF4-FFF2-40B4-BE49-F238E27FC236}">
                <a16:creationId xmlns:a16="http://schemas.microsoft.com/office/drawing/2014/main" id="{4A44729A-04D1-B017-BC04-71C9B31C05F1}"/>
              </a:ext>
            </a:extLst>
          </p:cNvPr>
          <p:cNvSpPr/>
          <p:nvPr/>
        </p:nvSpPr>
        <p:spPr>
          <a:xfrm>
            <a:off x="473338" y="4267964"/>
            <a:ext cx="4705952" cy="288032"/>
          </a:xfrm>
          <a:prstGeom prst="roundRect">
            <a:avLst>
              <a:gd name="adj" fmla="val 15432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 b="1" u="sng">
                <a:solidFill>
                  <a:schemeClr val="tx1"/>
                </a:solidFill>
              </a:rPr>
              <a:t>Shared</a:t>
            </a:r>
            <a:r>
              <a:rPr kumimoji="1" lang="en-US" altLang="ko-KR" sz="900">
                <a:solidFill>
                  <a:schemeClr val="tx1"/>
                </a:solidFill>
              </a:rPr>
              <a:t> GPU Context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38" name="모서리가 둥근 직사각형 37">
            <a:extLst>
              <a:ext uri="{FF2B5EF4-FFF2-40B4-BE49-F238E27FC236}">
                <a16:creationId xmlns:a16="http://schemas.microsoft.com/office/drawing/2014/main" id="{7934A233-D0C7-6BF4-0C9A-3442BB3AE548}"/>
              </a:ext>
            </a:extLst>
          </p:cNvPr>
          <p:cNvSpPr/>
          <p:nvPr/>
        </p:nvSpPr>
        <p:spPr>
          <a:xfrm>
            <a:off x="1187624" y="533786"/>
            <a:ext cx="1549189" cy="400110"/>
          </a:xfrm>
          <a:prstGeom prst="roundRect">
            <a:avLst>
              <a:gd name="adj" fmla="val 9264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 b="1">
                <a:solidFill>
                  <a:schemeClr val="tx1"/>
                </a:solidFill>
              </a:rPr>
              <a:t>MPS Control</a:t>
            </a:r>
            <a:endParaRPr kumimoji="1" lang="ko-KR" altLang="en-US" sz="1000" b="1">
              <a:solidFill>
                <a:schemeClr val="tx1"/>
              </a:solidFill>
            </a:endParaRPr>
          </a:p>
        </p:txBody>
      </p:sp>
      <p:sp>
        <p:nvSpPr>
          <p:cNvPr id="39" name="모서리가 둥근 직사각형 38">
            <a:extLst>
              <a:ext uri="{FF2B5EF4-FFF2-40B4-BE49-F238E27FC236}">
                <a16:creationId xmlns:a16="http://schemas.microsoft.com/office/drawing/2014/main" id="{B915FD9F-BCD3-98C3-0996-250A940C93DB}"/>
              </a:ext>
            </a:extLst>
          </p:cNvPr>
          <p:cNvSpPr/>
          <p:nvPr/>
        </p:nvSpPr>
        <p:spPr>
          <a:xfrm>
            <a:off x="2915816" y="533786"/>
            <a:ext cx="1549189" cy="400110"/>
          </a:xfrm>
          <a:prstGeom prst="roundRect">
            <a:avLst>
              <a:gd name="adj" fmla="val 9264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 b="1">
                <a:solidFill>
                  <a:schemeClr val="tx1"/>
                </a:solidFill>
              </a:rPr>
              <a:t>MPS Server</a:t>
            </a:r>
          </a:p>
        </p:txBody>
      </p:sp>
      <p:cxnSp>
        <p:nvCxnSpPr>
          <p:cNvPr id="44" name="직선 화살표 연결선 43">
            <a:extLst>
              <a:ext uri="{FF2B5EF4-FFF2-40B4-BE49-F238E27FC236}">
                <a16:creationId xmlns:a16="http://schemas.microsoft.com/office/drawing/2014/main" id="{A2C4FDD5-CA0D-8230-759F-50E90162A265}"/>
              </a:ext>
            </a:extLst>
          </p:cNvPr>
          <p:cNvCxnSpPr>
            <a:cxnSpLocks/>
            <a:stCxn id="38" idx="3"/>
            <a:endCxn id="39" idx="1"/>
          </p:cNvCxnSpPr>
          <p:nvPr/>
        </p:nvCxnSpPr>
        <p:spPr>
          <a:xfrm>
            <a:off x="2736813" y="733841"/>
            <a:ext cx="179003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모서리가 둥근 직사각형 50">
            <a:extLst>
              <a:ext uri="{FF2B5EF4-FFF2-40B4-BE49-F238E27FC236}">
                <a16:creationId xmlns:a16="http://schemas.microsoft.com/office/drawing/2014/main" id="{D839F7B8-5966-1CEF-F015-B5C16B518D51}"/>
              </a:ext>
            </a:extLst>
          </p:cNvPr>
          <p:cNvSpPr/>
          <p:nvPr/>
        </p:nvSpPr>
        <p:spPr>
          <a:xfrm>
            <a:off x="519830" y="3278705"/>
            <a:ext cx="1144388" cy="814274"/>
          </a:xfrm>
          <a:prstGeom prst="roundRect">
            <a:avLst>
              <a:gd name="adj" fmla="val 8070"/>
            </a:avLst>
          </a:prstGeom>
          <a:noFill/>
          <a:ln w="1270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53" name="모서리가 둥근 직사각형 52">
            <a:extLst>
              <a:ext uri="{FF2B5EF4-FFF2-40B4-BE49-F238E27FC236}">
                <a16:creationId xmlns:a16="http://schemas.microsoft.com/office/drawing/2014/main" id="{E9E854E5-1A5E-F761-F99F-EF79A8F0366C}"/>
              </a:ext>
            </a:extLst>
          </p:cNvPr>
          <p:cNvSpPr/>
          <p:nvPr/>
        </p:nvSpPr>
        <p:spPr>
          <a:xfrm>
            <a:off x="2248023" y="3288922"/>
            <a:ext cx="1144388" cy="814274"/>
          </a:xfrm>
          <a:prstGeom prst="roundRect">
            <a:avLst>
              <a:gd name="adj" fmla="val 8070"/>
            </a:avLst>
          </a:prstGeom>
          <a:noFill/>
          <a:ln w="1270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54" name="모서리가 둥근 직사각형 53">
            <a:extLst>
              <a:ext uri="{FF2B5EF4-FFF2-40B4-BE49-F238E27FC236}">
                <a16:creationId xmlns:a16="http://schemas.microsoft.com/office/drawing/2014/main" id="{3F10A90B-B65D-F2C9-0E81-067A09813AC8}"/>
              </a:ext>
            </a:extLst>
          </p:cNvPr>
          <p:cNvSpPr/>
          <p:nvPr/>
        </p:nvSpPr>
        <p:spPr>
          <a:xfrm>
            <a:off x="3976548" y="3281610"/>
            <a:ext cx="1144388" cy="814274"/>
          </a:xfrm>
          <a:prstGeom prst="roundRect">
            <a:avLst>
              <a:gd name="adj" fmla="val 8070"/>
            </a:avLst>
          </a:prstGeom>
          <a:noFill/>
          <a:ln w="1270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11" name="모서리가 둥근 직사각형 10">
            <a:extLst>
              <a:ext uri="{FF2B5EF4-FFF2-40B4-BE49-F238E27FC236}">
                <a16:creationId xmlns:a16="http://schemas.microsoft.com/office/drawing/2014/main" id="{DE97B2A2-6E9E-A879-0A46-91DA599366B6}"/>
              </a:ext>
            </a:extLst>
          </p:cNvPr>
          <p:cNvSpPr/>
          <p:nvPr/>
        </p:nvSpPr>
        <p:spPr>
          <a:xfrm>
            <a:off x="570473" y="2487059"/>
            <a:ext cx="1043104" cy="335052"/>
          </a:xfrm>
          <a:prstGeom prst="roundRect">
            <a:avLst>
              <a:gd name="adj" fmla="val 15928"/>
            </a:avLst>
          </a:prstGeom>
          <a:solidFill>
            <a:schemeClr val="accent1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 b="1" u="sng">
                <a:solidFill>
                  <a:schemeClr val="tx1"/>
                </a:solidFill>
              </a:rPr>
              <a:t>Limited</a:t>
            </a:r>
          </a:p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App A SM</a:t>
            </a:r>
          </a:p>
        </p:txBody>
      </p:sp>
      <p:sp>
        <p:nvSpPr>
          <p:cNvPr id="22" name="모서리가 둥근 직사각형 21">
            <a:extLst>
              <a:ext uri="{FF2B5EF4-FFF2-40B4-BE49-F238E27FC236}">
                <a16:creationId xmlns:a16="http://schemas.microsoft.com/office/drawing/2014/main" id="{FF5C50BF-0E8D-7552-D162-F2BBE1EE5C22}"/>
              </a:ext>
            </a:extLst>
          </p:cNvPr>
          <p:cNvSpPr/>
          <p:nvPr/>
        </p:nvSpPr>
        <p:spPr>
          <a:xfrm>
            <a:off x="2298665" y="2487059"/>
            <a:ext cx="1043104" cy="335052"/>
          </a:xfrm>
          <a:prstGeom prst="roundRect">
            <a:avLst>
              <a:gd name="adj" fmla="val 15928"/>
            </a:avLst>
          </a:prstGeom>
          <a:solidFill>
            <a:schemeClr val="accent3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 b="1" u="sng">
                <a:solidFill>
                  <a:schemeClr val="tx1"/>
                </a:solidFill>
              </a:rPr>
              <a:t>Limited </a:t>
            </a:r>
          </a:p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App B SM</a:t>
            </a:r>
          </a:p>
        </p:txBody>
      </p:sp>
      <p:sp>
        <p:nvSpPr>
          <p:cNvPr id="27" name="모서리가 둥근 직사각형 26">
            <a:extLst>
              <a:ext uri="{FF2B5EF4-FFF2-40B4-BE49-F238E27FC236}">
                <a16:creationId xmlns:a16="http://schemas.microsoft.com/office/drawing/2014/main" id="{F0CDB7FF-77DD-4FEA-5A31-B23DC353D816}"/>
              </a:ext>
            </a:extLst>
          </p:cNvPr>
          <p:cNvSpPr/>
          <p:nvPr/>
        </p:nvSpPr>
        <p:spPr>
          <a:xfrm>
            <a:off x="4032953" y="2487059"/>
            <a:ext cx="1043104" cy="335052"/>
          </a:xfrm>
          <a:prstGeom prst="roundRect">
            <a:avLst>
              <a:gd name="adj" fmla="val 15928"/>
            </a:avLst>
          </a:prstGeom>
          <a:solidFill>
            <a:schemeClr val="accent2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 b="1" u="sng">
                <a:solidFill>
                  <a:schemeClr val="tx1"/>
                </a:solidFill>
              </a:rPr>
              <a:t>Limited</a:t>
            </a:r>
          </a:p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App C SM</a:t>
            </a:r>
          </a:p>
        </p:txBody>
      </p:sp>
      <p:cxnSp>
        <p:nvCxnSpPr>
          <p:cNvPr id="33" name="직선 화살표 연결선 32">
            <a:extLst>
              <a:ext uri="{FF2B5EF4-FFF2-40B4-BE49-F238E27FC236}">
                <a16:creationId xmlns:a16="http://schemas.microsoft.com/office/drawing/2014/main" id="{49755966-35B9-C309-0D90-895E2CDD8A52}"/>
              </a:ext>
            </a:extLst>
          </p:cNvPr>
          <p:cNvCxnSpPr>
            <a:cxnSpLocks/>
          </p:cNvCxnSpPr>
          <p:nvPr/>
        </p:nvCxnSpPr>
        <p:spPr>
          <a:xfrm flipH="1">
            <a:off x="1092025" y="1936935"/>
            <a:ext cx="6098" cy="140642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직선 화살표 연결선 33">
            <a:extLst>
              <a:ext uri="{FF2B5EF4-FFF2-40B4-BE49-F238E27FC236}">
                <a16:creationId xmlns:a16="http://schemas.microsoft.com/office/drawing/2014/main" id="{DC7A4787-9ABD-D614-3D5A-2EC51316456E}"/>
              </a:ext>
            </a:extLst>
          </p:cNvPr>
          <p:cNvCxnSpPr>
            <a:cxnSpLocks/>
            <a:stCxn id="5" idx="2"/>
          </p:cNvCxnSpPr>
          <p:nvPr/>
        </p:nvCxnSpPr>
        <p:spPr>
          <a:xfrm flipH="1">
            <a:off x="2823680" y="1936935"/>
            <a:ext cx="2635" cy="140642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직선 화살표 연결선 35">
            <a:extLst>
              <a:ext uri="{FF2B5EF4-FFF2-40B4-BE49-F238E27FC236}">
                <a16:creationId xmlns:a16="http://schemas.microsoft.com/office/drawing/2014/main" id="{7B9DFC0D-F244-C656-2EB7-503CEB3C8327}"/>
              </a:ext>
            </a:extLst>
          </p:cNvPr>
          <p:cNvCxnSpPr>
            <a:cxnSpLocks/>
            <a:stCxn id="6" idx="2"/>
          </p:cNvCxnSpPr>
          <p:nvPr/>
        </p:nvCxnSpPr>
        <p:spPr>
          <a:xfrm flipH="1">
            <a:off x="4554505" y="1936935"/>
            <a:ext cx="2" cy="140642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모서리가 둥근 직사각형 36">
            <a:extLst>
              <a:ext uri="{FF2B5EF4-FFF2-40B4-BE49-F238E27FC236}">
                <a16:creationId xmlns:a16="http://schemas.microsoft.com/office/drawing/2014/main" id="{6F94B15A-10A9-3187-3588-B8D6382DD56A}"/>
              </a:ext>
            </a:extLst>
          </p:cNvPr>
          <p:cNvSpPr/>
          <p:nvPr/>
        </p:nvSpPr>
        <p:spPr>
          <a:xfrm>
            <a:off x="519830" y="2441466"/>
            <a:ext cx="1144388" cy="421749"/>
          </a:xfrm>
          <a:prstGeom prst="roundRect">
            <a:avLst>
              <a:gd name="adj" fmla="val 8070"/>
            </a:avLst>
          </a:prstGeom>
          <a:noFill/>
          <a:ln w="1270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40" name="모서리가 둥근 직사각형 39">
            <a:extLst>
              <a:ext uri="{FF2B5EF4-FFF2-40B4-BE49-F238E27FC236}">
                <a16:creationId xmlns:a16="http://schemas.microsoft.com/office/drawing/2014/main" id="{DB667D2A-E92C-A0EF-7A29-749BD7B864ED}"/>
              </a:ext>
            </a:extLst>
          </p:cNvPr>
          <p:cNvSpPr/>
          <p:nvPr/>
        </p:nvSpPr>
        <p:spPr>
          <a:xfrm>
            <a:off x="2255821" y="2441466"/>
            <a:ext cx="1144388" cy="421749"/>
          </a:xfrm>
          <a:prstGeom prst="roundRect">
            <a:avLst>
              <a:gd name="adj" fmla="val 8070"/>
            </a:avLst>
          </a:prstGeom>
          <a:noFill/>
          <a:ln w="1270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41" name="모서리가 둥근 직사각형 40">
            <a:extLst>
              <a:ext uri="{FF2B5EF4-FFF2-40B4-BE49-F238E27FC236}">
                <a16:creationId xmlns:a16="http://schemas.microsoft.com/office/drawing/2014/main" id="{472EFAA6-459E-CE41-7578-12453202BAD5}"/>
              </a:ext>
            </a:extLst>
          </p:cNvPr>
          <p:cNvSpPr/>
          <p:nvPr/>
        </p:nvSpPr>
        <p:spPr>
          <a:xfrm>
            <a:off x="3976548" y="2441466"/>
            <a:ext cx="1144388" cy="421749"/>
          </a:xfrm>
          <a:prstGeom prst="roundRect">
            <a:avLst>
              <a:gd name="adj" fmla="val 8070"/>
            </a:avLst>
          </a:prstGeom>
          <a:noFill/>
          <a:ln w="1270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0750ADA-D1A0-E702-0C37-972447CB910C}"/>
              </a:ext>
            </a:extLst>
          </p:cNvPr>
          <p:cNvSpPr txBox="1"/>
          <p:nvPr/>
        </p:nvSpPr>
        <p:spPr>
          <a:xfrm>
            <a:off x="936117" y="1907478"/>
            <a:ext cx="1549189" cy="2308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kumimoji="1" lang="en-US" altLang="ko-KR" sz="900" b="1" i="1"/>
              <a:t>Kernel,</a:t>
            </a:r>
            <a:r>
              <a:rPr kumimoji="1" lang="ko-KR" altLang="en-US" sz="900" b="1" i="1"/>
              <a:t> </a:t>
            </a:r>
            <a:r>
              <a:rPr kumimoji="1" lang="en-US" altLang="ko-KR" sz="900" b="1" i="1"/>
              <a:t>Data,</a:t>
            </a:r>
            <a:r>
              <a:rPr kumimoji="1" lang="ko-KR" altLang="en-US" sz="900" b="1" i="1"/>
              <a:t> </a:t>
            </a:r>
            <a:r>
              <a:rPr kumimoji="1" lang="en-US" altLang="ko-KR" sz="900" b="1" i="1"/>
              <a:t>Configs</a:t>
            </a:r>
            <a:endParaRPr kumimoji="1" lang="ko-KR" altLang="en-US" sz="900" b="1" i="1"/>
          </a:p>
        </p:txBody>
      </p:sp>
    </p:spTree>
    <p:extLst>
      <p:ext uri="{BB962C8B-B14F-4D97-AF65-F5344CB8AC3E}">
        <p14:creationId xmlns:p14="http://schemas.microsoft.com/office/powerpoint/2010/main" val="23605260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0E1336-B1C6-EBC0-0FD3-07D02704C3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17544AC-937F-450F-A441-30B4122266A0}"/>
              </a:ext>
            </a:extLst>
          </p:cNvPr>
          <p:cNvSpPr txBox="1">
            <a:spLocks/>
          </p:cNvSpPr>
          <p:nvPr/>
        </p:nvSpPr>
        <p:spPr>
          <a:xfrm>
            <a:off x="457200" y="-848958"/>
            <a:ext cx="8229600" cy="857250"/>
          </a:xfrm>
          <a:prstGeom prst="rect">
            <a:avLst/>
          </a:prstGeom>
        </p:spPr>
        <p:txBody>
          <a:bodyPr/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/>
              <a:t>MPS After Volta Architecture</a:t>
            </a:r>
            <a:endParaRPr lang="ko-KR" altLang="en-US" dirty="0"/>
          </a:p>
        </p:txBody>
      </p:sp>
      <p:grpSp>
        <p:nvGrpSpPr>
          <p:cNvPr id="136" name="그룹 135">
            <a:extLst>
              <a:ext uri="{FF2B5EF4-FFF2-40B4-BE49-F238E27FC236}">
                <a16:creationId xmlns:a16="http://schemas.microsoft.com/office/drawing/2014/main" id="{C7607D67-A1E4-27D5-3C13-6FFE1159EED5}"/>
              </a:ext>
            </a:extLst>
          </p:cNvPr>
          <p:cNvGrpSpPr/>
          <p:nvPr/>
        </p:nvGrpSpPr>
        <p:grpSpPr>
          <a:xfrm>
            <a:off x="1267832" y="135990"/>
            <a:ext cx="7768664" cy="2671514"/>
            <a:chOff x="1267832" y="135990"/>
            <a:chExt cx="3018743" cy="2671514"/>
          </a:xfrm>
        </p:grpSpPr>
        <p:grpSp>
          <p:nvGrpSpPr>
            <p:cNvPr id="5" name="그룹 4">
              <a:extLst>
                <a:ext uri="{FF2B5EF4-FFF2-40B4-BE49-F238E27FC236}">
                  <a16:creationId xmlns:a16="http://schemas.microsoft.com/office/drawing/2014/main" id="{44B51E6C-4CBF-807D-1B31-16DF2ABF8AE6}"/>
                </a:ext>
              </a:extLst>
            </p:cNvPr>
            <p:cNvGrpSpPr/>
            <p:nvPr/>
          </p:nvGrpSpPr>
          <p:grpSpPr>
            <a:xfrm>
              <a:off x="1267832" y="135990"/>
              <a:ext cx="1954202" cy="720080"/>
              <a:chOff x="236727" y="987574"/>
              <a:chExt cx="1957044" cy="720080"/>
            </a:xfrm>
            <a:solidFill>
              <a:schemeClr val="accent1">
                <a:lumMod val="20000"/>
                <a:lumOff val="80000"/>
              </a:schemeClr>
            </a:solidFill>
          </p:grpSpPr>
          <p:sp>
            <p:nvSpPr>
              <p:cNvPr id="6" name="모서리가 둥근 직사각형 5">
                <a:extLst>
                  <a:ext uri="{FF2B5EF4-FFF2-40B4-BE49-F238E27FC236}">
                    <a16:creationId xmlns:a16="http://schemas.microsoft.com/office/drawing/2014/main" id="{F8F47C88-5B33-94B6-D07E-F90A4C209BA2}"/>
                  </a:ext>
                </a:extLst>
              </p:cNvPr>
              <p:cNvSpPr/>
              <p:nvPr/>
            </p:nvSpPr>
            <p:spPr>
              <a:xfrm>
                <a:off x="236727" y="987574"/>
                <a:ext cx="1241295" cy="288032"/>
              </a:xfrm>
              <a:prstGeom prst="roundRect">
                <a:avLst>
                  <a:gd name="adj" fmla="val 15432"/>
                </a:avLst>
              </a:prstGeom>
              <a:grpFill/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ko-KR" sz="900">
                    <a:solidFill>
                      <a:schemeClr val="tx1"/>
                    </a:solidFill>
                  </a:rPr>
                  <a:t>Kernel A1</a:t>
                </a:r>
                <a:endParaRPr kumimoji="1" lang="ko-KR" altLang="en-US" sz="900">
                  <a:solidFill>
                    <a:schemeClr val="tx1"/>
                  </a:solidFill>
                </a:endParaRPr>
              </a:p>
            </p:txBody>
          </p:sp>
          <p:sp>
            <p:nvSpPr>
              <p:cNvPr id="7" name="모서리가 둥근 직사각형 6">
                <a:extLst>
                  <a:ext uri="{FF2B5EF4-FFF2-40B4-BE49-F238E27FC236}">
                    <a16:creationId xmlns:a16="http://schemas.microsoft.com/office/drawing/2014/main" id="{CB9617A9-8514-D757-4FAF-89503CEFD3DD}"/>
                  </a:ext>
                </a:extLst>
              </p:cNvPr>
              <p:cNvSpPr/>
              <p:nvPr/>
            </p:nvSpPr>
            <p:spPr>
              <a:xfrm>
                <a:off x="1478244" y="987574"/>
                <a:ext cx="715527" cy="288032"/>
              </a:xfrm>
              <a:prstGeom prst="roundRect">
                <a:avLst>
                  <a:gd name="adj" fmla="val 15432"/>
                </a:avLst>
              </a:prstGeom>
              <a:grpFill/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ko-KR" sz="900">
                    <a:solidFill>
                      <a:schemeClr val="tx1"/>
                    </a:solidFill>
                  </a:rPr>
                  <a:t>Kernel A2</a:t>
                </a:r>
                <a:endParaRPr kumimoji="1" lang="ko-KR" altLang="en-US" sz="900">
                  <a:solidFill>
                    <a:schemeClr val="tx1"/>
                  </a:solidFill>
                </a:endParaRPr>
              </a:p>
            </p:txBody>
          </p:sp>
          <p:sp>
            <p:nvSpPr>
              <p:cNvPr id="8" name="모서리가 둥근 직사각형 7">
                <a:extLst>
                  <a:ext uri="{FF2B5EF4-FFF2-40B4-BE49-F238E27FC236}">
                    <a16:creationId xmlns:a16="http://schemas.microsoft.com/office/drawing/2014/main" id="{0C1365C3-2053-3CA3-9D39-90AAA88F8EF2}"/>
                  </a:ext>
                </a:extLst>
              </p:cNvPr>
              <p:cNvSpPr/>
              <p:nvPr/>
            </p:nvSpPr>
            <p:spPr>
              <a:xfrm>
                <a:off x="239069" y="1419622"/>
                <a:ext cx="1239175" cy="288032"/>
              </a:xfrm>
              <a:prstGeom prst="roundRect">
                <a:avLst>
                  <a:gd name="adj" fmla="val 15432"/>
                </a:avLst>
              </a:prstGeom>
              <a:grpFill/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ko-KR" sz="900">
                    <a:solidFill>
                      <a:schemeClr val="tx1"/>
                    </a:solidFill>
                  </a:rPr>
                  <a:t>Kernel A3</a:t>
                </a:r>
                <a:endParaRPr kumimoji="1" lang="ko-KR" altLang="en-US" sz="90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9" name="그룹 8">
              <a:extLst>
                <a:ext uri="{FF2B5EF4-FFF2-40B4-BE49-F238E27FC236}">
                  <a16:creationId xmlns:a16="http://schemas.microsoft.com/office/drawing/2014/main" id="{039F316C-BF31-C59A-AB6D-E4D41569D979}"/>
                </a:ext>
              </a:extLst>
            </p:cNvPr>
            <p:cNvGrpSpPr/>
            <p:nvPr/>
          </p:nvGrpSpPr>
          <p:grpSpPr>
            <a:xfrm>
              <a:off x="1267832" y="1111707"/>
              <a:ext cx="1954544" cy="720080"/>
              <a:chOff x="2331399" y="987574"/>
              <a:chExt cx="1957387" cy="720080"/>
            </a:xfrm>
            <a:solidFill>
              <a:schemeClr val="accent3">
                <a:lumMod val="20000"/>
                <a:lumOff val="80000"/>
              </a:schemeClr>
            </a:solidFill>
          </p:grpSpPr>
          <p:sp>
            <p:nvSpPr>
              <p:cNvPr id="10" name="모서리가 둥근 직사각형 9">
                <a:extLst>
                  <a:ext uri="{FF2B5EF4-FFF2-40B4-BE49-F238E27FC236}">
                    <a16:creationId xmlns:a16="http://schemas.microsoft.com/office/drawing/2014/main" id="{ABE3CDBC-0442-F118-A061-F194A37BA02F}"/>
                  </a:ext>
                </a:extLst>
              </p:cNvPr>
              <p:cNvSpPr/>
              <p:nvPr/>
            </p:nvSpPr>
            <p:spPr>
              <a:xfrm>
                <a:off x="2331964" y="987574"/>
                <a:ext cx="1241295" cy="288032"/>
              </a:xfrm>
              <a:prstGeom prst="roundRect">
                <a:avLst>
                  <a:gd name="adj" fmla="val 15432"/>
                </a:avLst>
              </a:prstGeom>
              <a:grpFill/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ko-KR" sz="900">
                    <a:solidFill>
                      <a:schemeClr val="tx1"/>
                    </a:solidFill>
                  </a:rPr>
                  <a:t>Kernel B1</a:t>
                </a:r>
                <a:endParaRPr kumimoji="1" lang="ko-KR" altLang="en-US" sz="900">
                  <a:solidFill>
                    <a:schemeClr val="tx1"/>
                  </a:solidFill>
                </a:endParaRPr>
              </a:p>
            </p:txBody>
          </p:sp>
          <p:sp>
            <p:nvSpPr>
              <p:cNvPr id="11" name="모서리가 둥근 직사각형 10">
                <a:extLst>
                  <a:ext uri="{FF2B5EF4-FFF2-40B4-BE49-F238E27FC236}">
                    <a16:creationId xmlns:a16="http://schemas.microsoft.com/office/drawing/2014/main" id="{D5473931-50D5-7BC2-90EA-FEB7795CBCED}"/>
                  </a:ext>
                </a:extLst>
              </p:cNvPr>
              <p:cNvSpPr/>
              <p:nvPr/>
            </p:nvSpPr>
            <p:spPr>
              <a:xfrm>
                <a:off x="2331399" y="1419622"/>
                <a:ext cx="715527" cy="288032"/>
              </a:xfrm>
              <a:prstGeom prst="roundRect">
                <a:avLst>
                  <a:gd name="adj" fmla="val 15432"/>
                </a:avLst>
              </a:prstGeom>
              <a:grpFill/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ko-KR" sz="900">
                    <a:solidFill>
                      <a:schemeClr val="tx1"/>
                    </a:solidFill>
                  </a:rPr>
                  <a:t>Kernel B3</a:t>
                </a:r>
                <a:endParaRPr kumimoji="1" lang="ko-KR" altLang="en-US" sz="900">
                  <a:solidFill>
                    <a:schemeClr val="tx1"/>
                  </a:solidFill>
                </a:endParaRPr>
              </a:p>
            </p:txBody>
          </p:sp>
          <p:sp>
            <p:nvSpPr>
              <p:cNvPr id="12" name="모서리가 둥근 직사각형 11">
                <a:extLst>
                  <a:ext uri="{FF2B5EF4-FFF2-40B4-BE49-F238E27FC236}">
                    <a16:creationId xmlns:a16="http://schemas.microsoft.com/office/drawing/2014/main" id="{3AC9A941-DD3A-14D5-3824-0B77E4E9DD65}"/>
                  </a:ext>
                </a:extLst>
              </p:cNvPr>
              <p:cNvSpPr/>
              <p:nvPr/>
            </p:nvSpPr>
            <p:spPr>
              <a:xfrm>
                <a:off x="3573259" y="987574"/>
                <a:ext cx="715527" cy="288032"/>
              </a:xfrm>
              <a:prstGeom prst="roundRect">
                <a:avLst>
                  <a:gd name="adj" fmla="val 15432"/>
                </a:avLst>
              </a:prstGeom>
              <a:grpFill/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ko-KR" sz="900">
                    <a:solidFill>
                      <a:schemeClr val="tx1"/>
                    </a:solidFill>
                  </a:rPr>
                  <a:t>Kernel B2</a:t>
                </a:r>
                <a:endParaRPr kumimoji="1" lang="ko-KR" altLang="en-US" sz="90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3" name="그룹 12">
              <a:extLst>
                <a:ext uri="{FF2B5EF4-FFF2-40B4-BE49-F238E27FC236}">
                  <a16:creationId xmlns:a16="http://schemas.microsoft.com/office/drawing/2014/main" id="{CFE2E7E8-8EC2-E0C0-BF91-186F17263C8E}"/>
                </a:ext>
              </a:extLst>
            </p:cNvPr>
            <p:cNvGrpSpPr/>
            <p:nvPr/>
          </p:nvGrpSpPr>
          <p:grpSpPr>
            <a:xfrm>
              <a:off x="1270171" y="2087424"/>
              <a:ext cx="1951863" cy="720080"/>
              <a:chOff x="4427984" y="987574"/>
              <a:chExt cx="1954702" cy="720080"/>
            </a:xfrm>
          </p:grpSpPr>
          <p:sp>
            <p:nvSpPr>
              <p:cNvPr id="14" name="모서리가 둥근 직사각형 13">
                <a:extLst>
                  <a:ext uri="{FF2B5EF4-FFF2-40B4-BE49-F238E27FC236}">
                    <a16:creationId xmlns:a16="http://schemas.microsoft.com/office/drawing/2014/main" id="{A7C17722-5B14-C043-2AC4-A852F730E4CE}"/>
                  </a:ext>
                </a:extLst>
              </p:cNvPr>
              <p:cNvSpPr/>
              <p:nvPr/>
            </p:nvSpPr>
            <p:spPr>
              <a:xfrm>
                <a:off x="4427984" y="987574"/>
                <a:ext cx="715527" cy="288032"/>
              </a:xfrm>
              <a:prstGeom prst="roundRect">
                <a:avLst>
                  <a:gd name="adj" fmla="val 15432"/>
                </a:avLst>
              </a:prstGeom>
              <a:solidFill>
                <a:schemeClr val="accent2">
                  <a:lumMod val="20000"/>
                  <a:lumOff val="80000"/>
                </a:schemeClr>
              </a:solidFill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ko-KR" sz="900">
                    <a:solidFill>
                      <a:schemeClr val="tx1"/>
                    </a:solidFill>
                  </a:rPr>
                  <a:t>Kernel C1</a:t>
                </a:r>
                <a:endParaRPr kumimoji="1" lang="ko-KR" altLang="en-US" sz="900">
                  <a:solidFill>
                    <a:schemeClr val="tx1"/>
                  </a:solidFill>
                </a:endParaRPr>
              </a:p>
            </p:txBody>
          </p:sp>
          <p:sp>
            <p:nvSpPr>
              <p:cNvPr id="15" name="모서리가 둥근 직사각형 14">
                <a:extLst>
                  <a:ext uri="{FF2B5EF4-FFF2-40B4-BE49-F238E27FC236}">
                    <a16:creationId xmlns:a16="http://schemas.microsoft.com/office/drawing/2014/main" id="{734C40B6-4058-9851-495E-F91F588B5015}"/>
                  </a:ext>
                </a:extLst>
              </p:cNvPr>
              <p:cNvSpPr/>
              <p:nvPr/>
            </p:nvSpPr>
            <p:spPr>
              <a:xfrm>
                <a:off x="5143511" y="987574"/>
                <a:ext cx="1239175" cy="288032"/>
              </a:xfrm>
              <a:prstGeom prst="roundRect">
                <a:avLst>
                  <a:gd name="adj" fmla="val 15432"/>
                </a:avLst>
              </a:prstGeom>
              <a:solidFill>
                <a:schemeClr val="accent2">
                  <a:lumMod val="20000"/>
                  <a:lumOff val="80000"/>
                </a:schemeClr>
              </a:solidFill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ko-KR" sz="900">
                    <a:solidFill>
                      <a:schemeClr val="tx1"/>
                    </a:solidFill>
                  </a:rPr>
                  <a:t>Kernel C2</a:t>
                </a:r>
                <a:endParaRPr kumimoji="1" lang="ko-KR" altLang="en-US" sz="900">
                  <a:solidFill>
                    <a:schemeClr val="tx1"/>
                  </a:solidFill>
                </a:endParaRPr>
              </a:p>
            </p:txBody>
          </p:sp>
          <p:sp>
            <p:nvSpPr>
              <p:cNvPr id="16" name="모서리가 둥근 직사각형 15">
                <a:extLst>
                  <a:ext uri="{FF2B5EF4-FFF2-40B4-BE49-F238E27FC236}">
                    <a16:creationId xmlns:a16="http://schemas.microsoft.com/office/drawing/2014/main" id="{6285E215-7442-1B35-307D-23B9A78F87E5}"/>
                  </a:ext>
                </a:extLst>
              </p:cNvPr>
              <p:cNvSpPr/>
              <p:nvPr/>
            </p:nvSpPr>
            <p:spPr>
              <a:xfrm>
                <a:off x="4427984" y="1419622"/>
                <a:ext cx="715527" cy="288032"/>
              </a:xfrm>
              <a:prstGeom prst="roundRect">
                <a:avLst>
                  <a:gd name="adj" fmla="val 15432"/>
                </a:avLst>
              </a:prstGeom>
              <a:solidFill>
                <a:schemeClr val="accent2">
                  <a:lumMod val="20000"/>
                  <a:lumOff val="80000"/>
                </a:schemeClr>
              </a:solidFill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ko-KR" sz="900">
                    <a:solidFill>
                      <a:schemeClr val="tx1"/>
                    </a:solidFill>
                  </a:rPr>
                  <a:t>Kernel C3</a:t>
                </a:r>
                <a:endParaRPr kumimoji="1" lang="ko-KR" altLang="en-US" sz="90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7" name="모서리가 둥근 직사각형 16">
              <a:extLst>
                <a:ext uri="{FF2B5EF4-FFF2-40B4-BE49-F238E27FC236}">
                  <a16:creationId xmlns:a16="http://schemas.microsoft.com/office/drawing/2014/main" id="{A319E2AB-C626-7BA7-6C43-755CEE443000}"/>
                </a:ext>
              </a:extLst>
            </p:cNvPr>
            <p:cNvSpPr/>
            <p:nvPr/>
          </p:nvSpPr>
          <p:spPr>
            <a:xfrm>
              <a:off x="3572087" y="135990"/>
              <a:ext cx="714487" cy="288032"/>
            </a:xfrm>
            <a:prstGeom prst="roundRect">
              <a:avLst>
                <a:gd name="adj" fmla="val 15432"/>
              </a:avLst>
            </a:prstGeom>
            <a:solidFill>
              <a:schemeClr val="accent1">
                <a:lumMod val="20000"/>
                <a:lumOff val="8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900">
                  <a:solidFill>
                    <a:schemeClr val="tx1"/>
                  </a:solidFill>
                </a:rPr>
                <a:t>Kernel A4</a:t>
              </a:r>
              <a:endParaRPr kumimoji="1" lang="ko-KR" altLang="en-US" sz="900">
                <a:solidFill>
                  <a:schemeClr val="tx1"/>
                </a:solidFill>
              </a:endParaRPr>
            </a:p>
          </p:txBody>
        </p:sp>
        <p:sp>
          <p:nvSpPr>
            <p:cNvPr id="18" name="모서리가 둥근 직사각형 17">
              <a:extLst>
                <a:ext uri="{FF2B5EF4-FFF2-40B4-BE49-F238E27FC236}">
                  <a16:creationId xmlns:a16="http://schemas.microsoft.com/office/drawing/2014/main" id="{0C8407E8-00C3-3E91-AB96-49A17E34A8F0}"/>
                </a:ext>
              </a:extLst>
            </p:cNvPr>
            <p:cNvSpPr/>
            <p:nvPr/>
          </p:nvSpPr>
          <p:spPr>
            <a:xfrm>
              <a:off x="3572088" y="1537783"/>
              <a:ext cx="714487" cy="288032"/>
            </a:xfrm>
            <a:prstGeom prst="roundRect">
              <a:avLst>
                <a:gd name="adj" fmla="val 15432"/>
              </a:avLst>
            </a:prstGeom>
            <a:solidFill>
              <a:schemeClr val="accent3">
                <a:lumMod val="20000"/>
                <a:lumOff val="8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900">
                  <a:solidFill>
                    <a:schemeClr val="tx1"/>
                  </a:solidFill>
                </a:rPr>
                <a:t>Kernel B4</a:t>
              </a:r>
              <a:endParaRPr kumimoji="1" lang="ko-KR" altLang="en-US" sz="900">
                <a:solidFill>
                  <a:schemeClr val="tx1"/>
                </a:solidFill>
              </a:endParaRPr>
            </a:p>
          </p:txBody>
        </p:sp>
        <p:sp>
          <p:nvSpPr>
            <p:cNvPr id="19" name="모서리가 둥근 직사각형 18">
              <a:extLst>
                <a:ext uri="{FF2B5EF4-FFF2-40B4-BE49-F238E27FC236}">
                  <a16:creationId xmlns:a16="http://schemas.microsoft.com/office/drawing/2014/main" id="{A3149809-3D87-555E-2238-9726084A9146}"/>
                </a:ext>
              </a:extLst>
            </p:cNvPr>
            <p:cNvSpPr/>
            <p:nvPr/>
          </p:nvSpPr>
          <p:spPr>
            <a:xfrm>
              <a:off x="3572087" y="2087424"/>
              <a:ext cx="714487" cy="288032"/>
            </a:xfrm>
            <a:prstGeom prst="roundRect">
              <a:avLst>
                <a:gd name="adj" fmla="val 15432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900">
                  <a:solidFill>
                    <a:schemeClr val="tx1"/>
                  </a:solidFill>
                </a:rPr>
                <a:t>Kernel C4</a:t>
              </a:r>
              <a:endParaRPr kumimoji="1" lang="ko-KR" altLang="en-US" sz="900">
                <a:solidFill>
                  <a:schemeClr val="tx1"/>
                </a:solidFill>
              </a:endParaRPr>
            </a:p>
          </p:txBody>
        </p:sp>
        <p:sp>
          <p:nvSpPr>
            <p:cNvPr id="20" name="모서리가 둥근 직사각형 19">
              <a:extLst>
                <a:ext uri="{FF2B5EF4-FFF2-40B4-BE49-F238E27FC236}">
                  <a16:creationId xmlns:a16="http://schemas.microsoft.com/office/drawing/2014/main" id="{4EC0EC82-5480-0224-8241-0CBB31D63CC6}"/>
                </a:ext>
              </a:extLst>
            </p:cNvPr>
            <p:cNvSpPr/>
            <p:nvPr/>
          </p:nvSpPr>
          <p:spPr>
            <a:xfrm>
              <a:off x="3572087" y="2519472"/>
              <a:ext cx="714487" cy="288032"/>
            </a:xfrm>
            <a:prstGeom prst="roundRect">
              <a:avLst>
                <a:gd name="adj" fmla="val 15432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900">
                  <a:solidFill>
                    <a:schemeClr val="tx1"/>
                  </a:solidFill>
                </a:rPr>
                <a:t>Kernel C5</a:t>
              </a:r>
              <a:endParaRPr kumimoji="1" lang="ko-KR" altLang="en-US" sz="900">
                <a:solidFill>
                  <a:schemeClr val="tx1"/>
                </a:solidFill>
              </a:endParaRPr>
            </a:p>
          </p:txBody>
        </p:sp>
      </p:grpSp>
      <p:sp>
        <p:nvSpPr>
          <p:cNvPr id="21" name="모서리가 둥근 직사각형 20">
            <a:extLst>
              <a:ext uri="{FF2B5EF4-FFF2-40B4-BE49-F238E27FC236}">
                <a16:creationId xmlns:a16="http://schemas.microsoft.com/office/drawing/2014/main" id="{ADCE638D-BE06-4800-6E16-27F618CEF2DB}"/>
              </a:ext>
            </a:extLst>
          </p:cNvPr>
          <p:cNvSpPr/>
          <p:nvPr/>
        </p:nvSpPr>
        <p:spPr>
          <a:xfrm>
            <a:off x="107504" y="61166"/>
            <a:ext cx="9001000" cy="857250"/>
          </a:xfrm>
          <a:prstGeom prst="roundRect">
            <a:avLst>
              <a:gd name="adj" fmla="val 8128"/>
            </a:avLst>
          </a:prstGeom>
          <a:noFill/>
          <a:ln w="12700"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kumimoji="1" lang="en-US" altLang="ko-KR" sz="1000" b="1">
                <a:solidFill>
                  <a:schemeClr val="tx1"/>
                </a:solidFill>
              </a:rPr>
              <a:t>CUDA App A</a:t>
            </a:r>
          </a:p>
        </p:txBody>
      </p:sp>
      <p:sp>
        <p:nvSpPr>
          <p:cNvPr id="35" name="모서리가 둥근 직사각형 34">
            <a:extLst>
              <a:ext uri="{FF2B5EF4-FFF2-40B4-BE49-F238E27FC236}">
                <a16:creationId xmlns:a16="http://schemas.microsoft.com/office/drawing/2014/main" id="{32121DA2-0AD6-8800-0980-141AF890A0FB}"/>
              </a:ext>
            </a:extLst>
          </p:cNvPr>
          <p:cNvSpPr/>
          <p:nvPr/>
        </p:nvSpPr>
        <p:spPr>
          <a:xfrm>
            <a:off x="107504" y="1040264"/>
            <a:ext cx="9001000" cy="857250"/>
          </a:xfrm>
          <a:prstGeom prst="roundRect">
            <a:avLst>
              <a:gd name="adj" fmla="val 8128"/>
            </a:avLst>
          </a:prstGeom>
          <a:noFill/>
          <a:ln w="12700"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kumimoji="1" lang="en-US" altLang="ko-KR" sz="1000" b="1">
                <a:solidFill>
                  <a:schemeClr val="tx1"/>
                </a:solidFill>
              </a:rPr>
              <a:t>CUDA App B</a:t>
            </a:r>
          </a:p>
        </p:txBody>
      </p:sp>
      <p:sp>
        <p:nvSpPr>
          <p:cNvPr id="39" name="모서리가 둥근 직사각형 38">
            <a:extLst>
              <a:ext uri="{FF2B5EF4-FFF2-40B4-BE49-F238E27FC236}">
                <a16:creationId xmlns:a16="http://schemas.microsoft.com/office/drawing/2014/main" id="{8907D762-A8C7-850D-8452-34357FBF1051}"/>
              </a:ext>
            </a:extLst>
          </p:cNvPr>
          <p:cNvSpPr/>
          <p:nvPr/>
        </p:nvSpPr>
        <p:spPr>
          <a:xfrm>
            <a:off x="107504" y="2017404"/>
            <a:ext cx="9001000" cy="857250"/>
          </a:xfrm>
          <a:prstGeom prst="roundRect">
            <a:avLst>
              <a:gd name="adj" fmla="val 8128"/>
            </a:avLst>
          </a:prstGeom>
          <a:noFill/>
          <a:ln w="12700"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kumimoji="1" lang="en-US" altLang="ko-KR" sz="1000" b="1">
                <a:solidFill>
                  <a:schemeClr val="tx1"/>
                </a:solidFill>
              </a:rPr>
              <a:t>CUDA App C</a:t>
            </a:r>
          </a:p>
        </p:txBody>
      </p:sp>
      <p:cxnSp>
        <p:nvCxnSpPr>
          <p:cNvPr id="84" name="직선 연결선[R] 83">
            <a:extLst>
              <a:ext uri="{FF2B5EF4-FFF2-40B4-BE49-F238E27FC236}">
                <a16:creationId xmlns:a16="http://schemas.microsoft.com/office/drawing/2014/main" id="{999D58D9-62CA-91EB-9726-C0DCD862850C}"/>
              </a:ext>
            </a:extLst>
          </p:cNvPr>
          <p:cNvCxnSpPr>
            <a:cxnSpLocks/>
          </p:cNvCxnSpPr>
          <p:nvPr/>
        </p:nvCxnSpPr>
        <p:spPr>
          <a:xfrm>
            <a:off x="-36512" y="3139439"/>
            <a:ext cx="9289032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86C53DE5-6ACA-2A13-C6C7-B85CF8E703DB}"/>
              </a:ext>
            </a:extLst>
          </p:cNvPr>
          <p:cNvSpPr txBox="1"/>
          <p:nvPr/>
        </p:nvSpPr>
        <p:spPr>
          <a:xfrm>
            <a:off x="44450" y="3139439"/>
            <a:ext cx="10887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100" b="1"/>
              <a:t>GPU Memory</a:t>
            </a:r>
            <a:endParaRPr kumimoji="1" lang="ko-KR" altLang="en-US" sz="1100" b="1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BEFD451F-584B-25B1-C6BC-4E273502AE78}"/>
              </a:ext>
            </a:extLst>
          </p:cNvPr>
          <p:cNvSpPr txBox="1"/>
          <p:nvPr/>
        </p:nvSpPr>
        <p:spPr>
          <a:xfrm>
            <a:off x="44450" y="2877829"/>
            <a:ext cx="83708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100" b="1"/>
              <a:t>GPU Core</a:t>
            </a:r>
            <a:endParaRPr kumimoji="1" lang="ko-KR" altLang="en-US" sz="1100" b="1"/>
          </a:p>
        </p:txBody>
      </p:sp>
      <p:sp>
        <p:nvSpPr>
          <p:cNvPr id="107" name="모서리가 둥근 직사각형 106">
            <a:extLst>
              <a:ext uri="{FF2B5EF4-FFF2-40B4-BE49-F238E27FC236}">
                <a16:creationId xmlns:a16="http://schemas.microsoft.com/office/drawing/2014/main" id="{5E367513-D14B-D6A3-75A1-9064CE9542F3}"/>
              </a:ext>
            </a:extLst>
          </p:cNvPr>
          <p:cNvSpPr/>
          <p:nvPr/>
        </p:nvSpPr>
        <p:spPr>
          <a:xfrm>
            <a:off x="1267832" y="3498855"/>
            <a:ext cx="7768662" cy="327545"/>
          </a:xfrm>
          <a:prstGeom prst="roundRect">
            <a:avLst>
              <a:gd name="adj" fmla="val 15205"/>
            </a:avLst>
          </a:prstGeom>
          <a:solidFill>
            <a:schemeClr val="accent1">
              <a:lumMod val="20000"/>
              <a:lumOff val="80000"/>
            </a:schemeClr>
          </a:solidFill>
          <a:ln w="12700"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 b="1">
                <a:solidFill>
                  <a:schemeClr val="tx1"/>
                </a:solidFill>
              </a:rPr>
              <a:t>CUDA App A </a:t>
            </a:r>
          </a:p>
        </p:txBody>
      </p:sp>
      <p:sp>
        <p:nvSpPr>
          <p:cNvPr id="108" name="모서리가 둥근 직사각형 107">
            <a:extLst>
              <a:ext uri="{FF2B5EF4-FFF2-40B4-BE49-F238E27FC236}">
                <a16:creationId xmlns:a16="http://schemas.microsoft.com/office/drawing/2014/main" id="{4A5EE7DE-32E9-AEE5-3055-3289E4728D0B}"/>
              </a:ext>
            </a:extLst>
          </p:cNvPr>
          <p:cNvSpPr/>
          <p:nvPr/>
        </p:nvSpPr>
        <p:spPr>
          <a:xfrm>
            <a:off x="1267831" y="4049581"/>
            <a:ext cx="7768662" cy="327545"/>
          </a:xfrm>
          <a:prstGeom prst="roundRect">
            <a:avLst>
              <a:gd name="adj" fmla="val 10702"/>
            </a:avLst>
          </a:prstGeom>
          <a:solidFill>
            <a:schemeClr val="accent3">
              <a:lumMod val="20000"/>
              <a:lumOff val="80000"/>
            </a:schemeClr>
          </a:solidFill>
          <a:ln w="12700"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 b="1">
                <a:solidFill>
                  <a:schemeClr val="tx1"/>
                </a:solidFill>
              </a:rPr>
              <a:t>CUDA App B </a:t>
            </a:r>
          </a:p>
        </p:txBody>
      </p:sp>
      <p:sp>
        <p:nvSpPr>
          <p:cNvPr id="109" name="모서리가 둥근 직사각형 108">
            <a:extLst>
              <a:ext uri="{FF2B5EF4-FFF2-40B4-BE49-F238E27FC236}">
                <a16:creationId xmlns:a16="http://schemas.microsoft.com/office/drawing/2014/main" id="{1ED5DCB0-44B8-7CA0-D2A6-FAA260036096}"/>
              </a:ext>
            </a:extLst>
          </p:cNvPr>
          <p:cNvSpPr/>
          <p:nvPr/>
        </p:nvSpPr>
        <p:spPr>
          <a:xfrm>
            <a:off x="1267832" y="4606483"/>
            <a:ext cx="7768662" cy="327545"/>
          </a:xfrm>
          <a:prstGeom prst="roundRect">
            <a:avLst>
              <a:gd name="adj" fmla="val 15133"/>
            </a:avLst>
          </a:prstGeom>
          <a:solidFill>
            <a:schemeClr val="accent2">
              <a:lumMod val="20000"/>
              <a:lumOff val="80000"/>
            </a:schemeClr>
          </a:solidFill>
          <a:ln w="12700"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 b="1">
                <a:solidFill>
                  <a:schemeClr val="tx1"/>
                </a:solidFill>
              </a:rPr>
              <a:t>CUDA App C </a:t>
            </a:r>
          </a:p>
        </p:txBody>
      </p:sp>
      <p:cxnSp>
        <p:nvCxnSpPr>
          <p:cNvPr id="3" name="직선 화살표 연결선 2">
            <a:extLst>
              <a:ext uri="{FF2B5EF4-FFF2-40B4-BE49-F238E27FC236}">
                <a16:creationId xmlns:a16="http://schemas.microsoft.com/office/drawing/2014/main" id="{6AB37F25-F3DC-8133-2C06-4FC81EC82911}"/>
              </a:ext>
            </a:extLst>
          </p:cNvPr>
          <p:cNvCxnSpPr>
            <a:cxnSpLocks/>
          </p:cNvCxnSpPr>
          <p:nvPr/>
        </p:nvCxnSpPr>
        <p:spPr>
          <a:xfrm>
            <a:off x="8245999" y="3276740"/>
            <a:ext cx="853551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97775139-BB0C-72F6-8B63-C15A4EA71069}"/>
              </a:ext>
            </a:extLst>
          </p:cNvPr>
          <p:cNvSpPr txBox="1"/>
          <p:nvPr/>
        </p:nvSpPr>
        <p:spPr>
          <a:xfrm>
            <a:off x="7734319" y="3141619"/>
            <a:ext cx="511679" cy="2616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kumimoji="1" lang="en-US" altLang="ko-KR" sz="1100" b="1" i="1"/>
              <a:t>Time</a:t>
            </a:r>
            <a:endParaRPr kumimoji="1" lang="ko-KR" altLang="en-US" sz="900" b="1" i="1"/>
          </a:p>
        </p:txBody>
      </p:sp>
    </p:spTree>
    <p:extLst>
      <p:ext uri="{BB962C8B-B14F-4D97-AF65-F5344CB8AC3E}">
        <p14:creationId xmlns:p14="http://schemas.microsoft.com/office/powerpoint/2010/main" val="9573573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00965D-3CBD-1D9B-7500-304055EDD9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5BAA80-1362-73A3-5F33-56F3CA990842}"/>
              </a:ext>
            </a:extLst>
          </p:cNvPr>
          <p:cNvSpPr txBox="1">
            <a:spLocks/>
          </p:cNvSpPr>
          <p:nvPr/>
        </p:nvSpPr>
        <p:spPr>
          <a:xfrm>
            <a:off x="457200" y="-739613"/>
            <a:ext cx="8229600" cy="857250"/>
          </a:xfrm>
          <a:prstGeom prst="rect">
            <a:avLst/>
          </a:prstGeom>
        </p:spPr>
        <p:txBody>
          <a:bodyPr/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/>
              <a:t>MIG</a:t>
            </a:r>
            <a:endParaRPr lang="ko-KR" altLang="en-US" dirty="0"/>
          </a:p>
        </p:txBody>
      </p:sp>
      <p:sp>
        <p:nvSpPr>
          <p:cNvPr id="3" name="모서리가 둥근 직사각형 2">
            <a:extLst>
              <a:ext uri="{FF2B5EF4-FFF2-40B4-BE49-F238E27FC236}">
                <a16:creationId xmlns:a16="http://schemas.microsoft.com/office/drawing/2014/main" id="{FC0A0DD0-E4FB-473B-6CA1-9E87ED258228}"/>
              </a:ext>
            </a:extLst>
          </p:cNvPr>
          <p:cNvSpPr/>
          <p:nvPr/>
        </p:nvSpPr>
        <p:spPr>
          <a:xfrm>
            <a:off x="323528" y="531253"/>
            <a:ext cx="1549189" cy="720080"/>
          </a:xfrm>
          <a:prstGeom prst="roundRect">
            <a:avLst>
              <a:gd name="adj" fmla="val 9264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1000" b="1">
                <a:solidFill>
                  <a:schemeClr val="tx1"/>
                </a:solidFill>
              </a:rPr>
              <a:t>CUDA App A Process</a:t>
            </a:r>
            <a:endParaRPr kumimoji="1" lang="ko-KR" altLang="en-US" sz="1000" b="1">
              <a:solidFill>
                <a:schemeClr val="tx1"/>
              </a:solidFill>
            </a:endParaRPr>
          </a:p>
        </p:txBody>
      </p:sp>
      <p:sp>
        <p:nvSpPr>
          <p:cNvPr id="4" name="모서리가 둥근 직사각형 3">
            <a:extLst>
              <a:ext uri="{FF2B5EF4-FFF2-40B4-BE49-F238E27FC236}">
                <a16:creationId xmlns:a16="http://schemas.microsoft.com/office/drawing/2014/main" id="{893F66E7-32AB-3A72-8582-63898E225646}"/>
              </a:ext>
            </a:extLst>
          </p:cNvPr>
          <p:cNvSpPr/>
          <p:nvPr/>
        </p:nvSpPr>
        <p:spPr>
          <a:xfrm>
            <a:off x="473337" y="882932"/>
            <a:ext cx="1237375" cy="288032"/>
          </a:xfrm>
          <a:prstGeom prst="roundRect">
            <a:avLst>
              <a:gd name="adj" fmla="val 15432"/>
            </a:avLst>
          </a:prstGeom>
          <a:solidFill>
            <a:schemeClr val="accent1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CUDA Context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5" name="모서리가 둥근 직사각형 4">
            <a:extLst>
              <a:ext uri="{FF2B5EF4-FFF2-40B4-BE49-F238E27FC236}">
                <a16:creationId xmlns:a16="http://schemas.microsoft.com/office/drawing/2014/main" id="{217800AE-2F01-34A4-490D-E0655B7D8EF8}"/>
              </a:ext>
            </a:extLst>
          </p:cNvPr>
          <p:cNvSpPr/>
          <p:nvPr/>
        </p:nvSpPr>
        <p:spPr>
          <a:xfrm>
            <a:off x="2051720" y="531253"/>
            <a:ext cx="1549189" cy="720080"/>
          </a:xfrm>
          <a:prstGeom prst="roundRect">
            <a:avLst>
              <a:gd name="adj" fmla="val 9264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1000" b="1">
                <a:solidFill>
                  <a:schemeClr val="tx1"/>
                </a:solidFill>
              </a:rPr>
              <a:t>CUDA App B Process</a:t>
            </a:r>
            <a:endParaRPr kumimoji="1" lang="ko-KR" altLang="en-US" sz="1000" b="1">
              <a:solidFill>
                <a:schemeClr val="tx1"/>
              </a:solidFill>
            </a:endParaRPr>
          </a:p>
        </p:txBody>
      </p:sp>
      <p:sp>
        <p:nvSpPr>
          <p:cNvPr id="6" name="모서리가 둥근 직사각형 5">
            <a:extLst>
              <a:ext uri="{FF2B5EF4-FFF2-40B4-BE49-F238E27FC236}">
                <a16:creationId xmlns:a16="http://schemas.microsoft.com/office/drawing/2014/main" id="{50D8CEC9-CE68-83B5-1099-7F28182F2EFC}"/>
              </a:ext>
            </a:extLst>
          </p:cNvPr>
          <p:cNvSpPr/>
          <p:nvPr/>
        </p:nvSpPr>
        <p:spPr>
          <a:xfrm>
            <a:off x="3779912" y="531253"/>
            <a:ext cx="1549189" cy="720080"/>
          </a:xfrm>
          <a:prstGeom prst="roundRect">
            <a:avLst>
              <a:gd name="adj" fmla="val 9264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1000" b="1">
                <a:solidFill>
                  <a:schemeClr val="tx1"/>
                </a:solidFill>
              </a:rPr>
              <a:t>CUDA App C Process</a:t>
            </a:r>
            <a:endParaRPr kumimoji="1" lang="ko-KR" altLang="en-US" sz="1000" b="1">
              <a:solidFill>
                <a:schemeClr val="tx1"/>
              </a:solidFill>
            </a:endParaRPr>
          </a:p>
        </p:txBody>
      </p:sp>
      <p:sp>
        <p:nvSpPr>
          <p:cNvPr id="7" name="모서리가 둥근 직사각형 6">
            <a:extLst>
              <a:ext uri="{FF2B5EF4-FFF2-40B4-BE49-F238E27FC236}">
                <a16:creationId xmlns:a16="http://schemas.microsoft.com/office/drawing/2014/main" id="{6341C106-796A-B641-8311-8AD43B223757}"/>
              </a:ext>
            </a:extLst>
          </p:cNvPr>
          <p:cNvSpPr/>
          <p:nvPr/>
        </p:nvSpPr>
        <p:spPr>
          <a:xfrm>
            <a:off x="323528" y="1458996"/>
            <a:ext cx="5005573" cy="3495751"/>
          </a:xfrm>
          <a:prstGeom prst="roundRect">
            <a:avLst>
              <a:gd name="adj" fmla="val 3962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kumimoji="1" lang="en-US" altLang="ko-KR" sz="1000" b="1">
                <a:solidFill>
                  <a:schemeClr val="tx1"/>
                </a:solidFill>
              </a:rPr>
              <a:t>GPU</a:t>
            </a:r>
            <a:endParaRPr kumimoji="1" lang="ko-KR" altLang="en-US" sz="1000" b="1">
              <a:solidFill>
                <a:schemeClr val="tx1"/>
              </a:solidFill>
            </a:endParaRPr>
          </a:p>
        </p:txBody>
      </p:sp>
      <p:sp>
        <p:nvSpPr>
          <p:cNvPr id="8" name="모서리가 둥근 직사각형 7">
            <a:extLst>
              <a:ext uri="{FF2B5EF4-FFF2-40B4-BE49-F238E27FC236}">
                <a16:creationId xmlns:a16="http://schemas.microsoft.com/office/drawing/2014/main" id="{56F4A65C-9077-81DD-D355-15620DEDBDAA}"/>
              </a:ext>
            </a:extLst>
          </p:cNvPr>
          <p:cNvSpPr/>
          <p:nvPr/>
        </p:nvSpPr>
        <p:spPr>
          <a:xfrm>
            <a:off x="2207626" y="882932"/>
            <a:ext cx="1237375" cy="288032"/>
          </a:xfrm>
          <a:prstGeom prst="roundRect">
            <a:avLst>
              <a:gd name="adj" fmla="val 15432"/>
            </a:avLst>
          </a:prstGeom>
          <a:solidFill>
            <a:schemeClr val="accent3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CUDA Context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9" name="모서리가 둥근 직사각형 8">
            <a:extLst>
              <a:ext uri="{FF2B5EF4-FFF2-40B4-BE49-F238E27FC236}">
                <a16:creationId xmlns:a16="http://schemas.microsoft.com/office/drawing/2014/main" id="{3BD356BC-3FB1-12DB-7135-E97D001BA5CC}"/>
              </a:ext>
            </a:extLst>
          </p:cNvPr>
          <p:cNvSpPr/>
          <p:nvPr/>
        </p:nvSpPr>
        <p:spPr>
          <a:xfrm>
            <a:off x="3935818" y="882932"/>
            <a:ext cx="1237375" cy="288032"/>
          </a:xfrm>
          <a:prstGeom prst="roundRect">
            <a:avLst>
              <a:gd name="adj" fmla="val 15432"/>
            </a:avLst>
          </a:prstGeom>
          <a:solidFill>
            <a:schemeClr val="accent2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CUDA Context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21" name="모서리가 둥근 직사각형 20">
            <a:extLst>
              <a:ext uri="{FF2B5EF4-FFF2-40B4-BE49-F238E27FC236}">
                <a16:creationId xmlns:a16="http://schemas.microsoft.com/office/drawing/2014/main" id="{1A841004-5AB8-D953-7B89-820193852509}"/>
              </a:ext>
            </a:extLst>
          </p:cNvPr>
          <p:cNvSpPr/>
          <p:nvPr/>
        </p:nvSpPr>
        <p:spPr>
          <a:xfrm>
            <a:off x="565513" y="2963887"/>
            <a:ext cx="1053024" cy="606973"/>
          </a:xfrm>
          <a:prstGeom prst="roundRect">
            <a:avLst>
              <a:gd name="adj" fmla="val 9804"/>
            </a:avLst>
          </a:prstGeom>
          <a:solidFill>
            <a:schemeClr val="accent1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 App A Memory</a:t>
            </a:r>
          </a:p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 </a:t>
            </a:r>
            <a:br>
              <a:rPr kumimoji="1" lang="en-US" altLang="ko-KR" sz="900">
                <a:solidFill>
                  <a:schemeClr val="tx1"/>
                </a:solidFill>
              </a:rPr>
            </a:br>
            <a:r>
              <a:rPr kumimoji="1" lang="en-US" altLang="ko-KR" sz="900">
                <a:solidFill>
                  <a:schemeClr val="tx1"/>
                </a:solidFill>
              </a:rPr>
              <a:t>Kernel, Data</a:t>
            </a:r>
          </a:p>
        </p:txBody>
      </p:sp>
      <p:sp>
        <p:nvSpPr>
          <p:cNvPr id="24" name="모서리가 둥근 직사각형 23">
            <a:extLst>
              <a:ext uri="{FF2B5EF4-FFF2-40B4-BE49-F238E27FC236}">
                <a16:creationId xmlns:a16="http://schemas.microsoft.com/office/drawing/2014/main" id="{D259145B-A056-2246-7799-2CF4970A385D}"/>
              </a:ext>
            </a:extLst>
          </p:cNvPr>
          <p:cNvSpPr/>
          <p:nvPr/>
        </p:nvSpPr>
        <p:spPr>
          <a:xfrm>
            <a:off x="2296753" y="2963887"/>
            <a:ext cx="1053024" cy="606973"/>
          </a:xfrm>
          <a:prstGeom prst="roundRect">
            <a:avLst>
              <a:gd name="adj" fmla="val 11293"/>
            </a:avLst>
          </a:prstGeom>
          <a:solidFill>
            <a:schemeClr val="accent3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App B</a:t>
            </a:r>
            <a:r>
              <a:rPr kumimoji="1" lang="en-US" altLang="ko-KR" sz="900" b="1">
                <a:solidFill>
                  <a:schemeClr val="tx1"/>
                </a:solidFill>
              </a:rPr>
              <a:t> </a:t>
            </a:r>
            <a:r>
              <a:rPr kumimoji="1" lang="en-US" altLang="ko-KR" sz="900">
                <a:solidFill>
                  <a:schemeClr val="tx1"/>
                </a:solidFill>
              </a:rPr>
              <a:t>Memory</a:t>
            </a:r>
          </a:p>
          <a:p>
            <a:pPr algn="ctr"/>
            <a:br>
              <a:rPr kumimoji="1" lang="en-US" altLang="ko-KR" sz="900">
                <a:solidFill>
                  <a:schemeClr val="tx1"/>
                </a:solidFill>
              </a:rPr>
            </a:br>
            <a:r>
              <a:rPr kumimoji="1" lang="en-US" altLang="ko-KR" sz="900">
                <a:solidFill>
                  <a:schemeClr val="tx1"/>
                </a:solidFill>
              </a:rPr>
              <a:t>Kernel, Data</a:t>
            </a:r>
          </a:p>
        </p:txBody>
      </p:sp>
      <p:sp>
        <p:nvSpPr>
          <p:cNvPr id="25" name="모서리가 둥근 직사각형 24">
            <a:extLst>
              <a:ext uri="{FF2B5EF4-FFF2-40B4-BE49-F238E27FC236}">
                <a16:creationId xmlns:a16="http://schemas.microsoft.com/office/drawing/2014/main" id="{BC17259B-7040-2248-C7AA-179F8E38A61B}"/>
              </a:ext>
            </a:extLst>
          </p:cNvPr>
          <p:cNvSpPr/>
          <p:nvPr/>
        </p:nvSpPr>
        <p:spPr>
          <a:xfrm>
            <a:off x="4027993" y="2963887"/>
            <a:ext cx="1053024" cy="606973"/>
          </a:xfrm>
          <a:prstGeom prst="roundRect">
            <a:avLst>
              <a:gd name="adj" fmla="val 11293"/>
            </a:avLst>
          </a:prstGeom>
          <a:solidFill>
            <a:schemeClr val="accent2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App C</a:t>
            </a:r>
            <a:r>
              <a:rPr kumimoji="1" lang="en-US" altLang="ko-KR" sz="900" b="1">
                <a:solidFill>
                  <a:schemeClr val="tx1"/>
                </a:solidFill>
              </a:rPr>
              <a:t> </a:t>
            </a:r>
            <a:r>
              <a:rPr kumimoji="1" lang="en-US" altLang="ko-KR" sz="900">
                <a:solidFill>
                  <a:schemeClr val="tx1"/>
                </a:solidFill>
              </a:rPr>
              <a:t>Memory</a:t>
            </a:r>
          </a:p>
          <a:p>
            <a:pPr algn="ctr"/>
            <a:endParaRPr kumimoji="1" lang="en-US" altLang="ko-KR" sz="900">
              <a:solidFill>
                <a:schemeClr val="tx1"/>
              </a:solidFill>
            </a:endParaRPr>
          </a:p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Kernel, Data</a:t>
            </a:r>
          </a:p>
        </p:txBody>
      </p:sp>
      <p:sp>
        <p:nvSpPr>
          <p:cNvPr id="26" name="모서리가 둥근 직사각형 25">
            <a:extLst>
              <a:ext uri="{FF2B5EF4-FFF2-40B4-BE49-F238E27FC236}">
                <a16:creationId xmlns:a16="http://schemas.microsoft.com/office/drawing/2014/main" id="{1F1BA8A4-F5BB-D598-812D-F5B4756652E0}"/>
              </a:ext>
            </a:extLst>
          </p:cNvPr>
          <p:cNvSpPr/>
          <p:nvPr/>
        </p:nvSpPr>
        <p:spPr>
          <a:xfrm>
            <a:off x="449865" y="1617783"/>
            <a:ext cx="1278220" cy="3009566"/>
          </a:xfrm>
          <a:prstGeom prst="roundRect">
            <a:avLst>
              <a:gd name="adj" fmla="val 9264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kumimoji="1" lang="en-US" altLang="ko-KR" sz="1000" b="1">
                <a:solidFill>
                  <a:schemeClr val="tx1"/>
                </a:solidFill>
              </a:rPr>
              <a:t>MIG </a:t>
            </a:r>
          </a:p>
          <a:p>
            <a:pPr algn="ctr"/>
            <a:r>
              <a:rPr kumimoji="1" lang="en-US" altLang="ko-KR" sz="1000" b="1">
                <a:solidFill>
                  <a:schemeClr val="tx1"/>
                </a:solidFill>
              </a:rPr>
              <a:t>GPU Instance</a:t>
            </a:r>
            <a:endParaRPr kumimoji="1" lang="ko-KR" altLang="en-US" sz="1000" b="1">
              <a:solidFill>
                <a:schemeClr val="tx1"/>
              </a:solidFill>
            </a:endParaRPr>
          </a:p>
        </p:txBody>
      </p:sp>
      <p:sp>
        <p:nvSpPr>
          <p:cNvPr id="27" name="모서리가 둥근 직사각형 26">
            <a:extLst>
              <a:ext uri="{FF2B5EF4-FFF2-40B4-BE49-F238E27FC236}">
                <a16:creationId xmlns:a16="http://schemas.microsoft.com/office/drawing/2014/main" id="{676D0CD1-F708-BC4A-6FB1-7C442D1BD5E6}"/>
              </a:ext>
            </a:extLst>
          </p:cNvPr>
          <p:cNvSpPr/>
          <p:nvPr/>
        </p:nvSpPr>
        <p:spPr>
          <a:xfrm>
            <a:off x="2175987" y="1617783"/>
            <a:ext cx="3016650" cy="2994464"/>
          </a:xfrm>
          <a:prstGeom prst="roundRect">
            <a:avLst>
              <a:gd name="adj" fmla="val 4717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kumimoji="1" lang="en-US" altLang="ko-KR" sz="1000" b="1">
                <a:solidFill>
                  <a:schemeClr val="tx1"/>
                </a:solidFill>
              </a:rPr>
              <a:t>MIG </a:t>
            </a:r>
          </a:p>
          <a:p>
            <a:pPr algn="ctr"/>
            <a:r>
              <a:rPr kumimoji="1" lang="en-US" altLang="ko-KR" sz="1000" b="1">
                <a:solidFill>
                  <a:schemeClr val="tx1"/>
                </a:solidFill>
              </a:rPr>
              <a:t>GPU Instance</a:t>
            </a:r>
            <a:endParaRPr kumimoji="1" lang="ko-KR" altLang="en-US" sz="1000" b="1">
              <a:solidFill>
                <a:schemeClr val="tx1"/>
              </a:solidFill>
            </a:endParaRPr>
          </a:p>
        </p:txBody>
      </p:sp>
      <p:sp>
        <p:nvSpPr>
          <p:cNvPr id="30" name="모서리가 둥근 직사각형 29">
            <a:extLst>
              <a:ext uri="{FF2B5EF4-FFF2-40B4-BE49-F238E27FC236}">
                <a16:creationId xmlns:a16="http://schemas.microsoft.com/office/drawing/2014/main" id="{69692FC2-6E43-589C-EC82-0C13F15BFEAC}"/>
              </a:ext>
            </a:extLst>
          </p:cNvPr>
          <p:cNvSpPr/>
          <p:nvPr/>
        </p:nvSpPr>
        <p:spPr>
          <a:xfrm>
            <a:off x="508543" y="1675020"/>
            <a:ext cx="1160864" cy="848329"/>
          </a:xfrm>
          <a:prstGeom prst="roundRect">
            <a:avLst>
              <a:gd name="adj" fmla="val 8070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en-US" altLang="ko-KR" sz="900" b="1">
                <a:solidFill>
                  <a:schemeClr val="tx1"/>
                </a:solidFill>
              </a:rPr>
              <a:t>MIG Compute Instance</a:t>
            </a:r>
          </a:p>
        </p:txBody>
      </p:sp>
      <p:sp>
        <p:nvSpPr>
          <p:cNvPr id="38" name="모서리가 둥근 직사각형 37">
            <a:extLst>
              <a:ext uri="{FF2B5EF4-FFF2-40B4-BE49-F238E27FC236}">
                <a16:creationId xmlns:a16="http://schemas.microsoft.com/office/drawing/2014/main" id="{72BCA8EF-7DE9-4AD3-3EFD-55CA75BE0B57}"/>
              </a:ext>
            </a:extLst>
          </p:cNvPr>
          <p:cNvSpPr/>
          <p:nvPr/>
        </p:nvSpPr>
        <p:spPr>
          <a:xfrm>
            <a:off x="2242047" y="3820154"/>
            <a:ext cx="2897897" cy="288032"/>
          </a:xfrm>
          <a:prstGeom prst="roundRect">
            <a:avLst>
              <a:gd name="adj" fmla="val 15432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 b="1" u="sng">
                <a:solidFill>
                  <a:schemeClr val="tx1"/>
                </a:solidFill>
              </a:rPr>
              <a:t>Shared</a:t>
            </a:r>
            <a:r>
              <a:rPr kumimoji="1" lang="en-US" altLang="ko-KR" sz="900">
                <a:solidFill>
                  <a:schemeClr val="tx1"/>
                </a:solidFill>
              </a:rPr>
              <a:t> GPU Context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10" name="모서리가 둥근 직사각형 9">
            <a:extLst>
              <a:ext uri="{FF2B5EF4-FFF2-40B4-BE49-F238E27FC236}">
                <a16:creationId xmlns:a16="http://schemas.microsoft.com/office/drawing/2014/main" id="{9DBA40F5-1B3D-E92E-8087-BE1F8133D91B}"/>
              </a:ext>
            </a:extLst>
          </p:cNvPr>
          <p:cNvSpPr/>
          <p:nvPr/>
        </p:nvSpPr>
        <p:spPr>
          <a:xfrm>
            <a:off x="565513" y="2067694"/>
            <a:ext cx="1053024" cy="414162"/>
          </a:xfrm>
          <a:prstGeom prst="roundRect">
            <a:avLst>
              <a:gd name="adj" fmla="val 13713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900" b="1" u="sng">
                <a:solidFill>
                  <a:schemeClr val="tx1"/>
                </a:solidFill>
              </a:rPr>
              <a:t>Isolated</a:t>
            </a:r>
            <a:r>
              <a:rPr kumimoji="1" lang="en-US" altLang="ko-KR" sz="900" b="1">
                <a:solidFill>
                  <a:schemeClr val="tx1"/>
                </a:solidFill>
              </a:rPr>
              <a:t> </a:t>
            </a:r>
            <a:r>
              <a:rPr kumimoji="1" lang="en-US" altLang="ko-KR" sz="900">
                <a:solidFill>
                  <a:schemeClr val="tx1"/>
                </a:solidFill>
              </a:rPr>
              <a:t>SM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17" name="모서리가 둥근 직사각형 16">
            <a:extLst>
              <a:ext uri="{FF2B5EF4-FFF2-40B4-BE49-F238E27FC236}">
                <a16:creationId xmlns:a16="http://schemas.microsoft.com/office/drawing/2014/main" id="{CF900778-0EED-40F4-CD0D-37E04CF0D918}"/>
              </a:ext>
            </a:extLst>
          </p:cNvPr>
          <p:cNvSpPr/>
          <p:nvPr/>
        </p:nvSpPr>
        <p:spPr>
          <a:xfrm>
            <a:off x="508543" y="2699122"/>
            <a:ext cx="1160864" cy="944643"/>
          </a:xfrm>
          <a:prstGeom prst="roundRect">
            <a:avLst>
              <a:gd name="adj" fmla="val 7307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900" b="1" u="sng">
                <a:solidFill>
                  <a:schemeClr val="tx1"/>
                </a:solidFill>
              </a:rPr>
              <a:t>Isolated</a:t>
            </a:r>
            <a:r>
              <a:rPr kumimoji="1" lang="en-US" altLang="ko-KR" sz="900">
                <a:solidFill>
                  <a:schemeClr val="tx1"/>
                </a:solidFill>
              </a:rPr>
              <a:t> Memory 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22" name="모서리가 둥근 직사각형 21">
            <a:extLst>
              <a:ext uri="{FF2B5EF4-FFF2-40B4-BE49-F238E27FC236}">
                <a16:creationId xmlns:a16="http://schemas.microsoft.com/office/drawing/2014/main" id="{6FB2C29E-9EDD-13B8-EAC8-9B8A299774DE}"/>
              </a:ext>
            </a:extLst>
          </p:cNvPr>
          <p:cNvSpPr/>
          <p:nvPr/>
        </p:nvSpPr>
        <p:spPr>
          <a:xfrm>
            <a:off x="508544" y="3819537"/>
            <a:ext cx="1160864" cy="288032"/>
          </a:xfrm>
          <a:prstGeom prst="roundRect">
            <a:avLst>
              <a:gd name="adj" fmla="val 15432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 b="1" u="sng">
                <a:solidFill>
                  <a:schemeClr val="tx1"/>
                </a:solidFill>
              </a:rPr>
              <a:t>Isolated</a:t>
            </a:r>
            <a:r>
              <a:rPr kumimoji="1" lang="en-US" altLang="ko-KR" sz="900">
                <a:solidFill>
                  <a:schemeClr val="tx1"/>
                </a:solidFill>
              </a:rPr>
              <a:t> </a:t>
            </a:r>
          </a:p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GPU Context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23" name="모서리가 둥근 직사각형 22">
            <a:extLst>
              <a:ext uri="{FF2B5EF4-FFF2-40B4-BE49-F238E27FC236}">
                <a16:creationId xmlns:a16="http://schemas.microsoft.com/office/drawing/2014/main" id="{D852F035-6251-5A29-72A8-0F615554A25B}"/>
              </a:ext>
            </a:extLst>
          </p:cNvPr>
          <p:cNvSpPr/>
          <p:nvPr/>
        </p:nvSpPr>
        <p:spPr>
          <a:xfrm>
            <a:off x="2242833" y="1674621"/>
            <a:ext cx="1160864" cy="848329"/>
          </a:xfrm>
          <a:prstGeom prst="roundRect">
            <a:avLst>
              <a:gd name="adj" fmla="val 8070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en-US" altLang="ko-KR" sz="900" b="1">
                <a:solidFill>
                  <a:schemeClr val="tx1"/>
                </a:solidFill>
              </a:rPr>
              <a:t>MIG Compute Instance</a:t>
            </a:r>
          </a:p>
        </p:txBody>
      </p:sp>
      <p:sp>
        <p:nvSpPr>
          <p:cNvPr id="70" name="모서리가 둥근 직사각형 69">
            <a:extLst>
              <a:ext uri="{FF2B5EF4-FFF2-40B4-BE49-F238E27FC236}">
                <a16:creationId xmlns:a16="http://schemas.microsoft.com/office/drawing/2014/main" id="{B2CA0ABF-8019-394C-DF41-BBDD9F230B41}"/>
              </a:ext>
            </a:extLst>
          </p:cNvPr>
          <p:cNvSpPr/>
          <p:nvPr/>
        </p:nvSpPr>
        <p:spPr>
          <a:xfrm>
            <a:off x="3979081" y="1674621"/>
            <a:ext cx="1160864" cy="848329"/>
          </a:xfrm>
          <a:prstGeom prst="roundRect">
            <a:avLst>
              <a:gd name="adj" fmla="val 8070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en-US" altLang="ko-KR" sz="900" b="1">
                <a:solidFill>
                  <a:schemeClr val="tx1"/>
                </a:solidFill>
              </a:rPr>
              <a:t>MIG Compute Instance</a:t>
            </a:r>
          </a:p>
        </p:txBody>
      </p:sp>
      <p:sp>
        <p:nvSpPr>
          <p:cNvPr id="72" name="모서리가 둥근 직사각형 71">
            <a:extLst>
              <a:ext uri="{FF2B5EF4-FFF2-40B4-BE49-F238E27FC236}">
                <a16:creationId xmlns:a16="http://schemas.microsoft.com/office/drawing/2014/main" id="{F9B4946B-BEC7-EA7A-B721-209E50B7A21D}"/>
              </a:ext>
            </a:extLst>
          </p:cNvPr>
          <p:cNvSpPr/>
          <p:nvPr/>
        </p:nvSpPr>
        <p:spPr>
          <a:xfrm>
            <a:off x="2242047" y="2699122"/>
            <a:ext cx="2897898" cy="944643"/>
          </a:xfrm>
          <a:prstGeom prst="roundRect">
            <a:avLst>
              <a:gd name="adj" fmla="val 7307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900" b="1" u="sng">
                <a:solidFill>
                  <a:schemeClr val="tx1"/>
                </a:solidFill>
              </a:rPr>
              <a:t>Shared</a:t>
            </a:r>
            <a:r>
              <a:rPr kumimoji="1" lang="en-US" altLang="ko-KR" sz="900">
                <a:solidFill>
                  <a:schemeClr val="tx1"/>
                </a:solidFill>
              </a:rPr>
              <a:t> Memory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12" name="모서리가 둥근 직사각형 11">
            <a:extLst>
              <a:ext uri="{FF2B5EF4-FFF2-40B4-BE49-F238E27FC236}">
                <a16:creationId xmlns:a16="http://schemas.microsoft.com/office/drawing/2014/main" id="{F27A763C-8C98-15D6-CA55-1ECC483DAD75}"/>
              </a:ext>
            </a:extLst>
          </p:cNvPr>
          <p:cNvSpPr/>
          <p:nvPr/>
        </p:nvSpPr>
        <p:spPr>
          <a:xfrm>
            <a:off x="2292564" y="2067694"/>
            <a:ext cx="1053024" cy="414162"/>
          </a:xfrm>
          <a:prstGeom prst="roundRect">
            <a:avLst>
              <a:gd name="adj" fmla="val 13713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900" b="1" u="sng">
                <a:solidFill>
                  <a:schemeClr val="tx1"/>
                </a:solidFill>
              </a:rPr>
              <a:t>Isolated</a:t>
            </a:r>
            <a:r>
              <a:rPr kumimoji="1" lang="en-US" altLang="ko-KR" sz="900" b="1">
                <a:solidFill>
                  <a:schemeClr val="tx1"/>
                </a:solidFill>
              </a:rPr>
              <a:t> </a:t>
            </a:r>
            <a:r>
              <a:rPr kumimoji="1" lang="en-US" altLang="ko-KR" sz="900">
                <a:solidFill>
                  <a:schemeClr val="tx1"/>
                </a:solidFill>
              </a:rPr>
              <a:t>SM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13" name="모서리가 둥근 직사각형 12">
            <a:extLst>
              <a:ext uri="{FF2B5EF4-FFF2-40B4-BE49-F238E27FC236}">
                <a16:creationId xmlns:a16="http://schemas.microsoft.com/office/drawing/2014/main" id="{2E1CB370-FFCD-CB82-6E98-C343A6A910A4}"/>
              </a:ext>
            </a:extLst>
          </p:cNvPr>
          <p:cNvSpPr/>
          <p:nvPr/>
        </p:nvSpPr>
        <p:spPr>
          <a:xfrm>
            <a:off x="4027993" y="2067694"/>
            <a:ext cx="1053024" cy="414162"/>
          </a:xfrm>
          <a:prstGeom prst="roundRect">
            <a:avLst>
              <a:gd name="adj" fmla="val 13713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900" b="1" u="sng">
                <a:solidFill>
                  <a:schemeClr val="tx1"/>
                </a:solidFill>
              </a:rPr>
              <a:t>Isolated</a:t>
            </a:r>
            <a:r>
              <a:rPr kumimoji="1" lang="en-US" altLang="ko-KR" sz="900" b="1">
                <a:solidFill>
                  <a:schemeClr val="tx1"/>
                </a:solidFill>
              </a:rPr>
              <a:t> </a:t>
            </a:r>
            <a:r>
              <a:rPr kumimoji="1" lang="en-US" altLang="ko-KR" sz="900">
                <a:solidFill>
                  <a:schemeClr val="tx1"/>
                </a:solidFill>
              </a:rPr>
              <a:t>SM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14" name="모서리가 둥근 직사각형 13">
            <a:extLst>
              <a:ext uri="{FF2B5EF4-FFF2-40B4-BE49-F238E27FC236}">
                <a16:creationId xmlns:a16="http://schemas.microsoft.com/office/drawing/2014/main" id="{BE4315F4-9AC1-DC6F-1676-C65C6D60B3B9}"/>
              </a:ext>
            </a:extLst>
          </p:cNvPr>
          <p:cNvSpPr/>
          <p:nvPr/>
        </p:nvSpPr>
        <p:spPr>
          <a:xfrm>
            <a:off x="604196" y="2299626"/>
            <a:ext cx="975658" cy="144481"/>
          </a:xfrm>
          <a:prstGeom prst="roundRect">
            <a:avLst>
              <a:gd name="adj" fmla="val 15928"/>
            </a:avLst>
          </a:prstGeom>
          <a:solidFill>
            <a:schemeClr val="accent1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App A</a:t>
            </a:r>
          </a:p>
        </p:txBody>
      </p:sp>
      <p:sp>
        <p:nvSpPr>
          <p:cNvPr id="15" name="모서리가 둥근 직사각형 14">
            <a:extLst>
              <a:ext uri="{FF2B5EF4-FFF2-40B4-BE49-F238E27FC236}">
                <a16:creationId xmlns:a16="http://schemas.microsoft.com/office/drawing/2014/main" id="{E590D7DC-6D70-9CC6-3F1D-FFDE361C070D}"/>
              </a:ext>
            </a:extLst>
          </p:cNvPr>
          <p:cNvSpPr/>
          <p:nvPr/>
        </p:nvSpPr>
        <p:spPr>
          <a:xfrm>
            <a:off x="2332388" y="2299626"/>
            <a:ext cx="975658" cy="144481"/>
          </a:xfrm>
          <a:prstGeom prst="roundRect">
            <a:avLst>
              <a:gd name="adj" fmla="val 15928"/>
            </a:avLst>
          </a:prstGeom>
          <a:solidFill>
            <a:schemeClr val="accent3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App B</a:t>
            </a:r>
          </a:p>
        </p:txBody>
      </p:sp>
      <p:sp>
        <p:nvSpPr>
          <p:cNvPr id="16" name="모서리가 둥근 직사각형 15">
            <a:extLst>
              <a:ext uri="{FF2B5EF4-FFF2-40B4-BE49-F238E27FC236}">
                <a16:creationId xmlns:a16="http://schemas.microsoft.com/office/drawing/2014/main" id="{29848B4D-817C-BEE2-12C0-C96856C325F7}"/>
              </a:ext>
            </a:extLst>
          </p:cNvPr>
          <p:cNvSpPr/>
          <p:nvPr/>
        </p:nvSpPr>
        <p:spPr>
          <a:xfrm>
            <a:off x="4066676" y="2299626"/>
            <a:ext cx="975658" cy="144481"/>
          </a:xfrm>
          <a:prstGeom prst="roundRect">
            <a:avLst>
              <a:gd name="adj" fmla="val 15928"/>
            </a:avLst>
          </a:prstGeom>
          <a:solidFill>
            <a:schemeClr val="accent2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App C</a:t>
            </a:r>
          </a:p>
        </p:txBody>
      </p: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C74593C4-63D2-DA60-5839-95E3DB98894C}"/>
              </a:ext>
            </a:extLst>
          </p:cNvPr>
          <p:cNvCxnSpPr>
            <a:cxnSpLocks/>
          </p:cNvCxnSpPr>
          <p:nvPr/>
        </p:nvCxnSpPr>
        <p:spPr>
          <a:xfrm>
            <a:off x="1449489" y="1251333"/>
            <a:ext cx="0" cy="171255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86435F86-7AB7-0F5A-67AB-C29D6EB3E9D6}"/>
              </a:ext>
            </a:extLst>
          </p:cNvPr>
          <p:cNvCxnSpPr>
            <a:cxnSpLocks/>
          </p:cNvCxnSpPr>
          <p:nvPr/>
        </p:nvCxnSpPr>
        <p:spPr>
          <a:xfrm>
            <a:off x="3183778" y="1251333"/>
            <a:ext cx="0" cy="171255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A53BFD79-8E9C-FABA-797A-B44287CC0C31}"/>
              </a:ext>
            </a:extLst>
          </p:cNvPr>
          <p:cNvCxnSpPr>
            <a:cxnSpLocks/>
          </p:cNvCxnSpPr>
          <p:nvPr/>
        </p:nvCxnSpPr>
        <p:spPr>
          <a:xfrm>
            <a:off x="4911970" y="1251333"/>
            <a:ext cx="0" cy="171255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1D1D606A-1190-78D5-1D4C-DFBA4B2B8AB8}"/>
              </a:ext>
            </a:extLst>
          </p:cNvPr>
          <p:cNvSpPr txBox="1"/>
          <p:nvPr/>
        </p:nvSpPr>
        <p:spPr>
          <a:xfrm>
            <a:off x="1292588" y="1238770"/>
            <a:ext cx="1549189" cy="2308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kumimoji="1" lang="en-US" altLang="ko-KR" sz="900" b="1" i="1"/>
              <a:t>Kernel,</a:t>
            </a:r>
            <a:r>
              <a:rPr kumimoji="1" lang="ko-KR" altLang="en-US" sz="900" b="1" i="1"/>
              <a:t> </a:t>
            </a:r>
            <a:r>
              <a:rPr kumimoji="1" lang="en-US" altLang="ko-KR" sz="900" b="1" i="1"/>
              <a:t>Data,</a:t>
            </a:r>
            <a:r>
              <a:rPr kumimoji="1" lang="ko-KR" altLang="en-US" sz="900" b="1" i="1"/>
              <a:t> </a:t>
            </a:r>
            <a:r>
              <a:rPr kumimoji="1" lang="en-US" altLang="ko-KR" sz="900" b="1" i="1"/>
              <a:t>Configs</a:t>
            </a:r>
            <a:endParaRPr kumimoji="1" lang="ko-KR" altLang="en-US" sz="900" b="1" i="1"/>
          </a:p>
        </p:txBody>
      </p:sp>
    </p:spTree>
    <p:extLst>
      <p:ext uri="{BB962C8B-B14F-4D97-AF65-F5344CB8AC3E}">
        <p14:creationId xmlns:p14="http://schemas.microsoft.com/office/powerpoint/2010/main" val="38127369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3E4D71-EC52-1A3B-D9DA-82EAE23F8B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E3F8C3-5570-609B-A358-FE2F0AE75C38}"/>
              </a:ext>
            </a:extLst>
          </p:cNvPr>
          <p:cNvSpPr txBox="1">
            <a:spLocks/>
          </p:cNvSpPr>
          <p:nvPr/>
        </p:nvSpPr>
        <p:spPr>
          <a:xfrm>
            <a:off x="457200" y="-739613"/>
            <a:ext cx="8229600" cy="857250"/>
          </a:xfrm>
          <a:prstGeom prst="rect">
            <a:avLst/>
          </a:prstGeom>
        </p:spPr>
        <p:txBody>
          <a:bodyPr/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/>
              <a:t>MIG</a:t>
            </a:r>
            <a:endParaRPr lang="ko-KR" altLang="en-US" dirty="0"/>
          </a:p>
        </p:txBody>
      </p:sp>
      <p:cxnSp>
        <p:nvCxnSpPr>
          <p:cNvPr id="3" name="직선 연결선[R] 2">
            <a:extLst>
              <a:ext uri="{FF2B5EF4-FFF2-40B4-BE49-F238E27FC236}">
                <a16:creationId xmlns:a16="http://schemas.microsoft.com/office/drawing/2014/main" id="{687E961D-19CD-9816-AB9F-46AA0E35DB98}"/>
              </a:ext>
            </a:extLst>
          </p:cNvPr>
          <p:cNvCxnSpPr>
            <a:cxnSpLocks/>
          </p:cNvCxnSpPr>
          <p:nvPr/>
        </p:nvCxnSpPr>
        <p:spPr>
          <a:xfrm>
            <a:off x="-36512" y="3139439"/>
            <a:ext cx="9289032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888DAA02-8331-141A-8BD2-76453E109CA4}"/>
              </a:ext>
            </a:extLst>
          </p:cNvPr>
          <p:cNvSpPr txBox="1"/>
          <p:nvPr/>
        </p:nvSpPr>
        <p:spPr>
          <a:xfrm>
            <a:off x="44450" y="3139439"/>
            <a:ext cx="10887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100" b="1"/>
              <a:t>GPU Memory</a:t>
            </a:r>
            <a:endParaRPr kumimoji="1" lang="ko-KR" altLang="en-US" sz="1100" b="1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BF4369-1751-5A47-C6C3-C9FE2716E78C}"/>
              </a:ext>
            </a:extLst>
          </p:cNvPr>
          <p:cNvSpPr txBox="1"/>
          <p:nvPr/>
        </p:nvSpPr>
        <p:spPr>
          <a:xfrm>
            <a:off x="44450" y="2877829"/>
            <a:ext cx="83708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100" b="1"/>
              <a:t>GPU Core</a:t>
            </a:r>
            <a:endParaRPr kumimoji="1" lang="ko-KR" altLang="en-US" sz="1100" b="1"/>
          </a:p>
        </p:txBody>
      </p: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3D813277-8E7C-5CFC-D995-33F0217EA28F}"/>
              </a:ext>
            </a:extLst>
          </p:cNvPr>
          <p:cNvGrpSpPr/>
          <p:nvPr/>
        </p:nvGrpSpPr>
        <p:grpSpPr>
          <a:xfrm>
            <a:off x="1902419" y="135990"/>
            <a:ext cx="7093149" cy="2671514"/>
            <a:chOff x="1902419" y="135990"/>
            <a:chExt cx="3018743" cy="2671514"/>
          </a:xfrm>
        </p:grpSpPr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id="{19B14AC0-212C-BC3F-4E29-56747DA14B27}"/>
                </a:ext>
              </a:extLst>
            </p:cNvPr>
            <p:cNvGrpSpPr/>
            <p:nvPr/>
          </p:nvGrpSpPr>
          <p:grpSpPr>
            <a:xfrm>
              <a:off x="1902419" y="135990"/>
              <a:ext cx="1954202" cy="720080"/>
              <a:chOff x="236727" y="987574"/>
              <a:chExt cx="1957044" cy="720080"/>
            </a:xfrm>
            <a:solidFill>
              <a:schemeClr val="accent1">
                <a:lumMod val="20000"/>
                <a:lumOff val="80000"/>
              </a:schemeClr>
            </a:solidFill>
          </p:grpSpPr>
          <p:sp>
            <p:nvSpPr>
              <p:cNvPr id="7" name="모서리가 둥근 직사각형 6">
                <a:extLst>
                  <a:ext uri="{FF2B5EF4-FFF2-40B4-BE49-F238E27FC236}">
                    <a16:creationId xmlns:a16="http://schemas.microsoft.com/office/drawing/2014/main" id="{98B5FDCA-1ADF-33F8-7C40-4FDDFB7FC755}"/>
                  </a:ext>
                </a:extLst>
              </p:cNvPr>
              <p:cNvSpPr/>
              <p:nvPr/>
            </p:nvSpPr>
            <p:spPr>
              <a:xfrm>
                <a:off x="236727" y="987574"/>
                <a:ext cx="1241295" cy="288032"/>
              </a:xfrm>
              <a:prstGeom prst="roundRect">
                <a:avLst>
                  <a:gd name="adj" fmla="val 15432"/>
                </a:avLst>
              </a:prstGeom>
              <a:grpFill/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ko-KR" sz="900">
                    <a:solidFill>
                      <a:schemeClr val="tx1"/>
                    </a:solidFill>
                  </a:rPr>
                  <a:t>Kernel A1</a:t>
                </a:r>
                <a:endParaRPr kumimoji="1" lang="ko-KR" altLang="en-US" sz="900">
                  <a:solidFill>
                    <a:schemeClr val="tx1"/>
                  </a:solidFill>
                </a:endParaRPr>
              </a:p>
            </p:txBody>
          </p:sp>
          <p:sp>
            <p:nvSpPr>
              <p:cNvPr id="8" name="모서리가 둥근 직사각형 7">
                <a:extLst>
                  <a:ext uri="{FF2B5EF4-FFF2-40B4-BE49-F238E27FC236}">
                    <a16:creationId xmlns:a16="http://schemas.microsoft.com/office/drawing/2014/main" id="{E3C85F02-27BC-9F2D-6C83-57301AFB8BF6}"/>
                  </a:ext>
                </a:extLst>
              </p:cNvPr>
              <p:cNvSpPr/>
              <p:nvPr/>
            </p:nvSpPr>
            <p:spPr>
              <a:xfrm>
                <a:off x="1478244" y="987574"/>
                <a:ext cx="715527" cy="288032"/>
              </a:xfrm>
              <a:prstGeom prst="roundRect">
                <a:avLst>
                  <a:gd name="adj" fmla="val 15432"/>
                </a:avLst>
              </a:prstGeom>
              <a:grpFill/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ko-KR" sz="900">
                    <a:solidFill>
                      <a:schemeClr val="tx1"/>
                    </a:solidFill>
                  </a:rPr>
                  <a:t>Kernel A2</a:t>
                </a:r>
                <a:endParaRPr kumimoji="1" lang="ko-KR" altLang="en-US" sz="900">
                  <a:solidFill>
                    <a:schemeClr val="tx1"/>
                  </a:solidFill>
                </a:endParaRPr>
              </a:p>
            </p:txBody>
          </p:sp>
          <p:sp>
            <p:nvSpPr>
              <p:cNvPr id="9" name="모서리가 둥근 직사각형 8">
                <a:extLst>
                  <a:ext uri="{FF2B5EF4-FFF2-40B4-BE49-F238E27FC236}">
                    <a16:creationId xmlns:a16="http://schemas.microsoft.com/office/drawing/2014/main" id="{C509BF38-C702-57DF-9902-C7BCFBAB8451}"/>
                  </a:ext>
                </a:extLst>
              </p:cNvPr>
              <p:cNvSpPr/>
              <p:nvPr/>
            </p:nvSpPr>
            <p:spPr>
              <a:xfrm>
                <a:off x="239069" y="1419622"/>
                <a:ext cx="1239175" cy="288032"/>
              </a:xfrm>
              <a:prstGeom prst="roundRect">
                <a:avLst>
                  <a:gd name="adj" fmla="val 15432"/>
                </a:avLst>
              </a:prstGeom>
              <a:grpFill/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ko-KR" sz="900">
                    <a:solidFill>
                      <a:schemeClr val="tx1"/>
                    </a:solidFill>
                  </a:rPr>
                  <a:t>Kernel A3</a:t>
                </a:r>
                <a:endParaRPr kumimoji="1" lang="ko-KR" altLang="en-US" sz="90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0" name="그룹 9">
              <a:extLst>
                <a:ext uri="{FF2B5EF4-FFF2-40B4-BE49-F238E27FC236}">
                  <a16:creationId xmlns:a16="http://schemas.microsoft.com/office/drawing/2014/main" id="{17624BE9-4116-3CCF-401A-AAA948F9369B}"/>
                </a:ext>
              </a:extLst>
            </p:cNvPr>
            <p:cNvGrpSpPr/>
            <p:nvPr/>
          </p:nvGrpSpPr>
          <p:grpSpPr>
            <a:xfrm>
              <a:off x="1902419" y="1111707"/>
              <a:ext cx="1954544" cy="720080"/>
              <a:chOff x="2331399" y="987574"/>
              <a:chExt cx="1957387" cy="720080"/>
            </a:xfrm>
            <a:solidFill>
              <a:schemeClr val="accent3">
                <a:lumMod val="20000"/>
                <a:lumOff val="80000"/>
              </a:schemeClr>
            </a:solidFill>
          </p:grpSpPr>
          <p:sp>
            <p:nvSpPr>
              <p:cNvPr id="11" name="모서리가 둥근 직사각형 10">
                <a:extLst>
                  <a:ext uri="{FF2B5EF4-FFF2-40B4-BE49-F238E27FC236}">
                    <a16:creationId xmlns:a16="http://schemas.microsoft.com/office/drawing/2014/main" id="{C929D42C-3C4B-39FD-4A16-EE3AA5703D89}"/>
                  </a:ext>
                </a:extLst>
              </p:cNvPr>
              <p:cNvSpPr/>
              <p:nvPr/>
            </p:nvSpPr>
            <p:spPr>
              <a:xfrm>
                <a:off x="2331964" y="987574"/>
                <a:ext cx="1241295" cy="288032"/>
              </a:xfrm>
              <a:prstGeom prst="roundRect">
                <a:avLst>
                  <a:gd name="adj" fmla="val 15432"/>
                </a:avLst>
              </a:prstGeom>
              <a:grpFill/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ko-KR" sz="900">
                    <a:solidFill>
                      <a:schemeClr val="tx1"/>
                    </a:solidFill>
                  </a:rPr>
                  <a:t>Kernel B1</a:t>
                </a:r>
                <a:endParaRPr kumimoji="1" lang="ko-KR" altLang="en-US" sz="900">
                  <a:solidFill>
                    <a:schemeClr val="tx1"/>
                  </a:solidFill>
                </a:endParaRPr>
              </a:p>
            </p:txBody>
          </p:sp>
          <p:sp>
            <p:nvSpPr>
              <p:cNvPr id="12" name="모서리가 둥근 직사각형 11">
                <a:extLst>
                  <a:ext uri="{FF2B5EF4-FFF2-40B4-BE49-F238E27FC236}">
                    <a16:creationId xmlns:a16="http://schemas.microsoft.com/office/drawing/2014/main" id="{53690901-8B59-69E2-2A8B-177144FF3E8E}"/>
                  </a:ext>
                </a:extLst>
              </p:cNvPr>
              <p:cNvSpPr/>
              <p:nvPr/>
            </p:nvSpPr>
            <p:spPr>
              <a:xfrm>
                <a:off x="2331399" y="1419622"/>
                <a:ext cx="715527" cy="288032"/>
              </a:xfrm>
              <a:prstGeom prst="roundRect">
                <a:avLst>
                  <a:gd name="adj" fmla="val 15432"/>
                </a:avLst>
              </a:prstGeom>
              <a:grpFill/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ko-KR" sz="900">
                    <a:solidFill>
                      <a:schemeClr val="tx1"/>
                    </a:solidFill>
                  </a:rPr>
                  <a:t>Kernel B3</a:t>
                </a:r>
                <a:endParaRPr kumimoji="1" lang="ko-KR" altLang="en-US" sz="900">
                  <a:solidFill>
                    <a:schemeClr val="tx1"/>
                  </a:solidFill>
                </a:endParaRPr>
              </a:p>
            </p:txBody>
          </p:sp>
          <p:sp>
            <p:nvSpPr>
              <p:cNvPr id="13" name="모서리가 둥근 직사각형 12">
                <a:extLst>
                  <a:ext uri="{FF2B5EF4-FFF2-40B4-BE49-F238E27FC236}">
                    <a16:creationId xmlns:a16="http://schemas.microsoft.com/office/drawing/2014/main" id="{5D5A59AF-E2F7-9460-E862-B2434D64EAEF}"/>
                  </a:ext>
                </a:extLst>
              </p:cNvPr>
              <p:cNvSpPr/>
              <p:nvPr/>
            </p:nvSpPr>
            <p:spPr>
              <a:xfrm>
                <a:off x="3573259" y="987574"/>
                <a:ext cx="715527" cy="288032"/>
              </a:xfrm>
              <a:prstGeom prst="roundRect">
                <a:avLst>
                  <a:gd name="adj" fmla="val 15432"/>
                </a:avLst>
              </a:prstGeom>
              <a:grpFill/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ko-KR" sz="900">
                    <a:solidFill>
                      <a:schemeClr val="tx1"/>
                    </a:solidFill>
                  </a:rPr>
                  <a:t>Kernel B2</a:t>
                </a:r>
                <a:endParaRPr kumimoji="1" lang="ko-KR" altLang="en-US" sz="90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4" name="그룹 13">
              <a:extLst>
                <a:ext uri="{FF2B5EF4-FFF2-40B4-BE49-F238E27FC236}">
                  <a16:creationId xmlns:a16="http://schemas.microsoft.com/office/drawing/2014/main" id="{F70D95D2-2EBF-04DE-9D13-4EC435BAAE88}"/>
                </a:ext>
              </a:extLst>
            </p:cNvPr>
            <p:cNvGrpSpPr/>
            <p:nvPr/>
          </p:nvGrpSpPr>
          <p:grpSpPr>
            <a:xfrm>
              <a:off x="1904758" y="2087424"/>
              <a:ext cx="1951863" cy="720080"/>
              <a:chOff x="4427984" y="987574"/>
              <a:chExt cx="1954702" cy="720080"/>
            </a:xfrm>
          </p:grpSpPr>
          <p:sp>
            <p:nvSpPr>
              <p:cNvPr id="15" name="모서리가 둥근 직사각형 14">
                <a:extLst>
                  <a:ext uri="{FF2B5EF4-FFF2-40B4-BE49-F238E27FC236}">
                    <a16:creationId xmlns:a16="http://schemas.microsoft.com/office/drawing/2014/main" id="{90316A52-A650-5713-2BE6-5AAB5556D139}"/>
                  </a:ext>
                </a:extLst>
              </p:cNvPr>
              <p:cNvSpPr/>
              <p:nvPr/>
            </p:nvSpPr>
            <p:spPr>
              <a:xfrm>
                <a:off x="4427984" y="987574"/>
                <a:ext cx="715527" cy="288032"/>
              </a:xfrm>
              <a:prstGeom prst="roundRect">
                <a:avLst>
                  <a:gd name="adj" fmla="val 15432"/>
                </a:avLst>
              </a:prstGeom>
              <a:solidFill>
                <a:schemeClr val="accent2">
                  <a:lumMod val="20000"/>
                  <a:lumOff val="80000"/>
                </a:schemeClr>
              </a:solidFill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ko-KR" sz="900">
                    <a:solidFill>
                      <a:schemeClr val="tx1"/>
                    </a:solidFill>
                  </a:rPr>
                  <a:t>Kernel C1</a:t>
                </a:r>
                <a:endParaRPr kumimoji="1" lang="ko-KR" altLang="en-US" sz="900">
                  <a:solidFill>
                    <a:schemeClr val="tx1"/>
                  </a:solidFill>
                </a:endParaRPr>
              </a:p>
            </p:txBody>
          </p:sp>
          <p:sp>
            <p:nvSpPr>
              <p:cNvPr id="16" name="모서리가 둥근 직사각형 15">
                <a:extLst>
                  <a:ext uri="{FF2B5EF4-FFF2-40B4-BE49-F238E27FC236}">
                    <a16:creationId xmlns:a16="http://schemas.microsoft.com/office/drawing/2014/main" id="{7A83D0F9-1E0D-AB4E-8DEA-B247EA3B6E6E}"/>
                  </a:ext>
                </a:extLst>
              </p:cNvPr>
              <p:cNvSpPr/>
              <p:nvPr/>
            </p:nvSpPr>
            <p:spPr>
              <a:xfrm>
                <a:off x="5143511" y="987574"/>
                <a:ext cx="1239175" cy="288032"/>
              </a:xfrm>
              <a:prstGeom prst="roundRect">
                <a:avLst>
                  <a:gd name="adj" fmla="val 15432"/>
                </a:avLst>
              </a:prstGeom>
              <a:solidFill>
                <a:schemeClr val="accent2">
                  <a:lumMod val="20000"/>
                  <a:lumOff val="80000"/>
                </a:schemeClr>
              </a:solidFill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ko-KR" sz="900">
                    <a:solidFill>
                      <a:schemeClr val="tx1"/>
                    </a:solidFill>
                  </a:rPr>
                  <a:t>Kernel C2</a:t>
                </a:r>
                <a:endParaRPr kumimoji="1" lang="ko-KR" altLang="en-US" sz="900">
                  <a:solidFill>
                    <a:schemeClr val="tx1"/>
                  </a:solidFill>
                </a:endParaRPr>
              </a:p>
            </p:txBody>
          </p:sp>
          <p:sp>
            <p:nvSpPr>
              <p:cNvPr id="17" name="모서리가 둥근 직사각형 16">
                <a:extLst>
                  <a:ext uri="{FF2B5EF4-FFF2-40B4-BE49-F238E27FC236}">
                    <a16:creationId xmlns:a16="http://schemas.microsoft.com/office/drawing/2014/main" id="{2906424B-51EE-D704-84E0-031870A08779}"/>
                  </a:ext>
                </a:extLst>
              </p:cNvPr>
              <p:cNvSpPr/>
              <p:nvPr/>
            </p:nvSpPr>
            <p:spPr>
              <a:xfrm>
                <a:off x="4427984" y="1419622"/>
                <a:ext cx="715527" cy="288032"/>
              </a:xfrm>
              <a:prstGeom prst="roundRect">
                <a:avLst>
                  <a:gd name="adj" fmla="val 15432"/>
                </a:avLst>
              </a:prstGeom>
              <a:solidFill>
                <a:schemeClr val="accent2">
                  <a:lumMod val="20000"/>
                  <a:lumOff val="80000"/>
                </a:schemeClr>
              </a:solidFill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ko-KR" sz="900">
                    <a:solidFill>
                      <a:schemeClr val="tx1"/>
                    </a:solidFill>
                  </a:rPr>
                  <a:t>Kernel C3</a:t>
                </a:r>
                <a:endParaRPr kumimoji="1" lang="ko-KR" altLang="en-US" sz="90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8" name="모서리가 둥근 직사각형 17">
              <a:extLst>
                <a:ext uri="{FF2B5EF4-FFF2-40B4-BE49-F238E27FC236}">
                  <a16:creationId xmlns:a16="http://schemas.microsoft.com/office/drawing/2014/main" id="{42FBD494-C761-E15A-0C11-EF79B618B1B8}"/>
                </a:ext>
              </a:extLst>
            </p:cNvPr>
            <p:cNvSpPr/>
            <p:nvPr/>
          </p:nvSpPr>
          <p:spPr>
            <a:xfrm>
              <a:off x="4206674" y="135990"/>
              <a:ext cx="714487" cy="288032"/>
            </a:xfrm>
            <a:prstGeom prst="roundRect">
              <a:avLst>
                <a:gd name="adj" fmla="val 15432"/>
              </a:avLst>
            </a:prstGeom>
            <a:solidFill>
              <a:schemeClr val="accent1">
                <a:lumMod val="20000"/>
                <a:lumOff val="8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900">
                  <a:solidFill>
                    <a:schemeClr val="tx1"/>
                  </a:solidFill>
                </a:rPr>
                <a:t>Kernel A4</a:t>
              </a:r>
              <a:endParaRPr kumimoji="1" lang="ko-KR" altLang="en-US" sz="900">
                <a:solidFill>
                  <a:schemeClr val="tx1"/>
                </a:solidFill>
              </a:endParaRPr>
            </a:p>
          </p:txBody>
        </p:sp>
        <p:sp>
          <p:nvSpPr>
            <p:cNvPr id="19" name="모서리가 둥근 직사각형 18">
              <a:extLst>
                <a:ext uri="{FF2B5EF4-FFF2-40B4-BE49-F238E27FC236}">
                  <a16:creationId xmlns:a16="http://schemas.microsoft.com/office/drawing/2014/main" id="{3138EAFD-F223-2176-DE31-29F9124E8EA7}"/>
                </a:ext>
              </a:extLst>
            </p:cNvPr>
            <p:cNvSpPr/>
            <p:nvPr/>
          </p:nvSpPr>
          <p:spPr>
            <a:xfrm>
              <a:off x="4206675" y="1537783"/>
              <a:ext cx="714487" cy="288032"/>
            </a:xfrm>
            <a:prstGeom prst="roundRect">
              <a:avLst>
                <a:gd name="adj" fmla="val 15432"/>
              </a:avLst>
            </a:prstGeom>
            <a:solidFill>
              <a:schemeClr val="accent3">
                <a:lumMod val="20000"/>
                <a:lumOff val="8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900">
                  <a:solidFill>
                    <a:schemeClr val="tx1"/>
                  </a:solidFill>
                </a:rPr>
                <a:t>Kernel B4</a:t>
              </a:r>
              <a:endParaRPr kumimoji="1" lang="ko-KR" altLang="en-US" sz="900">
                <a:solidFill>
                  <a:schemeClr val="tx1"/>
                </a:solidFill>
              </a:endParaRPr>
            </a:p>
          </p:txBody>
        </p:sp>
        <p:sp>
          <p:nvSpPr>
            <p:cNvPr id="20" name="모서리가 둥근 직사각형 19">
              <a:extLst>
                <a:ext uri="{FF2B5EF4-FFF2-40B4-BE49-F238E27FC236}">
                  <a16:creationId xmlns:a16="http://schemas.microsoft.com/office/drawing/2014/main" id="{1A8C66B4-C31C-5C75-4801-BB34CCB4F7B1}"/>
                </a:ext>
              </a:extLst>
            </p:cNvPr>
            <p:cNvSpPr/>
            <p:nvPr/>
          </p:nvSpPr>
          <p:spPr>
            <a:xfrm>
              <a:off x="4206674" y="2087424"/>
              <a:ext cx="714487" cy="288032"/>
            </a:xfrm>
            <a:prstGeom prst="roundRect">
              <a:avLst>
                <a:gd name="adj" fmla="val 15432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900">
                  <a:solidFill>
                    <a:schemeClr val="tx1"/>
                  </a:solidFill>
                </a:rPr>
                <a:t>Kernel C4</a:t>
              </a:r>
              <a:endParaRPr kumimoji="1" lang="ko-KR" altLang="en-US" sz="900">
                <a:solidFill>
                  <a:schemeClr val="tx1"/>
                </a:solidFill>
              </a:endParaRPr>
            </a:p>
          </p:txBody>
        </p:sp>
        <p:sp>
          <p:nvSpPr>
            <p:cNvPr id="21" name="모서리가 둥근 직사각형 20">
              <a:extLst>
                <a:ext uri="{FF2B5EF4-FFF2-40B4-BE49-F238E27FC236}">
                  <a16:creationId xmlns:a16="http://schemas.microsoft.com/office/drawing/2014/main" id="{D12DA835-FCE1-58F1-EC9B-F9F5BDD75F5E}"/>
                </a:ext>
              </a:extLst>
            </p:cNvPr>
            <p:cNvSpPr/>
            <p:nvPr/>
          </p:nvSpPr>
          <p:spPr>
            <a:xfrm>
              <a:off x="4206674" y="2519472"/>
              <a:ext cx="714487" cy="288032"/>
            </a:xfrm>
            <a:prstGeom prst="roundRect">
              <a:avLst>
                <a:gd name="adj" fmla="val 15432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900">
                  <a:solidFill>
                    <a:schemeClr val="tx1"/>
                  </a:solidFill>
                </a:rPr>
                <a:t>Kernel C5</a:t>
              </a:r>
              <a:endParaRPr kumimoji="1" lang="ko-KR" altLang="en-US" sz="900">
                <a:solidFill>
                  <a:schemeClr val="tx1"/>
                </a:solidFill>
              </a:endParaRPr>
            </a:p>
          </p:txBody>
        </p:sp>
      </p:grpSp>
      <p:sp>
        <p:nvSpPr>
          <p:cNvPr id="22" name="모서리가 둥근 직사각형 21">
            <a:extLst>
              <a:ext uri="{FF2B5EF4-FFF2-40B4-BE49-F238E27FC236}">
                <a16:creationId xmlns:a16="http://schemas.microsoft.com/office/drawing/2014/main" id="{AF292CC8-8FEC-B63D-9460-8D3A09FC06A8}"/>
              </a:ext>
            </a:extLst>
          </p:cNvPr>
          <p:cNvSpPr/>
          <p:nvPr/>
        </p:nvSpPr>
        <p:spPr>
          <a:xfrm>
            <a:off x="881539" y="61166"/>
            <a:ext cx="8173561" cy="857250"/>
          </a:xfrm>
          <a:prstGeom prst="roundRect">
            <a:avLst>
              <a:gd name="adj" fmla="val 8128"/>
            </a:avLst>
          </a:prstGeom>
          <a:noFill/>
          <a:ln w="12700"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kumimoji="1" lang="en-US" altLang="ko-KR" sz="1000" b="1">
                <a:solidFill>
                  <a:schemeClr val="tx1"/>
                </a:solidFill>
              </a:rPr>
              <a:t>CUDA App A</a:t>
            </a:r>
          </a:p>
        </p:txBody>
      </p:sp>
      <p:sp>
        <p:nvSpPr>
          <p:cNvPr id="23" name="모서리가 둥근 직사각형 22">
            <a:extLst>
              <a:ext uri="{FF2B5EF4-FFF2-40B4-BE49-F238E27FC236}">
                <a16:creationId xmlns:a16="http://schemas.microsoft.com/office/drawing/2014/main" id="{4C66B413-B9A5-4E46-90F2-4ABD068C2825}"/>
              </a:ext>
            </a:extLst>
          </p:cNvPr>
          <p:cNvSpPr/>
          <p:nvPr/>
        </p:nvSpPr>
        <p:spPr>
          <a:xfrm>
            <a:off x="881539" y="1040264"/>
            <a:ext cx="8173561" cy="857250"/>
          </a:xfrm>
          <a:prstGeom prst="roundRect">
            <a:avLst>
              <a:gd name="adj" fmla="val 8128"/>
            </a:avLst>
          </a:prstGeom>
          <a:noFill/>
          <a:ln w="12700"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kumimoji="1" lang="en-US" altLang="ko-KR" sz="1000" b="1">
                <a:solidFill>
                  <a:schemeClr val="tx1"/>
                </a:solidFill>
              </a:rPr>
              <a:t>CUDA App B</a:t>
            </a:r>
          </a:p>
        </p:txBody>
      </p:sp>
      <p:sp>
        <p:nvSpPr>
          <p:cNvPr id="24" name="모서리가 둥근 직사각형 23">
            <a:extLst>
              <a:ext uri="{FF2B5EF4-FFF2-40B4-BE49-F238E27FC236}">
                <a16:creationId xmlns:a16="http://schemas.microsoft.com/office/drawing/2014/main" id="{B8ABAB08-9A54-6E1F-7FE0-0A8F101C1872}"/>
              </a:ext>
            </a:extLst>
          </p:cNvPr>
          <p:cNvSpPr/>
          <p:nvPr/>
        </p:nvSpPr>
        <p:spPr>
          <a:xfrm>
            <a:off x="881539" y="2017404"/>
            <a:ext cx="8173561" cy="857250"/>
          </a:xfrm>
          <a:prstGeom prst="roundRect">
            <a:avLst>
              <a:gd name="adj" fmla="val 8128"/>
            </a:avLst>
          </a:prstGeom>
          <a:noFill/>
          <a:ln w="12700"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kumimoji="1" lang="en-US" altLang="ko-KR" sz="1000" b="1">
                <a:solidFill>
                  <a:schemeClr val="tx1"/>
                </a:solidFill>
              </a:rPr>
              <a:t>CUDA App C</a:t>
            </a:r>
          </a:p>
        </p:txBody>
      </p:sp>
      <p:sp>
        <p:nvSpPr>
          <p:cNvPr id="25" name="모서리가 둥근 직사각형 24">
            <a:extLst>
              <a:ext uri="{FF2B5EF4-FFF2-40B4-BE49-F238E27FC236}">
                <a16:creationId xmlns:a16="http://schemas.microsoft.com/office/drawing/2014/main" id="{7CF226FE-04BF-AF20-D568-C65C820B2FF2}"/>
              </a:ext>
            </a:extLst>
          </p:cNvPr>
          <p:cNvSpPr/>
          <p:nvPr/>
        </p:nvSpPr>
        <p:spPr>
          <a:xfrm>
            <a:off x="148432" y="25401"/>
            <a:ext cx="8960071" cy="942288"/>
          </a:xfrm>
          <a:prstGeom prst="roundRect">
            <a:avLst>
              <a:gd name="adj" fmla="val 8128"/>
            </a:avLst>
          </a:prstGeom>
          <a:noFill/>
          <a:ln w="12700"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kumimoji="1" lang="en-US" altLang="ko-KR" sz="1000" b="1">
                <a:solidFill>
                  <a:schemeClr val="tx1"/>
                </a:solidFill>
              </a:rPr>
              <a:t>MIG</a:t>
            </a:r>
          </a:p>
          <a:p>
            <a:r>
              <a:rPr kumimoji="1" lang="en-US" altLang="ko-KR" sz="1000" b="1">
                <a:solidFill>
                  <a:schemeClr val="tx1"/>
                </a:solidFill>
              </a:rPr>
              <a:t>Compute</a:t>
            </a:r>
          </a:p>
          <a:p>
            <a:r>
              <a:rPr kumimoji="1" lang="en-US" altLang="ko-KR" sz="1000" b="1">
                <a:solidFill>
                  <a:schemeClr val="tx1"/>
                </a:solidFill>
              </a:rPr>
              <a:t>Instance</a:t>
            </a:r>
          </a:p>
          <a:p>
            <a:endParaRPr kumimoji="1" lang="en-US" altLang="ko-KR" sz="1000" b="1">
              <a:solidFill>
                <a:schemeClr val="tx1"/>
              </a:solidFill>
            </a:endParaRPr>
          </a:p>
        </p:txBody>
      </p:sp>
      <p:sp>
        <p:nvSpPr>
          <p:cNvPr id="26" name="모서리가 둥근 직사각형 25">
            <a:extLst>
              <a:ext uri="{FF2B5EF4-FFF2-40B4-BE49-F238E27FC236}">
                <a16:creationId xmlns:a16="http://schemas.microsoft.com/office/drawing/2014/main" id="{2645C5C2-6CC0-5B95-F8E4-B02202FFF793}"/>
              </a:ext>
            </a:extLst>
          </p:cNvPr>
          <p:cNvSpPr/>
          <p:nvPr/>
        </p:nvSpPr>
        <p:spPr>
          <a:xfrm>
            <a:off x="148432" y="997745"/>
            <a:ext cx="8960071" cy="942288"/>
          </a:xfrm>
          <a:prstGeom prst="roundRect">
            <a:avLst>
              <a:gd name="adj" fmla="val 8128"/>
            </a:avLst>
          </a:prstGeom>
          <a:noFill/>
          <a:ln w="12700"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1000" b="1">
                <a:solidFill>
                  <a:schemeClr val="tx1"/>
                </a:solidFill>
              </a:rPr>
              <a:t>MIG</a:t>
            </a:r>
          </a:p>
          <a:p>
            <a:r>
              <a:rPr kumimoji="1" lang="en-US" altLang="ko-KR" sz="1000" b="1">
                <a:solidFill>
                  <a:schemeClr val="tx1"/>
                </a:solidFill>
              </a:rPr>
              <a:t>Compute</a:t>
            </a:r>
          </a:p>
          <a:p>
            <a:r>
              <a:rPr kumimoji="1" lang="en-US" altLang="ko-KR" sz="1000" b="1">
                <a:solidFill>
                  <a:schemeClr val="tx1"/>
                </a:solidFill>
              </a:rPr>
              <a:t>Instance</a:t>
            </a:r>
          </a:p>
        </p:txBody>
      </p:sp>
      <p:sp>
        <p:nvSpPr>
          <p:cNvPr id="27" name="모서리가 둥근 직사각형 26">
            <a:extLst>
              <a:ext uri="{FF2B5EF4-FFF2-40B4-BE49-F238E27FC236}">
                <a16:creationId xmlns:a16="http://schemas.microsoft.com/office/drawing/2014/main" id="{9735CFE9-1FA0-F32F-E39D-F0C334895CBF}"/>
              </a:ext>
            </a:extLst>
          </p:cNvPr>
          <p:cNvSpPr/>
          <p:nvPr/>
        </p:nvSpPr>
        <p:spPr>
          <a:xfrm>
            <a:off x="148432" y="1975803"/>
            <a:ext cx="8960071" cy="942288"/>
          </a:xfrm>
          <a:prstGeom prst="roundRect">
            <a:avLst>
              <a:gd name="adj" fmla="val 8128"/>
            </a:avLst>
          </a:prstGeom>
          <a:noFill/>
          <a:ln w="12700"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1000" b="1">
                <a:solidFill>
                  <a:schemeClr val="tx1"/>
                </a:solidFill>
              </a:rPr>
              <a:t>MIG</a:t>
            </a:r>
          </a:p>
          <a:p>
            <a:r>
              <a:rPr kumimoji="1" lang="en-US" altLang="ko-KR" sz="1000" b="1">
                <a:solidFill>
                  <a:schemeClr val="tx1"/>
                </a:solidFill>
              </a:rPr>
              <a:t>Compute</a:t>
            </a:r>
          </a:p>
          <a:p>
            <a:r>
              <a:rPr kumimoji="1" lang="en-US" altLang="ko-KR" sz="1000" b="1">
                <a:solidFill>
                  <a:schemeClr val="tx1"/>
                </a:solidFill>
              </a:rPr>
              <a:t>Instance</a:t>
            </a:r>
          </a:p>
        </p:txBody>
      </p:sp>
      <p:sp>
        <p:nvSpPr>
          <p:cNvPr id="28" name="모서리가 둥근 직사각형 27">
            <a:extLst>
              <a:ext uri="{FF2B5EF4-FFF2-40B4-BE49-F238E27FC236}">
                <a16:creationId xmlns:a16="http://schemas.microsoft.com/office/drawing/2014/main" id="{B46C556E-D5ED-80BF-80EF-B6BA176CE6B3}"/>
              </a:ext>
            </a:extLst>
          </p:cNvPr>
          <p:cNvSpPr/>
          <p:nvPr/>
        </p:nvSpPr>
        <p:spPr>
          <a:xfrm>
            <a:off x="1902421" y="3500090"/>
            <a:ext cx="7093145" cy="327545"/>
          </a:xfrm>
          <a:prstGeom prst="roundRect">
            <a:avLst>
              <a:gd name="adj" fmla="val 15205"/>
            </a:avLst>
          </a:prstGeom>
          <a:solidFill>
            <a:schemeClr val="accent1">
              <a:lumMod val="20000"/>
              <a:lumOff val="80000"/>
            </a:schemeClr>
          </a:solidFill>
          <a:ln w="12700"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 b="1">
                <a:solidFill>
                  <a:schemeClr val="tx1"/>
                </a:solidFill>
              </a:rPr>
              <a:t>CUDA App A </a:t>
            </a:r>
          </a:p>
        </p:txBody>
      </p:sp>
      <p:sp>
        <p:nvSpPr>
          <p:cNvPr id="29" name="모서리가 둥근 직사각형 28">
            <a:extLst>
              <a:ext uri="{FF2B5EF4-FFF2-40B4-BE49-F238E27FC236}">
                <a16:creationId xmlns:a16="http://schemas.microsoft.com/office/drawing/2014/main" id="{09FE1614-98D9-7651-75DE-3F79BAA28601}"/>
              </a:ext>
            </a:extLst>
          </p:cNvPr>
          <p:cNvSpPr/>
          <p:nvPr/>
        </p:nvSpPr>
        <p:spPr>
          <a:xfrm>
            <a:off x="1902420" y="4050816"/>
            <a:ext cx="7093145" cy="327545"/>
          </a:xfrm>
          <a:prstGeom prst="roundRect">
            <a:avLst>
              <a:gd name="adj" fmla="val 10702"/>
            </a:avLst>
          </a:prstGeom>
          <a:solidFill>
            <a:schemeClr val="accent3">
              <a:lumMod val="20000"/>
              <a:lumOff val="80000"/>
            </a:schemeClr>
          </a:solidFill>
          <a:ln w="12700"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 b="1">
                <a:solidFill>
                  <a:schemeClr val="tx1"/>
                </a:solidFill>
              </a:rPr>
              <a:t>CUDA App B </a:t>
            </a:r>
          </a:p>
        </p:txBody>
      </p:sp>
      <p:sp>
        <p:nvSpPr>
          <p:cNvPr id="30" name="모서리가 둥근 직사각형 29">
            <a:extLst>
              <a:ext uri="{FF2B5EF4-FFF2-40B4-BE49-F238E27FC236}">
                <a16:creationId xmlns:a16="http://schemas.microsoft.com/office/drawing/2014/main" id="{C74227A9-29D2-8121-8A99-A6DEA6BBFADD}"/>
              </a:ext>
            </a:extLst>
          </p:cNvPr>
          <p:cNvSpPr/>
          <p:nvPr/>
        </p:nvSpPr>
        <p:spPr>
          <a:xfrm>
            <a:off x="1902421" y="4607718"/>
            <a:ext cx="7093145" cy="327545"/>
          </a:xfrm>
          <a:prstGeom prst="roundRect">
            <a:avLst>
              <a:gd name="adj" fmla="val 15133"/>
            </a:avLst>
          </a:prstGeom>
          <a:solidFill>
            <a:schemeClr val="accent2">
              <a:lumMod val="20000"/>
              <a:lumOff val="80000"/>
            </a:schemeClr>
          </a:solidFill>
          <a:ln w="12700"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 b="1">
                <a:solidFill>
                  <a:schemeClr val="tx1"/>
                </a:solidFill>
              </a:rPr>
              <a:t>CUDA App C </a:t>
            </a:r>
          </a:p>
        </p:txBody>
      </p:sp>
      <p:sp>
        <p:nvSpPr>
          <p:cNvPr id="31" name="모서리가 둥근 직사각형 30">
            <a:extLst>
              <a:ext uri="{FF2B5EF4-FFF2-40B4-BE49-F238E27FC236}">
                <a16:creationId xmlns:a16="http://schemas.microsoft.com/office/drawing/2014/main" id="{0DC2136D-9262-3A0A-4138-89956491EDE7}"/>
              </a:ext>
            </a:extLst>
          </p:cNvPr>
          <p:cNvSpPr/>
          <p:nvPr/>
        </p:nvSpPr>
        <p:spPr>
          <a:xfrm>
            <a:off x="148432" y="3420072"/>
            <a:ext cx="8960071" cy="476824"/>
          </a:xfrm>
          <a:prstGeom prst="roundRect">
            <a:avLst>
              <a:gd name="adj" fmla="val 16118"/>
            </a:avLst>
          </a:prstGeom>
          <a:noFill/>
          <a:ln w="12700"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1000" b="1">
                <a:solidFill>
                  <a:schemeClr val="tx1"/>
                </a:solidFill>
              </a:rPr>
              <a:t>MIG GPU Instance</a:t>
            </a:r>
          </a:p>
        </p:txBody>
      </p:sp>
      <p:sp>
        <p:nvSpPr>
          <p:cNvPr id="32" name="모서리가 둥근 직사각형 31">
            <a:extLst>
              <a:ext uri="{FF2B5EF4-FFF2-40B4-BE49-F238E27FC236}">
                <a16:creationId xmlns:a16="http://schemas.microsoft.com/office/drawing/2014/main" id="{94224C6B-75D1-7562-E6D8-90BA1CFC90F9}"/>
              </a:ext>
            </a:extLst>
          </p:cNvPr>
          <p:cNvSpPr/>
          <p:nvPr/>
        </p:nvSpPr>
        <p:spPr>
          <a:xfrm>
            <a:off x="148432" y="3976176"/>
            <a:ext cx="8960071" cy="1031334"/>
          </a:xfrm>
          <a:prstGeom prst="roundRect">
            <a:avLst>
              <a:gd name="adj" fmla="val 8729"/>
            </a:avLst>
          </a:prstGeom>
          <a:noFill/>
          <a:ln w="12700"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1000" b="1">
                <a:solidFill>
                  <a:schemeClr val="tx1"/>
                </a:solidFill>
              </a:rPr>
              <a:t>MIG GPU Instance</a:t>
            </a:r>
          </a:p>
        </p:txBody>
      </p: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D6264E77-DDF9-44E0-2A4C-0B2AD35C62E7}"/>
              </a:ext>
            </a:extLst>
          </p:cNvPr>
          <p:cNvCxnSpPr>
            <a:cxnSpLocks/>
          </p:cNvCxnSpPr>
          <p:nvPr/>
        </p:nvCxnSpPr>
        <p:spPr>
          <a:xfrm>
            <a:off x="8245999" y="3276740"/>
            <a:ext cx="853551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40936623-3B65-3CCA-DEDF-04230D420BD2}"/>
              </a:ext>
            </a:extLst>
          </p:cNvPr>
          <p:cNvSpPr txBox="1"/>
          <p:nvPr/>
        </p:nvSpPr>
        <p:spPr>
          <a:xfrm>
            <a:off x="7734319" y="3141619"/>
            <a:ext cx="511679" cy="2616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kumimoji="1" lang="en-US" altLang="ko-KR" sz="1100" b="1" i="1"/>
              <a:t>Time</a:t>
            </a:r>
            <a:endParaRPr kumimoji="1" lang="ko-KR" altLang="en-US" sz="900" b="1" i="1"/>
          </a:p>
        </p:txBody>
      </p:sp>
    </p:spTree>
    <p:extLst>
      <p:ext uri="{BB962C8B-B14F-4D97-AF65-F5344CB8AC3E}">
        <p14:creationId xmlns:p14="http://schemas.microsoft.com/office/powerpoint/2010/main" val="8559144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713A18-6A4B-52B1-EB3D-77334CEEB9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A9E3B3-BCE7-92A4-590B-197E20B6C024}"/>
              </a:ext>
            </a:extLst>
          </p:cNvPr>
          <p:cNvSpPr txBox="1">
            <a:spLocks/>
          </p:cNvSpPr>
          <p:nvPr/>
        </p:nvSpPr>
        <p:spPr>
          <a:xfrm>
            <a:off x="457200" y="-739613"/>
            <a:ext cx="8229600" cy="857250"/>
          </a:xfrm>
          <a:prstGeom prst="rect">
            <a:avLst/>
          </a:prstGeom>
        </p:spPr>
        <p:txBody>
          <a:bodyPr/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/>
              <a:t>MIG</a:t>
            </a:r>
            <a:endParaRPr lang="ko-KR" altLang="en-US" dirty="0"/>
          </a:p>
        </p:txBody>
      </p:sp>
      <p:sp>
        <p:nvSpPr>
          <p:cNvPr id="3" name="모서리가 둥근 직사각형 2">
            <a:extLst>
              <a:ext uri="{FF2B5EF4-FFF2-40B4-BE49-F238E27FC236}">
                <a16:creationId xmlns:a16="http://schemas.microsoft.com/office/drawing/2014/main" id="{7ED0BC13-5149-D2CF-8968-1080D4886F62}"/>
              </a:ext>
            </a:extLst>
          </p:cNvPr>
          <p:cNvSpPr/>
          <p:nvPr/>
        </p:nvSpPr>
        <p:spPr>
          <a:xfrm>
            <a:off x="1115616" y="713946"/>
            <a:ext cx="7056784" cy="201622"/>
          </a:xfrm>
          <a:prstGeom prst="roundRect">
            <a:avLst>
              <a:gd name="adj" fmla="val 0"/>
            </a:avLst>
          </a:prstGeom>
          <a:solidFill>
            <a:schemeClr val="accent3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>
                <a:solidFill>
                  <a:schemeClr val="tx1"/>
                </a:solidFill>
              </a:rPr>
              <a:t>A100 40GB MIG</a:t>
            </a:r>
            <a:endParaRPr kumimoji="1" lang="ko-KR" altLang="en-US" sz="1000">
              <a:solidFill>
                <a:schemeClr val="tx1"/>
              </a:solidFill>
            </a:endParaRPr>
          </a:p>
        </p:txBody>
      </p:sp>
      <p:sp>
        <p:nvSpPr>
          <p:cNvPr id="4" name="모서리가 둥근 직사각형 3">
            <a:extLst>
              <a:ext uri="{FF2B5EF4-FFF2-40B4-BE49-F238E27FC236}">
                <a16:creationId xmlns:a16="http://schemas.microsoft.com/office/drawing/2014/main" id="{AF55C6C0-7D80-D4BB-4187-334D32741923}"/>
              </a:ext>
            </a:extLst>
          </p:cNvPr>
          <p:cNvSpPr/>
          <p:nvPr/>
        </p:nvSpPr>
        <p:spPr>
          <a:xfrm>
            <a:off x="1115616" y="915568"/>
            <a:ext cx="7056784" cy="201622"/>
          </a:xfrm>
          <a:prstGeom prst="roundRect">
            <a:avLst>
              <a:gd name="adj" fmla="val 0"/>
            </a:avLst>
          </a:prstGeom>
          <a:solidFill>
            <a:schemeClr val="accent1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>
                <a:solidFill>
                  <a:schemeClr val="tx1"/>
                </a:solidFill>
              </a:rPr>
              <a:t>7G.40GB</a:t>
            </a:r>
            <a:endParaRPr kumimoji="1" lang="ko-KR" altLang="en-US" sz="1000">
              <a:solidFill>
                <a:schemeClr val="tx1"/>
              </a:solidFill>
            </a:endParaRPr>
          </a:p>
        </p:txBody>
      </p:sp>
      <p:sp>
        <p:nvSpPr>
          <p:cNvPr id="5" name="모서리가 둥근 직사각형 4">
            <a:extLst>
              <a:ext uri="{FF2B5EF4-FFF2-40B4-BE49-F238E27FC236}">
                <a16:creationId xmlns:a16="http://schemas.microsoft.com/office/drawing/2014/main" id="{94DF604D-2B92-A00F-1336-286CA9D0803E}"/>
              </a:ext>
            </a:extLst>
          </p:cNvPr>
          <p:cNvSpPr/>
          <p:nvPr/>
        </p:nvSpPr>
        <p:spPr>
          <a:xfrm>
            <a:off x="1115616" y="1117191"/>
            <a:ext cx="4032448" cy="201622"/>
          </a:xfrm>
          <a:prstGeom prst="roundRect">
            <a:avLst>
              <a:gd name="adj" fmla="val 0"/>
            </a:avLst>
          </a:prstGeom>
          <a:solidFill>
            <a:schemeClr val="accent6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>
                <a:solidFill>
                  <a:schemeClr val="tx1"/>
                </a:solidFill>
              </a:rPr>
              <a:t>4G.20GB</a:t>
            </a:r>
            <a:endParaRPr kumimoji="1" lang="ko-KR" altLang="en-US" sz="1000">
              <a:solidFill>
                <a:schemeClr val="tx1"/>
              </a:solidFill>
            </a:endParaRPr>
          </a:p>
        </p:txBody>
      </p:sp>
      <p:sp>
        <p:nvSpPr>
          <p:cNvPr id="6" name="모서리가 둥근 직사각형 5">
            <a:extLst>
              <a:ext uri="{FF2B5EF4-FFF2-40B4-BE49-F238E27FC236}">
                <a16:creationId xmlns:a16="http://schemas.microsoft.com/office/drawing/2014/main" id="{AC11BF3D-653E-DEBA-141A-4CA8CDB87C4D}"/>
              </a:ext>
            </a:extLst>
          </p:cNvPr>
          <p:cNvSpPr/>
          <p:nvPr/>
        </p:nvSpPr>
        <p:spPr>
          <a:xfrm>
            <a:off x="5148064" y="1117191"/>
            <a:ext cx="2016224" cy="201622"/>
          </a:xfrm>
          <a:prstGeom prst="roundRect">
            <a:avLst>
              <a:gd name="adj" fmla="val 0"/>
            </a:avLst>
          </a:prstGeom>
          <a:solidFill>
            <a:schemeClr val="accent2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>
                <a:solidFill>
                  <a:schemeClr val="tx1"/>
                </a:solidFill>
              </a:rPr>
              <a:t>2G.10GB</a:t>
            </a:r>
            <a:endParaRPr kumimoji="1" lang="ko-KR" altLang="en-US" sz="1000">
              <a:solidFill>
                <a:schemeClr val="tx1"/>
              </a:solidFill>
            </a:endParaRPr>
          </a:p>
        </p:txBody>
      </p:sp>
      <p:sp>
        <p:nvSpPr>
          <p:cNvPr id="7" name="모서리가 둥근 직사각형 6">
            <a:extLst>
              <a:ext uri="{FF2B5EF4-FFF2-40B4-BE49-F238E27FC236}">
                <a16:creationId xmlns:a16="http://schemas.microsoft.com/office/drawing/2014/main" id="{88853DB4-DC3C-BAE9-302D-5F13063927A3}"/>
              </a:ext>
            </a:extLst>
          </p:cNvPr>
          <p:cNvSpPr/>
          <p:nvPr/>
        </p:nvSpPr>
        <p:spPr>
          <a:xfrm>
            <a:off x="1115616" y="1318813"/>
            <a:ext cx="4032448" cy="201622"/>
          </a:xfrm>
          <a:prstGeom prst="roundRect">
            <a:avLst>
              <a:gd name="adj" fmla="val 0"/>
            </a:avLst>
          </a:prstGeom>
          <a:solidFill>
            <a:schemeClr val="accent6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>
                <a:solidFill>
                  <a:schemeClr val="tx1"/>
                </a:solidFill>
              </a:rPr>
              <a:t>4G.20GB</a:t>
            </a:r>
            <a:endParaRPr kumimoji="1" lang="ko-KR" altLang="en-US" sz="1000">
              <a:solidFill>
                <a:schemeClr val="tx1"/>
              </a:solidFill>
            </a:endParaRPr>
          </a:p>
        </p:txBody>
      </p:sp>
      <p:sp>
        <p:nvSpPr>
          <p:cNvPr id="8" name="모서리가 둥근 직사각형 7">
            <a:extLst>
              <a:ext uri="{FF2B5EF4-FFF2-40B4-BE49-F238E27FC236}">
                <a16:creationId xmlns:a16="http://schemas.microsoft.com/office/drawing/2014/main" id="{8B4DB70D-A9A8-C633-CBEE-B1CC3E006554}"/>
              </a:ext>
            </a:extLst>
          </p:cNvPr>
          <p:cNvSpPr/>
          <p:nvPr/>
        </p:nvSpPr>
        <p:spPr>
          <a:xfrm>
            <a:off x="7164288" y="1117191"/>
            <a:ext cx="1008112" cy="201622"/>
          </a:xfrm>
          <a:prstGeom prst="roundRect">
            <a:avLst>
              <a:gd name="adj" fmla="val 0"/>
            </a:avLst>
          </a:prstGeom>
          <a:solidFill>
            <a:schemeClr val="accent4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>
                <a:solidFill>
                  <a:schemeClr val="tx1"/>
                </a:solidFill>
              </a:rPr>
              <a:t>1G.5GB</a:t>
            </a:r>
            <a:endParaRPr kumimoji="1" lang="ko-KR" altLang="en-US" sz="1000">
              <a:solidFill>
                <a:schemeClr val="tx1"/>
              </a:solidFill>
            </a:endParaRPr>
          </a:p>
        </p:txBody>
      </p:sp>
      <p:sp>
        <p:nvSpPr>
          <p:cNvPr id="11" name="모서리가 둥근 직사각형 10">
            <a:extLst>
              <a:ext uri="{FF2B5EF4-FFF2-40B4-BE49-F238E27FC236}">
                <a16:creationId xmlns:a16="http://schemas.microsoft.com/office/drawing/2014/main" id="{148717F4-0C27-C01C-0D79-64827AB8EE79}"/>
              </a:ext>
            </a:extLst>
          </p:cNvPr>
          <p:cNvSpPr/>
          <p:nvPr/>
        </p:nvSpPr>
        <p:spPr>
          <a:xfrm>
            <a:off x="7164288" y="1520436"/>
            <a:ext cx="1008112" cy="201622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>
                <a:solidFill>
                  <a:schemeClr val="tx1"/>
                </a:solidFill>
              </a:rPr>
              <a:t>N/A</a:t>
            </a:r>
            <a:endParaRPr kumimoji="1" lang="ko-KR" altLang="en-US" sz="1000">
              <a:solidFill>
                <a:schemeClr val="tx1"/>
              </a:solidFill>
            </a:endParaRPr>
          </a:p>
        </p:txBody>
      </p:sp>
      <p:sp>
        <p:nvSpPr>
          <p:cNvPr id="12" name="모서리가 둥근 직사각형 11">
            <a:extLst>
              <a:ext uri="{FF2B5EF4-FFF2-40B4-BE49-F238E27FC236}">
                <a16:creationId xmlns:a16="http://schemas.microsoft.com/office/drawing/2014/main" id="{F07E5EDE-1A4C-8593-C7B3-135AC31BE389}"/>
              </a:ext>
            </a:extLst>
          </p:cNvPr>
          <p:cNvSpPr/>
          <p:nvPr/>
        </p:nvSpPr>
        <p:spPr>
          <a:xfrm>
            <a:off x="5148064" y="1318813"/>
            <a:ext cx="1008112" cy="201622"/>
          </a:xfrm>
          <a:prstGeom prst="roundRect">
            <a:avLst>
              <a:gd name="adj" fmla="val 0"/>
            </a:avLst>
          </a:prstGeom>
          <a:solidFill>
            <a:schemeClr val="accent4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>
                <a:solidFill>
                  <a:schemeClr val="tx1"/>
                </a:solidFill>
              </a:rPr>
              <a:t>1G.5GB</a:t>
            </a:r>
            <a:endParaRPr kumimoji="1" lang="ko-KR" altLang="en-US" sz="1000">
              <a:solidFill>
                <a:schemeClr val="tx1"/>
              </a:solidFill>
            </a:endParaRPr>
          </a:p>
        </p:txBody>
      </p:sp>
      <p:sp>
        <p:nvSpPr>
          <p:cNvPr id="13" name="모서리가 둥근 직사각형 12">
            <a:extLst>
              <a:ext uri="{FF2B5EF4-FFF2-40B4-BE49-F238E27FC236}">
                <a16:creationId xmlns:a16="http://schemas.microsoft.com/office/drawing/2014/main" id="{EE0D12BE-BDDF-50C5-71AB-92426DDA1DBE}"/>
              </a:ext>
            </a:extLst>
          </p:cNvPr>
          <p:cNvSpPr/>
          <p:nvPr/>
        </p:nvSpPr>
        <p:spPr>
          <a:xfrm>
            <a:off x="6156176" y="1318813"/>
            <a:ext cx="1008112" cy="201622"/>
          </a:xfrm>
          <a:prstGeom prst="roundRect">
            <a:avLst>
              <a:gd name="adj" fmla="val 0"/>
            </a:avLst>
          </a:prstGeom>
          <a:solidFill>
            <a:schemeClr val="accent4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>
                <a:solidFill>
                  <a:schemeClr val="tx1"/>
                </a:solidFill>
              </a:rPr>
              <a:t>1G.5GB</a:t>
            </a:r>
            <a:endParaRPr kumimoji="1" lang="ko-KR" altLang="en-US" sz="1000">
              <a:solidFill>
                <a:schemeClr val="tx1"/>
              </a:solidFill>
            </a:endParaRPr>
          </a:p>
        </p:txBody>
      </p:sp>
      <p:sp>
        <p:nvSpPr>
          <p:cNvPr id="14" name="모서리가 둥근 직사각형 13">
            <a:extLst>
              <a:ext uri="{FF2B5EF4-FFF2-40B4-BE49-F238E27FC236}">
                <a16:creationId xmlns:a16="http://schemas.microsoft.com/office/drawing/2014/main" id="{C45ED93B-2F6A-5F00-3319-E5CF8BDD79CF}"/>
              </a:ext>
            </a:extLst>
          </p:cNvPr>
          <p:cNvSpPr/>
          <p:nvPr/>
        </p:nvSpPr>
        <p:spPr>
          <a:xfrm>
            <a:off x="7164288" y="1318813"/>
            <a:ext cx="1008112" cy="201622"/>
          </a:xfrm>
          <a:prstGeom prst="roundRect">
            <a:avLst>
              <a:gd name="adj" fmla="val 0"/>
            </a:avLst>
          </a:prstGeom>
          <a:solidFill>
            <a:schemeClr val="accent4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>
                <a:solidFill>
                  <a:schemeClr val="tx1"/>
                </a:solidFill>
              </a:rPr>
              <a:t>1G.5GB</a:t>
            </a:r>
            <a:endParaRPr kumimoji="1" lang="ko-KR" altLang="en-US" sz="1000">
              <a:solidFill>
                <a:schemeClr val="tx1"/>
              </a:solidFill>
            </a:endParaRPr>
          </a:p>
        </p:txBody>
      </p:sp>
      <p:sp>
        <p:nvSpPr>
          <p:cNvPr id="15" name="모서리가 둥근 직사각형 14">
            <a:extLst>
              <a:ext uri="{FF2B5EF4-FFF2-40B4-BE49-F238E27FC236}">
                <a16:creationId xmlns:a16="http://schemas.microsoft.com/office/drawing/2014/main" id="{2FE4AB3A-781C-299F-8E8D-2CE0AFDA6C08}"/>
              </a:ext>
            </a:extLst>
          </p:cNvPr>
          <p:cNvSpPr/>
          <p:nvPr/>
        </p:nvSpPr>
        <p:spPr>
          <a:xfrm>
            <a:off x="7164284" y="1722058"/>
            <a:ext cx="1008112" cy="201622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>
                <a:solidFill>
                  <a:schemeClr val="tx1"/>
                </a:solidFill>
              </a:rPr>
              <a:t>N/A</a:t>
            </a:r>
            <a:endParaRPr kumimoji="1" lang="ko-KR" altLang="en-US" sz="1000">
              <a:solidFill>
                <a:schemeClr val="tx1"/>
              </a:solidFill>
            </a:endParaRPr>
          </a:p>
        </p:txBody>
      </p:sp>
      <p:sp>
        <p:nvSpPr>
          <p:cNvPr id="16" name="모서리가 둥근 직사각형 15">
            <a:extLst>
              <a:ext uri="{FF2B5EF4-FFF2-40B4-BE49-F238E27FC236}">
                <a16:creationId xmlns:a16="http://schemas.microsoft.com/office/drawing/2014/main" id="{A24DA489-5065-3837-872D-2610EE83BA3F}"/>
              </a:ext>
            </a:extLst>
          </p:cNvPr>
          <p:cNvSpPr/>
          <p:nvPr/>
        </p:nvSpPr>
        <p:spPr>
          <a:xfrm>
            <a:off x="1115616" y="1520436"/>
            <a:ext cx="3024334" cy="201622"/>
          </a:xfrm>
          <a:prstGeom prst="roundRect">
            <a:avLst>
              <a:gd name="adj" fmla="val 0"/>
            </a:avLst>
          </a:prstGeom>
          <a:solidFill>
            <a:schemeClr val="accent5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>
                <a:solidFill>
                  <a:schemeClr val="tx1"/>
                </a:solidFill>
              </a:rPr>
              <a:t>3G.20GB</a:t>
            </a:r>
            <a:endParaRPr kumimoji="1" lang="ko-KR" altLang="en-US" sz="1000">
              <a:solidFill>
                <a:schemeClr val="tx1"/>
              </a:solidFill>
            </a:endParaRPr>
          </a:p>
        </p:txBody>
      </p:sp>
      <p:sp>
        <p:nvSpPr>
          <p:cNvPr id="18" name="모서리가 둥근 직사각형 17">
            <a:extLst>
              <a:ext uri="{FF2B5EF4-FFF2-40B4-BE49-F238E27FC236}">
                <a16:creationId xmlns:a16="http://schemas.microsoft.com/office/drawing/2014/main" id="{71BFFC83-72C5-75C4-7696-B99BCFA54AF7}"/>
              </a:ext>
            </a:extLst>
          </p:cNvPr>
          <p:cNvSpPr/>
          <p:nvPr/>
        </p:nvSpPr>
        <p:spPr>
          <a:xfrm>
            <a:off x="4139952" y="1520436"/>
            <a:ext cx="3024335" cy="201622"/>
          </a:xfrm>
          <a:prstGeom prst="roundRect">
            <a:avLst>
              <a:gd name="adj" fmla="val 0"/>
            </a:avLst>
          </a:prstGeom>
          <a:solidFill>
            <a:schemeClr val="accent5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>
                <a:solidFill>
                  <a:schemeClr val="tx1"/>
                </a:solidFill>
              </a:rPr>
              <a:t>3G.20GB</a:t>
            </a:r>
            <a:endParaRPr kumimoji="1" lang="ko-KR" altLang="en-US" sz="1000">
              <a:solidFill>
                <a:schemeClr val="tx1"/>
              </a:solidFill>
            </a:endParaRPr>
          </a:p>
        </p:txBody>
      </p:sp>
      <p:sp>
        <p:nvSpPr>
          <p:cNvPr id="19" name="모서리가 둥근 직사각형 18">
            <a:extLst>
              <a:ext uri="{FF2B5EF4-FFF2-40B4-BE49-F238E27FC236}">
                <a16:creationId xmlns:a16="http://schemas.microsoft.com/office/drawing/2014/main" id="{06FDF679-2D27-C955-8FB7-0C54F9F7F8B6}"/>
              </a:ext>
            </a:extLst>
          </p:cNvPr>
          <p:cNvSpPr/>
          <p:nvPr/>
        </p:nvSpPr>
        <p:spPr>
          <a:xfrm>
            <a:off x="1115616" y="1722058"/>
            <a:ext cx="3024334" cy="201622"/>
          </a:xfrm>
          <a:prstGeom prst="roundRect">
            <a:avLst>
              <a:gd name="adj" fmla="val 0"/>
            </a:avLst>
          </a:prstGeom>
          <a:solidFill>
            <a:schemeClr val="accent5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>
                <a:solidFill>
                  <a:schemeClr val="tx1"/>
                </a:solidFill>
              </a:rPr>
              <a:t>3G.20GB</a:t>
            </a:r>
            <a:endParaRPr kumimoji="1" lang="ko-KR" altLang="en-US" sz="1000">
              <a:solidFill>
                <a:schemeClr val="tx1"/>
              </a:solidFill>
            </a:endParaRPr>
          </a:p>
        </p:txBody>
      </p:sp>
      <p:sp>
        <p:nvSpPr>
          <p:cNvPr id="20" name="모서리가 둥근 직사각형 19">
            <a:extLst>
              <a:ext uri="{FF2B5EF4-FFF2-40B4-BE49-F238E27FC236}">
                <a16:creationId xmlns:a16="http://schemas.microsoft.com/office/drawing/2014/main" id="{9A3B2885-6C2A-1773-DB2A-C4BEB848B07F}"/>
              </a:ext>
            </a:extLst>
          </p:cNvPr>
          <p:cNvSpPr/>
          <p:nvPr/>
        </p:nvSpPr>
        <p:spPr>
          <a:xfrm>
            <a:off x="4139950" y="1722058"/>
            <a:ext cx="2016224" cy="201622"/>
          </a:xfrm>
          <a:prstGeom prst="roundRect">
            <a:avLst>
              <a:gd name="adj" fmla="val 0"/>
            </a:avLst>
          </a:prstGeom>
          <a:solidFill>
            <a:schemeClr val="accent2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>
                <a:solidFill>
                  <a:schemeClr val="tx1"/>
                </a:solidFill>
              </a:rPr>
              <a:t>2G.10GB</a:t>
            </a:r>
            <a:endParaRPr kumimoji="1" lang="ko-KR" altLang="en-US" sz="1000">
              <a:solidFill>
                <a:schemeClr val="tx1"/>
              </a:solidFill>
            </a:endParaRPr>
          </a:p>
        </p:txBody>
      </p:sp>
      <p:sp>
        <p:nvSpPr>
          <p:cNvPr id="21" name="모서리가 둥근 직사각형 20">
            <a:extLst>
              <a:ext uri="{FF2B5EF4-FFF2-40B4-BE49-F238E27FC236}">
                <a16:creationId xmlns:a16="http://schemas.microsoft.com/office/drawing/2014/main" id="{FAD33AEA-5C5E-AC8B-4307-E8CC9C091B86}"/>
              </a:ext>
            </a:extLst>
          </p:cNvPr>
          <p:cNvSpPr/>
          <p:nvPr/>
        </p:nvSpPr>
        <p:spPr>
          <a:xfrm>
            <a:off x="6156176" y="1722058"/>
            <a:ext cx="1008112" cy="201622"/>
          </a:xfrm>
          <a:prstGeom prst="roundRect">
            <a:avLst>
              <a:gd name="adj" fmla="val 0"/>
            </a:avLst>
          </a:prstGeom>
          <a:solidFill>
            <a:schemeClr val="accent4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>
                <a:solidFill>
                  <a:schemeClr val="tx1"/>
                </a:solidFill>
              </a:rPr>
              <a:t>1G.5GB</a:t>
            </a:r>
            <a:endParaRPr kumimoji="1" lang="ko-KR" altLang="en-US" sz="1000">
              <a:solidFill>
                <a:schemeClr val="tx1"/>
              </a:solidFill>
            </a:endParaRPr>
          </a:p>
        </p:txBody>
      </p:sp>
      <p:sp>
        <p:nvSpPr>
          <p:cNvPr id="22" name="모서리가 둥근 직사각형 21">
            <a:extLst>
              <a:ext uri="{FF2B5EF4-FFF2-40B4-BE49-F238E27FC236}">
                <a16:creationId xmlns:a16="http://schemas.microsoft.com/office/drawing/2014/main" id="{48F010E7-61EB-5466-EC16-6CA19112F317}"/>
              </a:ext>
            </a:extLst>
          </p:cNvPr>
          <p:cNvSpPr/>
          <p:nvPr/>
        </p:nvSpPr>
        <p:spPr>
          <a:xfrm>
            <a:off x="1115620" y="1923680"/>
            <a:ext cx="2016224" cy="201622"/>
          </a:xfrm>
          <a:prstGeom prst="roundRect">
            <a:avLst>
              <a:gd name="adj" fmla="val 0"/>
            </a:avLst>
          </a:prstGeom>
          <a:solidFill>
            <a:schemeClr val="accent2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>
                <a:solidFill>
                  <a:schemeClr val="tx1"/>
                </a:solidFill>
              </a:rPr>
              <a:t>2G.10GB</a:t>
            </a:r>
            <a:endParaRPr kumimoji="1" lang="ko-KR" altLang="en-US" sz="1000">
              <a:solidFill>
                <a:schemeClr val="tx1"/>
              </a:solidFill>
            </a:endParaRPr>
          </a:p>
        </p:txBody>
      </p:sp>
      <p:sp>
        <p:nvSpPr>
          <p:cNvPr id="23" name="모서리가 둥근 직사각형 22">
            <a:extLst>
              <a:ext uri="{FF2B5EF4-FFF2-40B4-BE49-F238E27FC236}">
                <a16:creationId xmlns:a16="http://schemas.microsoft.com/office/drawing/2014/main" id="{38D52705-A084-40CD-B4BC-AA598546CAE1}"/>
              </a:ext>
            </a:extLst>
          </p:cNvPr>
          <p:cNvSpPr/>
          <p:nvPr/>
        </p:nvSpPr>
        <p:spPr>
          <a:xfrm>
            <a:off x="3131837" y="1923680"/>
            <a:ext cx="2016224" cy="201622"/>
          </a:xfrm>
          <a:prstGeom prst="roundRect">
            <a:avLst>
              <a:gd name="adj" fmla="val 0"/>
            </a:avLst>
          </a:prstGeom>
          <a:solidFill>
            <a:schemeClr val="accent2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>
                <a:solidFill>
                  <a:schemeClr val="tx1"/>
                </a:solidFill>
              </a:rPr>
              <a:t>2G.10GB</a:t>
            </a:r>
            <a:endParaRPr kumimoji="1" lang="ko-KR" altLang="en-US" sz="1000">
              <a:solidFill>
                <a:schemeClr val="tx1"/>
              </a:solidFill>
            </a:endParaRPr>
          </a:p>
        </p:txBody>
      </p:sp>
      <p:sp>
        <p:nvSpPr>
          <p:cNvPr id="24" name="모서리가 둥근 직사각형 23">
            <a:extLst>
              <a:ext uri="{FF2B5EF4-FFF2-40B4-BE49-F238E27FC236}">
                <a16:creationId xmlns:a16="http://schemas.microsoft.com/office/drawing/2014/main" id="{5148661C-0CCA-E57C-0E18-EBBC47C05C65}"/>
              </a:ext>
            </a:extLst>
          </p:cNvPr>
          <p:cNvSpPr/>
          <p:nvPr/>
        </p:nvSpPr>
        <p:spPr>
          <a:xfrm>
            <a:off x="5148064" y="1923680"/>
            <a:ext cx="3024335" cy="201622"/>
          </a:xfrm>
          <a:prstGeom prst="roundRect">
            <a:avLst>
              <a:gd name="adj" fmla="val 0"/>
            </a:avLst>
          </a:prstGeom>
          <a:solidFill>
            <a:schemeClr val="accent5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>
                <a:solidFill>
                  <a:schemeClr val="tx1"/>
                </a:solidFill>
              </a:rPr>
              <a:t>3G.20GB</a:t>
            </a:r>
            <a:endParaRPr kumimoji="1" lang="ko-KR" altLang="en-US" sz="1000">
              <a:solidFill>
                <a:schemeClr val="tx1"/>
              </a:solidFill>
            </a:endParaRPr>
          </a:p>
        </p:txBody>
      </p:sp>
      <p:sp>
        <p:nvSpPr>
          <p:cNvPr id="25" name="모서리가 둥근 직사각형 24">
            <a:extLst>
              <a:ext uri="{FF2B5EF4-FFF2-40B4-BE49-F238E27FC236}">
                <a16:creationId xmlns:a16="http://schemas.microsoft.com/office/drawing/2014/main" id="{7F38F81E-308D-F229-D657-49C1AAB9171A}"/>
              </a:ext>
            </a:extLst>
          </p:cNvPr>
          <p:cNvSpPr/>
          <p:nvPr/>
        </p:nvSpPr>
        <p:spPr>
          <a:xfrm>
            <a:off x="1115620" y="2125303"/>
            <a:ext cx="2016224" cy="201622"/>
          </a:xfrm>
          <a:prstGeom prst="roundRect">
            <a:avLst>
              <a:gd name="adj" fmla="val 0"/>
            </a:avLst>
          </a:prstGeom>
          <a:solidFill>
            <a:schemeClr val="accent2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>
                <a:solidFill>
                  <a:schemeClr val="tx1"/>
                </a:solidFill>
              </a:rPr>
              <a:t>2G.10GB</a:t>
            </a:r>
            <a:endParaRPr kumimoji="1" lang="ko-KR" altLang="en-US" sz="1000">
              <a:solidFill>
                <a:schemeClr val="tx1"/>
              </a:solidFill>
            </a:endParaRPr>
          </a:p>
        </p:txBody>
      </p:sp>
      <p:sp>
        <p:nvSpPr>
          <p:cNvPr id="27" name="모서리가 둥근 직사각형 26">
            <a:extLst>
              <a:ext uri="{FF2B5EF4-FFF2-40B4-BE49-F238E27FC236}">
                <a16:creationId xmlns:a16="http://schemas.microsoft.com/office/drawing/2014/main" id="{1B112BD9-9C74-1755-059B-F89CB41A64B6}"/>
              </a:ext>
            </a:extLst>
          </p:cNvPr>
          <p:cNvSpPr/>
          <p:nvPr/>
        </p:nvSpPr>
        <p:spPr>
          <a:xfrm>
            <a:off x="5148064" y="2125303"/>
            <a:ext cx="3024335" cy="201622"/>
          </a:xfrm>
          <a:prstGeom prst="roundRect">
            <a:avLst>
              <a:gd name="adj" fmla="val 0"/>
            </a:avLst>
          </a:prstGeom>
          <a:solidFill>
            <a:schemeClr val="accent5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>
                <a:solidFill>
                  <a:schemeClr val="tx1"/>
                </a:solidFill>
              </a:rPr>
              <a:t>3G.20GB</a:t>
            </a:r>
            <a:endParaRPr kumimoji="1" lang="ko-KR" altLang="en-US" sz="1000">
              <a:solidFill>
                <a:schemeClr val="tx1"/>
              </a:solidFill>
            </a:endParaRPr>
          </a:p>
        </p:txBody>
      </p:sp>
      <p:sp>
        <p:nvSpPr>
          <p:cNvPr id="28" name="모서리가 둥근 직사각형 27">
            <a:extLst>
              <a:ext uri="{FF2B5EF4-FFF2-40B4-BE49-F238E27FC236}">
                <a16:creationId xmlns:a16="http://schemas.microsoft.com/office/drawing/2014/main" id="{55E400BB-7EC0-CB47-09C1-375B5AC9D182}"/>
              </a:ext>
            </a:extLst>
          </p:cNvPr>
          <p:cNvSpPr/>
          <p:nvPr/>
        </p:nvSpPr>
        <p:spPr>
          <a:xfrm>
            <a:off x="3131840" y="2125303"/>
            <a:ext cx="1008112" cy="201622"/>
          </a:xfrm>
          <a:prstGeom prst="roundRect">
            <a:avLst>
              <a:gd name="adj" fmla="val 0"/>
            </a:avLst>
          </a:prstGeom>
          <a:solidFill>
            <a:schemeClr val="accent4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>
                <a:solidFill>
                  <a:schemeClr val="tx1"/>
                </a:solidFill>
              </a:rPr>
              <a:t>1G.5GB</a:t>
            </a:r>
            <a:endParaRPr kumimoji="1" lang="ko-KR" altLang="en-US" sz="1000">
              <a:solidFill>
                <a:schemeClr val="tx1"/>
              </a:solidFill>
            </a:endParaRPr>
          </a:p>
        </p:txBody>
      </p:sp>
      <p:sp>
        <p:nvSpPr>
          <p:cNvPr id="29" name="모서리가 둥근 직사각형 28">
            <a:extLst>
              <a:ext uri="{FF2B5EF4-FFF2-40B4-BE49-F238E27FC236}">
                <a16:creationId xmlns:a16="http://schemas.microsoft.com/office/drawing/2014/main" id="{4D4C059F-FAFF-C8B6-1C9B-AE584E6859EA}"/>
              </a:ext>
            </a:extLst>
          </p:cNvPr>
          <p:cNvSpPr/>
          <p:nvPr/>
        </p:nvSpPr>
        <p:spPr>
          <a:xfrm>
            <a:off x="4139951" y="2125303"/>
            <a:ext cx="1008112" cy="201622"/>
          </a:xfrm>
          <a:prstGeom prst="roundRect">
            <a:avLst>
              <a:gd name="adj" fmla="val 0"/>
            </a:avLst>
          </a:prstGeom>
          <a:solidFill>
            <a:schemeClr val="accent4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>
                <a:solidFill>
                  <a:schemeClr val="tx1"/>
                </a:solidFill>
              </a:rPr>
              <a:t>1G.5GB</a:t>
            </a:r>
            <a:endParaRPr kumimoji="1" lang="ko-KR" altLang="en-US" sz="1000">
              <a:solidFill>
                <a:schemeClr val="tx1"/>
              </a:solidFill>
            </a:endParaRPr>
          </a:p>
        </p:txBody>
      </p:sp>
      <p:sp>
        <p:nvSpPr>
          <p:cNvPr id="30" name="모서리가 둥근 직사각형 29">
            <a:extLst>
              <a:ext uri="{FF2B5EF4-FFF2-40B4-BE49-F238E27FC236}">
                <a16:creationId xmlns:a16="http://schemas.microsoft.com/office/drawing/2014/main" id="{2668F915-852D-0182-CE56-C0356BCF5E2A}"/>
              </a:ext>
            </a:extLst>
          </p:cNvPr>
          <p:cNvSpPr/>
          <p:nvPr/>
        </p:nvSpPr>
        <p:spPr>
          <a:xfrm>
            <a:off x="3131837" y="2326925"/>
            <a:ext cx="2016224" cy="201622"/>
          </a:xfrm>
          <a:prstGeom prst="roundRect">
            <a:avLst>
              <a:gd name="adj" fmla="val 0"/>
            </a:avLst>
          </a:prstGeom>
          <a:solidFill>
            <a:schemeClr val="accent2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>
                <a:solidFill>
                  <a:schemeClr val="tx1"/>
                </a:solidFill>
              </a:rPr>
              <a:t>2G.10GB</a:t>
            </a:r>
            <a:endParaRPr kumimoji="1" lang="ko-KR" altLang="en-US" sz="1000">
              <a:solidFill>
                <a:schemeClr val="tx1"/>
              </a:solidFill>
            </a:endParaRPr>
          </a:p>
        </p:txBody>
      </p:sp>
      <p:sp>
        <p:nvSpPr>
          <p:cNvPr id="31" name="모서리가 둥근 직사각형 30">
            <a:extLst>
              <a:ext uri="{FF2B5EF4-FFF2-40B4-BE49-F238E27FC236}">
                <a16:creationId xmlns:a16="http://schemas.microsoft.com/office/drawing/2014/main" id="{67F2E54C-7F18-DAC5-01EA-B74D7C868747}"/>
              </a:ext>
            </a:extLst>
          </p:cNvPr>
          <p:cNvSpPr/>
          <p:nvPr/>
        </p:nvSpPr>
        <p:spPr>
          <a:xfrm>
            <a:off x="5148064" y="2326925"/>
            <a:ext cx="3024335" cy="201622"/>
          </a:xfrm>
          <a:prstGeom prst="roundRect">
            <a:avLst>
              <a:gd name="adj" fmla="val 0"/>
            </a:avLst>
          </a:prstGeom>
          <a:solidFill>
            <a:schemeClr val="accent5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>
                <a:solidFill>
                  <a:schemeClr val="tx1"/>
                </a:solidFill>
              </a:rPr>
              <a:t>3G.20GB</a:t>
            </a:r>
            <a:endParaRPr kumimoji="1" lang="ko-KR" altLang="en-US" sz="1000">
              <a:solidFill>
                <a:schemeClr val="tx1"/>
              </a:solidFill>
            </a:endParaRPr>
          </a:p>
        </p:txBody>
      </p:sp>
      <p:sp>
        <p:nvSpPr>
          <p:cNvPr id="32" name="모서리가 둥근 직사각형 31">
            <a:extLst>
              <a:ext uri="{FF2B5EF4-FFF2-40B4-BE49-F238E27FC236}">
                <a16:creationId xmlns:a16="http://schemas.microsoft.com/office/drawing/2014/main" id="{0DDC92F2-B564-8D42-08E1-4BD82ECCE7DA}"/>
              </a:ext>
            </a:extLst>
          </p:cNvPr>
          <p:cNvSpPr/>
          <p:nvPr/>
        </p:nvSpPr>
        <p:spPr>
          <a:xfrm>
            <a:off x="1115614" y="2326925"/>
            <a:ext cx="1008112" cy="201622"/>
          </a:xfrm>
          <a:prstGeom prst="roundRect">
            <a:avLst>
              <a:gd name="adj" fmla="val 0"/>
            </a:avLst>
          </a:prstGeom>
          <a:solidFill>
            <a:schemeClr val="accent4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>
                <a:solidFill>
                  <a:schemeClr val="tx1"/>
                </a:solidFill>
              </a:rPr>
              <a:t>1G.5GB</a:t>
            </a:r>
            <a:endParaRPr kumimoji="1" lang="ko-KR" altLang="en-US" sz="1000">
              <a:solidFill>
                <a:schemeClr val="tx1"/>
              </a:solidFill>
            </a:endParaRPr>
          </a:p>
        </p:txBody>
      </p:sp>
      <p:sp>
        <p:nvSpPr>
          <p:cNvPr id="33" name="모서리가 둥근 직사각형 32">
            <a:extLst>
              <a:ext uri="{FF2B5EF4-FFF2-40B4-BE49-F238E27FC236}">
                <a16:creationId xmlns:a16="http://schemas.microsoft.com/office/drawing/2014/main" id="{0D087BA5-FA0E-F4DD-666D-90BF60509BD7}"/>
              </a:ext>
            </a:extLst>
          </p:cNvPr>
          <p:cNvSpPr/>
          <p:nvPr/>
        </p:nvSpPr>
        <p:spPr>
          <a:xfrm>
            <a:off x="2123725" y="2326925"/>
            <a:ext cx="1008112" cy="201622"/>
          </a:xfrm>
          <a:prstGeom prst="roundRect">
            <a:avLst>
              <a:gd name="adj" fmla="val 0"/>
            </a:avLst>
          </a:prstGeom>
          <a:solidFill>
            <a:schemeClr val="accent4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>
                <a:solidFill>
                  <a:schemeClr val="tx1"/>
                </a:solidFill>
              </a:rPr>
              <a:t>1G.5GB</a:t>
            </a:r>
            <a:endParaRPr kumimoji="1" lang="ko-KR" altLang="en-US" sz="1000">
              <a:solidFill>
                <a:schemeClr val="tx1"/>
              </a:solidFill>
            </a:endParaRPr>
          </a:p>
        </p:txBody>
      </p:sp>
      <p:sp>
        <p:nvSpPr>
          <p:cNvPr id="34" name="모서리가 둥근 직사각형 33">
            <a:extLst>
              <a:ext uri="{FF2B5EF4-FFF2-40B4-BE49-F238E27FC236}">
                <a16:creationId xmlns:a16="http://schemas.microsoft.com/office/drawing/2014/main" id="{2B9847FF-89AF-0061-5123-AF38803F4EFF}"/>
              </a:ext>
            </a:extLst>
          </p:cNvPr>
          <p:cNvSpPr/>
          <p:nvPr/>
        </p:nvSpPr>
        <p:spPr>
          <a:xfrm>
            <a:off x="1115614" y="2528548"/>
            <a:ext cx="1008112" cy="201622"/>
          </a:xfrm>
          <a:prstGeom prst="roundRect">
            <a:avLst>
              <a:gd name="adj" fmla="val 0"/>
            </a:avLst>
          </a:prstGeom>
          <a:solidFill>
            <a:schemeClr val="accent4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>
                <a:solidFill>
                  <a:schemeClr val="tx1"/>
                </a:solidFill>
              </a:rPr>
              <a:t>1G.5GB</a:t>
            </a:r>
            <a:endParaRPr kumimoji="1" lang="ko-KR" altLang="en-US" sz="1000">
              <a:solidFill>
                <a:schemeClr val="tx1"/>
              </a:solidFill>
            </a:endParaRPr>
          </a:p>
        </p:txBody>
      </p:sp>
      <p:sp>
        <p:nvSpPr>
          <p:cNvPr id="35" name="모서리가 둥근 직사각형 34">
            <a:extLst>
              <a:ext uri="{FF2B5EF4-FFF2-40B4-BE49-F238E27FC236}">
                <a16:creationId xmlns:a16="http://schemas.microsoft.com/office/drawing/2014/main" id="{E2D632EF-D65B-F689-32A1-8E36BBD78A86}"/>
              </a:ext>
            </a:extLst>
          </p:cNvPr>
          <p:cNvSpPr/>
          <p:nvPr/>
        </p:nvSpPr>
        <p:spPr>
          <a:xfrm>
            <a:off x="2123725" y="2528548"/>
            <a:ext cx="1008112" cy="201622"/>
          </a:xfrm>
          <a:prstGeom prst="roundRect">
            <a:avLst>
              <a:gd name="adj" fmla="val 0"/>
            </a:avLst>
          </a:prstGeom>
          <a:solidFill>
            <a:schemeClr val="accent4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>
                <a:solidFill>
                  <a:schemeClr val="tx1"/>
                </a:solidFill>
              </a:rPr>
              <a:t>1G.5GB</a:t>
            </a:r>
            <a:endParaRPr kumimoji="1" lang="ko-KR" altLang="en-US" sz="1000">
              <a:solidFill>
                <a:schemeClr val="tx1"/>
              </a:solidFill>
            </a:endParaRPr>
          </a:p>
        </p:txBody>
      </p:sp>
      <p:sp>
        <p:nvSpPr>
          <p:cNvPr id="36" name="모서리가 둥근 직사각형 35">
            <a:extLst>
              <a:ext uri="{FF2B5EF4-FFF2-40B4-BE49-F238E27FC236}">
                <a16:creationId xmlns:a16="http://schemas.microsoft.com/office/drawing/2014/main" id="{C628991E-05CF-A384-5939-51E4DD361B0D}"/>
              </a:ext>
            </a:extLst>
          </p:cNvPr>
          <p:cNvSpPr/>
          <p:nvPr/>
        </p:nvSpPr>
        <p:spPr>
          <a:xfrm>
            <a:off x="3131840" y="2528548"/>
            <a:ext cx="1008112" cy="201622"/>
          </a:xfrm>
          <a:prstGeom prst="roundRect">
            <a:avLst>
              <a:gd name="adj" fmla="val 0"/>
            </a:avLst>
          </a:prstGeom>
          <a:solidFill>
            <a:schemeClr val="accent4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>
                <a:solidFill>
                  <a:schemeClr val="tx1"/>
                </a:solidFill>
              </a:rPr>
              <a:t>1G.5GB</a:t>
            </a:r>
            <a:endParaRPr kumimoji="1" lang="ko-KR" altLang="en-US" sz="1000">
              <a:solidFill>
                <a:schemeClr val="tx1"/>
              </a:solidFill>
            </a:endParaRPr>
          </a:p>
        </p:txBody>
      </p:sp>
      <p:sp>
        <p:nvSpPr>
          <p:cNvPr id="37" name="모서리가 둥근 직사각형 36">
            <a:extLst>
              <a:ext uri="{FF2B5EF4-FFF2-40B4-BE49-F238E27FC236}">
                <a16:creationId xmlns:a16="http://schemas.microsoft.com/office/drawing/2014/main" id="{7260E602-ED7C-0615-2037-34D2C40BC988}"/>
              </a:ext>
            </a:extLst>
          </p:cNvPr>
          <p:cNvSpPr/>
          <p:nvPr/>
        </p:nvSpPr>
        <p:spPr>
          <a:xfrm>
            <a:off x="4139951" y="2528548"/>
            <a:ext cx="1008112" cy="201622"/>
          </a:xfrm>
          <a:prstGeom prst="roundRect">
            <a:avLst>
              <a:gd name="adj" fmla="val 0"/>
            </a:avLst>
          </a:prstGeom>
          <a:solidFill>
            <a:schemeClr val="accent4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>
                <a:solidFill>
                  <a:schemeClr val="tx1"/>
                </a:solidFill>
              </a:rPr>
              <a:t>1G.5GB</a:t>
            </a:r>
            <a:endParaRPr kumimoji="1" lang="ko-KR" altLang="en-US" sz="1000">
              <a:solidFill>
                <a:schemeClr val="tx1"/>
              </a:solidFill>
            </a:endParaRPr>
          </a:p>
        </p:txBody>
      </p:sp>
      <p:sp>
        <p:nvSpPr>
          <p:cNvPr id="38" name="모서리가 둥근 직사각형 37">
            <a:extLst>
              <a:ext uri="{FF2B5EF4-FFF2-40B4-BE49-F238E27FC236}">
                <a16:creationId xmlns:a16="http://schemas.microsoft.com/office/drawing/2014/main" id="{38C69D85-A8B1-0AAE-D243-C8450A831318}"/>
              </a:ext>
            </a:extLst>
          </p:cNvPr>
          <p:cNvSpPr/>
          <p:nvPr/>
        </p:nvSpPr>
        <p:spPr>
          <a:xfrm>
            <a:off x="5148064" y="2528548"/>
            <a:ext cx="3024335" cy="201622"/>
          </a:xfrm>
          <a:prstGeom prst="roundRect">
            <a:avLst>
              <a:gd name="adj" fmla="val 0"/>
            </a:avLst>
          </a:prstGeom>
          <a:solidFill>
            <a:schemeClr val="accent5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>
                <a:solidFill>
                  <a:schemeClr val="tx1"/>
                </a:solidFill>
              </a:rPr>
              <a:t>3G.20GB</a:t>
            </a:r>
            <a:endParaRPr kumimoji="1" lang="ko-KR" altLang="en-US" sz="1000">
              <a:solidFill>
                <a:schemeClr val="tx1"/>
              </a:solidFill>
            </a:endParaRPr>
          </a:p>
        </p:txBody>
      </p:sp>
      <p:sp>
        <p:nvSpPr>
          <p:cNvPr id="40" name="모서리가 둥근 직사각형 39">
            <a:extLst>
              <a:ext uri="{FF2B5EF4-FFF2-40B4-BE49-F238E27FC236}">
                <a16:creationId xmlns:a16="http://schemas.microsoft.com/office/drawing/2014/main" id="{E1A9DB9D-3CC8-3AFC-74BD-D1E33267CC86}"/>
              </a:ext>
            </a:extLst>
          </p:cNvPr>
          <p:cNvSpPr/>
          <p:nvPr/>
        </p:nvSpPr>
        <p:spPr>
          <a:xfrm>
            <a:off x="1115620" y="2730170"/>
            <a:ext cx="2016224" cy="201622"/>
          </a:xfrm>
          <a:prstGeom prst="roundRect">
            <a:avLst>
              <a:gd name="adj" fmla="val 0"/>
            </a:avLst>
          </a:prstGeom>
          <a:solidFill>
            <a:schemeClr val="accent2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>
                <a:solidFill>
                  <a:schemeClr val="tx1"/>
                </a:solidFill>
              </a:rPr>
              <a:t>2G.10GB</a:t>
            </a:r>
            <a:endParaRPr kumimoji="1" lang="ko-KR" altLang="en-US" sz="1000">
              <a:solidFill>
                <a:schemeClr val="tx1"/>
              </a:solidFill>
            </a:endParaRPr>
          </a:p>
        </p:txBody>
      </p:sp>
      <p:sp>
        <p:nvSpPr>
          <p:cNvPr id="41" name="모서리가 둥근 직사각형 40">
            <a:extLst>
              <a:ext uri="{FF2B5EF4-FFF2-40B4-BE49-F238E27FC236}">
                <a16:creationId xmlns:a16="http://schemas.microsoft.com/office/drawing/2014/main" id="{80D7E545-2195-2C31-3321-070D68A23DEA}"/>
              </a:ext>
            </a:extLst>
          </p:cNvPr>
          <p:cNvSpPr/>
          <p:nvPr/>
        </p:nvSpPr>
        <p:spPr>
          <a:xfrm>
            <a:off x="3131837" y="2730170"/>
            <a:ext cx="2016224" cy="201622"/>
          </a:xfrm>
          <a:prstGeom prst="roundRect">
            <a:avLst>
              <a:gd name="adj" fmla="val 0"/>
            </a:avLst>
          </a:prstGeom>
          <a:solidFill>
            <a:schemeClr val="accent2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>
                <a:solidFill>
                  <a:schemeClr val="tx1"/>
                </a:solidFill>
              </a:rPr>
              <a:t>2G.10GB</a:t>
            </a:r>
            <a:endParaRPr kumimoji="1" lang="ko-KR" altLang="en-US" sz="1000">
              <a:solidFill>
                <a:schemeClr val="tx1"/>
              </a:solidFill>
            </a:endParaRPr>
          </a:p>
        </p:txBody>
      </p:sp>
      <p:sp>
        <p:nvSpPr>
          <p:cNvPr id="42" name="모서리가 둥근 직사각형 41">
            <a:extLst>
              <a:ext uri="{FF2B5EF4-FFF2-40B4-BE49-F238E27FC236}">
                <a16:creationId xmlns:a16="http://schemas.microsoft.com/office/drawing/2014/main" id="{7DC6C963-E34C-F631-1799-82889732DDFB}"/>
              </a:ext>
            </a:extLst>
          </p:cNvPr>
          <p:cNvSpPr/>
          <p:nvPr/>
        </p:nvSpPr>
        <p:spPr>
          <a:xfrm>
            <a:off x="5148968" y="2730170"/>
            <a:ext cx="2016224" cy="201622"/>
          </a:xfrm>
          <a:prstGeom prst="roundRect">
            <a:avLst>
              <a:gd name="adj" fmla="val 0"/>
            </a:avLst>
          </a:prstGeom>
          <a:solidFill>
            <a:schemeClr val="accent2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>
                <a:solidFill>
                  <a:schemeClr val="tx1"/>
                </a:solidFill>
              </a:rPr>
              <a:t>2G.10GB</a:t>
            </a:r>
            <a:endParaRPr kumimoji="1" lang="ko-KR" altLang="en-US" sz="1000">
              <a:solidFill>
                <a:schemeClr val="tx1"/>
              </a:solidFill>
            </a:endParaRPr>
          </a:p>
        </p:txBody>
      </p:sp>
      <p:sp>
        <p:nvSpPr>
          <p:cNvPr id="43" name="모서리가 둥근 직사각형 42">
            <a:extLst>
              <a:ext uri="{FF2B5EF4-FFF2-40B4-BE49-F238E27FC236}">
                <a16:creationId xmlns:a16="http://schemas.microsoft.com/office/drawing/2014/main" id="{F080B94A-D1BE-B41E-0FDA-EE435ACC23B6}"/>
              </a:ext>
            </a:extLst>
          </p:cNvPr>
          <p:cNvSpPr/>
          <p:nvPr/>
        </p:nvSpPr>
        <p:spPr>
          <a:xfrm>
            <a:off x="7164288" y="2730170"/>
            <a:ext cx="1008112" cy="201622"/>
          </a:xfrm>
          <a:prstGeom prst="roundRect">
            <a:avLst>
              <a:gd name="adj" fmla="val 0"/>
            </a:avLst>
          </a:prstGeom>
          <a:solidFill>
            <a:schemeClr val="accent4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>
                <a:solidFill>
                  <a:schemeClr val="tx1"/>
                </a:solidFill>
              </a:rPr>
              <a:t>1G.5GB</a:t>
            </a:r>
            <a:endParaRPr kumimoji="1" lang="ko-KR" altLang="en-US" sz="1000">
              <a:solidFill>
                <a:schemeClr val="tx1"/>
              </a:solidFill>
            </a:endParaRPr>
          </a:p>
        </p:txBody>
      </p:sp>
      <p:sp>
        <p:nvSpPr>
          <p:cNvPr id="44" name="모서리가 둥근 직사각형 43">
            <a:extLst>
              <a:ext uri="{FF2B5EF4-FFF2-40B4-BE49-F238E27FC236}">
                <a16:creationId xmlns:a16="http://schemas.microsoft.com/office/drawing/2014/main" id="{70B896EE-A1E8-45A7-A1E3-7FB44692F0F7}"/>
              </a:ext>
            </a:extLst>
          </p:cNvPr>
          <p:cNvSpPr/>
          <p:nvPr/>
        </p:nvSpPr>
        <p:spPr>
          <a:xfrm>
            <a:off x="1115620" y="2931792"/>
            <a:ext cx="2016224" cy="201622"/>
          </a:xfrm>
          <a:prstGeom prst="roundRect">
            <a:avLst>
              <a:gd name="adj" fmla="val 0"/>
            </a:avLst>
          </a:prstGeom>
          <a:solidFill>
            <a:schemeClr val="accent2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>
                <a:solidFill>
                  <a:schemeClr val="tx1"/>
                </a:solidFill>
              </a:rPr>
              <a:t>2G.10GB</a:t>
            </a:r>
            <a:endParaRPr kumimoji="1" lang="ko-KR" altLang="en-US" sz="1000">
              <a:solidFill>
                <a:schemeClr val="tx1"/>
              </a:solidFill>
            </a:endParaRPr>
          </a:p>
        </p:txBody>
      </p:sp>
      <p:sp>
        <p:nvSpPr>
          <p:cNvPr id="45" name="모서리가 둥근 직사각형 44">
            <a:extLst>
              <a:ext uri="{FF2B5EF4-FFF2-40B4-BE49-F238E27FC236}">
                <a16:creationId xmlns:a16="http://schemas.microsoft.com/office/drawing/2014/main" id="{5A7D4A2B-B210-8C5C-A7A1-BADDBB16EB28}"/>
              </a:ext>
            </a:extLst>
          </p:cNvPr>
          <p:cNvSpPr/>
          <p:nvPr/>
        </p:nvSpPr>
        <p:spPr>
          <a:xfrm>
            <a:off x="5148968" y="2931792"/>
            <a:ext cx="2016224" cy="201622"/>
          </a:xfrm>
          <a:prstGeom prst="roundRect">
            <a:avLst>
              <a:gd name="adj" fmla="val 0"/>
            </a:avLst>
          </a:prstGeom>
          <a:solidFill>
            <a:schemeClr val="accent2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>
                <a:solidFill>
                  <a:schemeClr val="tx1"/>
                </a:solidFill>
              </a:rPr>
              <a:t>2G.10GB</a:t>
            </a:r>
            <a:endParaRPr kumimoji="1" lang="ko-KR" altLang="en-US" sz="1000">
              <a:solidFill>
                <a:schemeClr val="tx1"/>
              </a:solidFill>
            </a:endParaRPr>
          </a:p>
        </p:txBody>
      </p:sp>
      <p:sp>
        <p:nvSpPr>
          <p:cNvPr id="46" name="모서리가 둥근 직사각형 45">
            <a:extLst>
              <a:ext uri="{FF2B5EF4-FFF2-40B4-BE49-F238E27FC236}">
                <a16:creationId xmlns:a16="http://schemas.microsoft.com/office/drawing/2014/main" id="{68826220-195C-88CE-0E95-285DF7AFAC7A}"/>
              </a:ext>
            </a:extLst>
          </p:cNvPr>
          <p:cNvSpPr/>
          <p:nvPr/>
        </p:nvSpPr>
        <p:spPr>
          <a:xfrm>
            <a:off x="7164288" y="2931792"/>
            <a:ext cx="1008112" cy="201622"/>
          </a:xfrm>
          <a:prstGeom prst="roundRect">
            <a:avLst>
              <a:gd name="adj" fmla="val 0"/>
            </a:avLst>
          </a:prstGeom>
          <a:solidFill>
            <a:schemeClr val="accent4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>
                <a:solidFill>
                  <a:schemeClr val="tx1"/>
                </a:solidFill>
              </a:rPr>
              <a:t>1G.5GB</a:t>
            </a:r>
            <a:endParaRPr kumimoji="1" lang="ko-KR" altLang="en-US" sz="1000">
              <a:solidFill>
                <a:schemeClr val="tx1"/>
              </a:solidFill>
            </a:endParaRPr>
          </a:p>
        </p:txBody>
      </p:sp>
      <p:sp>
        <p:nvSpPr>
          <p:cNvPr id="47" name="모서리가 둥근 직사각형 46">
            <a:extLst>
              <a:ext uri="{FF2B5EF4-FFF2-40B4-BE49-F238E27FC236}">
                <a16:creationId xmlns:a16="http://schemas.microsoft.com/office/drawing/2014/main" id="{983C4CE2-96A3-5B34-5240-CE781947A81E}"/>
              </a:ext>
            </a:extLst>
          </p:cNvPr>
          <p:cNvSpPr/>
          <p:nvPr/>
        </p:nvSpPr>
        <p:spPr>
          <a:xfrm>
            <a:off x="3131840" y="2931792"/>
            <a:ext cx="1008112" cy="201622"/>
          </a:xfrm>
          <a:prstGeom prst="roundRect">
            <a:avLst>
              <a:gd name="adj" fmla="val 0"/>
            </a:avLst>
          </a:prstGeom>
          <a:solidFill>
            <a:schemeClr val="accent4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>
                <a:solidFill>
                  <a:schemeClr val="tx1"/>
                </a:solidFill>
              </a:rPr>
              <a:t>1G.5GB</a:t>
            </a:r>
            <a:endParaRPr kumimoji="1" lang="ko-KR" altLang="en-US" sz="1000">
              <a:solidFill>
                <a:schemeClr val="tx1"/>
              </a:solidFill>
            </a:endParaRPr>
          </a:p>
        </p:txBody>
      </p:sp>
      <p:sp>
        <p:nvSpPr>
          <p:cNvPr id="48" name="모서리가 둥근 직사각형 47">
            <a:extLst>
              <a:ext uri="{FF2B5EF4-FFF2-40B4-BE49-F238E27FC236}">
                <a16:creationId xmlns:a16="http://schemas.microsoft.com/office/drawing/2014/main" id="{96A24990-97F9-F142-0F61-421ED2742C85}"/>
              </a:ext>
            </a:extLst>
          </p:cNvPr>
          <p:cNvSpPr/>
          <p:nvPr/>
        </p:nvSpPr>
        <p:spPr>
          <a:xfrm>
            <a:off x="4139951" y="2931792"/>
            <a:ext cx="1008112" cy="201622"/>
          </a:xfrm>
          <a:prstGeom prst="roundRect">
            <a:avLst>
              <a:gd name="adj" fmla="val 0"/>
            </a:avLst>
          </a:prstGeom>
          <a:solidFill>
            <a:schemeClr val="accent4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>
                <a:solidFill>
                  <a:schemeClr val="tx1"/>
                </a:solidFill>
              </a:rPr>
              <a:t>1G.5GB</a:t>
            </a:r>
            <a:endParaRPr kumimoji="1" lang="ko-KR" altLang="en-US" sz="1000">
              <a:solidFill>
                <a:schemeClr val="tx1"/>
              </a:solidFill>
            </a:endParaRPr>
          </a:p>
        </p:txBody>
      </p:sp>
      <p:sp>
        <p:nvSpPr>
          <p:cNvPr id="49" name="모서리가 둥근 직사각형 48">
            <a:extLst>
              <a:ext uri="{FF2B5EF4-FFF2-40B4-BE49-F238E27FC236}">
                <a16:creationId xmlns:a16="http://schemas.microsoft.com/office/drawing/2014/main" id="{8FF747B6-87C0-97C8-F687-7C58F709EEC0}"/>
              </a:ext>
            </a:extLst>
          </p:cNvPr>
          <p:cNvSpPr/>
          <p:nvPr/>
        </p:nvSpPr>
        <p:spPr>
          <a:xfrm>
            <a:off x="3131837" y="3133414"/>
            <a:ext cx="2016224" cy="201622"/>
          </a:xfrm>
          <a:prstGeom prst="roundRect">
            <a:avLst>
              <a:gd name="adj" fmla="val 0"/>
            </a:avLst>
          </a:prstGeom>
          <a:solidFill>
            <a:schemeClr val="accent2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>
                <a:solidFill>
                  <a:schemeClr val="tx1"/>
                </a:solidFill>
              </a:rPr>
              <a:t>2G.10GB</a:t>
            </a:r>
            <a:endParaRPr kumimoji="1" lang="ko-KR" altLang="en-US" sz="1000">
              <a:solidFill>
                <a:schemeClr val="tx1"/>
              </a:solidFill>
            </a:endParaRPr>
          </a:p>
        </p:txBody>
      </p:sp>
      <p:sp>
        <p:nvSpPr>
          <p:cNvPr id="50" name="모서리가 둥근 직사각형 49">
            <a:extLst>
              <a:ext uri="{FF2B5EF4-FFF2-40B4-BE49-F238E27FC236}">
                <a16:creationId xmlns:a16="http://schemas.microsoft.com/office/drawing/2014/main" id="{FB72DE84-C3EB-E8AF-2355-C491BD1CEE26}"/>
              </a:ext>
            </a:extLst>
          </p:cNvPr>
          <p:cNvSpPr/>
          <p:nvPr/>
        </p:nvSpPr>
        <p:spPr>
          <a:xfrm>
            <a:off x="5148968" y="3133414"/>
            <a:ext cx="2016224" cy="201622"/>
          </a:xfrm>
          <a:prstGeom prst="roundRect">
            <a:avLst>
              <a:gd name="adj" fmla="val 0"/>
            </a:avLst>
          </a:prstGeom>
          <a:solidFill>
            <a:schemeClr val="accent2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>
                <a:solidFill>
                  <a:schemeClr val="tx1"/>
                </a:solidFill>
              </a:rPr>
              <a:t>2G.10GB</a:t>
            </a:r>
            <a:endParaRPr kumimoji="1" lang="ko-KR" altLang="en-US" sz="1000">
              <a:solidFill>
                <a:schemeClr val="tx1"/>
              </a:solidFill>
            </a:endParaRPr>
          </a:p>
        </p:txBody>
      </p:sp>
      <p:sp>
        <p:nvSpPr>
          <p:cNvPr id="51" name="모서리가 둥근 직사각형 50">
            <a:extLst>
              <a:ext uri="{FF2B5EF4-FFF2-40B4-BE49-F238E27FC236}">
                <a16:creationId xmlns:a16="http://schemas.microsoft.com/office/drawing/2014/main" id="{F92FD3CE-8A4C-9076-A10A-0642E225DDD2}"/>
              </a:ext>
            </a:extLst>
          </p:cNvPr>
          <p:cNvSpPr/>
          <p:nvPr/>
        </p:nvSpPr>
        <p:spPr>
          <a:xfrm>
            <a:off x="7164288" y="3133414"/>
            <a:ext cx="1008112" cy="201622"/>
          </a:xfrm>
          <a:prstGeom prst="roundRect">
            <a:avLst>
              <a:gd name="adj" fmla="val 0"/>
            </a:avLst>
          </a:prstGeom>
          <a:solidFill>
            <a:schemeClr val="accent4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>
                <a:solidFill>
                  <a:schemeClr val="tx1"/>
                </a:solidFill>
              </a:rPr>
              <a:t>1G.5GB</a:t>
            </a:r>
            <a:endParaRPr kumimoji="1" lang="ko-KR" altLang="en-US" sz="1000">
              <a:solidFill>
                <a:schemeClr val="tx1"/>
              </a:solidFill>
            </a:endParaRPr>
          </a:p>
        </p:txBody>
      </p:sp>
      <p:sp>
        <p:nvSpPr>
          <p:cNvPr id="52" name="모서리가 둥근 직사각형 51">
            <a:extLst>
              <a:ext uri="{FF2B5EF4-FFF2-40B4-BE49-F238E27FC236}">
                <a16:creationId xmlns:a16="http://schemas.microsoft.com/office/drawing/2014/main" id="{72678E6F-8B80-B2DF-C259-D0CB61C93917}"/>
              </a:ext>
            </a:extLst>
          </p:cNvPr>
          <p:cNvSpPr/>
          <p:nvPr/>
        </p:nvSpPr>
        <p:spPr>
          <a:xfrm>
            <a:off x="1115614" y="3133414"/>
            <a:ext cx="1008112" cy="201622"/>
          </a:xfrm>
          <a:prstGeom prst="roundRect">
            <a:avLst>
              <a:gd name="adj" fmla="val 0"/>
            </a:avLst>
          </a:prstGeom>
          <a:solidFill>
            <a:schemeClr val="accent4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>
                <a:solidFill>
                  <a:schemeClr val="tx1"/>
                </a:solidFill>
              </a:rPr>
              <a:t>1G.5GB</a:t>
            </a:r>
            <a:endParaRPr kumimoji="1" lang="ko-KR" altLang="en-US" sz="1000">
              <a:solidFill>
                <a:schemeClr val="tx1"/>
              </a:solidFill>
            </a:endParaRPr>
          </a:p>
        </p:txBody>
      </p:sp>
      <p:sp>
        <p:nvSpPr>
          <p:cNvPr id="53" name="모서리가 둥근 직사각형 52">
            <a:extLst>
              <a:ext uri="{FF2B5EF4-FFF2-40B4-BE49-F238E27FC236}">
                <a16:creationId xmlns:a16="http://schemas.microsoft.com/office/drawing/2014/main" id="{A2B04BC7-8A76-0FE7-2491-D739D0C97965}"/>
              </a:ext>
            </a:extLst>
          </p:cNvPr>
          <p:cNvSpPr/>
          <p:nvPr/>
        </p:nvSpPr>
        <p:spPr>
          <a:xfrm>
            <a:off x="2123725" y="3133414"/>
            <a:ext cx="1008112" cy="201622"/>
          </a:xfrm>
          <a:prstGeom prst="roundRect">
            <a:avLst>
              <a:gd name="adj" fmla="val 0"/>
            </a:avLst>
          </a:prstGeom>
          <a:solidFill>
            <a:schemeClr val="accent4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>
                <a:solidFill>
                  <a:schemeClr val="tx1"/>
                </a:solidFill>
              </a:rPr>
              <a:t>1G.5GB</a:t>
            </a:r>
            <a:endParaRPr kumimoji="1" lang="ko-KR" altLang="en-US" sz="1000">
              <a:solidFill>
                <a:schemeClr val="tx1"/>
              </a:solidFill>
            </a:endParaRPr>
          </a:p>
        </p:txBody>
      </p:sp>
      <p:sp>
        <p:nvSpPr>
          <p:cNvPr id="54" name="모서리가 둥근 직사각형 53">
            <a:extLst>
              <a:ext uri="{FF2B5EF4-FFF2-40B4-BE49-F238E27FC236}">
                <a16:creationId xmlns:a16="http://schemas.microsoft.com/office/drawing/2014/main" id="{833E7E70-E55C-04DF-7CC0-D62FD95DBA04}"/>
              </a:ext>
            </a:extLst>
          </p:cNvPr>
          <p:cNvSpPr/>
          <p:nvPr/>
        </p:nvSpPr>
        <p:spPr>
          <a:xfrm>
            <a:off x="1115620" y="3335036"/>
            <a:ext cx="2016224" cy="201622"/>
          </a:xfrm>
          <a:prstGeom prst="roundRect">
            <a:avLst>
              <a:gd name="adj" fmla="val 0"/>
            </a:avLst>
          </a:prstGeom>
          <a:solidFill>
            <a:schemeClr val="accent2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>
                <a:solidFill>
                  <a:schemeClr val="tx1"/>
                </a:solidFill>
              </a:rPr>
              <a:t>2G.10GB</a:t>
            </a:r>
            <a:endParaRPr kumimoji="1" lang="ko-KR" altLang="en-US" sz="1000">
              <a:solidFill>
                <a:schemeClr val="tx1"/>
              </a:solidFill>
            </a:endParaRPr>
          </a:p>
        </p:txBody>
      </p:sp>
      <p:sp>
        <p:nvSpPr>
          <p:cNvPr id="55" name="모서리가 둥근 직사각형 54">
            <a:extLst>
              <a:ext uri="{FF2B5EF4-FFF2-40B4-BE49-F238E27FC236}">
                <a16:creationId xmlns:a16="http://schemas.microsoft.com/office/drawing/2014/main" id="{8516F789-E65C-8E4C-106B-BF1E4B5FF645}"/>
              </a:ext>
            </a:extLst>
          </p:cNvPr>
          <p:cNvSpPr/>
          <p:nvPr/>
        </p:nvSpPr>
        <p:spPr>
          <a:xfrm>
            <a:off x="3131840" y="3335036"/>
            <a:ext cx="1008112" cy="201622"/>
          </a:xfrm>
          <a:prstGeom prst="roundRect">
            <a:avLst>
              <a:gd name="adj" fmla="val 0"/>
            </a:avLst>
          </a:prstGeom>
          <a:solidFill>
            <a:schemeClr val="accent4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>
                <a:solidFill>
                  <a:schemeClr val="tx1"/>
                </a:solidFill>
              </a:rPr>
              <a:t>1G.5GB</a:t>
            </a:r>
            <a:endParaRPr kumimoji="1" lang="ko-KR" altLang="en-US" sz="1000">
              <a:solidFill>
                <a:schemeClr val="tx1"/>
              </a:solidFill>
            </a:endParaRPr>
          </a:p>
        </p:txBody>
      </p:sp>
      <p:sp>
        <p:nvSpPr>
          <p:cNvPr id="56" name="모서리가 둥근 직사각형 55">
            <a:extLst>
              <a:ext uri="{FF2B5EF4-FFF2-40B4-BE49-F238E27FC236}">
                <a16:creationId xmlns:a16="http://schemas.microsoft.com/office/drawing/2014/main" id="{F3AB38DD-34D8-85AD-DAF6-27C5E80B8CAA}"/>
              </a:ext>
            </a:extLst>
          </p:cNvPr>
          <p:cNvSpPr/>
          <p:nvPr/>
        </p:nvSpPr>
        <p:spPr>
          <a:xfrm>
            <a:off x="4139951" y="3335036"/>
            <a:ext cx="1008112" cy="201622"/>
          </a:xfrm>
          <a:prstGeom prst="roundRect">
            <a:avLst>
              <a:gd name="adj" fmla="val 0"/>
            </a:avLst>
          </a:prstGeom>
          <a:solidFill>
            <a:schemeClr val="accent4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>
                <a:solidFill>
                  <a:schemeClr val="tx1"/>
                </a:solidFill>
              </a:rPr>
              <a:t>1G.5GB</a:t>
            </a:r>
            <a:endParaRPr kumimoji="1" lang="ko-KR" altLang="en-US" sz="1000">
              <a:solidFill>
                <a:schemeClr val="tx1"/>
              </a:solidFill>
            </a:endParaRPr>
          </a:p>
        </p:txBody>
      </p:sp>
      <p:sp>
        <p:nvSpPr>
          <p:cNvPr id="57" name="모서리가 둥근 직사각형 56">
            <a:extLst>
              <a:ext uri="{FF2B5EF4-FFF2-40B4-BE49-F238E27FC236}">
                <a16:creationId xmlns:a16="http://schemas.microsoft.com/office/drawing/2014/main" id="{55855FB5-21BA-AD27-E25C-B939BFA214AE}"/>
              </a:ext>
            </a:extLst>
          </p:cNvPr>
          <p:cNvSpPr/>
          <p:nvPr/>
        </p:nvSpPr>
        <p:spPr>
          <a:xfrm>
            <a:off x="5147158" y="3335036"/>
            <a:ext cx="1008112" cy="201622"/>
          </a:xfrm>
          <a:prstGeom prst="roundRect">
            <a:avLst>
              <a:gd name="adj" fmla="val 0"/>
            </a:avLst>
          </a:prstGeom>
          <a:solidFill>
            <a:schemeClr val="accent4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>
                <a:solidFill>
                  <a:schemeClr val="tx1"/>
                </a:solidFill>
              </a:rPr>
              <a:t>1G.5GB</a:t>
            </a:r>
            <a:endParaRPr kumimoji="1" lang="ko-KR" altLang="en-US" sz="1000">
              <a:solidFill>
                <a:schemeClr val="tx1"/>
              </a:solidFill>
            </a:endParaRPr>
          </a:p>
        </p:txBody>
      </p:sp>
      <p:sp>
        <p:nvSpPr>
          <p:cNvPr id="58" name="모서리가 둥근 직사각형 57">
            <a:extLst>
              <a:ext uri="{FF2B5EF4-FFF2-40B4-BE49-F238E27FC236}">
                <a16:creationId xmlns:a16="http://schemas.microsoft.com/office/drawing/2014/main" id="{B9FE666B-CFCF-6AD1-F74E-15A03441227B}"/>
              </a:ext>
            </a:extLst>
          </p:cNvPr>
          <p:cNvSpPr/>
          <p:nvPr/>
        </p:nvSpPr>
        <p:spPr>
          <a:xfrm>
            <a:off x="6155269" y="3335036"/>
            <a:ext cx="1008112" cy="201622"/>
          </a:xfrm>
          <a:prstGeom prst="roundRect">
            <a:avLst>
              <a:gd name="adj" fmla="val 0"/>
            </a:avLst>
          </a:prstGeom>
          <a:solidFill>
            <a:schemeClr val="accent4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>
                <a:solidFill>
                  <a:schemeClr val="tx1"/>
                </a:solidFill>
              </a:rPr>
              <a:t>1G.5GB</a:t>
            </a:r>
            <a:endParaRPr kumimoji="1" lang="ko-KR" altLang="en-US" sz="1000">
              <a:solidFill>
                <a:schemeClr val="tx1"/>
              </a:solidFill>
            </a:endParaRPr>
          </a:p>
        </p:txBody>
      </p:sp>
      <p:sp>
        <p:nvSpPr>
          <p:cNvPr id="59" name="모서리가 둥근 직사각형 58">
            <a:extLst>
              <a:ext uri="{FF2B5EF4-FFF2-40B4-BE49-F238E27FC236}">
                <a16:creationId xmlns:a16="http://schemas.microsoft.com/office/drawing/2014/main" id="{5B7A82A4-4BEF-9B73-5B06-5C451480402A}"/>
              </a:ext>
            </a:extLst>
          </p:cNvPr>
          <p:cNvSpPr/>
          <p:nvPr/>
        </p:nvSpPr>
        <p:spPr>
          <a:xfrm>
            <a:off x="7164288" y="3335036"/>
            <a:ext cx="1008112" cy="201622"/>
          </a:xfrm>
          <a:prstGeom prst="roundRect">
            <a:avLst>
              <a:gd name="adj" fmla="val 0"/>
            </a:avLst>
          </a:prstGeom>
          <a:solidFill>
            <a:schemeClr val="accent4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>
                <a:solidFill>
                  <a:schemeClr val="tx1"/>
                </a:solidFill>
              </a:rPr>
              <a:t>1G.5GB</a:t>
            </a:r>
            <a:endParaRPr kumimoji="1" lang="ko-KR" altLang="en-US" sz="1000">
              <a:solidFill>
                <a:schemeClr val="tx1"/>
              </a:solidFill>
            </a:endParaRPr>
          </a:p>
        </p:txBody>
      </p:sp>
      <p:sp>
        <p:nvSpPr>
          <p:cNvPr id="60" name="모서리가 둥근 직사각형 59">
            <a:extLst>
              <a:ext uri="{FF2B5EF4-FFF2-40B4-BE49-F238E27FC236}">
                <a16:creationId xmlns:a16="http://schemas.microsoft.com/office/drawing/2014/main" id="{9A2281C3-1CE0-1660-4F02-B52E221C946D}"/>
              </a:ext>
            </a:extLst>
          </p:cNvPr>
          <p:cNvSpPr/>
          <p:nvPr/>
        </p:nvSpPr>
        <p:spPr>
          <a:xfrm>
            <a:off x="3131837" y="3536658"/>
            <a:ext cx="2016224" cy="201622"/>
          </a:xfrm>
          <a:prstGeom prst="roundRect">
            <a:avLst>
              <a:gd name="adj" fmla="val 0"/>
            </a:avLst>
          </a:prstGeom>
          <a:solidFill>
            <a:schemeClr val="accent2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>
                <a:solidFill>
                  <a:schemeClr val="tx1"/>
                </a:solidFill>
              </a:rPr>
              <a:t>2G.10GB</a:t>
            </a:r>
            <a:endParaRPr kumimoji="1" lang="ko-KR" altLang="en-US" sz="1000">
              <a:solidFill>
                <a:schemeClr val="tx1"/>
              </a:solidFill>
            </a:endParaRPr>
          </a:p>
        </p:txBody>
      </p:sp>
      <p:sp>
        <p:nvSpPr>
          <p:cNvPr id="61" name="모서리가 둥근 직사각형 60">
            <a:extLst>
              <a:ext uri="{FF2B5EF4-FFF2-40B4-BE49-F238E27FC236}">
                <a16:creationId xmlns:a16="http://schemas.microsoft.com/office/drawing/2014/main" id="{AABCEC97-F89A-AB0B-3AE8-495388C552CB}"/>
              </a:ext>
            </a:extLst>
          </p:cNvPr>
          <p:cNvSpPr/>
          <p:nvPr/>
        </p:nvSpPr>
        <p:spPr>
          <a:xfrm>
            <a:off x="5148968" y="3738280"/>
            <a:ext cx="2016224" cy="201622"/>
          </a:xfrm>
          <a:prstGeom prst="roundRect">
            <a:avLst>
              <a:gd name="adj" fmla="val 0"/>
            </a:avLst>
          </a:prstGeom>
          <a:solidFill>
            <a:schemeClr val="accent2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>
                <a:solidFill>
                  <a:schemeClr val="tx1"/>
                </a:solidFill>
              </a:rPr>
              <a:t>2G.10GB</a:t>
            </a:r>
            <a:endParaRPr kumimoji="1" lang="ko-KR" altLang="en-US" sz="1000">
              <a:solidFill>
                <a:schemeClr val="tx1"/>
              </a:solidFill>
            </a:endParaRPr>
          </a:p>
        </p:txBody>
      </p:sp>
      <p:sp>
        <p:nvSpPr>
          <p:cNvPr id="62" name="모서리가 둥근 직사각형 61">
            <a:extLst>
              <a:ext uri="{FF2B5EF4-FFF2-40B4-BE49-F238E27FC236}">
                <a16:creationId xmlns:a16="http://schemas.microsoft.com/office/drawing/2014/main" id="{BDED40DC-0F3A-9635-BE75-7CC3996E6DAA}"/>
              </a:ext>
            </a:extLst>
          </p:cNvPr>
          <p:cNvSpPr/>
          <p:nvPr/>
        </p:nvSpPr>
        <p:spPr>
          <a:xfrm>
            <a:off x="1115614" y="3536658"/>
            <a:ext cx="1008112" cy="201622"/>
          </a:xfrm>
          <a:prstGeom prst="roundRect">
            <a:avLst>
              <a:gd name="adj" fmla="val 0"/>
            </a:avLst>
          </a:prstGeom>
          <a:solidFill>
            <a:schemeClr val="accent4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>
                <a:solidFill>
                  <a:schemeClr val="tx1"/>
                </a:solidFill>
              </a:rPr>
              <a:t>1G.5GB</a:t>
            </a:r>
            <a:endParaRPr kumimoji="1" lang="ko-KR" altLang="en-US" sz="1000">
              <a:solidFill>
                <a:schemeClr val="tx1"/>
              </a:solidFill>
            </a:endParaRPr>
          </a:p>
        </p:txBody>
      </p:sp>
      <p:sp>
        <p:nvSpPr>
          <p:cNvPr id="63" name="모서리가 둥근 직사각형 62">
            <a:extLst>
              <a:ext uri="{FF2B5EF4-FFF2-40B4-BE49-F238E27FC236}">
                <a16:creationId xmlns:a16="http://schemas.microsoft.com/office/drawing/2014/main" id="{BBAAA322-4AB5-5AC2-D2F1-E3763605E035}"/>
              </a:ext>
            </a:extLst>
          </p:cNvPr>
          <p:cNvSpPr/>
          <p:nvPr/>
        </p:nvSpPr>
        <p:spPr>
          <a:xfrm>
            <a:off x="2123725" y="3536658"/>
            <a:ext cx="1008112" cy="201622"/>
          </a:xfrm>
          <a:prstGeom prst="roundRect">
            <a:avLst>
              <a:gd name="adj" fmla="val 0"/>
            </a:avLst>
          </a:prstGeom>
          <a:solidFill>
            <a:schemeClr val="accent4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>
                <a:solidFill>
                  <a:schemeClr val="tx1"/>
                </a:solidFill>
              </a:rPr>
              <a:t>1G.5GB</a:t>
            </a:r>
            <a:endParaRPr kumimoji="1" lang="ko-KR" altLang="en-US" sz="1000">
              <a:solidFill>
                <a:schemeClr val="tx1"/>
              </a:solidFill>
            </a:endParaRPr>
          </a:p>
        </p:txBody>
      </p:sp>
      <p:sp>
        <p:nvSpPr>
          <p:cNvPr id="64" name="모서리가 둥근 직사각형 63">
            <a:extLst>
              <a:ext uri="{FF2B5EF4-FFF2-40B4-BE49-F238E27FC236}">
                <a16:creationId xmlns:a16="http://schemas.microsoft.com/office/drawing/2014/main" id="{F2B2C9E2-2896-7898-D296-8F5DFA52C470}"/>
              </a:ext>
            </a:extLst>
          </p:cNvPr>
          <p:cNvSpPr/>
          <p:nvPr/>
        </p:nvSpPr>
        <p:spPr>
          <a:xfrm>
            <a:off x="5147158" y="3536658"/>
            <a:ext cx="1008112" cy="201622"/>
          </a:xfrm>
          <a:prstGeom prst="roundRect">
            <a:avLst>
              <a:gd name="adj" fmla="val 0"/>
            </a:avLst>
          </a:prstGeom>
          <a:solidFill>
            <a:schemeClr val="accent4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>
                <a:solidFill>
                  <a:schemeClr val="tx1"/>
                </a:solidFill>
              </a:rPr>
              <a:t>1G.5GB</a:t>
            </a:r>
            <a:endParaRPr kumimoji="1" lang="ko-KR" altLang="en-US" sz="1000">
              <a:solidFill>
                <a:schemeClr val="tx1"/>
              </a:solidFill>
            </a:endParaRPr>
          </a:p>
        </p:txBody>
      </p:sp>
      <p:sp>
        <p:nvSpPr>
          <p:cNvPr id="65" name="모서리가 둥근 직사각형 64">
            <a:extLst>
              <a:ext uri="{FF2B5EF4-FFF2-40B4-BE49-F238E27FC236}">
                <a16:creationId xmlns:a16="http://schemas.microsoft.com/office/drawing/2014/main" id="{1EA9DD41-8C15-C1AB-EA70-BE9B1CE3DFA1}"/>
              </a:ext>
            </a:extLst>
          </p:cNvPr>
          <p:cNvSpPr/>
          <p:nvPr/>
        </p:nvSpPr>
        <p:spPr>
          <a:xfrm>
            <a:off x="6155269" y="3536658"/>
            <a:ext cx="1008112" cy="201622"/>
          </a:xfrm>
          <a:prstGeom prst="roundRect">
            <a:avLst>
              <a:gd name="adj" fmla="val 0"/>
            </a:avLst>
          </a:prstGeom>
          <a:solidFill>
            <a:schemeClr val="accent4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>
                <a:solidFill>
                  <a:schemeClr val="tx1"/>
                </a:solidFill>
              </a:rPr>
              <a:t>1G.5GB</a:t>
            </a:r>
            <a:endParaRPr kumimoji="1" lang="ko-KR" altLang="en-US" sz="1000">
              <a:solidFill>
                <a:schemeClr val="tx1"/>
              </a:solidFill>
            </a:endParaRPr>
          </a:p>
        </p:txBody>
      </p:sp>
      <p:sp>
        <p:nvSpPr>
          <p:cNvPr id="66" name="모서리가 둥근 직사각형 65">
            <a:extLst>
              <a:ext uri="{FF2B5EF4-FFF2-40B4-BE49-F238E27FC236}">
                <a16:creationId xmlns:a16="http://schemas.microsoft.com/office/drawing/2014/main" id="{BF847ACF-B95E-D200-855D-77B6CC5246FB}"/>
              </a:ext>
            </a:extLst>
          </p:cNvPr>
          <p:cNvSpPr/>
          <p:nvPr/>
        </p:nvSpPr>
        <p:spPr>
          <a:xfrm>
            <a:off x="1115614" y="3738280"/>
            <a:ext cx="1008112" cy="201622"/>
          </a:xfrm>
          <a:prstGeom prst="roundRect">
            <a:avLst>
              <a:gd name="adj" fmla="val 0"/>
            </a:avLst>
          </a:prstGeom>
          <a:solidFill>
            <a:schemeClr val="accent4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>
                <a:solidFill>
                  <a:schemeClr val="tx1"/>
                </a:solidFill>
              </a:rPr>
              <a:t>1G.5GB</a:t>
            </a:r>
            <a:endParaRPr kumimoji="1" lang="ko-KR" altLang="en-US" sz="1000">
              <a:solidFill>
                <a:schemeClr val="tx1"/>
              </a:solidFill>
            </a:endParaRPr>
          </a:p>
        </p:txBody>
      </p:sp>
      <p:sp>
        <p:nvSpPr>
          <p:cNvPr id="67" name="모서리가 둥근 직사각형 66">
            <a:extLst>
              <a:ext uri="{FF2B5EF4-FFF2-40B4-BE49-F238E27FC236}">
                <a16:creationId xmlns:a16="http://schemas.microsoft.com/office/drawing/2014/main" id="{BF98A249-887D-F8FC-70FD-BB872697224B}"/>
              </a:ext>
            </a:extLst>
          </p:cNvPr>
          <p:cNvSpPr/>
          <p:nvPr/>
        </p:nvSpPr>
        <p:spPr>
          <a:xfrm>
            <a:off x="2123725" y="3738280"/>
            <a:ext cx="1008112" cy="201622"/>
          </a:xfrm>
          <a:prstGeom prst="roundRect">
            <a:avLst>
              <a:gd name="adj" fmla="val 0"/>
            </a:avLst>
          </a:prstGeom>
          <a:solidFill>
            <a:schemeClr val="accent4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>
                <a:solidFill>
                  <a:schemeClr val="tx1"/>
                </a:solidFill>
              </a:rPr>
              <a:t>1G.5GB</a:t>
            </a:r>
            <a:endParaRPr kumimoji="1" lang="ko-KR" altLang="en-US" sz="1000">
              <a:solidFill>
                <a:schemeClr val="tx1"/>
              </a:solidFill>
            </a:endParaRPr>
          </a:p>
        </p:txBody>
      </p:sp>
      <p:sp>
        <p:nvSpPr>
          <p:cNvPr id="68" name="모서리가 둥근 직사각형 67">
            <a:extLst>
              <a:ext uri="{FF2B5EF4-FFF2-40B4-BE49-F238E27FC236}">
                <a16:creationId xmlns:a16="http://schemas.microsoft.com/office/drawing/2014/main" id="{9DD94C49-4209-C2DD-CB4F-F6DE39D4A639}"/>
              </a:ext>
            </a:extLst>
          </p:cNvPr>
          <p:cNvSpPr/>
          <p:nvPr/>
        </p:nvSpPr>
        <p:spPr>
          <a:xfrm>
            <a:off x="3131840" y="3738280"/>
            <a:ext cx="1008112" cy="201622"/>
          </a:xfrm>
          <a:prstGeom prst="roundRect">
            <a:avLst>
              <a:gd name="adj" fmla="val 0"/>
            </a:avLst>
          </a:prstGeom>
          <a:solidFill>
            <a:schemeClr val="accent4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>
                <a:solidFill>
                  <a:schemeClr val="tx1"/>
                </a:solidFill>
              </a:rPr>
              <a:t>1G.5GB</a:t>
            </a:r>
            <a:endParaRPr kumimoji="1" lang="ko-KR" altLang="en-US" sz="1000">
              <a:solidFill>
                <a:schemeClr val="tx1"/>
              </a:solidFill>
            </a:endParaRPr>
          </a:p>
        </p:txBody>
      </p:sp>
      <p:sp>
        <p:nvSpPr>
          <p:cNvPr id="69" name="모서리가 둥근 직사각형 68">
            <a:extLst>
              <a:ext uri="{FF2B5EF4-FFF2-40B4-BE49-F238E27FC236}">
                <a16:creationId xmlns:a16="http://schemas.microsoft.com/office/drawing/2014/main" id="{9F82AACB-5CE1-6FEC-328A-40CD58A76C61}"/>
              </a:ext>
            </a:extLst>
          </p:cNvPr>
          <p:cNvSpPr/>
          <p:nvPr/>
        </p:nvSpPr>
        <p:spPr>
          <a:xfrm>
            <a:off x="4139951" y="3738280"/>
            <a:ext cx="1008112" cy="201622"/>
          </a:xfrm>
          <a:prstGeom prst="roundRect">
            <a:avLst>
              <a:gd name="adj" fmla="val 0"/>
            </a:avLst>
          </a:prstGeom>
          <a:solidFill>
            <a:schemeClr val="accent4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>
                <a:solidFill>
                  <a:schemeClr val="tx1"/>
                </a:solidFill>
              </a:rPr>
              <a:t>1G.5GB</a:t>
            </a:r>
            <a:endParaRPr kumimoji="1" lang="ko-KR" altLang="en-US" sz="1000">
              <a:solidFill>
                <a:schemeClr val="tx1"/>
              </a:solidFill>
            </a:endParaRPr>
          </a:p>
        </p:txBody>
      </p:sp>
      <p:sp>
        <p:nvSpPr>
          <p:cNvPr id="70" name="모서리가 둥근 직사각형 69">
            <a:extLst>
              <a:ext uri="{FF2B5EF4-FFF2-40B4-BE49-F238E27FC236}">
                <a16:creationId xmlns:a16="http://schemas.microsoft.com/office/drawing/2014/main" id="{F46B6577-0526-219F-954E-3FF5D244C773}"/>
              </a:ext>
            </a:extLst>
          </p:cNvPr>
          <p:cNvSpPr/>
          <p:nvPr/>
        </p:nvSpPr>
        <p:spPr>
          <a:xfrm>
            <a:off x="7164288" y="3536658"/>
            <a:ext cx="1008112" cy="201622"/>
          </a:xfrm>
          <a:prstGeom prst="roundRect">
            <a:avLst>
              <a:gd name="adj" fmla="val 0"/>
            </a:avLst>
          </a:prstGeom>
          <a:solidFill>
            <a:schemeClr val="accent4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>
                <a:solidFill>
                  <a:schemeClr val="tx1"/>
                </a:solidFill>
              </a:rPr>
              <a:t>1G.5GB</a:t>
            </a:r>
            <a:endParaRPr kumimoji="1" lang="ko-KR" altLang="en-US" sz="1000">
              <a:solidFill>
                <a:schemeClr val="tx1"/>
              </a:solidFill>
            </a:endParaRPr>
          </a:p>
        </p:txBody>
      </p:sp>
      <p:sp>
        <p:nvSpPr>
          <p:cNvPr id="71" name="모서리가 둥근 직사각형 70">
            <a:extLst>
              <a:ext uri="{FF2B5EF4-FFF2-40B4-BE49-F238E27FC236}">
                <a16:creationId xmlns:a16="http://schemas.microsoft.com/office/drawing/2014/main" id="{C1AB98ED-0CA4-5E24-6931-BCD1BE5FBF86}"/>
              </a:ext>
            </a:extLst>
          </p:cNvPr>
          <p:cNvSpPr/>
          <p:nvPr/>
        </p:nvSpPr>
        <p:spPr>
          <a:xfrm>
            <a:off x="7164288" y="3738280"/>
            <a:ext cx="1008112" cy="201622"/>
          </a:xfrm>
          <a:prstGeom prst="roundRect">
            <a:avLst>
              <a:gd name="adj" fmla="val 0"/>
            </a:avLst>
          </a:prstGeom>
          <a:solidFill>
            <a:schemeClr val="accent4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>
                <a:solidFill>
                  <a:schemeClr val="tx1"/>
                </a:solidFill>
              </a:rPr>
              <a:t>1G.5GB</a:t>
            </a:r>
            <a:endParaRPr kumimoji="1" lang="ko-KR" altLang="en-US" sz="1000">
              <a:solidFill>
                <a:schemeClr val="tx1"/>
              </a:solidFill>
            </a:endParaRPr>
          </a:p>
        </p:txBody>
      </p:sp>
      <p:sp>
        <p:nvSpPr>
          <p:cNvPr id="72" name="모서리가 둥근 직사각형 71">
            <a:extLst>
              <a:ext uri="{FF2B5EF4-FFF2-40B4-BE49-F238E27FC236}">
                <a16:creationId xmlns:a16="http://schemas.microsoft.com/office/drawing/2014/main" id="{F727C5E2-2C5F-D323-282F-82B89C07920A}"/>
              </a:ext>
            </a:extLst>
          </p:cNvPr>
          <p:cNvSpPr/>
          <p:nvPr/>
        </p:nvSpPr>
        <p:spPr>
          <a:xfrm>
            <a:off x="6154364" y="3939902"/>
            <a:ext cx="2016224" cy="201622"/>
          </a:xfrm>
          <a:prstGeom prst="roundRect">
            <a:avLst>
              <a:gd name="adj" fmla="val 0"/>
            </a:avLst>
          </a:prstGeom>
          <a:solidFill>
            <a:schemeClr val="accent2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>
                <a:solidFill>
                  <a:schemeClr val="tx1"/>
                </a:solidFill>
              </a:rPr>
              <a:t>2G.10GB</a:t>
            </a:r>
            <a:endParaRPr kumimoji="1" lang="ko-KR" altLang="en-US" sz="1000">
              <a:solidFill>
                <a:schemeClr val="tx1"/>
              </a:solidFill>
            </a:endParaRPr>
          </a:p>
        </p:txBody>
      </p:sp>
      <p:sp>
        <p:nvSpPr>
          <p:cNvPr id="73" name="모서리가 둥근 직사각형 72">
            <a:extLst>
              <a:ext uri="{FF2B5EF4-FFF2-40B4-BE49-F238E27FC236}">
                <a16:creationId xmlns:a16="http://schemas.microsoft.com/office/drawing/2014/main" id="{660E3B85-F708-A308-4032-1A0F7F0E8BF0}"/>
              </a:ext>
            </a:extLst>
          </p:cNvPr>
          <p:cNvSpPr/>
          <p:nvPr/>
        </p:nvSpPr>
        <p:spPr>
          <a:xfrm>
            <a:off x="5147158" y="3939902"/>
            <a:ext cx="1008112" cy="201622"/>
          </a:xfrm>
          <a:prstGeom prst="roundRect">
            <a:avLst>
              <a:gd name="adj" fmla="val 0"/>
            </a:avLst>
          </a:prstGeom>
          <a:solidFill>
            <a:schemeClr val="accent4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>
                <a:solidFill>
                  <a:schemeClr val="tx1"/>
                </a:solidFill>
              </a:rPr>
              <a:t>1G.5GB</a:t>
            </a:r>
            <a:endParaRPr kumimoji="1" lang="ko-KR" altLang="en-US" sz="1000">
              <a:solidFill>
                <a:schemeClr val="tx1"/>
              </a:solidFill>
            </a:endParaRPr>
          </a:p>
        </p:txBody>
      </p:sp>
      <p:sp>
        <p:nvSpPr>
          <p:cNvPr id="74" name="모서리가 둥근 직사각형 73">
            <a:extLst>
              <a:ext uri="{FF2B5EF4-FFF2-40B4-BE49-F238E27FC236}">
                <a16:creationId xmlns:a16="http://schemas.microsoft.com/office/drawing/2014/main" id="{61D39CA4-5809-8619-FE26-0774FD33C167}"/>
              </a:ext>
            </a:extLst>
          </p:cNvPr>
          <p:cNvSpPr/>
          <p:nvPr/>
        </p:nvSpPr>
        <p:spPr>
          <a:xfrm>
            <a:off x="1115614" y="3939902"/>
            <a:ext cx="1008112" cy="201622"/>
          </a:xfrm>
          <a:prstGeom prst="roundRect">
            <a:avLst>
              <a:gd name="adj" fmla="val 0"/>
            </a:avLst>
          </a:prstGeom>
          <a:solidFill>
            <a:schemeClr val="accent4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>
                <a:solidFill>
                  <a:schemeClr val="tx1"/>
                </a:solidFill>
              </a:rPr>
              <a:t>1G.5GB</a:t>
            </a:r>
            <a:endParaRPr kumimoji="1" lang="ko-KR" altLang="en-US" sz="1000">
              <a:solidFill>
                <a:schemeClr val="tx1"/>
              </a:solidFill>
            </a:endParaRPr>
          </a:p>
        </p:txBody>
      </p:sp>
      <p:sp>
        <p:nvSpPr>
          <p:cNvPr id="75" name="모서리가 둥근 직사각형 74">
            <a:extLst>
              <a:ext uri="{FF2B5EF4-FFF2-40B4-BE49-F238E27FC236}">
                <a16:creationId xmlns:a16="http://schemas.microsoft.com/office/drawing/2014/main" id="{8E097CE6-AF87-56A9-3FB7-6856461F7E66}"/>
              </a:ext>
            </a:extLst>
          </p:cNvPr>
          <p:cNvSpPr/>
          <p:nvPr/>
        </p:nvSpPr>
        <p:spPr>
          <a:xfrm>
            <a:off x="2123725" y="3939902"/>
            <a:ext cx="1008112" cy="201622"/>
          </a:xfrm>
          <a:prstGeom prst="roundRect">
            <a:avLst>
              <a:gd name="adj" fmla="val 0"/>
            </a:avLst>
          </a:prstGeom>
          <a:solidFill>
            <a:schemeClr val="accent4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>
                <a:solidFill>
                  <a:schemeClr val="tx1"/>
                </a:solidFill>
              </a:rPr>
              <a:t>1G.5GB</a:t>
            </a:r>
            <a:endParaRPr kumimoji="1" lang="ko-KR" altLang="en-US" sz="1000">
              <a:solidFill>
                <a:schemeClr val="tx1"/>
              </a:solidFill>
            </a:endParaRPr>
          </a:p>
        </p:txBody>
      </p:sp>
      <p:sp>
        <p:nvSpPr>
          <p:cNvPr id="76" name="모서리가 둥근 직사각형 75">
            <a:extLst>
              <a:ext uri="{FF2B5EF4-FFF2-40B4-BE49-F238E27FC236}">
                <a16:creationId xmlns:a16="http://schemas.microsoft.com/office/drawing/2014/main" id="{8DB0F560-95EF-F0DE-F695-1715A0ED01CA}"/>
              </a:ext>
            </a:extLst>
          </p:cNvPr>
          <p:cNvSpPr/>
          <p:nvPr/>
        </p:nvSpPr>
        <p:spPr>
          <a:xfrm>
            <a:off x="3131840" y="3939902"/>
            <a:ext cx="1008112" cy="201622"/>
          </a:xfrm>
          <a:prstGeom prst="roundRect">
            <a:avLst>
              <a:gd name="adj" fmla="val 0"/>
            </a:avLst>
          </a:prstGeom>
          <a:solidFill>
            <a:schemeClr val="accent4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>
                <a:solidFill>
                  <a:schemeClr val="tx1"/>
                </a:solidFill>
              </a:rPr>
              <a:t>1G.5GB</a:t>
            </a:r>
            <a:endParaRPr kumimoji="1" lang="ko-KR" altLang="en-US" sz="1000">
              <a:solidFill>
                <a:schemeClr val="tx1"/>
              </a:solidFill>
            </a:endParaRPr>
          </a:p>
        </p:txBody>
      </p:sp>
      <p:sp>
        <p:nvSpPr>
          <p:cNvPr id="77" name="모서리가 둥근 직사각형 76">
            <a:extLst>
              <a:ext uri="{FF2B5EF4-FFF2-40B4-BE49-F238E27FC236}">
                <a16:creationId xmlns:a16="http://schemas.microsoft.com/office/drawing/2014/main" id="{88560FE6-7FA8-6171-DF16-2E6F350D8CB7}"/>
              </a:ext>
            </a:extLst>
          </p:cNvPr>
          <p:cNvSpPr/>
          <p:nvPr/>
        </p:nvSpPr>
        <p:spPr>
          <a:xfrm>
            <a:off x="4139951" y="3939902"/>
            <a:ext cx="1008112" cy="201622"/>
          </a:xfrm>
          <a:prstGeom prst="roundRect">
            <a:avLst>
              <a:gd name="adj" fmla="val 0"/>
            </a:avLst>
          </a:prstGeom>
          <a:solidFill>
            <a:schemeClr val="accent4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>
                <a:solidFill>
                  <a:schemeClr val="tx1"/>
                </a:solidFill>
              </a:rPr>
              <a:t>1G.5GB</a:t>
            </a:r>
            <a:endParaRPr kumimoji="1" lang="ko-KR" altLang="en-US" sz="1000">
              <a:solidFill>
                <a:schemeClr val="tx1"/>
              </a:solidFill>
            </a:endParaRPr>
          </a:p>
        </p:txBody>
      </p:sp>
      <p:sp>
        <p:nvSpPr>
          <p:cNvPr id="78" name="모서리가 둥근 직사각형 77">
            <a:extLst>
              <a:ext uri="{FF2B5EF4-FFF2-40B4-BE49-F238E27FC236}">
                <a16:creationId xmlns:a16="http://schemas.microsoft.com/office/drawing/2014/main" id="{B7A57BE5-F203-764B-108A-1CD6FA330712}"/>
              </a:ext>
            </a:extLst>
          </p:cNvPr>
          <p:cNvSpPr/>
          <p:nvPr/>
        </p:nvSpPr>
        <p:spPr>
          <a:xfrm>
            <a:off x="5147158" y="4141524"/>
            <a:ext cx="1008112" cy="201622"/>
          </a:xfrm>
          <a:prstGeom prst="roundRect">
            <a:avLst>
              <a:gd name="adj" fmla="val 0"/>
            </a:avLst>
          </a:prstGeom>
          <a:solidFill>
            <a:schemeClr val="accent4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>
                <a:solidFill>
                  <a:schemeClr val="tx1"/>
                </a:solidFill>
              </a:rPr>
              <a:t>1G.5GB</a:t>
            </a:r>
            <a:endParaRPr kumimoji="1" lang="ko-KR" altLang="en-US" sz="1000">
              <a:solidFill>
                <a:schemeClr val="tx1"/>
              </a:solidFill>
            </a:endParaRPr>
          </a:p>
        </p:txBody>
      </p:sp>
      <p:sp>
        <p:nvSpPr>
          <p:cNvPr id="79" name="모서리가 둥근 직사각형 78">
            <a:extLst>
              <a:ext uri="{FF2B5EF4-FFF2-40B4-BE49-F238E27FC236}">
                <a16:creationId xmlns:a16="http://schemas.microsoft.com/office/drawing/2014/main" id="{DDB6F9E9-FCC4-C6B9-CC34-873C6267079E}"/>
              </a:ext>
            </a:extLst>
          </p:cNvPr>
          <p:cNvSpPr/>
          <p:nvPr/>
        </p:nvSpPr>
        <p:spPr>
          <a:xfrm>
            <a:off x="1115614" y="4141524"/>
            <a:ext cx="1008112" cy="201622"/>
          </a:xfrm>
          <a:prstGeom prst="roundRect">
            <a:avLst>
              <a:gd name="adj" fmla="val 0"/>
            </a:avLst>
          </a:prstGeom>
          <a:solidFill>
            <a:schemeClr val="accent4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>
                <a:solidFill>
                  <a:schemeClr val="tx1"/>
                </a:solidFill>
              </a:rPr>
              <a:t>1G.5GB</a:t>
            </a:r>
            <a:endParaRPr kumimoji="1" lang="ko-KR" altLang="en-US" sz="1000">
              <a:solidFill>
                <a:schemeClr val="tx1"/>
              </a:solidFill>
            </a:endParaRPr>
          </a:p>
        </p:txBody>
      </p:sp>
      <p:sp>
        <p:nvSpPr>
          <p:cNvPr id="80" name="모서리가 둥근 직사각형 79">
            <a:extLst>
              <a:ext uri="{FF2B5EF4-FFF2-40B4-BE49-F238E27FC236}">
                <a16:creationId xmlns:a16="http://schemas.microsoft.com/office/drawing/2014/main" id="{A34D4BA8-3C89-28FA-17A5-E66E251CB496}"/>
              </a:ext>
            </a:extLst>
          </p:cNvPr>
          <p:cNvSpPr/>
          <p:nvPr/>
        </p:nvSpPr>
        <p:spPr>
          <a:xfrm>
            <a:off x="2123725" y="4141524"/>
            <a:ext cx="1008112" cy="201622"/>
          </a:xfrm>
          <a:prstGeom prst="roundRect">
            <a:avLst>
              <a:gd name="adj" fmla="val 0"/>
            </a:avLst>
          </a:prstGeom>
          <a:solidFill>
            <a:schemeClr val="accent4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>
                <a:solidFill>
                  <a:schemeClr val="tx1"/>
                </a:solidFill>
              </a:rPr>
              <a:t>1G.5GB</a:t>
            </a:r>
            <a:endParaRPr kumimoji="1" lang="ko-KR" altLang="en-US" sz="1000">
              <a:solidFill>
                <a:schemeClr val="tx1"/>
              </a:solidFill>
            </a:endParaRPr>
          </a:p>
        </p:txBody>
      </p:sp>
      <p:sp>
        <p:nvSpPr>
          <p:cNvPr id="81" name="모서리가 둥근 직사각형 80">
            <a:extLst>
              <a:ext uri="{FF2B5EF4-FFF2-40B4-BE49-F238E27FC236}">
                <a16:creationId xmlns:a16="http://schemas.microsoft.com/office/drawing/2014/main" id="{C1FBECC5-E73E-3C78-105F-E3680FBBA6C6}"/>
              </a:ext>
            </a:extLst>
          </p:cNvPr>
          <p:cNvSpPr/>
          <p:nvPr/>
        </p:nvSpPr>
        <p:spPr>
          <a:xfrm>
            <a:off x="3131840" y="4141524"/>
            <a:ext cx="1008112" cy="201622"/>
          </a:xfrm>
          <a:prstGeom prst="roundRect">
            <a:avLst>
              <a:gd name="adj" fmla="val 0"/>
            </a:avLst>
          </a:prstGeom>
          <a:solidFill>
            <a:schemeClr val="accent4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>
                <a:solidFill>
                  <a:schemeClr val="tx1"/>
                </a:solidFill>
              </a:rPr>
              <a:t>1G.5GB</a:t>
            </a:r>
            <a:endParaRPr kumimoji="1" lang="ko-KR" altLang="en-US" sz="1000">
              <a:solidFill>
                <a:schemeClr val="tx1"/>
              </a:solidFill>
            </a:endParaRPr>
          </a:p>
        </p:txBody>
      </p:sp>
      <p:sp>
        <p:nvSpPr>
          <p:cNvPr id="82" name="모서리가 둥근 직사각형 81">
            <a:extLst>
              <a:ext uri="{FF2B5EF4-FFF2-40B4-BE49-F238E27FC236}">
                <a16:creationId xmlns:a16="http://schemas.microsoft.com/office/drawing/2014/main" id="{DF2409FB-EF02-B1ED-191A-CA7193945BD1}"/>
              </a:ext>
            </a:extLst>
          </p:cNvPr>
          <p:cNvSpPr/>
          <p:nvPr/>
        </p:nvSpPr>
        <p:spPr>
          <a:xfrm>
            <a:off x="4139951" y="4141524"/>
            <a:ext cx="1008112" cy="201622"/>
          </a:xfrm>
          <a:prstGeom prst="roundRect">
            <a:avLst>
              <a:gd name="adj" fmla="val 0"/>
            </a:avLst>
          </a:prstGeom>
          <a:solidFill>
            <a:schemeClr val="accent4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>
                <a:solidFill>
                  <a:schemeClr val="tx1"/>
                </a:solidFill>
              </a:rPr>
              <a:t>1G.5GB</a:t>
            </a:r>
            <a:endParaRPr kumimoji="1" lang="ko-KR" altLang="en-US" sz="1000">
              <a:solidFill>
                <a:schemeClr val="tx1"/>
              </a:solidFill>
            </a:endParaRPr>
          </a:p>
        </p:txBody>
      </p:sp>
      <p:sp>
        <p:nvSpPr>
          <p:cNvPr id="83" name="모서리가 둥근 직사각형 82">
            <a:extLst>
              <a:ext uri="{FF2B5EF4-FFF2-40B4-BE49-F238E27FC236}">
                <a16:creationId xmlns:a16="http://schemas.microsoft.com/office/drawing/2014/main" id="{8B955F7B-E117-CC13-6554-8F69EEC5978B}"/>
              </a:ext>
            </a:extLst>
          </p:cNvPr>
          <p:cNvSpPr/>
          <p:nvPr/>
        </p:nvSpPr>
        <p:spPr>
          <a:xfrm>
            <a:off x="6155269" y="4141524"/>
            <a:ext cx="1008112" cy="201622"/>
          </a:xfrm>
          <a:prstGeom prst="roundRect">
            <a:avLst>
              <a:gd name="adj" fmla="val 0"/>
            </a:avLst>
          </a:prstGeom>
          <a:solidFill>
            <a:schemeClr val="accent4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>
                <a:solidFill>
                  <a:schemeClr val="tx1"/>
                </a:solidFill>
              </a:rPr>
              <a:t>1G.5GB</a:t>
            </a:r>
            <a:endParaRPr kumimoji="1" lang="ko-KR" altLang="en-US" sz="1000">
              <a:solidFill>
                <a:schemeClr val="tx1"/>
              </a:solidFill>
            </a:endParaRPr>
          </a:p>
        </p:txBody>
      </p:sp>
      <p:sp>
        <p:nvSpPr>
          <p:cNvPr id="84" name="모서리가 둥근 직사각형 83">
            <a:extLst>
              <a:ext uri="{FF2B5EF4-FFF2-40B4-BE49-F238E27FC236}">
                <a16:creationId xmlns:a16="http://schemas.microsoft.com/office/drawing/2014/main" id="{9127C7C8-E3C2-9148-5811-C6732E418755}"/>
              </a:ext>
            </a:extLst>
          </p:cNvPr>
          <p:cNvSpPr/>
          <p:nvPr/>
        </p:nvSpPr>
        <p:spPr>
          <a:xfrm>
            <a:off x="7164288" y="4141524"/>
            <a:ext cx="1008112" cy="201622"/>
          </a:xfrm>
          <a:prstGeom prst="roundRect">
            <a:avLst>
              <a:gd name="adj" fmla="val 0"/>
            </a:avLst>
          </a:prstGeom>
          <a:solidFill>
            <a:schemeClr val="accent4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>
                <a:solidFill>
                  <a:schemeClr val="tx1"/>
                </a:solidFill>
              </a:rPr>
              <a:t>1G.5GB</a:t>
            </a:r>
            <a:endParaRPr kumimoji="1" lang="ko-KR" altLang="en-US" sz="10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47679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3521E7-76E1-51A4-2828-DA4AE49DC2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F34C468-9CC9-7E4C-4E0E-B509277513DC}"/>
              </a:ext>
            </a:extLst>
          </p:cNvPr>
          <p:cNvSpPr txBox="1">
            <a:spLocks/>
          </p:cNvSpPr>
          <p:nvPr/>
        </p:nvSpPr>
        <p:spPr>
          <a:xfrm>
            <a:off x="457200" y="-739613"/>
            <a:ext cx="8229600" cy="857250"/>
          </a:xfrm>
          <a:prstGeom prst="rect">
            <a:avLst/>
          </a:prstGeom>
        </p:spPr>
        <p:txBody>
          <a:bodyPr/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/>
              <a:t>MIG</a:t>
            </a:r>
            <a:endParaRPr lang="ko-KR" altLang="en-US" dirty="0"/>
          </a:p>
        </p:txBody>
      </p:sp>
      <p:sp>
        <p:nvSpPr>
          <p:cNvPr id="35" name="모서리가 둥근 직사각형 34">
            <a:extLst>
              <a:ext uri="{FF2B5EF4-FFF2-40B4-BE49-F238E27FC236}">
                <a16:creationId xmlns:a16="http://schemas.microsoft.com/office/drawing/2014/main" id="{303A6CED-E779-F651-AB3F-B6B082CF6978}"/>
              </a:ext>
            </a:extLst>
          </p:cNvPr>
          <p:cNvSpPr/>
          <p:nvPr/>
        </p:nvSpPr>
        <p:spPr>
          <a:xfrm>
            <a:off x="3166007" y="638544"/>
            <a:ext cx="1549189" cy="720080"/>
          </a:xfrm>
          <a:prstGeom prst="roundRect">
            <a:avLst>
              <a:gd name="adj" fmla="val 9264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1000" b="1">
                <a:solidFill>
                  <a:schemeClr val="tx1"/>
                </a:solidFill>
              </a:rPr>
              <a:t>CUDA App B Process</a:t>
            </a:r>
            <a:endParaRPr kumimoji="1" lang="ko-KR" altLang="en-US" sz="1000" b="1">
              <a:solidFill>
                <a:schemeClr val="tx1"/>
              </a:solidFill>
            </a:endParaRPr>
          </a:p>
        </p:txBody>
      </p:sp>
      <p:sp>
        <p:nvSpPr>
          <p:cNvPr id="36" name="모서리가 둥근 직사각형 35">
            <a:extLst>
              <a:ext uri="{FF2B5EF4-FFF2-40B4-BE49-F238E27FC236}">
                <a16:creationId xmlns:a16="http://schemas.microsoft.com/office/drawing/2014/main" id="{270ABE15-D4C8-A089-1AE9-901D368A420D}"/>
              </a:ext>
            </a:extLst>
          </p:cNvPr>
          <p:cNvSpPr/>
          <p:nvPr/>
        </p:nvSpPr>
        <p:spPr>
          <a:xfrm>
            <a:off x="3315816" y="990223"/>
            <a:ext cx="1237375" cy="288032"/>
          </a:xfrm>
          <a:prstGeom prst="roundRect">
            <a:avLst>
              <a:gd name="adj" fmla="val 15432"/>
            </a:avLst>
          </a:prstGeom>
          <a:solidFill>
            <a:schemeClr val="accent3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CUDA Context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37" name="모서리가 둥근 직사각형 36">
            <a:extLst>
              <a:ext uri="{FF2B5EF4-FFF2-40B4-BE49-F238E27FC236}">
                <a16:creationId xmlns:a16="http://schemas.microsoft.com/office/drawing/2014/main" id="{93115529-6032-AA56-226C-32DB777A82F4}"/>
              </a:ext>
            </a:extLst>
          </p:cNvPr>
          <p:cNvSpPr/>
          <p:nvPr/>
        </p:nvSpPr>
        <p:spPr>
          <a:xfrm>
            <a:off x="4932040" y="638544"/>
            <a:ext cx="1549189" cy="720080"/>
          </a:xfrm>
          <a:prstGeom prst="roundRect">
            <a:avLst>
              <a:gd name="adj" fmla="val 9264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1000" b="1">
                <a:solidFill>
                  <a:schemeClr val="tx1"/>
                </a:solidFill>
              </a:rPr>
              <a:t>CUDA App C Process</a:t>
            </a:r>
            <a:endParaRPr kumimoji="1" lang="ko-KR" altLang="en-US" sz="1000" b="1">
              <a:solidFill>
                <a:schemeClr val="tx1"/>
              </a:solidFill>
            </a:endParaRPr>
          </a:p>
        </p:txBody>
      </p:sp>
      <p:sp>
        <p:nvSpPr>
          <p:cNvPr id="39" name="모서리가 둥근 직사각형 38">
            <a:extLst>
              <a:ext uri="{FF2B5EF4-FFF2-40B4-BE49-F238E27FC236}">
                <a16:creationId xmlns:a16="http://schemas.microsoft.com/office/drawing/2014/main" id="{3AE4D009-98DC-9C93-09A0-2EC56DA7830A}"/>
              </a:ext>
            </a:extLst>
          </p:cNvPr>
          <p:cNvSpPr/>
          <p:nvPr/>
        </p:nvSpPr>
        <p:spPr>
          <a:xfrm>
            <a:off x="6660232" y="638544"/>
            <a:ext cx="1549189" cy="720080"/>
          </a:xfrm>
          <a:prstGeom prst="roundRect">
            <a:avLst>
              <a:gd name="adj" fmla="val 9264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1000" b="1">
                <a:solidFill>
                  <a:schemeClr val="tx1"/>
                </a:solidFill>
              </a:rPr>
              <a:t>CUDA App D Process</a:t>
            </a:r>
            <a:endParaRPr kumimoji="1" lang="ko-KR" altLang="en-US" sz="1000" b="1">
              <a:solidFill>
                <a:schemeClr val="tx1"/>
              </a:solidFill>
            </a:endParaRPr>
          </a:p>
        </p:txBody>
      </p:sp>
      <p:sp>
        <p:nvSpPr>
          <p:cNvPr id="40" name="모서리가 둥근 직사각형 39">
            <a:extLst>
              <a:ext uri="{FF2B5EF4-FFF2-40B4-BE49-F238E27FC236}">
                <a16:creationId xmlns:a16="http://schemas.microsoft.com/office/drawing/2014/main" id="{2010CE01-2EA1-C611-9088-DE3830B8D0D2}"/>
              </a:ext>
            </a:extLst>
          </p:cNvPr>
          <p:cNvSpPr/>
          <p:nvPr/>
        </p:nvSpPr>
        <p:spPr>
          <a:xfrm>
            <a:off x="1437816" y="1566288"/>
            <a:ext cx="6771606" cy="3096146"/>
          </a:xfrm>
          <a:prstGeom prst="roundRect">
            <a:avLst>
              <a:gd name="adj" fmla="val 3962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kumimoji="1" lang="en-US" altLang="ko-KR" sz="1000" b="1">
                <a:solidFill>
                  <a:schemeClr val="tx1"/>
                </a:solidFill>
              </a:rPr>
              <a:t>GPU</a:t>
            </a:r>
            <a:endParaRPr kumimoji="1" lang="ko-KR" altLang="en-US" sz="1000" b="1">
              <a:solidFill>
                <a:schemeClr val="tx1"/>
              </a:solidFill>
            </a:endParaRPr>
          </a:p>
        </p:txBody>
      </p:sp>
      <p:sp>
        <p:nvSpPr>
          <p:cNvPr id="41" name="모서리가 둥근 직사각형 40">
            <a:extLst>
              <a:ext uri="{FF2B5EF4-FFF2-40B4-BE49-F238E27FC236}">
                <a16:creationId xmlns:a16="http://schemas.microsoft.com/office/drawing/2014/main" id="{77CB02CA-EB56-3716-2737-A10640475F92}"/>
              </a:ext>
            </a:extLst>
          </p:cNvPr>
          <p:cNvSpPr/>
          <p:nvPr/>
        </p:nvSpPr>
        <p:spPr>
          <a:xfrm>
            <a:off x="5087946" y="990223"/>
            <a:ext cx="1237375" cy="288032"/>
          </a:xfrm>
          <a:prstGeom prst="roundRect">
            <a:avLst>
              <a:gd name="adj" fmla="val 15432"/>
            </a:avLst>
          </a:prstGeom>
          <a:solidFill>
            <a:schemeClr val="accent2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CUDA Context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42" name="모서리가 둥근 직사각형 41">
            <a:extLst>
              <a:ext uri="{FF2B5EF4-FFF2-40B4-BE49-F238E27FC236}">
                <a16:creationId xmlns:a16="http://schemas.microsoft.com/office/drawing/2014/main" id="{0A453728-6281-5C5A-F192-126AB316C83C}"/>
              </a:ext>
            </a:extLst>
          </p:cNvPr>
          <p:cNvSpPr/>
          <p:nvPr/>
        </p:nvSpPr>
        <p:spPr>
          <a:xfrm>
            <a:off x="6816138" y="990223"/>
            <a:ext cx="1237375" cy="288032"/>
          </a:xfrm>
          <a:prstGeom prst="roundRect">
            <a:avLst>
              <a:gd name="adj" fmla="val 15432"/>
            </a:avLst>
          </a:prstGeom>
          <a:solidFill>
            <a:schemeClr val="accent4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CUDA Context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47" name="모서리가 둥근 직사각형 46">
            <a:extLst>
              <a:ext uri="{FF2B5EF4-FFF2-40B4-BE49-F238E27FC236}">
                <a16:creationId xmlns:a16="http://schemas.microsoft.com/office/drawing/2014/main" id="{371B89DB-2886-450C-94E6-18B51ECB8016}"/>
              </a:ext>
            </a:extLst>
          </p:cNvPr>
          <p:cNvSpPr/>
          <p:nvPr/>
        </p:nvSpPr>
        <p:spPr>
          <a:xfrm>
            <a:off x="5177073" y="3071178"/>
            <a:ext cx="1053024" cy="606973"/>
          </a:xfrm>
          <a:prstGeom prst="roundRect">
            <a:avLst>
              <a:gd name="adj" fmla="val 11293"/>
            </a:avLst>
          </a:prstGeom>
          <a:solidFill>
            <a:schemeClr val="accent2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 b="1" u="sng">
                <a:solidFill>
                  <a:schemeClr val="tx1"/>
                </a:solidFill>
              </a:rPr>
              <a:t>Isolated</a:t>
            </a:r>
            <a:endParaRPr kumimoji="1" lang="en-US" altLang="ko-KR" sz="900">
              <a:solidFill>
                <a:schemeClr val="tx1"/>
              </a:solidFill>
            </a:endParaRPr>
          </a:p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App C</a:t>
            </a:r>
            <a:r>
              <a:rPr kumimoji="1" lang="en-US" altLang="ko-KR" sz="900" b="1">
                <a:solidFill>
                  <a:schemeClr val="tx1"/>
                </a:solidFill>
              </a:rPr>
              <a:t> </a:t>
            </a:r>
            <a:r>
              <a:rPr kumimoji="1" lang="en-US" altLang="ko-KR" sz="900">
                <a:solidFill>
                  <a:schemeClr val="tx1"/>
                </a:solidFill>
              </a:rPr>
              <a:t>Memory</a:t>
            </a:r>
          </a:p>
          <a:p>
            <a:pPr algn="ctr"/>
            <a:br>
              <a:rPr kumimoji="1" lang="en-US" altLang="ko-KR" sz="900">
                <a:solidFill>
                  <a:schemeClr val="tx1"/>
                </a:solidFill>
              </a:rPr>
            </a:br>
            <a:r>
              <a:rPr kumimoji="1" lang="en-US" altLang="ko-KR" sz="900">
                <a:solidFill>
                  <a:schemeClr val="tx1"/>
                </a:solidFill>
              </a:rPr>
              <a:t>Kernel, Data</a:t>
            </a:r>
          </a:p>
        </p:txBody>
      </p:sp>
      <p:sp>
        <p:nvSpPr>
          <p:cNvPr id="48" name="모서리가 둥근 직사각형 47">
            <a:extLst>
              <a:ext uri="{FF2B5EF4-FFF2-40B4-BE49-F238E27FC236}">
                <a16:creationId xmlns:a16="http://schemas.microsoft.com/office/drawing/2014/main" id="{DF1E6312-7C85-7F41-3175-B947D5C52F13}"/>
              </a:ext>
            </a:extLst>
          </p:cNvPr>
          <p:cNvSpPr/>
          <p:nvPr/>
        </p:nvSpPr>
        <p:spPr>
          <a:xfrm>
            <a:off x="6908313" y="3071178"/>
            <a:ext cx="1053024" cy="606973"/>
          </a:xfrm>
          <a:prstGeom prst="roundRect">
            <a:avLst>
              <a:gd name="adj" fmla="val 11293"/>
            </a:avLst>
          </a:prstGeom>
          <a:solidFill>
            <a:schemeClr val="accent4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 b="1" u="sng">
                <a:solidFill>
                  <a:schemeClr val="tx1"/>
                </a:solidFill>
              </a:rPr>
              <a:t>Isolated</a:t>
            </a:r>
            <a:endParaRPr kumimoji="1" lang="en-US" altLang="ko-KR" sz="900">
              <a:solidFill>
                <a:schemeClr val="tx1"/>
              </a:solidFill>
            </a:endParaRPr>
          </a:p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App D</a:t>
            </a:r>
            <a:r>
              <a:rPr kumimoji="1" lang="en-US" altLang="ko-KR" sz="900" b="1">
                <a:solidFill>
                  <a:schemeClr val="tx1"/>
                </a:solidFill>
              </a:rPr>
              <a:t> </a:t>
            </a:r>
            <a:r>
              <a:rPr kumimoji="1" lang="en-US" altLang="ko-KR" sz="900">
                <a:solidFill>
                  <a:schemeClr val="tx1"/>
                </a:solidFill>
              </a:rPr>
              <a:t>Memory</a:t>
            </a:r>
          </a:p>
          <a:p>
            <a:pPr algn="ctr"/>
            <a:endParaRPr kumimoji="1" lang="en-US" altLang="ko-KR" sz="900">
              <a:solidFill>
                <a:schemeClr val="tx1"/>
              </a:solidFill>
            </a:endParaRPr>
          </a:p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Code, Data</a:t>
            </a:r>
          </a:p>
        </p:txBody>
      </p:sp>
      <p:sp>
        <p:nvSpPr>
          <p:cNvPr id="50" name="모서리가 둥근 직사각형 49">
            <a:extLst>
              <a:ext uri="{FF2B5EF4-FFF2-40B4-BE49-F238E27FC236}">
                <a16:creationId xmlns:a16="http://schemas.microsoft.com/office/drawing/2014/main" id="{057A6876-6EBF-A01B-DA04-483EE8DD415B}"/>
              </a:ext>
            </a:extLst>
          </p:cNvPr>
          <p:cNvSpPr/>
          <p:nvPr/>
        </p:nvSpPr>
        <p:spPr>
          <a:xfrm>
            <a:off x="5056307" y="1725074"/>
            <a:ext cx="3016650" cy="2794754"/>
          </a:xfrm>
          <a:prstGeom prst="roundRect">
            <a:avLst>
              <a:gd name="adj" fmla="val 4085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kumimoji="1" lang="en-US" altLang="ko-KR" sz="1000" b="1">
                <a:solidFill>
                  <a:schemeClr val="tx1"/>
                </a:solidFill>
              </a:rPr>
              <a:t>MIG GPU Instance</a:t>
            </a:r>
            <a:endParaRPr kumimoji="1" lang="ko-KR" altLang="en-US" sz="1000" b="1">
              <a:solidFill>
                <a:schemeClr val="tx1"/>
              </a:solidFill>
            </a:endParaRPr>
          </a:p>
        </p:txBody>
      </p:sp>
      <p:sp>
        <p:nvSpPr>
          <p:cNvPr id="52" name="모서리가 둥근 직사각형 51">
            <a:extLst>
              <a:ext uri="{FF2B5EF4-FFF2-40B4-BE49-F238E27FC236}">
                <a16:creationId xmlns:a16="http://schemas.microsoft.com/office/drawing/2014/main" id="{BE2D6D6B-8086-77A2-A645-BA83E5BE7E29}"/>
              </a:ext>
            </a:extLst>
          </p:cNvPr>
          <p:cNvSpPr/>
          <p:nvPr/>
        </p:nvSpPr>
        <p:spPr>
          <a:xfrm>
            <a:off x="5122367" y="3927445"/>
            <a:ext cx="2897897" cy="288032"/>
          </a:xfrm>
          <a:prstGeom prst="roundRect">
            <a:avLst>
              <a:gd name="adj" fmla="val 15432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 b="1" u="sng">
                <a:solidFill>
                  <a:schemeClr val="tx1"/>
                </a:solidFill>
              </a:rPr>
              <a:t>Shared</a:t>
            </a:r>
            <a:r>
              <a:rPr kumimoji="1" lang="en-US" altLang="ko-KR" sz="900">
                <a:solidFill>
                  <a:schemeClr val="tx1"/>
                </a:solidFill>
              </a:rPr>
              <a:t> GPU Context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56" name="모서리가 둥근 직사각형 55">
            <a:extLst>
              <a:ext uri="{FF2B5EF4-FFF2-40B4-BE49-F238E27FC236}">
                <a16:creationId xmlns:a16="http://schemas.microsoft.com/office/drawing/2014/main" id="{984D6177-74C7-65DF-ACB4-7DD30E03EEB8}"/>
              </a:ext>
            </a:extLst>
          </p:cNvPr>
          <p:cNvSpPr/>
          <p:nvPr/>
        </p:nvSpPr>
        <p:spPr>
          <a:xfrm>
            <a:off x="5123152" y="1781912"/>
            <a:ext cx="2897111" cy="848329"/>
          </a:xfrm>
          <a:prstGeom prst="roundRect">
            <a:avLst>
              <a:gd name="adj" fmla="val 8070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en-US" altLang="ko-KR" sz="900" b="1">
                <a:solidFill>
                  <a:schemeClr val="tx1"/>
                </a:solidFill>
              </a:rPr>
              <a:t>MIG Compute Instance</a:t>
            </a:r>
          </a:p>
        </p:txBody>
      </p:sp>
      <p:sp>
        <p:nvSpPr>
          <p:cNvPr id="57" name="모서리가 둥근 직사각형 56">
            <a:extLst>
              <a:ext uri="{FF2B5EF4-FFF2-40B4-BE49-F238E27FC236}">
                <a16:creationId xmlns:a16="http://schemas.microsoft.com/office/drawing/2014/main" id="{D12F94F6-7FDF-AF31-19FC-25AB97E44D5A}"/>
              </a:ext>
            </a:extLst>
          </p:cNvPr>
          <p:cNvSpPr/>
          <p:nvPr/>
        </p:nvSpPr>
        <p:spPr>
          <a:xfrm>
            <a:off x="5177073" y="2037641"/>
            <a:ext cx="2784264" cy="517735"/>
          </a:xfrm>
          <a:prstGeom prst="roundRect">
            <a:avLst>
              <a:gd name="adj" fmla="val 10401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900" b="1" u="sng">
                <a:solidFill>
                  <a:schemeClr val="tx1"/>
                </a:solidFill>
              </a:rPr>
              <a:t>Shared</a:t>
            </a:r>
            <a:r>
              <a:rPr kumimoji="1" lang="en-US" altLang="ko-KR" sz="900" b="1">
                <a:solidFill>
                  <a:schemeClr val="tx1"/>
                </a:solidFill>
              </a:rPr>
              <a:t> </a:t>
            </a:r>
            <a:r>
              <a:rPr kumimoji="1" lang="en-US" altLang="ko-KR" sz="900">
                <a:solidFill>
                  <a:schemeClr val="tx1"/>
                </a:solidFill>
              </a:rPr>
              <a:t>SM (Streaming Multiprocessor)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60" name="모서리가 둥근 직사각형 59">
            <a:extLst>
              <a:ext uri="{FF2B5EF4-FFF2-40B4-BE49-F238E27FC236}">
                <a16:creationId xmlns:a16="http://schemas.microsoft.com/office/drawing/2014/main" id="{D180FF56-B1B4-3EB5-80AC-7ACCC06DC6CE}"/>
              </a:ext>
            </a:extLst>
          </p:cNvPr>
          <p:cNvSpPr/>
          <p:nvPr/>
        </p:nvSpPr>
        <p:spPr>
          <a:xfrm>
            <a:off x="5122367" y="2806413"/>
            <a:ext cx="2897898" cy="944643"/>
          </a:xfrm>
          <a:prstGeom prst="roundRect">
            <a:avLst>
              <a:gd name="adj" fmla="val 7307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900" b="1" u="sng">
                <a:solidFill>
                  <a:schemeClr val="tx1"/>
                </a:solidFill>
              </a:rPr>
              <a:t>Shared</a:t>
            </a:r>
            <a:r>
              <a:rPr kumimoji="1" lang="en-US" altLang="ko-KR" sz="900">
                <a:solidFill>
                  <a:schemeClr val="tx1"/>
                </a:solidFill>
              </a:rPr>
              <a:t> Memory 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66" name="모서리가 둥근 직사각형 65">
            <a:extLst>
              <a:ext uri="{FF2B5EF4-FFF2-40B4-BE49-F238E27FC236}">
                <a16:creationId xmlns:a16="http://schemas.microsoft.com/office/drawing/2014/main" id="{A1F40784-7004-AD40-6B3C-6EA54E8A3C90}"/>
              </a:ext>
            </a:extLst>
          </p:cNvPr>
          <p:cNvSpPr/>
          <p:nvPr/>
        </p:nvSpPr>
        <p:spPr>
          <a:xfrm>
            <a:off x="1699655" y="3071178"/>
            <a:ext cx="1053024" cy="606973"/>
          </a:xfrm>
          <a:prstGeom prst="roundRect">
            <a:avLst>
              <a:gd name="adj" fmla="val 11293"/>
            </a:avLst>
          </a:prstGeom>
          <a:solidFill>
            <a:schemeClr val="accent1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App A</a:t>
            </a:r>
            <a:r>
              <a:rPr kumimoji="1" lang="en-US" altLang="ko-KR" sz="900" b="1">
                <a:solidFill>
                  <a:schemeClr val="tx1"/>
                </a:solidFill>
              </a:rPr>
              <a:t> </a:t>
            </a:r>
            <a:r>
              <a:rPr kumimoji="1" lang="en-US" altLang="ko-KR" sz="900">
                <a:solidFill>
                  <a:schemeClr val="tx1"/>
                </a:solidFill>
              </a:rPr>
              <a:t>Memory</a:t>
            </a:r>
          </a:p>
          <a:p>
            <a:pPr algn="ctr"/>
            <a:endParaRPr kumimoji="1" lang="en-US" altLang="ko-KR" sz="900">
              <a:solidFill>
                <a:schemeClr val="tx1"/>
              </a:solidFill>
            </a:endParaRPr>
          </a:p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GPU Context,</a:t>
            </a:r>
          </a:p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Kernel, Data</a:t>
            </a:r>
          </a:p>
        </p:txBody>
      </p:sp>
      <p:sp>
        <p:nvSpPr>
          <p:cNvPr id="67" name="모서리가 둥근 직사각형 66">
            <a:extLst>
              <a:ext uri="{FF2B5EF4-FFF2-40B4-BE49-F238E27FC236}">
                <a16:creationId xmlns:a16="http://schemas.microsoft.com/office/drawing/2014/main" id="{7CA00A7A-E279-79C8-7B3A-FD3EF12F883F}"/>
              </a:ext>
            </a:extLst>
          </p:cNvPr>
          <p:cNvSpPr/>
          <p:nvPr/>
        </p:nvSpPr>
        <p:spPr>
          <a:xfrm>
            <a:off x="3430895" y="3071178"/>
            <a:ext cx="1053024" cy="606973"/>
          </a:xfrm>
          <a:prstGeom prst="roundRect">
            <a:avLst>
              <a:gd name="adj" fmla="val 11293"/>
            </a:avLst>
          </a:prstGeom>
          <a:solidFill>
            <a:schemeClr val="accent3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App B</a:t>
            </a:r>
            <a:r>
              <a:rPr kumimoji="1" lang="en-US" altLang="ko-KR" sz="900" b="1">
                <a:solidFill>
                  <a:schemeClr val="tx1"/>
                </a:solidFill>
              </a:rPr>
              <a:t> </a:t>
            </a:r>
            <a:r>
              <a:rPr kumimoji="1" lang="en-US" altLang="ko-KR" sz="900">
                <a:solidFill>
                  <a:schemeClr val="tx1"/>
                </a:solidFill>
              </a:rPr>
              <a:t>Memory</a:t>
            </a:r>
          </a:p>
          <a:p>
            <a:pPr algn="ctr"/>
            <a:endParaRPr kumimoji="1" lang="en-US" altLang="ko-KR" sz="900">
              <a:solidFill>
                <a:schemeClr val="tx1"/>
              </a:solidFill>
            </a:endParaRPr>
          </a:p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GPU Context,</a:t>
            </a:r>
          </a:p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Kernel, Data</a:t>
            </a:r>
          </a:p>
        </p:txBody>
      </p:sp>
      <p:sp>
        <p:nvSpPr>
          <p:cNvPr id="68" name="모서리가 둥근 직사각형 67">
            <a:extLst>
              <a:ext uri="{FF2B5EF4-FFF2-40B4-BE49-F238E27FC236}">
                <a16:creationId xmlns:a16="http://schemas.microsoft.com/office/drawing/2014/main" id="{7FB25D80-D2C6-A780-371A-6F2B2F0D8088}"/>
              </a:ext>
            </a:extLst>
          </p:cNvPr>
          <p:cNvSpPr/>
          <p:nvPr/>
        </p:nvSpPr>
        <p:spPr>
          <a:xfrm>
            <a:off x="1578889" y="1725074"/>
            <a:ext cx="3016650" cy="2794754"/>
          </a:xfrm>
          <a:prstGeom prst="roundRect">
            <a:avLst>
              <a:gd name="adj" fmla="val 3875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kumimoji="1" lang="en-US" altLang="ko-KR" sz="1000" b="1">
                <a:solidFill>
                  <a:schemeClr val="tx1"/>
                </a:solidFill>
              </a:rPr>
              <a:t>MIG GPU Instance</a:t>
            </a:r>
            <a:endParaRPr kumimoji="1" lang="ko-KR" altLang="en-US" sz="1000" b="1">
              <a:solidFill>
                <a:schemeClr val="tx1"/>
              </a:solidFill>
            </a:endParaRPr>
          </a:p>
        </p:txBody>
      </p:sp>
      <p:sp>
        <p:nvSpPr>
          <p:cNvPr id="69" name="모서리가 둥근 직사각형 68">
            <a:extLst>
              <a:ext uri="{FF2B5EF4-FFF2-40B4-BE49-F238E27FC236}">
                <a16:creationId xmlns:a16="http://schemas.microsoft.com/office/drawing/2014/main" id="{62D55779-73C1-286B-6EEF-A1BA5A197FD5}"/>
              </a:ext>
            </a:extLst>
          </p:cNvPr>
          <p:cNvSpPr/>
          <p:nvPr/>
        </p:nvSpPr>
        <p:spPr>
          <a:xfrm>
            <a:off x="1644949" y="3927445"/>
            <a:ext cx="2897897" cy="288032"/>
          </a:xfrm>
          <a:prstGeom prst="roundRect">
            <a:avLst>
              <a:gd name="adj" fmla="val 15432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 b="1" u="sng">
                <a:solidFill>
                  <a:schemeClr val="tx1"/>
                </a:solidFill>
              </a:rPr>
              <a:t>Time-sliced</a:t>
            </a:r>
            <a:r>
              <a:rPr kumimoji="1" lang="en-US" altLang="ko-KR" sz="900">
                <a:solidFill>
                  <a:schemeClr val="tx1"/>
                </a:solidFill>
              </a:rPr>
              <a:t> GPU Context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73" name="모서리가 둥근 직사각형 72">
            <a:extLst>
              <a:ext uri="{FF2B5EF4-FFF2-40B4-BE49-F238E27FC236}">
                <a16:creationId xmlns:a16="http://schemas.microsoft.com/office/drawing/2014/main" id="{343B04DD-27EB-C374-33C8-C2CD7D6305E9}"/>
              </a:ext>
            </a:extLst>
          </p:cNvPr>
          <p:cNvSpPr/>
          <p:nvPr/>
        </p:nvSpPr>
        <p:spPr>
          <a:xfrm>
            <a:off x="1645735" y="1781912"/>
            <a:ext cx="2897112" cy="848329"/>
          </a:xfrm>
          <a:prstGeom prst="roundRect">
            <a:avLst>
              <a:gd name="adj" fmla="val 8070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en-US" altLang="ko-KR" sz="900" b="1">
                <a:solidFill>
                  <a:schemeClr val="tx1"/>
                </a:solidFill>
              </a:rPr>
              <a:t>MIG Compute Instance</a:t>
            </a:r>
          </a:p>
        </p:txBody>
      </p:sp>
      <p:sp>
        <p:nvSpPr>
          <p:cNvPr id="74" name="모서리가 둥근 직사각형 73">
            <a:extLst>
              <a:ext uri="{FF2B5EF4-FFF2-40B4-BE49-F238E27FC236}">
                <a16:creationId xmlns:a16="http://schemas.microsoft.com/office/drawing/2014/main" id="{AEEC7FCB-5C01-82B6-D35E-134C48E54DC4}"/>
              </a:ext>
            </a:extLst>
          </p:cNvPr>
          <p:cNvSpPr/>
          <p:nvPr/>
        </p:nvSpPr>
        <p:spPr>
          <a:xfrm>
            <a:off x="1699655" y="2037641"/>
            <a:ext cx="2784264" cy="517735"/>
          </a:xfrm>
          <a:prstGeom prst="roundRect">
            <a:avLst>
              <a:gd name="adj" fmla="val 10401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900" b="1" u="sng">
                <a:solidFill>
                  <a:schemeClr val="tx1"/>
                </a:solidFill>
              </a:rPr>
              <a:t>Time-sliced</a:t>
            </a:r>
            <a:r>
              <a:rPr kumimoji="1" lang="en-US" altLang="ko-KR" sz="900" b="1">
                <a:solidFill>
                  <a:schemeClr val="tx1"/>
                </a:solidFill>
              </a:rPr>
              <a:t> </a:t>
            </a:r>
            <a:r>
              <a:rPr kumimoji="1" lang="en-US" altLang="ko-KR" sz="900">
                <a:solidFill>
                  <a:schemeClr val="tx1"/>
                </a:solidFill>
              </a:rPr>
              <a:t>SM (Streaming Multiprocessor) 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77" name="모서리가 둥근 직사각형 76">
            <a:extLst>
              <a:ext uri="{FF2B5EF4-FFF2-40B4-BE49-F238E27FC236}">
                <a16:creationId xmlns:a16="http://schemas.microsoft.com/office/drawing/2014/main" id="{9CF521E6-BBD6-9987-22C6-7213C6DA960D}"/>
              </a:ext>
            </a:extLst>
          </p:cNvPr>
          <p:cNvSpPr/>
          <p:nvPr/>
        </p:nvSpPr>
        <p:spPr>
          <a:xfrm>
            <a:off x="1644949" y="2806413"/>
            <a:ext cx="2897898" cy="944643"/>
          </a:xfrm>
          <a:prstGeom prst="roundRect">
            <a:avLst>
              <a:gd name="adj" fmla="val 7307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900" b="1" u="sng">
                <a:solidFill>
                  <a:schemeClr val="tx1"/>
                </a:solidFill>
              </a:rPr>
              <a:t>Shared</a:t>
            </a:r>
            <a:r>
              <a:rPr kumimoji="1" lang="en-US" altLang="ko-KR" sz="900">
                <a:solidFill>
                  <a:schemeClr val="tx1"/>
                </a:solidFill>
              </a:rPr>
              <a:t> Memory 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79" name="모서리가 둥근 직사각형 78">
            <a:extLst>
              <a:ext uri="{FF2B5EF4-FFF2-40B4-BE49-F238E27FC236}">
                <a16:creationId xmlns:a16="http://schemas.microsoft.com/office/drawing/2014/main" id="{1F5E3C31-D4A7-1A61-CCAA-646C469D5D33}"/>
              </a:ext>
            </a:extLst>
          </p:cNvPr>
          <p:cNvSpPr/>
          <p:nvPr/>
        </p:nvSpPr>
        <p:spPr>
          <a:xfrm>
            <a:off x="1437815" y="638544"/>
            <a:ext cx="1549189" cy="720080"/>
          </a:xfrm>
          <a:prstGeom prst="roundRect">
            <a:avLst>
              <a:gd name="adj" fmla="val 9264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1000" b="1">
                <a:solidFill>
                  <a:schemeClr val="tx1"/>
                </a:solidFill>
              </a:rPr>
              <a:t>CUDA App A Process</a:t>
            </a:r>
            <a:endParaRPr kumimoji="1" lang="ko-KR" altLang="en-US" sz="1000" b="1">
              <a:solidFill>
                <a:schemeClr val="tx1"/>
              </a:solidFill>
            </a:endParaRPr>
          </a:p>
        </p:txBody>
      </p:sp>
      <p:sp>
        <p:nvSpPr>
          <p:cNvPr id="80" name="모서리가 둥근 직사각형 79">
            <a:extLst>
              <a:ext uri="{FF2B5EF4-FFF2-40B4-BE49-F238E27FC236}">
                <a16:creationId xmlns:a16="http://schemas.microsoft.com/office/drawing/2014/main" id="{226F0AE7-0111-34DF-F724-4CFB32DE2AB8}"/>
              </a:ext>
            </a:extLst>
          </p:cNvPr>
          <p:cNvSpPr/>
          <p:nvPr/>
        </p:nvSpPr>
        <p:spPr>
          <a:xfrm>
            <a:off x="1587624" y="990223"/>
            <a:ext cx="1237375" cy="288032"/>
          </a:xfrm>
          <a:prstGeom prst="roundRect">
            <a:avLst>
              <a:gd name="adj" fmla="val 15432"/>
            </a:avLst>
          </a:prstGeom>
          <a:solidFill>
            <a:schemeClr val="accent1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CUDA Context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cxnSp>
        <p:nvCxnSpPr>
          <p:cNvPr id="83" name="직선 화살표 연결선 82">
            <a:extLst>
              <a:ext uri="{FF2B5EF4-FFF2-40B4-BE49-F238E27FC236}">
                <a16:creationId xmlns:a16="http://schemas.microsoft.com/office/drawing/2014/main" id="{260E4BE2-BF3F-B4CB-EBF6-2613B32E1168}"/>
              </a:ext>
            </a:extLst>
          </p:cNvPr>
          <p:cNvCxnSpPr>
            <a:cxnSpLocks/>
            <a:stCxn id="66" idx="2"/>
            <a:endCxn id="69" idx="0"/>
          </p:cNvCxnSpPr>
          <p:nvPr/>
        </p:nvCxnSpPr>
        <p:spPr>
          <a:xfrm>
            <a:off x="2226167" y="3678151"/>
            <a:ext cx="867731" cy="249294"/>
          </a:xfrm>
          <a:prstGeom prst="straightConnector1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직선 화살표 연결선 85">
            <a:extLst>
              <a:ext uri="{FF2B5EF4-FFF2-40B4-BE49-F238E27FC236}">
                <a16:creationId xmlns:a16="http://schemas.microsoft.com/office/drawing/2014/main" id="{3D99BD9A-0890-57D5-5392-124E99777284}"/>
              </a:ext>
            </a:extLst>
          </p:cNvPr>
          <p:cNvCxnSpPr>
            <a:cxnSpLocks/>
            <a:stCxn id="67" idx="2"/>
            <a:endCxn id="69" idx="0"/>
          </p:cNvCxnSpPr>
          <p:nvPr/>
        </p:nvCxnSpPr>
        <p:spPr>
          <a:xfrm flipH="1">
            <a:off x="3093898" y="3678151"/>
            <a:ext cx="863509" cy="249294"/>
          </a:xfrm>
          <a:prstGeom prst="straightConnector1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TextBox 88">
            <a:extLst>
              <a:ext uri="{FF2B5EF4-FFF2-40B4-BE49-F238E27FC236}">
                <a16:creationId xmlns:a16="http://schemas.microsoft.com/office/drawing/2014/main" id="{B52DA03F-E122-4BDD-BC22-C14D283E1C28}"/>
              </a:ext>
            </a:extLst>
          </p:cNvPr>
          <p:cNvSpPr txBox="1"/>
          <p:nvPr/>
        </p:nvSpPr>
        <p:spPr>
          <a:xfrm>
            <a:off x="1273761" y="3717665"/>
            <a:ext cx="1631881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kumimoji="1" lang="en-US" altLang="ko-KR" sz="1000" b="1" i="1"/>
              <a:t>Context Switch</a:t>
            </a:r>
            <a:endParaRPr kumimoji="1" lang="ko-KR" altLang="en-US" sz="1000" b="1" i="1"/>
          </a:p>
        </p:txBody>
      </p:sp>
      <p:sp>
        <p:nvSpPr>
          <p:cNvPr id="90" name="모서리가 둥근 직사각형 89">
            <a:extLst>
              <a:ext uri="{FF2B5EF4-FFF2-40B4-BE49-F238E27FC236}">
                <a16:creationId xmlns:a16="http://schemas.microsoft.com/office/drawing/2014/main" id="{6562B1A6-9AD3-4760-F87B-D26282DA636A}"/>
              </a:ext>
            </a:extLst>
          </p:cNvPr>
          <p:cNvSpPr/>
          <p:nvPr/>
        </p:nvSpPr>
        <p:spPr>
          <a:xfrm>
            <a:off x="4932040" y="80957"/>
            <a:ext cx="1549189" cy="400110"/>
          </a:xfrm>
          <a:prstGeom prst="roundRect">
            <a:avLst>
              <a:gd name="adj" fmla="val 9264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 b="1">
                <a:solidFill>
                  <a:schemeClr val="tx1"/>
                </a:solidFill>
              </a:rPr>
              <a:t>MPS Control</a:t>
            </a:r>
            <a:endParaRPr kumimoji="1" lang="ko-KR" altLang="en-US" sz="1000" b="1">
              <a:solidFill>
                <a:schemeClr val="tx1"/>
              </a:solidFill>
            </a:endParaRPr>
          </a:p>
        </p:txBody>
      </p:sp>
      <p:sp>
        <p:nvSpPr>
          <p:cNvPr id="91" name="모서리가 둥근 직사각형 90">
            <a:extLst>
              <a:ext uri="{FF2B5EF4-FFF2-40B4-BE49-F238E27FC236}">
                <a16:creationId xmlns:a16="http://schemas.microsoft.com/office/drawing/2014/main" id="{67CC41C7-ADF6-BBE9-BA27-539374E7AC4F}"/>
              </a:ext>
            </a:extLst>
          </p:cNvPr>
          <p:cNvSpPr/>
          <p:nvPr/>
        </p:nvSpPr>
        <p:spPr>
          <a:xfrm>
            <a:off x="6660232" y="80957"/>
            <a:ext cx="1549189" cy="400110"/>
          </a:xfrm>
          <a:prstGeom prst="roundRect">
            <a:avLst>
              <a:gd name="adj" fmla="val 9264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 b="1">
                <a:solidFill>
                  <a:schemeClr val="tx1"/>
                </a:solidFill>
              </a:rPr>
              <a:t>MPS Server</a:t>
            </a:r>
          </a:p>
        </p:txBody>
      </p:sp>
      <p:cxnSp>
        <p:nvCxnSpPr>
          <p:cNvPr id="92" name="직선 화살표 연결선 91">
            <a:extLst>
              <a:ext uri="{FF2B5EF4-FFF2-40B4-BE49-F238E27FC236}">
                <a16:creationId xmlns:a16="http://schemas.microsoft.com/office/drawing/2014/main" id="{B02E0A82-14ED-F2A8-1517-317CF78D8B04}"/>
              </a:ext>
            </a:extLst>
          </p:cNvPr>
          <p:cNvCxnSpPr>
            <a:cxnSpLocks/>
            <a:stCxn id="90" idx="3"/>
            <a:endCxn id="91" idx="1"/>
          </p:cNvCxnSpPr>
          <p:nvPr/>
        </p:nvCxnSpPr>
        <p:spPr>
          <a:xfrm>
            <a:off x="6481229" y="281012"/>
            <a:ext cx="179003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직선 화살표 연결선 92">
            <a:extLst>
              <a:ext uri="{FF2B5EF4-FFF2-40B4-BE49-F238E27FC236}">
                <a16:creationId xmlns:a16="http://schemas.microsoft.com/office/drawing/2014/main" id="{A0CDC736-8B00-5BC4-AB52-CE3C49E186C2}"/>
              </a:ext>
            </a:extLst>
          </p:cNvPr>
          <p:cNvCxnSpPr>
            <a:cxnSpLocks/>
            <a:stCxn id="37" idx="0"/>
            <a:endCxn id="90" idx="2"/>
          </p:cNvCxnSpPr>
          <p:nvPr/>
        </p:nvCxnSpPr>
        <p:spPr>
          <a:xfrm flipV="1">
            <a:off x="5706635" y="481067"/>
            <a:ext cx="0" cy="15747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직선 화살표 연결선 95">
            <a:extLst>
              <a:ext uri="{FF2B5EF4-FFF2-40B4-BE49-F238E27FC236}">
                <a16:creationId xmlns:a16="http://schemas.microsoft.com/office/drawing/2014/main" id="{D562044A-2C44-3AD5-C046-186417DCD503}"/>
              </a:ext>
            </a:extLst>
          </p:cNvPr>
          <p:cNvCxnSpPr>
            <a:cxnSpLocks/>
            <a:stCxn id="39" idx="0"/>
            <a:endCxn id="90" idx="2"/>
          </p:cNvCxnSpPr>
          <p:nvPr/>
        </p:nvCxnSpPr>
        <p:spPr>
          <a:xfrm flipH="1" flipV="1">
            <a:off x="5706635" y="481067"/>
            <a:ext cx="1728192" cy="15747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모서리가 둥근 직사각형 99">
            <a:extLst>
              <a:ext uri="{FF2B5EF4-FFF2-40B4-BE49-F238E27FC236}">
                <a16:creationId xmlns:a16="http://schemas.microsoft.com/office/drawing/2014/main" id="{9A9FF124-C2F7-7FF0-CB56-D130375ED07C}"/>
              </a:ext>
            </a:extLst>
          </p:cNvPr>
          <p:cNvSpPr/>
          <p:nvPr/>
        </p:nvSpPr>
        <p:spPr>
          <a:xfrm>
            <a:off x="6875425" y="3033778"/>
            <a:ext cx="1118800" cy="677802"/>
          </a:xfrm>
          <a:prstGeom prst="roundRect">
            <a:avLst>
              <a:gd name="adj" fmla="val 8070"/>
            </a:avLst>
          </a:prstGeom>
          <a:noFill/>
          <a:ln w="1270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kumimoji="1" lang="ko-KR" altLang="en-US" sz="900">
              <a:solidFill>
                <a:schemeClr val="tx1"/>
              </a:solidFill>
            </a:endParaRPr>
          </a:p>
        </p:txBody>
      </p:sp>
      <p:cxnSp>
        <p:nvCxnSpPr>
          <p:cNvPr id="104" name="직선 연결선[R] 103">
            <a:extLst>
              <a:ext uri="{FF2B5EF4-FFF2-40B4-BE49-F238E27FC236}">
                <a16:creationId xmlns:a16="http://schemas.microsoft.com/office/drawing/2014/main" id="{F4D989E7-30AB-D806-1BC8-19EE7FBBCF17}"/>
              </a:ext>
            </a:extLst>
          </p:cNvPr>
          <p:cNvCxnSpPr>
            <a:cxnSpLocks/>
          </p:cNvCxnSpPr>
          <p:nvPr/>
        </p:nvCxnSpPr>
        <p:spPr>
          <a:xfrm flipV="1">
            <a:off x="4823619" y="0"/>
            <a:ext cx="0" cy="509203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TextBox 109">
            <a:extLst>
              <a:ext uri="{FF2B5EF4-FFF2-40B4-BE49-F238E27FC236}">
                <a16:creationId xmlns:a16="http://schemas.microsoft.com/office/drawing/2014/main" id="{F23A5A14-6AAB-6ED5-7975-B2C175A480E1}"/>
              </a:ext>
            </a:extLst>
          </p:cNvPr>
          <p:cNvSpPr txBox="1"/>
          <p:nvPr/>
        </p:nvSpPr>
        <p:spPr>
          <a:xfrm>
            <a:off x="2191861" y="4708018"/>
            <a:ext cx="1804072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kumimoji="1" lang="en-US" altLang="ko-KR" sz="1100" b="1"/>
              <a:t>Time-slicing on MIG</a:t>
            </a:r>
            <a:endParaRPr kumimoji="1" lang="ko-KR" altLang="en-US" sz="1100" b="1"/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DA99A843-087F-E378-A649-F2AC957A5C33}"/>
              </a:ext>
            </a:extLst>
          </p:cNvPr>
          <p:cNvSpPr txBox="1"/>
          <p:nvPr/>
        </p:nvSpPr>
        <p:spPr>
          <a:xfrm>
            <a:off x="5662596" y="4708018"/>
            <a:ext cx="1804072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kumimoji="1" lang="en-US" altLang="ko-KR" sz="1100" b="1"/>
              <a:t>MPS on MIG</a:t>
            </a:r>
            <a:endParaRPr kumimoji="1" lang="ko-KR" altLang="en-US" sz="1100" b="1"/>
          </a:p>
        </p:txBody>
      </p:sp>
      <p:sp>
        <p:nvSpPr>
          <p:cNvPr id="3" name="모서리가 둥근 직사각형 2">
            <a:extLst>
              <a:ext uri="{FF2B5EF4-FFF2-40B4-BE49-F238E27FC236}">
                <a16:creationId xmlns:a16="http://schemas.microsoft.com/office/drawing/2014/main" id="{4994EBFF-E7C0-4EC0-B10A-69A4BD9ABC87}"/>
              </a:ext>
            </a:extLst>
          </p:cNvPr>
          <p:cNvSpPr/>
          <p:nvPr/>
        </p:nvSpPr>
        <p:spPr>
          <a:xfrm>
            <a:off x="5284689" y="2341748"/>
            <a:ext cx="843892" cy="144481"/>
          </a:xfrm>
          <a:prstGeom prst="roundRect">
            <a:avLst>
              <a:gd name="adj" fmla="val 15928"/>
            </a:avLst>
          </a:prstGeom>
          <a:solidFill>
            <a:schemeClr val="accent2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App C</a:t>
            </a:r>
          </a:p>
        </p:txBody>
      </p:sp>
      <p:sp>
        <p:nvSpPr>
          <p:cNvPr id="5" name="모서리가 둥근 직사각형 4">
            <a:extLst>
              <a:ext uri="{FF2B5EF4-FFF2-40B4-BE49-F238E27FC236}">
                <a16:creationId xmlns:a16="http://schemas.microsoft.com/office/drawing/2014/main" id="{D4EC263F-2AEA-191F-47C8-0C481F270B83}"/>
              </a:ext>
            </a:extLst>
          </p:cNvPr>
          <p:cNvSpPr/>
          <p:nvPr/>
        </p:nvSpPr>
        <p:spPr>
          <a:xfrm>
            <a:off x="7017397" y="2341748"/>
            <a:ext cx="843892" cy="144481"/>
          </a:xfrm>
          <a:prstGeom prst="roundRect">
            <a:avLst>
              <a:gd name="adj" fmla="val 15928"/>
            </a:avLst>
          </a:prstGeom>
          <a:solidFill>
            <a:schemeClr val="accent4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App D</a:t>
            </a:r>
          </a:p>
        </p:txBody>
      </p:sp>
      <p:sp>
        <p:nvSpPr>
          <p:cNvPr id="6" name="모서리가 둥근 직사각형 5">
            <a:extLst>
              <a:ext uri="{FF2B5EF4-FFF2-40B4-BE49-F238E27FC236}">
                <a16:creationId xmlns:a16="http://schemas.microsoft.com/office/drawing/2014/main" id="{2E12886A-B9E8-55EB-B6C2-2B19915FF18D}"/>
              </a:ext>
            </a:extLst>
          </p:cNvPr>
          <p:cNvSpPr/>
          <p:nvPr/>
        </p:nvSpPr>
        <p:spPr>
          <a:xfrm>
            <a:off x="5144185" y="3033778"/>
            <a:ext cx="1118800" cy="677802"/>
          </a:xfrm>
          <a:prstGeom prst="roundRect">
            <a:avLst>
              <a:gd name="adj" fmla="val 8070"/>
            </a:avLst>
          </a:prstGeom>
          <a:noFill/>
          <a:ln w="1270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7" name="모서리가 둥근 직사각형 6">
            <a:extLst>
              <a:ext uri="{FF2B5EF4-FFF2-40B4-BE49-F238E27FC236}">
                <a16:creationId xmlns:a16="http://schemas.microsoft.com/office/drawing/2014/main" id="{06DDAF69-21C2-D52D-535E-30084682BF3C}"/>
              </a:ext>
            </a:extLst>
          </p:cNvPr>
          <p:cNvSpPr/>
          <p:nvPr/>
        </p:nvSpPr>
        <p:spPr>
          <a:xfrm>
            <a:off x="5234970" y="2303145"/>
            <a:ext cx="937230" cy="217170"/>
          </a:xfrm>
          <a:prstGeom prst="roundRect">
            <a:avLst>
              <a:gd name="adj" fmla="val 8070"/>
            </a:avLst>
          </a:prstGeom>
          <a:noFill/>
          <a:ln w="1270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kumimoji="1" lang="ko-KR" altLang="en-US" sz="900">
              <a:solidFill>
                <a:schemeClr val="tx1"/>
              </a:solidFill>
            </a:endParaRPr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85AD1A2E-31FD-4837-5A0E-6EAB9B43782F}"/>
              </a:ext>
            </a:extLst>
          </p:cNvPr>
          <p:cNvCxnSpPr>
            <a:cxnSpLocks/>
          </p:cNvCxnSpPr>
          <p:nvPr/>
        </p:nvCxnSpPr>
        <p:spPr>
          <a:xfrm>
            <a:off x="6064098" y="1358624"/>
            <a:ext cx="0" cy="171255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모서리가 둥근 직사각형 9">
            <a:extLst>
              <a:ext uri="{FF2B5EF4-FFF2-40B4-BE49-F238E27FC236}">
                <a16:creationId xmlns:a16="http://schemas.microsoft.com/office/drawing/2014/main" id="{705587BD-A071-D9D4-FDAE-50488F462309}"/>
              </a:ext>
            </a:extLst>
          </p:cNvPr>
          <p:cNvSpPr/>
          <p:nvPr/>
        </p:nvSpPr>
        <p:spPr>
          <a:xfrm>
            <a:off x="6966210" y="2303145"/>
            <a:ext cx="937230" cy="217170"/>
          </a:xfrm>
          <a:prstGeom prst="roundRect">
            <a:avLst>
              <a:gd name="adj" fmla="val 8070"/>
            </a:avLst>
          </a:prstGeom>
          <a:noFill/>
          <a:ln w="1270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kumimoji="1" lang="ko-KR" altLang="en-US" sz="900">
              <a:solidFill>
                <a:schemeClr val="tx1"/>
              </a:solidFill>
            </a:endParaRPr>
          </a:p>
        </p:txBody>
      </p: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60B9459E-3E47-703E-C584-0FD25C413CAE}"/>
              </a:ext>
            </a:extLst>
          </p:cNvPr>
          <p:cNvCxnSpPr>
            <a:cxnSpLocks/>
          </p:cNvCxnSpPr>
          <p:nvPr/>
        </p:nvCxnSpPr>
        <p:spPr>
          <a:xfrm>
            <a:off x="7792290" y="1358624"/>
            <a:ext cx="0" cy="171255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모서리가 둥근 직사각형 11">
            <a:extLst>
              <a:ext uri="{FF2B5EF4-FFF2-40B4-BE49-F238E27FC236}">
                <a16:creationId xmlns:a16="http://schemas.microsoft.com/office/drawing/2014/main" id="{DA619D68-F6C2-930F-4B07-3FB73356BA89}"/>
              </a:ext>
            </a:extLst>
          </p:cNvPr>
          <p:cNvSpPr/>
          <p:nvPr/>
        </p:nvSpPr>
        <p:spPr>
          <a:xfrm>
            <a:off x="1772086" y="2340853"/>
            <a:ext cx="2654528" cy="145375"/>
          </a:xfrm>
          <a:prstGeom prst="roundRect">
            <a:avLst>
              <a:gd name="adj" fmla="val 24616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App A </a:t>
            </a:r>
            <a:r>
              <a:rPr kumimoji="1" lang="en-US" altLang="ko-KR" sz="900">
                <a:solidFill>
                  <a:schemeClr val="tx1"/>
                </a:solidFill>
                <a:sym typeface="Wingdings" pitchFamily="2" charset="2"/>
              </a:rPr>
              <a:t> App B  …</a:t>
            </a:r>
            <a:endParaRPr kumimoji="1" lang="en-US" altLang="ko-KR" sz="900">
              <a:solidFill>
                <a:schemeClr val="tx1"/>
              </a:solidFill>
            </a:endParaRPr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71CC6C8F-1B87-4A57-3DB1-66D40AE66B0D}"/>
              </a:ext>
            </a:extLst>
          </p:cNvPr>
          <p:cNvCxnSpPr>
            <a:cxnSpLocks/>
          </p:cNvCxnSpPr>
          <p:nvPr/>
        </p:nvCxnSpPr>
        <p:spPr>
          <a:xfrm>
            <a:off x="4291968" y="1358624"/>
            <a:ext cx="0" cy="171255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6373E06D-9075-7443-5FE3-160DF8EEFB37}"/>
              </a:ext>
            </a:extLst>
          </p:cNvPr>
          <p:cNvCxnSpPr>
            <a:cxnSpLocks/>
          </p:cNvCxnSpPr>
          <p:nvPr/>
        </p:nvCxnSpPr>
        <p:spPr>
          <a:xfrm>
            <a:off x="2563776" y="1358624"/>
            <a:ext cx="0" cy="171255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401F1CF0-91C5-00EB-07AD-45BEAE8A856B}"/>
              </a:ext>
            </a:extLst>
          </p:cNvPr>
          <p:cNvSpPr txBox="1"/>
          <p:nvPr/>
        </p:nvSpPr>
        <p:spPr>
          <a:xfrm>
            <a:off x="2435454" y="1349459"/>
            <a:ext cx="1549189" cy="2308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kumimoji="1" lang="en-US" altLang="ko-KR" sz="900" b="1" i="1"/>
              <a:t>Kernel,</a:t>
            </a:r>
            <a:r>
              <a:rPr kumimoji="1" lang="ko-KR" altLang="en-US" sz="900" b="1" i="1"/>
              <a:t> </a:t>
            </a:r>
            <a:r>
              <a:rPr kumimoji="1" lang="en-US" altLang="ko-KR" sz="900" b="1" i="1"/>
              <a:t>Data,</a:t>
            </a:r>
            <a:r>
              <a:rPr kumimoji="1" lang="ko-KR" altLang="en-US" sz="900" b="1" i="1"/>
              <a:t> </a:t>
            </a:r>
            <a:r>
              <a:rPr kumimoji="1" lang="en-US" altLang="ko-KR" sz="900" b="1" i="1"/>
              <a:t>Configs</a:t>
            </a:r>
            <a:endParaRPr kumimoji="1" lang="ko-KR" altLang="en-US" sz="900" b="1" i="1"/>
          </a:p>
        </p:txBody>
      </p:sp>
    </p:spTree>
    <p:extLst>
      <p:ext uri="{BB962C8B-B14F-4D97-AF65-F5344CB8AC3E}">
        <p14:creationId xmlns:p14="http://schemas.microsoft.com/office/powerpoint/2010/main" val="4590712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E8F814-9774-6A40-E325-80A7DDA64C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289025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119B86-8C38-2F01-3321-2203C144D6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F09DAC6-F8EA-C5CD-283F-91DADD9B3FEB}"/>
              </a:ext>
            </a:extLst>
          </p:cNvPr>
          <p:cNvSpPr txBox="1">
            <a:spLocks/>
          </p:cNvSpPr>
          <p:nvPr/>
        </p:nvSpPr>
        <p:spPr>
          <a:xfrm>
            <a:off x="457200" y="-739613"/>
            <a:ext cx="8229600" cy="857250"/>
          </a:xfrm>
          <a:prstGeom prst="rect">
            <a:avLst/>
          </a:prstGeom>
        </p:spPr>
        <p:txBody>
          <a:bodyPr/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/>
              <a:t>MPS After Volta Architecture</a:t>
            </a:r>
            <a:endParaRPr lang="ko-KR" altLang="en-US" dirty="0"/>
          </a:p>
        </p:txBody>
      </p:sp>
      <p:sp>
        <p:nvSpPr>
          <p:cNvPr id="3" name="모서리가 둥근 직사각형 2">
            <a:extLst>
              <a:ext uri="{FF2B5EF4-FFF2-40B4-BE49-F238E27FC236}">
                <a16:creationId xmlns:a16="http://schemas.microsoft.com/office/drawing/2014/main" id="{4F4F6E80-D36B-23C6-8FB4-C8840F3F35BF}"/>
              </a:ext>
            </a:extLst>
          </p:cNvPr>
          <p:cNvSpPr/>
          <p:nvPr/>
        </p:nvSpPr>
        <p:spPr>
          <a:xfrm>
            <a:off x="323528" y="1216855"/>
            <a:ext cx="1549189" cy="720080"/>
          </a:xfrm>
          <a:prstGeom prst="roundRect">
            <a:avLst>
              <a:gd name="adj" fmla="val 9264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1000" b="1">
                <a:solidFill>
                  <a:schemeClr val="tx1"/>
                </a:solidFill>
              </a:rPr>
              <a:t>CUDA App A Process</a:t>
            </a:r>
            <a:endParaRPr kumimoji="1" lang="ko-KR" altLang="en-US" sz="1000" b="1">
              <a:solidFill>
                <a:schemeClr val="tx1"/>
              </a:solidFill>
            </a:endParaRPr>
          </a:p>
        </p:txBody>
      </p:sp>
      <p:sp>
        <p:nvSpPr>
          <p:cNvPr id="4" name="모서리가 둥근 직사각형 3">
            <a:extLst>
              <a:ext uri="{FF2B5EF4-FFF2-40B4-BE49-F238E27FC236}">
                <a16:creationId xmlns:a16="http://schemas.microsoft.com/office/drawing/2014/main" id="{AA0EFC17-B229-60A8-1EC6-910E12CDF515}"/>
              </a:ext>
            </a:extLst>
          </p:cNvPr>
          <p:cNvSpPr/>
          <p:nvPr/>
        </p:nvSpPr>
        <p:spPr>
          <a:xfrm>
            <a:off x="473337" y="1568534"/>
            <a:ext cx="1237375" cy="288032"/>
          </a:xfrm>
          <a:prstGeom prst="roundRect">
            <a:avLst>
              <a:gd name="adj" fmla="val 15432"/>
            </a:avLst>
          </a:prstGeom>
          <a:solidFill>
            <a:schemeClr val="accent1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CUDA Context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5" name="모서리가 둥근 직사각형 4">
            <a:extLst>
              <a:ext uri="{FF2B5EF4-FFF2-40B4-BE49-F238E27FC236}">
                <a16:creationId xmlns:a16="http://schemas.microsoft.com/office/drawing/2014/main" id="{B73F72FB-2A7F-C73E-4565-80CAA1424A12}"/>
              </a:ext>
            </a:extLst>
          </p:cNvPr>
          <p:cNvSpPr/>
          <p:nvPr/>
        </p:nvSpPr>
        <p:spPr>
          <a:xfrm>
            <a:off x="2051720" y="1216855"/>
            <a:ext cx="1549189" cy="720080"/>
          </a:xfrm>
          <a:prstGeom prst="roundRect">
            <a:avLst>
              <a:gd name="adj" fmla="val 9264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1000" b="1">
                <a:solidFill>
                  <a:schemeClr val="tx1"/>
                </a:solidFill>
              </a:rPr>
              <a:t>CUDA App B Process</a:t>
            </a:r>
            <a:endParaRPr kumimoji="1" lang="ko-KR" altLang="en-US" sz="1000" b="1">
              <a:solidFill>
                <a:schemeClr val="tx1"/>
              </a:solidFill>
            </a:endParaRPr>
          </a:p>
        </p:txBody>
      </p:sp>
      <p:sp>
        <p:nvSpPr>
          <p:cNvPr id="6" name="모서리가 둥근 직사각형 5">
            <a:extLst>
              <a:ext uri="{FF2B5EF4-FFF2-40B4-BE49-F238E27FC236}">
                <a16:creationId xmlns:a16="http://schemas.microsoft.com/office/drawing/2014/main" id="{06DD2212-49DF-572B-B4B8-5BC788542509}"/>
              </a:ext>
            </a:extLst>
          </p:cNvPr>
          <p:cNvSpPr/>
          <p:nvPr/>
        </p:nvSpPr>
        <p:spPr>
          <a:xfrm>
            <a:off x="3779912" y="1216855"/>
            <a:ext cx="1549189" cy="720080"/>
          </a:xfrm>
          <a:prstGeom prst="roundRect">
            <a:avLst>
              <a:gd name="adj" fmla="val 9264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1000" b="1">
                <a:solidFill>
                  <a:schemeClr val="tx1"/>
                </a:solidFill>
              </a:rPr>
              <a:t>CUDA App C Process</a:t>
            </a:r>
            <a:endParaRPr kumimoji="1" lang="ko-KR" altLang="en-US" sz="1000" b="1">
              <a:solidFill>
                <a:schemeClr val="tx1"/>
              </a:solidFill>
            </a:endParaRPr>
          </a:p>
        </p:txBody>
      </p:sp>
      <p:sp>
        <p:nvSpPr>
          <p:cNvPr id="7" name="모서리가 둥근 직사각형 6">
            <a:extLst>
              <a:ext uri="{FF2B5EF4-FFF2-40B4-BE49-F238E27FC236}">
                <a16:creationId xmlns:a16="http://schemas.microsoft.com/office/drawing/2014/main" id="{6B65E149-6026-A399-8DB2-4F254DC1B944}"/>
              </a:ext>
            </a:extLst>
          </p:cNvPr>
          <p:cNvSpPr/>
          <p:nvPr/>
        </p:nvSpPr>
        <p:spPr>
          <a:xfrm>
            <a:off x="323528" y="2111920"/>
            <a:ext cx="5005573" cy="2672657"/>
          </a:xfrm>
          <a:prstGeom prst="roundRect">
            <a:avLst>
              <a:gd name="adj" fmla="val 3017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kumimoji="1" lang="en-US" altLang="ko-KR" sz="1000" b="1">
                <a:solidFill>
                  <a:schemeClr val="tx1"/>
                </a:solidFill>
              </a:rPr>
              <a:t>GPU</a:t>
            </a:r>
            <a:endParaRPr kumimoji="1" lang="ko-KR" altLang="en-US" sz="1000" b="1">
              <a:solidFill>
                <a:schemeClr val="tx1"/>
              </a:solidFill>
            </a:endParaRPr>
          </a:p>
        </p:txBody>
      </p:sp>
      <p:sp>
        <p:nvSpPr>
          <p:cNvPr id="8" name="모서리가 둥근 직사각형 7">
            <a:extLst>
              <a:ext uri="{FF2B5EF4-FFF2-40B4-BE49-F238E27FC236}">
                <a16:creationId xmlns:a16="http://schemas.microsoft.com/office/drawing/2014/main" id="{A77F275C-E3A8-DECA-28C9-AF57B4F1E2D3}"/>
              </a:ext>
            </a:extLst>
          </p:cNvPr>
          <p:cNvSpPr/>
          <p:nvPr/>
        </p:nvSpPr>
        <p:spPr>
          <a:xfrm>
            <a:off x="2207626" y="1568534"/>
            <a:ext cx="1237375" cy="288032"/>
          </a:xfrm>
          <a:prstGeom prst="roundRect">
            <a:avLst>
              <a:gd name="adj" fmla="val 15432"/>
            </a:avLst>
          </a:prstGeom>
          <a:solidFill>
            <a:schemeClr val="accent3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CUDA Context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9" name="모서리가 둥근 직사각형 8">
            <a:extLst>
              <a:ext uri="{FF2B5EF4-FFF2-40B4-BE49-F238E27FC236}">
                <a16:creationId xmlns:a16="http://schemas.microsoft.com/office/drawing/2014/main" id="{8BE55826-68C4-ADB4-034F-E63D16BC709B}"/>
              </a:ext>
            </a:extLst>
          </p:cNvPr>
          <p:cNvSpPr/>
          <p:nvPr/>
        </p:nvSpPr>
        <p:spPr>
          <a:xfrm>
            <a:off x="3935818" y="1568534"/>
            <a:ext cx="1237375" cy="288032"/>
          </a:xfrm>
          <a:prstGeom prst="roundRect">
            <a:avLst>
              <a:gd name="adj" fmla="val 15432"/>
            </a:avLst>
          </a:prstGeom>
          <a:solidFill>
            <a:schemeClr val="accent2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CUDA Context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10" name="모서리가 둥근 직사각형 9">
            <a:extLst>
              <a:ext uri="{FF2B5EF4-FFF2-40B4-BE49-F238E27FC236}">
                <a16:creationId xmlns:a16="http://schemas.microsoft.com/office/drawing/2014/main" id="{86914B46-215A-F53B-1969-A7100C36A3B6}"/>
              </a:ext>
            </a:extLst>
          </p:cNvPr>
          <p:cNvSpPr/>
          <p:nvPr/>
        </p:nvSpPr>
        <p:spPr>
          <a:xfrm>
            <a:off x="473338" y="4178635"/>
            <a:ext cx="4705952" cy="288032"/>
          </a:xfrm>
          <a:prstGeom prst="roundRect">
            <a:avLst>
              <a:gd name="adj" fmla="val 15432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 b="1" u="sng">
                <a:solidFill>
                  <a:schemeClr val="tx1"/>
                </a:solidFill>
              </a:rPr>
              <a:t>Shared</a:t>
            </a:r>
            <a:r>
              <a:rPr kumimoji="1" lang="en-US" altLang="ko-KR" sz="900">
                <a:solidFill>
                  <a:schemeClr val="tx1"/>
                </a:solidFill>
              </a:rPr>
              <a:t> GPU Context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11" name="모서리가 둥근 직사각형 10">
            <a:extLst>
              <a:ext uri="{FF2B5EF4-FFF2-40B4-BE49-F238E27FC236}">
                <a16:creationId xmlns:a16="http://schemas.microsoft.com/office/drawing/2014/main" id="{5C809186-1E24-93A0-3403-DE7AB22BA662}"/>
              </a:ext>
            </a:extLst>
          </p:cNvPr>
          <p:cNvSpPr/>
          <p:nvPr/>
        </p:nvSpPr>
        <p:spPr>
          <a:xfrm>
            <a:off x="473337" y="3075806"/>
            <a:ext cx="1237375" cy="808671"/>
          </a:xfrm>
          <a:prstGeom prst="roundRect">
            <a:avLst>
              <a:gd name="adj" fmla="val 6582"/>
            </a:avLst>
          </a:prstGeom>
          <a:solidFill>
            <a:schemeClr val="accent1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App A Memory</a:t>
            </a:r>
          </a:p>
          <a:p>
            <a:pPr algn="ctr"/>
            <a:br>
              <a:rPr kumimoji="1" lang="en-US" altLang="ko-KR" sz="900">
                <a:solidFill>
                  <a:schemeClr val="tx1"/>
                </a:solidFill>
              </a:rPr>
            </a:br>
            <a:r>
              <a:rPr kumimoji="1" lang="en-US" altLang="ko-KR" sz="900">
                <a:solidFill>
                  <a:schemeClr val="tx1"/>
                </a:solidFill>
              </a:rPr>
              <a:t>Code, Data</a:t>
            </a:r>
          </a:p>
        </p:txBody>
      </p:sp>
      <p:sp>
        <p:nvSpPr>
          <p:cNvPr id="12" name="모서리가 둥근 직사각형 11">
            <a:extLst>
              <a:ext uri="{FF2B5EF4-FFF2-40B4-BE49-F238E27FC236}">
                <a16:creationId xmlns:a16="http://schemas.microsoft.com/office/drawing/2014/main" id="{CC00B3A1-C90E-9A4A-91BC-674B70753FFF}"/>
              </a:ext>
            </a:extLst>
          </p:cNvPr>
          <p:cNvSpPr/>
          <p:nvPr/>
        </p:nvSpPr>
        <p:spPr>
          <a:xfrm>
            <a:off x="473337" y="2211710"/>
            <a:ext cx="4699856" cy="689111"/>
          </a:xfrm>
          <a:prstGeom prst="roundRect">
            <a:avLst>
              <a:gd name="adj" fmla="val 8070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 b="1" u="sng">
                <a:solidFill>
                  <a:schemeClr val="tx1"/>
                </a:solidFill>
              </a:rPr>
              <a:t>Shared</a:t>
            </a:r>
            <a:r>
              <a:rPr kumimoji="1" lang="en-US" altLang="ko-KR" sz="900">
                <a:solidFill>
                  <a:schemeClr val="tx1"/>
                </a:solidFill>
              </a:rPr>
              <a:t> SM (Streaming Multiprocessor) 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13" name="모서리가 둥근 직사각형 12">
            <a:extLst>
              <a:ext uri="{FF2B5EF4-FFF2-40B4-BE49-F238E27FC236}">
                <a16:creationId xmlns:a16="http://schemas.microsoft.com/office/drawing/2014/main" id="{2BD3319E-8155-15C5-F2B5-787FD543DD91}"/>
              </a:ext>
            </a:extLst>
          </p:cNvPr>
          <p:cNvSpPr/>
          <p:nvPr/>
        </p:nvSpPr>
        <p:spPr>
          <a:xfrm>
            <a:off x="2204577" y="3075806"/>
            <a:ext cx="1237375" cy="808671"/>
          </a:xfrm>
          <a:prstGeom prst="roundRect">
            <a:avLst>
              <a:gd name="adj" fmla="val 11293"/>
            </a:avLst>
          </a:prstGeom>
          <a:solidFill>
            <a:schemeClr val="accent3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App B Memory</a:t>
            </a:r>
          </a:p>
          <a:p>
            <a:pPr algn="ctr"/>
            <a:br>
              <a:rPr kumimoji="1" lang="en-US" altLang="ko-KR" sz="900">
                <a:solidFill>
                  <a:schemeClr val="tx1"/>
                </a:solidFill>
              </a:rPr>
            </a:br>
            <a:r>
              <a:rPr kumimoji="1" lang="en-US" altLang="ko-KR" sz="900">
                <a:solidFill>
                  <a:schemeClr val="tx1"/>
                </a:solidFill>
              </a:rPr>
              <a:t>Code, Data</a:t>
            </a:r>
          </a:p>
        </p:txBody>
      </p:sp>
      <p:sp>
        <p:nvSpPr>
          <p:cNvPr id="14" name="모서리가 둥근 직사각형 13">
            <a:extLst>
              <a:ext uri="{FF2B5EF4-FFF2-40B4-BE49-F238E27FC236}">
                <a16:creationId xmlns:a16="http://schemas.microsoft.com/office/drawing/2014/main" id="{2ADF1E86-B477-AEC6-9B64-F21F85F31FA1}"/>
              </a:ext>
            </a:extLst>
          </p:cNvPr>
          <p:cNvSpPr/>
          <p:nvPr/>
        </p:nvSpPr>
        <p:spPr>
          <a:xfrm>
            <a:off x="3935817" y="3075806"/>
            <a:ext cx="1237375" cy="808671"/>
          </a:xfrm>
          <a:prstGeom prst="roundRect">
            <a:avLst>
              <a:gd name="adj" fmla="val 11293"/>
            </a:avLst>
          </a:prstGeom>
          <a:solidFill>
            <a:schemeClr val="accent2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App C Memory</a:t>
            </a:r>
          </a:p>
          <a:p>
            <a:pPr algn="ctr"/>
            <a:br>
              <a:rPr kumimoji="1" lang="en-US" altLang="ko-KR" sz="900">
                <a:solidFill>
                  <a:schemeClr val="tx1"/>
                </a:solidFill>
              </a:rPr>
            </a:br>
            <a:r>
              <a:rPr kumimoji="1" lang="en-US" altLang="ko-KR" sz="900">
                <a:solidFill>
                  <a:schemeClr val="tx1"/>
                </a:solidFill>
              </a:rPr>
              <a:t>Code, Data</a:t>
            </a:r>
          </a:p>
        </p:txBody>
      </p: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76E0555B-1113-6BD9-B63D-BDCA57DC1344}"/>
              </a:ext>
            </a:extLst>
          </p:cNvPr>
          <p:cNvCxnSpPr>
            <a:cxnSpLocks/>
            <a:stCxn id="4" idx="2"/>
            <a:endCxn id="11" idx="0"/>
          </p:cNvCxnSpPr>
          <p:nvPr/>
        </p:nvCxnSpPr>
        <p:spPr>
          <a:xfrm>
            <a:off x="1092025" y="1856566"/>
            <a:ext cx="0" cy="121924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AD26628D-B036-B772-DB4E-78755E0A4884}"/>
              </a:ext>
            </a:extLst>
          </p:cNvPr>
          <p:cNvCxnSpPr>
            <a:cxnSpLocks/>
            <a:stCxn id="8" idx="2"/>
            <a:endCxn id="13" idx="0"/>
          </p:cNvCxnSpPr>
          <p:nvPr/>
        </p:nvCxnSpPr>
        <p:spPr>
          <a:xfrm flipH="1">
            <a:off x="2823265" y="1856566"/>
            <a:ext cx="3049" cy="121924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C98508B4-F6AB-6836-B343-0D830CCEBB48}"/>
              </a:ext>
            </a:extLst>
          </p:cNvPr>
          <p:cNvCxnSpPr>
            <a:cxnSpLocks/>
            <a:stCxn id="9" idx="2"/>
            <a:endCxn id="14" idx="0"/>
          </p:cNvCxnSpPr>
          <p:nvPr/>
        </p:nvCxnSpPr>
        <p:spPr>
          <a:xfrm flipH="1">
            <a:off x="4554505" y="1856566"/>
            <a:ext cx="1" cy="121924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모서리가 둥근 직사각형 21">
            <a:extLst>
              <a:ext uri="{FF2B5EF4-FFF2-40B4-BE49-F238E27FC236}">
                <a16:creationId xmlns:a16="http://schemas.microsoft.com/office/drawing/2014/main" id="{B5515E78-C635-AA88-FFCC-90F4680CAC8A}"/>
              </a:ext>
            </a:extLst>
          </p:cNvPr>
          <p:cNvSpPr/>
          <p:nvPr/>
        </p:nvSpPr>
        <p:spPr>
          <a:xfrm>
            <a:off x="2051720" y="509066"/>
            <a:ext cx="1549189" cy="424830"/>
          </a:xfrm>
          <a:prstGeom prst="roundRect">
            <a:avLst>
              <a:gd name="adj" fmla="val 13748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 b="1">
                <a:solidFill>
                  <a:schemeClr val="tx1"/>
                </a:solidFill>
              </a:rPr>
              <a:t>MPS</a:t>
            </a:r>
            <a:endParaRPr kumimoji="1" lang="ko-KR" altLang="en-US" sz="1000" b="1">
              <a:solidFill>
                <a:schemeClr val="tx1"/>
              </a:solidFill>
            </a:endParaRPr>
          </a:p>
        </p:txBody>
      </p: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E88B7189-7D55-9D57-BB15-32ECA8B1A7AE}"/>
              </a:ext>
            </a:extLst>
          </p:cNvPr>
          <p:cNvCxnSpPr>
            <a:cxnSpLocks/>
            <a:stCxn id="3" idx="0"/>
            <a:endCxn id="22" idx="2"/>
          </p:cNvCxnSpPr>
          <p:nvPr/>
        </p:nvCxnSpPr>
        <p:spPr>
          <a:xfrm flipV="1">
            <a:off x="1098123" y="933896"/>
            <a:ext cx="1728192" cy="282959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09341BBC-DE9C-5E51-E02C-50B91D9F9F9D}"/>
              </a:ext>
            </a:extLst>
          </p:cNvPr>
          <p:cNvCxnSpPr>
            <a:cxnSpLocks/>
            <a:stCxn id="5" idx="0"/>
            <a:endCxn id="22" idx="2"/>
          </p:cNvCxnSpPr>
          <p:nvPr/>
        </p:nvCxnSpPr>
        <p:spPr>
          <a:xfrm flipV="1">
            <a:off x="2826315" y="933896"/>
            <a:ext cx="0" cy="282959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D3441453-D014-4299-A7E3-8B01D6C05FEB}"/>
              </a:ext>
            </a:extLst>
          </p:cNvPr>
          <p:cNvCxnSpPr>
            <a:cxnSpLocks/>
            <a:stCxn id="6" idx="0"/>
            <a:endCxn id="22" idx="2"/>
          </p:cNvCxnSpPr>
          <p:nvPr/>
        </p:nvCxnSpPr>
        <p:spPr>
          <a:xfrm flipH="1" flipV="1">
            <a:off x="2826315" y="933896"/>
            <a:ext cx="1728192" cy="282959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75A33A36-552E-DE9E-2705-4B57B71FD980}"/>
              </a:ext>
            </a:extLst>
          </p:cNvPr>
          <p:cNvSpPr txBox="1"/>
          <p:nvPr/>
        </p:nvSpPr>
        <p:spPr>
          <a:xfrm>
            <a:off x="604515" y="680865"/>
            <a:ext cx="1631881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kumimoji="1" lang="en-US" altLang="ko-KR" sz="1000" b="1" i="1"/>
              <a:t>Mediate</a:t>
            </a:r>
          </a:p>
          <a:p>
            <a:pPr algn="ctr"/>
            <a:r>
              <a:rPr kumimoji="1" lang="en-US" altLang="ko-KR" sz="1000" b="1" i="1"/>
              <a:t>App Requests</a:t>
            </a:r>
            <a:endParaRPr kumimoji="1" lang="ko-KR" altLang="en-US" sz="1000" b="1" i="1"/>
          </a:p>
        </p:txBody>
      </p:sp>
    </p:spTree>
    <p:extLst>
      <p:ext uri="{BB962C8B-B14F-4D97-AF65-F5344CB8AC3E}">
        <p14:creationId xmlns:p14="http://schemas.microsoft.com/office/powerpoint/2010/main" val="31769081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E43753-C2CF-6F96-152B-1FE45DD759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73ADF85-D85F-9968-8A15-5118A0555228}"/>
              </a:ext>
            </a:extLst>
          </p:cNvPr>
          <p:cNvSpPr txBox="1">
            <a:spLocks/>
          </p:cNvSpPr>
          <p:nvPr/>
        </p:nvSpPr>
        <p:spPr>
          <a:xfrm>
            <a:off x="457200" y="-739613"/>
            <a:ext cx="8229600" cy="857250"/>
          </a:xfrm>
          <a:prstGeom prst="rect">
            <a:avLst/>
          </a:prstGeom>
        </p:spPr>
        <p:txBody>
          <a:bodyPr/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/>
              <a:t>MPS Before Volta</a:t>
            </a:r>
            <a:endParaRPr lang="ko-KR" altLang="en-US" dirty="0"/>
          </a:p>
        </p:txBody>
      </p:sp>
      <p:sp>
        <p:nvSpPr>
          <p:cNvPr id="3" name="모서리가 둥근 직사각형 2">
            <a:extLst>
              <a:ext uri="{FF2B5EF4-FFF2-40B4-BE49-F238E27FC236}">
                <a16:creationId xmlns:a16="http://schemas.microsoft.com/office/drawing/2014/main" id="{B26F6116-C244-9C40-17BD-C26151D235CC}"/>
              </a:ext>
            </a:extLst>
          </p:cNvPr>
          <p:cNvSpPr/>
          <p:nvPr/>
        </p:nvSpPr>
        <p:spPr>
          <a:xfrm>
            <a:off x="323528" y="320404"/>
            <a:ext cx="1549189" cy="720080"/>
          </a:xfrm>
          <a:prstGeom prst="roundRect">
            <a:avLst>
              <a:gd name="adj" fmla="val 9264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1000" b="1">
                <a:solidFill>
                  <a:schemeClr val="tx1"/>
                </a:solidFill>
              </a:rPr>
              <a:t>CUDA App A Process</a:t>
            </a:r>
            <a:endParaRPr kumimoji="1" lang="ko-KR" altLang="en-US" sz="1000" b="1">
              <a:solidFill>
                <a:schemeClr val="tx1"/>
              </a:solidFill>
            </a:endParaRPr>
          </a:p>
        </p:txBody>
      </p:sp>
      <p:sp>
        <p:nvSpPr>
          <p:cNvPr id="4" name="모서리가 둥근 직사각형 3">
            <a:extLst>
              <a:ext uri="{FF2B5EF4-FFF2-40B4-BE49-F238E27FC236}">
                <a16:creationId xmlns:a16="http://schemas.microsoft.com/office/drawing/2014/main" id="{9EF9CE68-8979-3081-106A-EAF3CC4BC554}"/>
              </a:ext>
            </a:extLst>
          </p:cNvPr>
          <p:cNvSpPr/>
          <p:nvPr/>
        </p:nvSpPr>
        <p:spPr>
          <a:xfrm>
            <a:off x="473337" y="672083"/>
            <a:ext cx="1237375" cy="288032"/>
          </a:xfrm>
          <a:prstGeom prst="roundRect">
            <a:avLst>
              <a:gd name="adj" fmla="val 15432"/>
            </a:avLst>
          </a:prstGeom>
          <a:solidFill>
            <a:schemeClr val="accent1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CUDA Context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5" name="모서리가 둥근 직사각형 4">
            <a:extLst>
              <a:ext uri="{FF2B5EF4-FFF2-40B4-BE49-F238E27FC236}">
                <a16:creationId xmlns:a16="http://schemas.microsoft.com/office/drawing/2014/main" id="{A5C4A6BD-B24C-5F8A-19A3-613F2887B15D}"/>
              </a:ext>
            </a:extLst>
          </p:cNvPr>
          <p:cNvSpPr/>
          <p:nvPr/>
        </p:nvSpPr>
        <p:spPr>
          <a:xfrm>
            <a:off x="2051720" y="320404"/>
            <a:ext cx="1549189" cy="720080"/>
          </a:xfrm>
          <a:prstGeom prst="roundRect">
            <a:avLst>
              <a:gd name="adj" fmla="val 9264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1000" b="1">
                <a:solidFill>
                  <a:schemeClr val="tx1"/>
                </a:solidFill>
              </a:rPr>
              <a:t>CUDA App B Process</a:t>
            </a:r>
            <a:endParaRPr kumimoji="1" lang="ko-KR" altLang="en-US" sz="1000" b="1">
              <a:solidFill>
                <a:schemeClr val="tx1"/>
              </a:solidFill>
            </a:endParaRPr>
          </a:p>
        </p:txBody>
      </p:sp>
      <p:sp>
        <p:nvSpPr>
          <p:cNvPr id="6" name="모서리가 둥근 직사각형 5">
            <a:extLst>
              <a:ext uri="{FF2B5EF4-FFF2-40B4-BE49-F238E27FC236}">
                <a16:creationId xmlns:a16="http://schemas.microsoft.com/office/drawing/2014/main" id="{CBBC488A-3B58-25F2-2871-826AD2360021}"/>
              </a:ext>
            </a:extLst>
          </p:cNvPr>
          <p:cNvSpPr/>
          <p:nvPr/>
        </p:nvSpPr>
        <p:spPr>
          <a:xfrm>
            <a:off x="3779912" y="320404"/>
            <a:ext cx="1549189" cy="720080"/>
          </a:xfrm>
          <a:prstGeom prst="roundRect">
            <a:avLst>
              <a:gd name="adj" fmla="val 9264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1000" b="1">
                <a:solidFill>
                  <a:schemeClr val="tx1"/>
                </a:solidFill>
              </a:rPr>
              <a:t>CUDA App C Process</a:t>
            </a:r>
            <a:endParaRPr kumimoji="1" lang="ko-KR" altLang="en-US" sz="1000" b="1">
              <a:solidFill>
                <a:schemeClr val="tx1"/>
              </a:solidFill>
            </a:endParaRPr>
          </a:p>
        </p:txBody>
      </p:sp>
      <p:sp>
        <p:nvSpPr>
          <p:cNvPr id="7" name="모서리가 둥근 직사각형 6">
            <a:extLst>
              <a:ext uri="{FF2B5EF4-FFF2-40B4-BE49-F238E27FC236}">
                <a16:creationId xmlns:a16="http://schemas.microsoft.com/office/drawing/2014/main" id="{2FE37FB8-EACE-1767-E361-D6A81A997938}"/>
              </a:ext>
            </a:extLst>
          </p:cNvPr>
          <p:cNvSpPr/>
          <p:nvPr/>
        </p:nvSpPr>
        <p:spPr>
          <a:xfrm>
            <a:off x="323528" y="2139702"/>
            <a:ext cx="5005573" cy="2808312"/>
          </a:xfrm>
          <a:prstGeom prst="roundRect">
            <a:avLst>
              <a:gd name="adj" fmla="val 3017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kumimoji="1" lang="en-US" altLang="ko-KR" sz="1000" b="1">
                <a:solidFill>
                  <a:schemeClr val="tx1"/>
                </a:solidFill>
              </a:rPr>
              <a:t>GPU</a:t>
            </a:r>
            <a:endParaRPr kumimoji="1" lang="ko-KR" altLang="en-US" sz="1000" b="1">
              <a:solidFill>
                <a:schemeClr val="tx1"/>
              </a:solidFill>
            </a:endParaRPr>
          </a:p>
        </p:txBody>
      </p:sp>
      <p:sp>
        <p:nvSpPr>
          <p:cNvPr id="8" name="모서리가 둥근 직사각형 7">
            <a:extLst>
              <a:ext uri="{FF2B5EF4-FFF2-40B4-BE49-F238E27FC236}">
                <a16:creationId xmlns:a16="http://schemas.microsoft.com/office/drawing/2014/main" id="{70812706-FAC2-47A5-F37F-2F48E8777C5D}"/>
              </a:ext>
            </a:extLst>
          </p:cNvPr>
          <p:cNvSpPr/>
          <p:nvPr/>
        </p:nvSpPr>
        <p:spPr>
          <a:xfrm>
            <a:off x="2207626" y="672083"/>
            <a:ext cx="1237375" cy="288032"/>
          </a:xfrm>
          <a:prstGeom prst="roundRect">
            <a:avLst>
              <a:gd name="adj" fmla="val 15432"/>
            </a:avLst>
          </a:prstGeom>
          <a:solidFill>
            <a:schemeClr val="accent3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CUDA Context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9" name="모서리가 둥근 직사각형 8">
            <a:extLst>
              <a:ext uri="{FF2B5EF4-FFF2-40B4-BE49-F238E27FC236}">
                <a16:creationId xmlns:a16="http://schemas.microsoft.com/office/drawing/2014/main" id="{F92AC7F8-E12B-4EA6-D339-7519FCAC9700}"/>
              </a:ext>
            </a:extLst>
          </p:cNvPr>
          <p:cNvSpPr/>
          <p:nvPr/>
        </p:nvSpPr>
        <p:spPr>
          <a:xfrm>
            <a:off x="3935818" y="672083"/>
            <a:ext cx="1237375" cy="288032"/>
          </a:xfrm>
          <a:prstGeom prst="roundRect">
            <a:avLst>
              <a:gd name="adj" fmla="val 15432"/>
            </a:avLst>
          </a:prstGeom>
          <a:solidFill>
            <a:schemeClr val="accent2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CUDA Context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11" name="모서리가 둥근 직사각형 10">
            <a:extLst>
              <a:ext uri="{FF2B5EF4-FFF2-40B4-BE49-F238E27FC236}">
                <a16:creationId xmlns:a16="http://schemas.microsoft.com/office/drawing/2014/main" id="{8A228FC4-8918-EC61-13B9-88F45D00EECE}"/>
              </a:ext>
            </a:extLst>
          </p:cNvPr>
          <p:cNvSpPr/>
          <p:nvPr/>
        </p:nvSpPr>
        <p:spPr>
          <a:xfrm>
            <a:off x="585720" y="3597961"/>
            <a:ext cx="1012610" cy="529248"/>
          </a:xfrm>
          <a:prstGeom prst="roundRect">
            <a:avLst>
              <a:gd name="adj" fmla="val 6582"/>
            </a:avLst>
          </a:prstGeom>
          <a:solidFill>
            <a:schemeClr val="accent1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App A Memory</a:t>
            </a:r>
          </a:p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 </a:t>
            </a:r>
            <a:br>
              <a:rPr kumimoji="1" lang="en-US" altLang="ko-KR" sz="900">
                <a:solidFill>
                  <a:schemeClr val="tx1"/>
                </a:solidFill>
              </a:rPr>
            </a:br>
            <a:r>
              <a:rPr kumimoji="1" lang="en-US" altLang="ko-KR" sz="900">
                <a:solidFill>
                  <a:schemeClr val="tx1"/>
                </a:solidFill>
              </a:rPr>
              <a:t>Code, Data</a:t>
            </a:r>
          </a:p>
        </p:txBody>
      </p:sp>
      <p:sp>
        <p:nvSpPr>
          <p:cNvPr id="12" name="모서리가 둥근 직사각형 11">
            <a:extLst>
              <a:ext uri="{FF2B5EF4-FFF2-40B4-BE49-F238E27FC236}">
                <a16:creationId xmlns:a16="http://schemas.microsoft.com/office/drawing/2014/main" id="{433B0B64-3714-0BA0-3632-44AD73BAD667}"/>
              </a:ext>
            </a:extLst>
          </p:cNvPr>
          <p:cNvSpPr/>
          <p:nvPr/>
        </p:nvSpPr>
        <p:spPr>
          <a:xfrm>
            <a:off x="473337" y="2239492"/>
            <a:ext cx="4699856" cy="689111"/>
          </a:xfrm>
          <a:prstGeom prst="roundRect">
            <a:avLst>
              <a:gd name="adj" fmla="val 8070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 b="1" u="sng">
                <a:solidFill>
                  <a:schemeClr val="tx1"/>
                </a:solidFill>
              </a:rPr>
              <a:t>Shared</a:t>
            </a:r>
            <a:r>
              <a:rPr kumimoji="1" lang="en-US" altLang="ko-KR" sz="900">
                <a:solidFill>
                  <a:schemeClr val="tx1"/>
                </a:solidFill>
              </a:rPr>
              <a:t> SM (Streaming Multiprocessor) 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13" name="모서리가 둥근 직사각형 12">
            <a:extLst>
              <a:ext uri="{FF2B5EF4-FFF2-40B4-BE49-F238E27FC236}">
                <a16:creationId xmlns:a16="http://schemas.microsoft.com/office/drawing/2014/main" id="{5F462BA6-6EAA-83D8-E2D8-4FEF2FA06AA8}"/>
              </a:ext>
            </a:extLst>
          </p:cNvPr>
          <p:cNvSpPr/>
          <p:nvPr/>
        </p:nvSpPr>
        <p:spPr>
          <a:xfrm>
            <a:off x="2316960" y="3597961"/>
            <a:ext cx="1012610" cy="529248"/>
          </a:xfrm>
          <a:prstGeom prst="roundRect">
            <a:avLst>
              <a:gd name="adj" fmla="val 11293"/>
            </a:avLst>
          </a:prstGeom>
          <a:solidFill>
            <a:schemeClr val="accent3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App B Memory</a:t>
            </a:r>
          </a:p>
          <a:p>
            <a:pPr algn="ctr"/>
            <a:br>
              <a:rPr kumimoji="1" lang="en-US" altLang="ko-KR" sz="900">
                <a:solidFill>
                  <a:schemeClr val="tx1"/>
                </a:solidFill>
              </a:rPr>
            </a:br>
            <a:r>
              <a:rPr kumimoji="1" lang="en-US" altLang="ko-KR" sz="900">
                <a:solidFill>
                  <a:schemeClr val="tx1"/>
                </a:solidFill>
              </a:rPr>
              <a:t>Code, Data</a:t>
            </a:r>
          </a:p>
        </p:txBody>
      </p:sp>
      <p:sp>
        <p:nvSpPr>
          <p:cNvPr id="14" name="모서리가 둥근 직사각형 13">
            <a:extLst>
              <a:ext uri="{FF2B5EF4-FFF2-40B4-BE49-F238E27FC236}">
                <a16:creationId xmlns:a16="http://schemas.microsoft.com/office/drawing/2014/main" id="{996AAE13-6AE4-9B99-145F-04B2C7ABBF11}"/>
              </a:ext>
            </a:extLst>
          </p:cNvPr>
          <p:cNvSpPr/>
          <p:nvPr/>
        </p:nvSpPr>
        <p:spPr>
          <a:xfrm>
            <a:off x="4048200" y="3597961"/>
            <a:ext cx="1012610" cy="529248"/>
          </a:xfrm>
          <a:prstGeom prst="roundRect">
            <a:avLst>
              <a:gd name="adj" fmla="val 11293"/>
            </a:avLst>
          </a:prstGeom>
          <a:solidFill>
            <a:schemeClr val="accent2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App C Memory</a:t>
            </a:r>
          </a:p>
          <a:p>
            <a:pPr algn="ctr"/>
            <a:br>
              <a:rPr kumimoji="1" lang="en-US" altLang="ko-KR" sz="900">
                <a:solidFill>
                  <a:schemeClr val="tx1"/>
                </a:solidFill>
              </a:rPr>
            </a:br>
            <a:r>
              <a:rPr kumimoji="1" lang="en-US" altLang="ko-KR" sz="900">
                <a:solidFill>
                  <a:schemeClr val="tx1"/>
                </a:solidFill>
              </a:rPr>
              <a:t>Code, Data</a:t>
            </a:r>
          </a:p>
        </p:txBody>
      </p: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4B3DDC63-7A1A-21CB-EC00-63A9041C71FF}"/>
              </a:ext>
            </a:extLst>
          </p:cNvPr>
          <p:cNvCxnSpPr>
            <a:cxnSpLocks/>
            <a:stCxn id="8" idx="2"/>
            <a:endCxn id="25" idx="0"/>
          </p:cNvCxnSpPr>
          <p:nvPr/>
        </p:nvCxnSpPr>
        <p:spPr>
          <a:xfrm>
            <a:off x="2826314" y="960115"/>
            <a:ext cx="1" cy="25535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모서리가 둥근 직사각형 24">
            <a:extLst>
              <a:ext uri="{FF2B5EF4-FFF2-40B4-BE49-F238E27FC236}">
                <a16:creationId xmlns:a16="http://schemas.microsoft.com/office/drawing/2014/main" id="{7B228705-FC02-29B9-B520-1674284B9CCE}"/>
              </a:ext>
            </a:extLst>
          </p:cNvPr>
          <p:cNvSpPr/>
          <p:nvPr/>
        </p:nvSpPr>
        <p:spPr>
          <a:xfrm>
            <a:off x="2051720" y="1215469"/>
            <a:ext cx="1549189" cy="720080"/>
          </a:xfrm>
          <a:prstGeom prst="roundRect">
            <a:avLst>
              <a:gd name="adj" fmla="val 9264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1000" b="1">
                <a:solidFill>
                  <a:schemeClr val="tx1"/>
                </a:solidFill>
              </a:rPr>
              <a:t>MPS Control</a:t>
            </a:r>
            <a:endParaRPr kumimoji="1" lang="ko-KR" altLang="en-US" sz="1000" b="1">
              <a:solidFill>
                <a:schemeClr val="tx1"/>
              </a:solidFill>
            </a:endParaRPr>
          </a:p>
        </p:txBody>
      </p: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B1B3CD70-50E7-7CD0-7D7B-6AAE3976C03F}"/>
              </a:ext>
            </a:extLst>
          </p:cNvPr>
          <p:cNvCxnSpPr>
            <a:cxnSpLocks/>
            <a:stCxn id="9" idx="2"/>
            <a:endCxn id="25" idx="0"/>
          </p:cNvCxnSpPr>
          <p:nvPr/>
        </p:nvCxnSpPr>
        <p:spPr>
          <a:xfrm flipH="1">
            <a:off x="2826315" y="960115"/>
            <a:ext cx="1728191" cy="25535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C64A4CB2-EDFC-6101-3E9C-6DA6FDF85620}"/>
              </a:ext>
            </a:extLst>
          </p:cNvPr>
          <p:cNvCxnSpPr>
            <a:cxnSpLocks/>
            <a:stCxn id="4" idx="2"/>
            <a:endCxn id="25" idx="0"/>
          </p:cNvCxnSpPr>
          <p:nvPr/>
        </p:nvCxnSpPr>
        <p:spPr>
          <a:xfrm>
            <a:off x="1092025" y="960115"/>
            <a:ext cx="1734290" cy="25535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모서리가 둥근 직사각형 42">
            <a:extLst>
              <a:ext uri="{FF2B5EF4-FFF2-40B4-BE49-F238E27FC236}">
                <a16:creationId xmlns:a16="http://schemas.microsoft.com/office/drawing/2014/main" id="{61EB02F9-8179-30E1-62B8-87979CF2F9E2}"/>
              </a:ext>
            </a:extLst>
          </p:cNvPr>
          <p:cNvSpPr/>
          <p:nvPr/>
        </p:nvSpPr>
        <p:spPr>
          <a:xfrm>
            <a:off x="2207626" y="1503501"/>
            <a:ext cx="1237375" cy="288032"/>
          </a:xfrm>
          <a:prstGeom prst="roundRect">
            <a:avLst>
              <a:gd name="adj" fmla="val 1543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MPS</a:t>
            </a:r>
          </a:p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CUDA Context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46" name="모서리가 둥근 직사각형 45">
            <a:extLst>
              <a:ext uri="{FF2B5EF4-FFF2-40B4-BE49-F238E27FC236}">
                <a16:creationId xmlns:a16="http://schemas.microsoft.com/office/drawing/2014/main" id="{BD2539EF-C9B9-2DA6-8C49-78846DC947F0}"/>
              </a:ext>
            </a:extLst>
          </p:cNvPr>
          <p:cNvSpPr/>
          <p:nvPr/>
        </p:nvSpPr>
        <p:spPr>
          <a:xfrm>
            <a:off x="532993" y="3342607"/>
            <a:ext cx="4580544" cy="843864"/>
          </a:xfrm>
          <a:prstGeom prst="roundRect">
            <a:avLst>
              <a:gd name="adj" fmla="val 8070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900" b="1" u="sng">
                <a:solidFill>
                  <a:schemeClr val="tx1"/>
                </a:solidFill>
              </a:rPr>
              <a:t>MPS</a:t>
            </a:r>
            <a:r>
              <a:rPr kumimoji="1" lang="en-US" altLang="ko-KR" sz="900">
                <a:solidFill>
                  <a:schemeClr val="tx1"/>
                </a:solidFill>
              </a:rPr>
              <a:t> Memory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cxnSp>
        <p:nvCxnSpPr>
          <p:cNvPr id="52" name="직선 화살표 연결선 51">
            <a:extLst>
              <a:ext uri="{FF2B5EF4-FFF2-40B4-BE49-F238E27FC236}">
                <a16:creationId xmlns:a16="http://schemas.microsoft.com/office/drawing/2014/main" id="{61C6A30B-32EB-211E-FB4C-576422E83A24}"/>
              </a:ext>
            </a:extLst>
          </p:cNvPr>
          <p:cNvCxnSpPr>
            <a:cxnSpLocks/>
            <a:stCxn id="43" idx="2"/>
            <a:endCxn id="46" idx="0"/>
          </p:cNvCxnSpPr>
          <p:nvPr/>
        </p:nvCxnSpPr>
        <p:spPr>
          <a:xfrm flipH="1">
            <a:off x="2823265" y="1791533"/>
            <a:ext cx="3049" cy="155107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모서리가 둥근 직사각형 14">
            <a:extLst>
              <a:ext uri="{FF2B5EF4-FFF2-40B4-BE49-F238E27FC236}">
                <a16:creationId xmlns:a16="http://schemas.microsoft.com/office/drawing/2014/main" id="{3BEAFF61-6C07-28BA-B2D3-E18784BCCF55}"/>
              </a:ext>
            </a:extLst>
          </p:cNvPr>
          <p:cNvSpPr/>
          <p:nvPr/>
        </p:nvSpPr>
        <p:spPr>
          <a:xfrm>
            <a:off x="473337" y="3078630"/>
            <a:ext cx="4699856" cy="1165010"/>
          </a:xfrm>
          <a:prstGeom prst="roundRect">
            <a:avLst>
              <a:gd name="adj" fmla="val 5754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900" b="1" u="sng">
                <a:solidFill>
                  <a:schemeClr val="tx1"/>
                </a:solidFill>
              </a:rPr>
              <a:t>Shared</a:t>
            </a:r>
            <a:r>
              <a:rPr kumimoji="1" lang="en-US" altLang="ko-KR" sz="900">
                <a:solidFill>
                  <a:schemeClr val="tx1"/>
                </a:solidFill>
              </a:rPr>
              <a:t> Memory 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17" name="모서리가 둥근 직사각형 16">
            <a:extLst>
              <a:ext uri="{FF2B5EF4-FFF2-40B4-BE49-F238E27FC236}">
                <a16:creationId xmlns:a16="http://schemas.microsoft.com/office/drawing/2014/main" id="{75D10438-1EDF-68F9-3FC9-68FA5D406512}"/>
              </a:ext>
            </a:extLst>
          </p:cNvPr>
          <p:cNvSpPr/>
          <p:nvPr/>
        </p:nvSpPr>
        <p:spPr>
          <a:xfrm>
            <a:off x="473338" y="4393667"/>
            <a:ext cx="4705952" cy="288032"/>
          </a:xfrm>
          <a:prstGeom prst="roundRect">
            <a:avLst>
              <a:gd name="adj" fmla="val 15432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 b="1" u="sng">
                <a:solidFill>
                  <a:schemeClr val="tx1"/>
                </a:solidFill>
              </a:rPr>
              <a:t>MPS</a:t>
            </a:r>
            <a:r>
              <a:rPr kumimoji="1" lang="en-US" altLang="ko-KR" sz="900">
                <a:solidFill>
                  <a:schemeClr val="tx1"/>
                </a:solidFill>
              </a:rPr>
              <a:t> GPU Context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001771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761C9E-23C1-74E0-479B-7867ABBE88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E6D0B5DC-F953-5E0C-C0AB-FBB8F349DDF6}"/>
              </a:ext>
            </a:extLst>
          </p:cNvPr>
          <p:cNvSpPr txBox="1">
            <a:spLocks/>
          </p:cNvSpPr>
          <p:nvPr/>
        </p:nvSpPr>
        <p:spPr>
          <a:xfrm>
            <a:off x="457200" y="-141895"/>
            <a:ext cx="8229600" cy="857250"/>
          </a:xfrm>
          <a:prstGeom prst="rect">
            <a:avLst/>
          </a:prstGeom>
        </p:spPr>
        <p:txBody>
          <a:bodyPr/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/>
              <a:t>Time-slicing</a:t>
            </a:r>
            <a:endParaRPr lang="ko-KR" altLang="en-US" dirty="0"/>
          </a:p>
        </p:txBody>
      </p:sp>
      <p:sp>
        <p:nvSpPr>
          <p:cNvPr id="4" name="모서리가 둥근 직사각형 3">
            <a:extLst>
              <a:ext uri="{FF2B5EF4-FFF2-40B4-BE49-F238E27FC236}">
                <a16:creationId xmlns:a16="http://schemas.microsoft.com/office/drawing/2014/main" id="{B62E8FB0-B3CA-ACC4-49C5-E37D3A8716AE}"/>
              </a:ext>
            </a:extLst>
          </p:cNvPr>
          <p:cNvSpPr/>
          <p:nvPr/>
        </p:nvSpPr>
        <p:spPr>
          <a:xfrm>
            <a:off x="323528" y="1216855"/>
            <a:ext cx="1549189" cy="720080"/>
          </a:xfrm>
          <a:prstGeom prst="roundRect">
            <a:avLst>
              <a:gd name="adj" fmla="val 9264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1000" b="1">
                <a:solidFill>
                  <a:schemeClr val="tx1"/>
                </a:solidFill>
              </a:rPr>
              <a:t>CUDA App A Process</a:t>
            </a:r>
            <a:endParaRPr kumimoji="1" lang="ko-KR" altLang="en-US" sz="1000" b="1">
              <a:solidFill>
                <a:schemeClr val="tx1"/>
              </a:solidFill>
            </a:endParaRPr>
          </a:p>
        </p:txBody>
      </p:sp>
      <p:sp>
        <p:nvSpPr>
          <p:cNvPr id="8" name="모서리가 둥근 직사각형 7">
            <a:extLst>
              <a:ext uri="{FF2B5EF4-FFF2-40B4-BE49-F238E27FC236}">
                <a16:creationId xmlns:a16="http://schemas.microsoft.com/office/drawing/2014/main" id="{B09BF195-F6BD-6C4A-0D9A-6EF2A539294E}"/>
              </a:ext>
            </a:extLst>
          </p:cNvPr>
          <p:cNvSpPr/>
          <p:nvPr/>
        </p:nvSpPr>
        <p:spPr>
          <a:xfrm>
            <a:off x="473337" y="1568534"/>
            <a:ext cx="1237375" cy="288032"/>
          </a:xfrm>
          <a:prstGeom prst="roundRect">
            <a:avLst>
              <a:gd name="adj" fmla="val 15432"/>
            </a:avLst>
          </a:prstGeom>
          <a:solidFill>
            <a:schemeClr val="accent1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CUDA Context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9" name="모서리가 둥근 직사각형 8">
            <a:extLst>
              <a:ext uri="{FF2B5EF4-FFF2-40B4-BE49-F238E27FC236}">
                <a16:creationId xmlns:a16="http://schemas.microsoft.com/office/drawing/2014/main" id="{FC619727-EDF8-6561-3990-551BE5F0A011}"/>
              </a:ext>
            </a:extLst>
          </p:cNvPr>
          <p:cNvSpPr/>
          <p:nvPr/>
        </p:nvSpPr>
        <p:spPr>
          <a:xfrm>
            <a:off x="2051720" y="1216855"/>
            <a:ext cx="1549189" cy="720080"/>
          </a:xfrm>
          <a:prstGeom prst="roundRect">
            <a:avLst>
              <a:gd name="adj" fmla="val 9264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1000" b="1">
                <a:solidFill>
                  <a:schemeClr val="tx1"/>
                </a:solidFill>
              </a:rPr>
              <a:t>CUDA App B Process</a:t>
            </a:r>
            <a:endParaRPr kumimoji="1" lang="ko-KR" altLang="en-US" sz="1000" b="1">
              <a:solidFill>
                <a:schemeClr val="tx1"/>
              </a:solidFill>
            </a:endParaRPr>
          </a:p>
        </p:txBody>
      </p:sp>
      <p:sp>
        <p:nvSpPr>
          <p:cNvPr id="10" name="모서리가 둥근 직사각형 9">
            <a:extLst>
              <a:ext uri="{FF2B5EF4-FFF2-40B4-BE49-F238E27FC236}">
                <a16:creationId xmlns:a16="http://schemas.microsoft.com/office/drawing/2014/main" id="{48D37DEF-6B49-B346-7CB1-F2CBFB727221}"/>
              </a:ext>
            </a:extLst>
          </p:cNvPr>
          <p:cNvSpPr/>
          <p:nvPr/>
        </p:nvSpPr>
        <p:spPr>
          <a:xfrm>
            <a:off x="3779912" y="1216855"/>
            <a:ext cx="1549189" cy="720080"/>
          </a:xfrm>
          <a:prstGeom prst="roundRect">
            <a:avLst>
              <a:gd name="adj" fmla="val 9264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1000" b="1">
                <a:solidFill>
                  <a:schemeClr val="tx1"/>
                </a:solidFill>
              </a:rPr>
              <a:t>CUDA App C Process</a:t>
            </a:r>
            <a:endParaRPr kumimoji="1" lang="ko-KR" altLang="en-US" sz="1000" b="1">
              <a:solidFill>
                <a:schemeClr val="tx1"/>
              </a:solidFill>
            </a:endParaRPr>
          </a:p>
        </p:txBody>
      </p:sp>
      <p:sp>
        <p:nvSpPr>
          <p:cNvPr id="11" name="모서리가 둥근 직사각형 10">
            <a:extLst>
              <a:ext uri="{FF2B5EF4-FFF2-40B4-BE49-F238E27FC236}">
                <a16:creationId xmlns:a16="http://schemas.microsoft.com/office/drawing/2014/main" id="{EC0EFF99-5CAE-1318-F942-E6B10F0E02B9}"/>
              </a:ext>
            </a:extLst>
          </p:cNvPr>
          <p:cNvSpPr/>
          <p:nvPr/>
        </p:nvSpPr>
        <p:spPr>
          <a:xfrm>
            <a:off x="323528" y="2111920"/>
            <a:ext cx="5005573" cy="2672657"/>
          </a:xfrm>
          <a:prstGeom prst="roundRect">
            <a:avLst>
              <a:gd name="adj" fmla="val 3017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kumimoji="1" lang="en-US" altLang="ko-KR" sz="1000" b="1">
                <a:solidFill>
                  <a:schemeClr val="tx1"/>
                </a:solidFill>
              </a:rPr>
              <a:t>GPU</a:t>
            </a:r>
            <a:endParaRPr kumimoji="1" lang="ko-KR" altLang="en-US" sz="1000" b="1">
              <a:solidFill>
                <a:schemeClr val="tx1"/>
              </a:solidFill>
            </a:endParaRPr>
          </a:p>
        </p:txBody>
      </p:sp>
      <p:sp>
        <p:nvSpPr>
          <p:cNvPr id="12" name="모서리가 둥근 직사각형 11">
            <a:extLst>
              <a:ext uri="{FF2B5EF4-FFF2-40B4-BE49-F238E27FC236}">
                <a16:creationId xmlns:a16="http://schemas.microsoft.com/office/drawing/2014/main" id="{5C9D8E60-2185-30C8-1E3A-B4F9F399D160}"/>
              </a:ext>
            </a:extLst>
          </p:cNvPr>
          <p:cNvSpPr/>
          <p:nvPr/>
        </p:nvSpPr>
        <p:spPr>
          <a:xfrm>
            <a:off x="2207626" y="1568534"/>
            <a:ext cx="1237375" cy="288032"/>
          </a:xfrm>
          <a:prstGeom prst="roundRect">
            <a:avLst>
              <a:gd name="adj" fmla="val 15432"/>
            </a:avLst>
          </a:prstGeom>
          <a:solidFill>
            <a:schemeClr val="accent3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CUDA Context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13" name="모서리가 둥근 직사각형 12">
            <a:extLst>
              <a:ext uri="{FF2B5EF4-FFF2-40B4-BE49-F238E27FC236}">
                <a16:creationId xmlns:a16="http://schemas.microsoft.com/office/drawing/2014/main" id="{3A8D3AB1-AE94-35A4-6842-7E47F04048A9}"/>
              </a:ext>
            </a:extLst>
          </p:cNvPr>
          <p:cNvSpPr/>
          <p:nvPr/>
        </p:nvSpPr>
        <p:spPr>
          <a:xfrm>
            <a:off x="3935818" y="1568534"/>
            <a:ext cx="1237375" cy="288032"/>
          </a:xfrm>
          <a:prstGeom prst="roundRect">
            <a:avLst>
              <a:gd name="adj" fmla="val 15432"/>
            </a:avLst>
          </a:prstGeom>
          <a:solidFill>
            <a:schemeClr val="accent2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CUDA Context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14" name="모서리가 둥근 직사각형 13">
            <a:extLst>
              <a:ext uri="{FF2B5EF4-FFF2-40B4-BE49-F238E27FC236}">
                <a16:creationId xmlns:a16="http://schemas.microsoft.com/office/drawing/2014/main" id="{FE2F642F-9DC3-F3B6-9737-683165AE7C61}"/>
              </a:ext>
            </a:extLst>
          </p:cNvPr>
          <p:cNvSpPr/>
          <p:nvPr/>
        </p:nvSpPr>
        <p:spPr>
          <a:xfrm>
            <a:off x="473338" y="4178635"/>
            <a:ext cx="4705952" cy="288032"/>
          </a:xfrm>
          <a:prstGeom prst="roundRect">
            <a:avLst>
              <a:gd name="adj" fmla="val 15432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 b="1" u="sng">
                <a:solidFill>
                  <a:schemeClr val="tx1"/>
                </a:solidFill>
              </a:rPr>
              <a:t>Time-sliced</a:t>
            </a:r>
            <a:r>
              <a:rPr kumimoji="1" lang="en-US" altLang="ko-KR" sz="900">
                <a:solidFill>
                  <a:schemeClr val="tx1"/>
                </a:solidFill>
              </a:rPr>
              <a:t> GPU Context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15" name="모서리가 둥근 직사각형 14">
            <a:extLst>
              <a:ext uri="{FF2B5EF4-FFF2-40B4-BE49-F238E27FC236}">
                <a16:creationId xmlns:a16="http://schemas.microsoft.com/office/drawing/2014/main" id="{37AEC020-8A5C-D6EE-D9FA-9EDCB805A787}"/>
              </a:ext>
            </a:extLst>
          </p:cNvPr>
          <p:cNvSpPr/>
          <p:nvPr/>
        </p:nvSpPr>
        <p:spPr>
          <a:xfrm>
            <a:off x="473337" y="3075806"/>
            <a:ext cx="1237375" cy="808671"/>
          </a:xfrm>
          <a:prstGeom prst="roundRect">
            <a:avLst>
              <a:gd name="adj" fmla="val 6582"/>
            </a:avLst>
          </a:prstGeom>
          <a:solidFill>
            <a:schemeClr val="accent1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App A Memory</a:t>
            </a:r>
          </a:p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(</a:t>
            </a:r>
            <a:r>
              <a:rPr kumimoji="1" lang="en-US" altLang="ko-KR" sz="900" b="1">
                <a:solidFill>
                  <a:schemeClr val="tx1"/>
                </a:solidFill>
              </a:rPr>
              <a:t>Active</a:t>
            </a:r>
            <a:r>
              <a:rPr kumimoji="1" lang="en-US" altLang="ko-KR" sz="900">
                <a:solidFill>
                  <a:schemeClr val="tx1"/>
                </a:solidFill>
              </a:rPr>
              <a:t>)</a:t>
            </a:r>
          </a:p>
          <a:p>
            <a:pPr algn="ctr"/>
            <a:endParaRPr kumimoji="1" lang="en-US" altLang="ko-KR" sz="900">
              <a:solidFill>
                <a:schemeClr val="tx1"/>
              </a:solidFill>
            </a:endParaRPr>
          </a:p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GPU Context, </a:t>
            </a:r>
            <a:br>
              <a:rPr kumimoji="1" lang="en-US" altLang="ko-KR" sz="900">
                <a:solidFill>
                  <a:schemeClr val="tx1"/>
                </a:solidFill>
              </a:rPr>
            </a:br>
            <a:r>
              <a:rPr kumimoji="1" lang="en-US" altLang="ko-KR" sz="900">
                <a:solidFill>
                  <a:schemeClr val="tx1"/>
                </a:solidFill>
              </a:rPr>
              <a:t>Code, Data</a:t>
            </a:r>
          </a:p>
        </p:txBody>
      </p:sp>
      <p:sp>
        <p:nvSpPr>
          <p:cNvPr id="16" name="모서리가 둥근 직사각형 15">
            <a:extLst>
              <a:ext uri="{FF2B5EF4-FFF2-40B4-BE49-F238E27FC236}">
                <a16:creationId xmlns:a16="http://schemas.microsoft.com/office/drawing/2014/main" id="{08836B01-BA0A-7BEB-C31D-979E4AB1C044}"/>
              </a:ext>
            </a:extLst>
          </p:cNvPr>
          <p:cNvSpPr/>
          <p:nvPr/>
        </p:nvSpPr>
        <p:spPr>
          <a:xfrm>
            <a:off x="473337" y="2211710"/>
            <a:ext cx="4699856" cy="689111"/>
          </a:xfrm>
          <a:prstGeom prst="roundRect">
            <a:avLst>
              <a:gd name="adj" fmla="val 8070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 b="1" u="sng">
                <a:solidFill>
                  <a:schemeClr val="tx1"/>
                </a:solidFill>
              </a:rPr>
              <a:t>Time-sliced</a:t>
            </a:r>
            <a:r>
              <a:rPr kumimoji="1" lang="en-US" altLang="ko-KR" sz="900">
                <a:solidFill>
                  <a:schemeClr val="tx1"/>
                </a:solidFill>
              </a:rPr>
              <a:t> SM (Streaming Multiprocessor) 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18" name="모서리가 둥근 직사각형 17">
            <a:extLst>
              <a:ext uri="{FF2B5EF4-FFF2-40B4-BE49-F238E27FC236}">
                <a16:creationId xmlns:a16="http://schemas.microsoft.com/office/drawing/2014/main" id="{9DE3CD68-A9F6-E66D-6658-15DC8F40D808}"/>
              </a:ext>
            </a:extLst>
          </p:cNvPr>
          <p:cNvSpPr/>
          <p:nvPr/>
        </p:nvSpPr>
        <p:spPr>
          <a:xfrm>
            <a:off x="2204577" y="3075806"/>
            <a:ext cx="1237375" cy="808671"/>
          </a:xfrm>
          <a:prstGeom prst="roundRect">
            <a:avLst>
              <a:gd name="adj" fmla="val 11293"/>
            </a:avLst>
          </a:prstGeom>
          <a:solidFill>
            <a:schemeClr val="accent3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App B Memory</a:t>
            </a:r>
          </a:p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(</a:t>
            </a:r>
            <a:r>
              <a:rPr kumimoji="1" lang="en-US" altLang="ko-KR" sz="900" b="1">
                <a:solidFill>
                  <a:schemeClr val="tx1"/>
                </a:solidFill>
              </a:rPr>
              <a:t>Standby</a:t>
            </a:r>
            <a:r>
              <a:rPr kumimoji="1" lang="en-US" altLang="ko-KR" sz="900">
                <a:solidFill>
                  <a:schemeClr val="tx1"/>
                </a:solidFill>
              </a:rPr>
              <a:t>)</a:t>
            </a:r>
          </a:p>
          <a:p>
            <a:pPr algn="ctr"/>
            <a:endParaRPr kumimoji="1" lang="en-US" altLang="ko-KR" sz="900">
              <a:solidFill>
                <a:schemeClr val="tx1"/>
              </a:solidFill>
            </a:endParaRPr>
          </a:p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GPU Context, </a:t>
            </a:r>
            <a:br>
              <a:rPr kumimoji="1" lang="en-US" altLang="ko-KR" sz="900">
                <a:solidFill>
                  <a:schemeClr val="tx1"/>
                </a:solidFill>
              </a:rPr>
            </a:br>
            <a:r>
              <a:rPr kumimoji="1" lang="en-US" altLang="ko-KR" sz="900">
                <a:solidFill>
                  <a:schemeClr val="tx1"/>
                </a:solidFill>
              </a:rPr>
              <a:t>Code, Data</a:t>
            </a:r>
          </a:p>
        </p:txBody>
      </p:sp>
      <p:sp>
        <p:nvSpPr>
          <p:cNvPr id="19" name="모서리가 둥근 직사각형 18">
            <a:extLst>
              <a:ext uri="{FF2B5EF4-FFF2-40B4-BE49-F238E27FC236}">
                <a16:creationId xmlns:a16="http://schemas.microsoft.com/office/drawing/2014/main" id="{DA67FFBE-D860-6A80-A0CC-453E018E9F51}"/>
              </a:ext>
            </a:extLst>
          </p:cNvPr>
          <p:cNvSpPr/>
          <p:nvPr/>
        </p:nvSpPr>
        <p:spPr>
          <a:xfrm>
            <a:off x="3935817" y="3075806"/>
            <a:ext cx="1237375" cy="808671"/>
          </a:xfrm>
          <a:prstGeom prst="roundRect">
            <a:avLst>
              <a:gd name="adj" fmla="val 11293"/>
            </a:avLst>
          </a:prstGeom>
          <a:solidFill>
            <a:schemeClr val="accent2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App C Memory</a:t>
            </a:r>
          </a:p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(</a:t>
            </a:r>
            <a:r>
              <a:rPr kumimoji="1" lang="en-US" altLang="ko-KR" sz="900" b="1">
                <a:solidFill>
                  <a:schemeClr val="tx1"/>
                </a:solidFill>
              </a:rPr>
              <a:t>Standby</a:t>
            </a:r>
            <a:r>
              <a:rPr kumimoji="1" lang="en-US" altLang="ko-KR" sz="900">
                <a:solidFill>
                  <a:schemeClr val="tx1"/>
                </a:solidFill>
              </a:rPr>
              <a:t>)</a:t>
            </a:r>
          </a:p>
          <a:p>
            <a:pPr algn="ctr"/>
            <a:endParaRPr kumimoji="1" lang="en-US" altLang="ko-KR" sz="900">
              <a:solidFill>
                <a:schemeClr val="tx1"/>
              </a:solidFill>
            </a:endParaRPr>
          </a:p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GPU Context, </a:t>
            </a:r>
            <a:br>
              <a:rPr kumimoji="1" lang="en-US" altLang="ko-KR" sz="900">
                <a:solidFill>
                  <a:schemeClr val="tx1"/>
                </a:solidFill>
              </a:rPr>
            </a:br>
            <a:r>
              <a:rPr kumimoji="1" lang="en-US" altLang="ko-KR" sz="900">
                <a:solidFill>
                  <a:schemeClr val="tx1"/>
                </a:solidFill>
              </a:rPr>
              <a:t>Code, Data</a:t>
            </a:r>
          </a:p>
        </p:txBody>
      </p: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2B19088D-84A2-049D-2E2F-100606B5AAD2}"/>
              </a:ext>
            </a:extLst>
          </p:cNvPr>
          <p:cNvCxnSpPr>
            <a:cxnSpLocks/>
            <a:stCxn id="15" idx="2"/>
            <a:endCxn id="14" idx="0"/>
          </p:cNvCxnSpPr>
          <p:nvPr/>
        </p:nvCxnSpPr>
        <p:spPr>
          <a:xfrm>
            <a:off x="1092025" y="3884477"/>
            <a:ext cx="1734289" cy="294158"/>
          </a:xfrm>
          <a:prstGeom prst="straightConnector1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78A2DE4E-C469-0ACF-ACF7-C04CFE167B10}"/>
              </a:ext>
            </a:extLst>
          </p:cNvPr>
          <p:cNvCxnSpPr>
            <a:cxnSpLocks/>
            <a:stCxn id="18" idx="2"/>
            <a:endCxn id="14" idx="0"/>
          </p:cNvCxnSpPr>
          <p:nvPr/>
        </p:nvCxnSpPr>
        <p:spPr>
          <a:xfrm>
            <a:off x="2823265" y="3884477"/>
            <a:ext cx="3049" cy="294158"/>
          </a:xfrm>
          <a:prstGeom prst="straightConnector1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51E612B4-B206-DFBE-4222-B889DAA6FFE1}"/>
              </a:ext>
            </a:extLst>
          </p:cNvPr>
          <p:cNvCxnSpPr>
            <a:cxnSpLocks/>
            <a:stCxn id="19" idx="2"/>
            <a:endCxn id="14" idx="0"/>
          </p:cNvCxnSpPr>
          <p:nvPr/>
        </p:nvCxnSpPr>
        <p:spPr>
          <a:xfrm flipH="1">
            <a:off x="2826314" y="3884477"/>
            <a:ext cx="1728191" cy="294158"/>
          </a:xfrm>
          <a:prstGeom prst="straightConnector1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9698C2CA-077C-B5E4-4A77-0C8769351A10}"/>
              </a:ext>
            </a:extLst>
          </p:cNvPr>
          <p:cNvCxnSpPr>
            <a:cxnSpLocks/>
            <a:stCxn id="8" idx="2"/>
            <a:endCxn id="15" idx="0"/>
          </p:cNvCxnSpPr>
          <p:nvPr/>
        </p:nvCxnSpPr>
        <p:spPr>
          <a:xfrm>
            <a:off x="1092025" y="1856566"/>
            <a:ext cx="0" cy="121924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직선 화살표 연결선 35">
            <a:extLst>
              <a:ext uri="{FF2B5EF4-FFF2-40B4-BE49-F238E27FC236}">
                <a16:creationId xmlns:a16="http://schemas.microsoft.com/office/drawing/2014/main" id="{E97301EF-FD15-1818-E29A-BCE78767B54D}"/>
              </a:ext>
            </a:extLst>
          </p:cNvPr>
          <p:cNvCxnSpPr>
            <a:cxnSpLocks/>
            <a:stCxn id="12" idx="2"/>
            <a:endCxn id="18" idx="0"/>
          </p:cNvCxnSpPr>
          <p:nvPr/>
        </p:nvCxnSpPr>
        <p:spPr>
          <a:xfrm flipH="1">
            <a:off x="2823265" y="1856566"/>
            <a:ext cx="3049" cy="121924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직선 화살표 연결선 38">
            <a:extLst>
              <a:ext uri="{FF2B5EF4-FFF2-40B4-BE49-F238E27FC236}">
                <a16:creationId xmlns:a16="http://schemas.microsoft.com/office/drawing/2014/main" id="{FEA20CA1-1DBC-3F3A-454E-C77AA709819F}"/>
              </a:ext>
            </a:extLst>
          </p:cNvPr>
          <p:cNvCxnSpPr>
            <a:cxnSpLocks/>
            <a:stCxn id="13" idx="2"/>
            <a:endCxn id="19" idx="0"/>
          </p:cNvCxnSpPr>
          <p:nvPr/>
        </p:nvCxnSpPr>
        <p:spPr>
          <a:xfrm flipH="1">
            <a:off x="4554505" y="1856566"/>
            <a:ext cx="1" cy="121924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91FEB586-CA6E-9153-97AB-2DE9E386CE01}"/>
              </a:ext>
            </a:extLst>
          </p:cNvPr>
          <p:cNvSpPr txBox="1"/>
          <p:nvPr/>
        </p:nvSpPr>
        <p:spPr>
          <a:xfrm>
            <a:off x="274560" y="3929811"/>
            <a:ext cx="1631881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kumimoji="1" lang="en-US" altLang="ko-KR" sz="1000" b="1" i="1"/>
              <a:t>Context Switch</a:t>
            </a:r>
            <a:endParaRPr kumimoji="1" lang="ko-KR" altLang="en-US" sz="1000" b="1" i="1"/>
          </a:p>
        </p:txBody>
      </p:sp>
    </p:spTree>
    <p:extLst>
      <p:ext uri="{BB962C8B-B14F-4D97-AF65-F5344CB8AC3E}">
        <p14:creationId xmlns:p14="http://schemas.microsoft.com/office/powerpoint/2010/main" val="42693891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DE0C15-9863-373A-0DF6-46807058A6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D4E244-A32F-AEF6-1463-9D840E860E90}"/>
              </a:ext>
            </a:extLst>
          </p:cNvPr>
          <p:cNvSpPr txBox="1">
            <a:spLocks/>
          </p:cNvSpPr>
          <p:nvPr/>
        </p:nvSpPr>
        <p:spPr>
          <a:xfrm>
            <a:off x="457200" y="-739613"/>
            <a:ext cx="8229600" cy="857250"/>
          </a:xfrm>
          <a:prstGeom prst="rect">
            <a:avLst/>
          </a:prstGeom>
        </p:spPr>
        <p:txBody>
          <a:bodyPr/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/>
              <a:t>MIG</a:t>
            </a:r>
            <a:endParaRPr lang="ko-KR" altLang="en-US" dirty="0"/>
          </a:p>
        </p:txBody>
      </p:sp>
      <p:sp>
        <p:nvSpPr>
          <p:cNvPr id="3" name="모서리가 둥근 직사각형 2">
            <a:extLst>
              <a:ext uri="{FF2B5EF4-FFF2-40B4-BE49-F238E27FC236}">
                <a16:creationId xmlns:a16="http://schemas.microsoft.com/office/drawing/2014/main" id="{11CE202E-7B4D-7EDF-7778-84136B62C007}"/>
              </a:ext>
            </a:extLst>
          </p:cNvPr>
          <p:cNvSpPr/>
          <p:nvPr/>
        </p:nvSpPr>
        <p:spPr>
          <a:xfrm>
            <a:off x="323528" y="1216855"/>
            <a:ext cx="1549189" cy="720080"/>
          </a:xfrm>
          <a:prstGeom prst="roundRect">
            <a:avLst>
              <a:gd name="adj" fmla="val 9264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1000" b="1">
                <a:solidFill>
                  <a:schemeClr val="tx1"/>
                </a:solidFill>
              </a:rPr>
              <a:t>CUDA App A Process</a:t>
            </a:r>
            <a:endParaRPr kumimoji="1" lang="ko-KR" altLang="en-US" sz="1000" b="1">
              <a:solidFill>
                <a:schemeClr val="tx1"/>
              </a:solidFill>
            </a:endParaRPr>
          </a:p>
        </p:txBody>
      </p:sp>
      <p:sp>
        <p:nvSpPr>
          <p:cNvPr id="4" name="모서리가 둥근 직사각형 3">
            <a:extLst>
              <a:ext uri="{FF2B5EF4-FFF2-40B4-BE49-F238E27FC236}">
                <a16:creationId xmlns:a16="http://schemas.microsoft.com/office/drawing/2014/main" id="{0B06AC76-5F7B-8EC9-F355-5DEA1AAEBD0C}"/>
              </a:ext>
            </a:extLst>
          </p:cNvPr>
          <p:cNvSpPr/>
          <p:nvPr/>
        </p:nvSpPr>
        <p:spPr>
          <a:xfrm>
            <a:off x="473337" y="1568534"/>
            <a:ext cx="1237375" cy="288032"/>
          </a:xfrm>
          <a:prstGeom prst="roundRect">
            <a:avLst>
              <a:gd name="adj" fmla="val 15432"/>
            </a:avLst>
          </a:prstGeom>
          <a:solidFill>
            <a:schemeClr val="accent1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CUDA Context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5" name="모서리가 둥근 직사각형 4">
            <a:extLst>
              <a:ext uri="{FF2B5EF4-FFF2-40B4-BE49-F238E27FC236}">
                <a16:creationId xmlns:a16="http://schemas.microsoft.com/office/drawing/2014/main" id="{F5DE2BD0-7068-2772-69D9-38B46CC5DE34}"/>
              </a:ext>
            </a:extLst>
          </p:cNvPr>
          <p:cNvSpPr/>
          <p:nvPr/>
        </p:nvSpPr>
        <p:spPr>
          <a:xfrm>
            <a:off x="2051720" y="1216855"/>
            <a:ext cx="1549189" cy="720080"/>
          </a:xfrm>
          <a:prstGeom prst="roundRect">
            <a:avLst>
              <a:gd name="adj" fmla="val 9264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1000" b="1">
                <a:solidFill>
                  <a:schemeClr val="tx1"/>
                </a:solidFill>
              </a:rPr>
              <a:t>CUDA App B Process</a:t>
            </a:r>
            <a:endParaRPr kumimoji="1" lang="ko-KR" altLang="en-US" sz="1000" b="1">
              <a:solidFill>
                <a:schemeClr val="tx1"/>
              </a:solidFill>
            </a:endParaRPr>
          </a:p>
        </p:txBody>
      </p:sp>
      <p:sp>
        <p:nvSpPr>
          <p:cNvPr id="6" name="모서리가 둥근 직사각형 5">
            <a:extLst>
              <a:ext uri="{FF2B5EF4-FFF2-40B4-BE49-F238E27FC236}">
                <a16:creationId xmlns:a16="http://schemas.microsoft.com/office/drawing/2014/main" id="{8D6ED7B8-C12E-7E88-4797-A27481D57AF1}"/>
              </a:ext>
            </a:extLst>
          </p:cNvPr>
          <p:cNvSpPr/>
          <p:nvPr/>
        </p:nvSpPr>
        <p:spPr>
          <a:xfrm>
            <a:off x="3779912" y="1216855"/>
            <a:ext cx="1549189" cy="720080"/>
          </a:xfrm>
          <a:prstGeom prst="roundRect">
            <a:avLst>
              <a:gd name="adj" fmla="val 9264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1000" b="1">
                <a:solidFill>
                  <a:schemeClr val="tx1"/>
                </a:solidFill>
              </a:rPr>
              <a:t>CUDA App C Process</a:t>
            </a:r>
            <a:endParaRPr kumimoji="1" lang="ko-KR" altLang="en-US" sz="1000" b="1">
              <a:solidFill>
                <a:schemeClr val="tx1"/>
              </a:solidFill>
            </a:endParaRPr>
          </a:p>
        </p:txBody>
      </p:sp>
      <p:sp>
        <p:nvSpPr>
          <p:cNvPr id="7" name="모서리가 둥근 직사각형 6">
            <a:extLst>
              <a:ext uri="{FF2B5EF4-FFF2-40B4-BE49-F238E27FC236}">
                <a16:creationId xmlns:a16="http://schemas.microsoft.com/office/drawing/2014/main" id="{81D1BF31-CC40-7727-D219-06A0DD996BA2}"/>
              </a:ext>
            </a:extLst>
          </p:cNvPr>
          <p:cNvSpPr/>
          <p:nvPr/>
        </p:nvSpPr>
        <p:spPr>
          <a:xfrm>
            <a:off x="323528" y="2111920"/>
            <a:ext cx="5005573" cy="2672657"/>
          </a:xfrm>
          <a:prstGeom prst="roundRect">
            <a:avLst>
              <a:gd name="adj" fmla="val 3017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kumimoji="1" lang="en-US" altLang="ko-KR" sz="1000" b="1">
                <a:solidFill>
                  <a:schemeClr val="tx1"/>
                </a:solidFill>
              </a:rPr>
              <a:t>GPU</a:t>
            </a:r>
            <a:endParaRPr kumimoji="1" lang="ko-KR" altLang="en-US" sz="1000" b="1">
              <a:solidFill>
                <a:schemeClr val="tx1"/>
              </a:solidFill>
            </a:endParaRPr>
          </a:p>
        </p:txBody>
      </p:sp>
      <p:sp>
        <p:nvSpPr>
          <p:cNvPr id="8" name="모서리가 둥근 직사각형 7">
            <a:extLst>
              <a:ext uri="{FF2B5EF4-FFF2-40B4-BE49-F238E27FC236}">
                <a16:creationId xmlns:a16="http://schemas.microsoft.com/office/drawing/2014/main" id="{02401FBA-EF48-4AD4-10F5-1B9A0FD1439B}"/>
              </a:ext>
            </a:extLst>
          </p:cNvPr>
          <p:cNvSpPr/>
          <p:nvPr/>
        </p:nvSpPr>
        <p:spPr>
          <a:xfrm>
            <a:off x="2207626" y="1568534"/>
            <a:ext cx="1237375" cy="288032"/>
          </a:xfrm>
          <a:prstGeom prst="roundRect">
            <a:avLst>
              <a:gd name="adj" fmla="val 15432"/>
            </a:avLst>
          </a:prstGeom>
          <a:solidFill>
            <a:schemeClr val="accent3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CUDA Context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9" name="모서리가 둥근 직사각형 8">
            <a:extLst>
              <a:ext uri="{FF2B5EF4-FFF2-40B4-BE49-F238E27FC236}">
                <a16:creationId xmlns:a16="http://schemas.microsoft.com/office/drawing/2014/main" id="{25C16771-94E0-9326-DA3E-84EF955983F1}"/>
              </a:ext>
            </a:extLst>
          </p:cNvPr>
          <p:cNvSpPr/>
          <p:nvPr/>
        </p:nvSpPr>
        <p:spPr>
          <a:xfrm>
            <a:off x="3935818" y="1568534"/>
            <a:ext cx="1237375" cy="288032"/>
          </a:xfrm>
          <a:prstGeom prst="roundRect">
            <a:avLst>
              <a:gd name="adj" fmla="val 15432"/>
            </a:avLst>
          </a:prstGeom>
          <a:solidFill>
            <a:schemeClr val="accent2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CUDA Context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8C71A2EB-F46A-01DE-05BD-D7A768A339D8}"/>
              </a:ext>
            </a:extLst>
          </p:cNvPr>
          <p:cNvCxnSpPr>
            <a:cxnSpLocks/>
            <a:stCxn id="4" idx="2"/>
            <a:endCxn id="21" idx="0"/>
          </p:cNvCxnSpPr>
          <p:nvPr/>
        </p:nvCxnSpPr>
        <p:spPr>
          <a:xfrm>
            <a:off x="1092025" y="1856566"/>
            <a:ext cx="0" cy="134268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E29D4385-3D73-6E6B-BBC5-2FF4C2A4AAC0}"/>
              </a:ext>
            </a:extLst>
          </p:cNvPr>
          <p:cNvCxnSpPr>
            <a:cxnSpLocks/>
            <a:stCxn id="8" idx="2"/>
            <a:endCxn id="24" idx="0"/>
          </p:cNvCxnSpPr>
          <p:nvPr/>
        </p:nvCxnSpPr>
        <p:spPr>
          <a:xfrm flipH="1">
            <a:off x="2823265" y="1856566"/>
            <a:ext cx="3049" cy="134268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79D24397-DD5A-20F3-899C-BABB1E236C42}"/>
              </a:ext>
            </a:extLst>
          </p:cNvPr>
          <p:cNvCxnSpPr>
            <a:cxnSpLocks/>
            <a:stCxn id="9" idx="2"/>
            <a:endCxn id="25" idx="0"/>
          </p:cNvCxnSpPr>
          <p:nvPr/>
        </p:nvCxnSpPr>
        <p:spPr>
          <a:xfrm flipH="1">
            <a:off x="4554505" y="1856566"/>
            <a:ext cx="1" cy="134268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모서리가 둥근 직사각형 20">
            <a:extLst>
              <a:ext uri="{FF2B5EF4-FFF2-40B4-BE49-F238E27FC236}">
                <a16:creationId xmlns:a16="http://schemas.microsoft.com/office/drawing/2014/main" id="{5D681EE1-1B09-E991-CD79-94CD9DF8F297}"/>
              </a:ext>
            </a:extLst>
          </p:cNvPr>
          <p:cNvSpPr/>
          <p:nvPr/>
        </p:nvSpPr>
        <p:spPr>
          <a:xfrm>
            <a:off x="570473" y="3199252"/>
            <a:ext cx="1043104" cy="606973"/>
          </a:xfrm>
          <a:prstGeom prst="roundRect">
            <a:avLst>
              <a:gd name="adj" fmla="val 6582"/>
            </a:avLst>
          </a:prstGeom>
          <a:solidFill>
            <a:schemeClr val="accent1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 b="1" u="sng">
                <a:solidFill>
                  <a:schemeClr val="tx1"/>
                </a:solidFill>
              </a:rPr>
              <a:t>Isolated</a:t>
            </a:r>
            <a:r>
              <a:rPr kumimoji="1" lang="en-US" altLang="ko-KR" sz="900">
                <a:solidFill>
                  <a:schemeClr val="tx1"/>
                </a:solidFill>
              </a:rPr>
              <a:t> App A</a:t>
            </a:r>
            <a:endParaRPr kumimoji="1" lang="en-US" altLang="ko-KR" sz="900" b="1" u="sng">
              <a:solidFill>
                <a:schemeClr val="tx1"/>
              </a:solidFill>
            </a:endParaRPr>
          </a:p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Memory</a:t>
            </a:r>
          </a:p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 </a:t>
            </a:r>
            <a:br>
              <a:rPr kumimoji="1" lang="en-US" altLang="ko-KR" sz="900">
                <a:solidFill>
                  <a:schemeClr val="tx1"/>
                </a:solidFill>
              </a:rPr>
            </a:br>
            <a:r>
              <a:rPr kumimoji="1" lang="en-US" altLang="ko-KR" sz="900">
                <a:solidFill>
                  <a:schemeClr val="tx1"/>
                </a:solidFill>
              </a:rPr>
              <a:t>Code, Data</a:t>
            </a:r>
          </a:p>
        </p:txBody>
      </p:sp>
      <p:sp>
        <p:nvSpPr>
          <p:cNvPr id="24" name="모서리가 둥근 직사각형 23">
            <a:extLst>
              <a:ext uri="{FF2B5EF4-FFF2-40B4-BE49-F238E27FC236}">
                <a16:creationId xmlns:a16="http://schemas.microsoft.com/office/drawing/2014/main" id="{0F85F3CF-9CB1-6564-57FC-C5DA4F66EBB0}"/>
              </a:ext>
            </a:extLst>
          </p:cNvPr>
          <p:cNvSpPr/>
          <p:nvPr/>
        </p:nvSpPr>
        <p:spPr>
          <a:xfrm>
            <a:off x="2301713" y="3199252"/>
            <a:ext cx="1043104" cy="606973"/>
          </a:xfrm>
          <a:prstGeom prst="roundRect">
            <a:avLst>
              <a:gd name="adj" fmla="val 11293"/>
            </a:avLst>
          </a:prstGeom>
          <a:solidFill>
            <a:schemeClr val="accent3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 b="1" u="sng">
                <a:solidFill>
                  <a:schemeClr val="tx1"/>
                </a:solidFill>
              </a:rPr>
              <a:t>Isolated</a:t>
            </a:r>
            <a:r>
              <a:rPr kumimoji="1" lang="en-US" altLang="ko-KR" sz="900">
                <a:solidFill>
                  <a:schemeClr val="tx1"/>
                </a:solidFill>
              </a:rPr>
              <a:t> App B</a:t>
            </a:r>
            <a:endParaRPr kumimoji="1" lang="en-US" altLang="ko-KR" sz="900" b="1" u="sng">
              <a:solidFill>
                <a:schemeClr val="tx1"/>
              </a:solidFill>
            </a:endParaRPr>
          </a:p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Memory</a:t>
            </a:r>
          </a:p>
          <a:p>
            <a:pPr algn="ctr"/>
            <a:br>
              <a:rPr kumimoji="1" lang="en-US" altLang="ko-KR" sz="900">
                <a:solidFill>
                  <a:schemeClr val="tx1"/>
                </a:solidFill>
              </a:rPr>
            </a:br>
            <a:r>
              <a:rPr kumimoji="1" lang="en-US" altLang="ko-KR" sz="900">
                <a:solidFill>
                  <a:schemeClr val="tx1"/>
                </a:solidFill>
              </a:rPr>
              <a:t>Code, Data</a:t>
            </a:r>
          </a:p>
        </p:txBody>
      </p:sp>
      <p:sp>
        <p:nvSpPr>
          <p:cNvPr id="25" name="모서리가 둥근 직사각형 24">
            <a:extLst>
              <a:ext uri="{FF2B5EF4-FFF2-40B4-BE49-F238E27FC236}">
                <a16:creationId xmlns:a16="http://schemas.microsoft.com/office/drawing/2014/main" id="{71E6DAEA-6A2D-5371-C25D-E519AE07ADB2}"/>
              </a:ext>
            </a:extLst>
          </p:cNvPr>
          <p:cNvSpPr/>
          <p:nvPr/>
        </p:nvSpPr>
        <p:spPr>
          <a:xfrm>
            <a:off x="4032953" y="3199252"/>
            <a:ext cx="1043104" cy="606973"/>
          </a:xfrm>
          <a:prstGeom prst="roundRect">
            <a:avLst>
              <a:gd name="adj" fmla="val 11293"/>
            </a:avLst>
          </a:prstGeom>
          <a:solidFill>
            <a:schemeClr val="accent2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 b="1" u="sng">
                <a:solidFill>
                  <a:schemeClr val="tx1"/>
                </a:solidFill>
              </a:rPr>
              <a:t>Isolated</a:t>
            </a:r>
            <a:r>
              <a:rPr kumimoji="1" lang="en-US" altLang="ko-KR" sz="900">
                <a:solidFill>
                  <a:schemeClr val="tx1"/>
                </a:solidFill>
              </a:rPr>
              <a:t> App C</a:t>
            </a:r>
            <a:endParaRPr kumimoji="1" lang="en-US" altLang="ko-KR" sz="900" b="1" u="sng">
              <a:solidFill>
                <a:schemeClr val="tx1"/>
              </a:solidFill>
            </a:endParaRPr>
          </a:p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Memory</a:t>
            </a:r>
          </a:p>
          <a:p>
            <a:pPr algn="ctr"/>
            <a:endParaRPr kumimoji="1" lang="en-US" altLang="ko-KR" sz="900">
              <a:solidFill>
                <a:schemeClr val="tx1"/>
              </a:solidFill>
            </a:endParaRPr>
          </a:p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Code, Data</a:t>
            </a:r>
          </a:p>
        </p:txBody>
      </p:sp>
      <p:sp>
        <p:nvSpPr>
          <p:cNvPr id="26" name="모서리가 둥근 직사각형 25">
            <a:extLst>
              <a:ext uri="{FF2B5EF4-FFF2-40B4-BE49-F238E27FC236}">
                <a16:creationId xmlns:a16="http://schemas.microsoft.com/office/drawing/2014/main" id="{5AC77301-56E7-BF0E-14B5-C7BA724F4D66}"/>
              </a:ext>
            </a:extLst>
          </p:cNvPr>
          <p:cNvSpPr/>
          <p:nvPr/>
        </p:nvSpPr>
        <p:spPr>
          <a:xfrm>
            <a:off x="453893" y="2288615"/>
            <a:ext cx="1288460" cy="2227352"/>
          </a:xfrm>
          <a:prstGeom prst="roundRect">
            <a:avLst>
              <a:gd name="adj" fmla="val 9264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kumimoji="1" lang="en-US" altLang="ko-KR" sz="1000" b="1">
                <a:solidFill>
                  <a:schemeClr val="tx1"/>
                </a:solidFill>
              </a:rPr>
              <a:t>MIG</a:t>
            </a:r>
            <a:endParaRPr kumimoji="1" lang="ko-KR" altLang="en-US" sz="1000" b="1">
              <a:solidFill>
                <a:schemeClr val="tx1"/>
              </a:solidFill>
            </a:endParaRPr>
          </a:p>
        </p:txBody>
      </p:sp>
      <p:sp>
        <p:nvSpPr>
          <p:cNvPr id="27" name="모서리가 둥근 직사각형 26">
            <a:extLst>
              <a:ext uri="{FF2B5EF4-FFF2-40B4-BE49-F238E27FC236}">
                <a16:creationId xmlns:a16="http://schemas.microsoft.com/office/drawing/2014/main" id="{A015A1AD-F6D9-F748-BDDC-53E2DF17E185}"/>
              </a:ext>
            </a:extLst>
          </p:cNvPr>
          <p:cNvSpPr/>
          <p:nvPr/>
        </p:nvSpPr>
        <p:spPr>
          <a:xfrm>
            <a:off x="2175987" y="2288615"/>
            <a:ext cx="1288460" cy="2227352"/>
          </a:xfrm>
          <a:prstGeom prst="roundRect">
            <a:avLst>
              <a:gd name="adj" fmla="val 9264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kumimoji="1" lang="en-US" altLang="ko-KR" sz="1000" b="1">
                <a:solidFill>
                  <a:schemeClr val="tx1"/>
                </a:solidFill>
              </a:rPr>
              <a:t>MIG</a:t>
            </a:r>
            <a:endParaRPr kumimoji="1" lang="ko-KR" altLang="en-US" sz="1000" b="1">
              <a:solidFill>
                <a:schemeClr val="tx1"/>
              </a:solidFill>
            </a:endParaRPr>
          </a:p>
        </p:txBody>
      </p:sp>
      <p:sp>
        <p:nvSpPr>
          <p:cNvPr id="29" name="모서리가 둥근 직사각형 28">
            <a:extLst>
              <a:ext uri="{FF2B5EF4-FFF2-40B4-BE49-F238E27FC236}">
                <a16:creationId xmlns:a16="http://schemas.microsoft.com/office/drawing/2014/main" id="{98CA5FCE-C943-AAA1-1CA8-2E6A5C408A98}"/>
              </a:ext>
            </a:extLst>
          </p:cNvPr>
          <p:cNvSpPr/>
          <p:nvPr/>
        </p:nvSpPr>
        <p:spPr>
          <a:xfrm>
            <a:off x="3904177" y="2288615"/>
            <a:ext cx="1288460" cy="2227352"/>
          </a:xfrm>
          <a:prstGeom prst="roundRect">
            <a:avLst>
              <a:gd name="adj" fmla="val 9264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kumimoji="1" lang="en-US" altLang="ko-KR" sz="1000" b="1">
                <a:solidFill>
                  <a:schemeClr val="tx1"/>
                </a:solidFill>
              </a:rPr>
              <a:t>MIG</a:t>
            </a:r>
            <a:endParaRPr kumimoji="1" lang="ko-KR" altLang="en-US" sz="1000" b="1">
              <a:solidFill>
                <a:schemeClr val="tx1"/>
              </a:solidFill>
            </a:endParaRPr>
          </a:p>
        </p:txBody>
      </p:sp>
      <p:sp>
        <p:nvSpPr>
          <p:cNvPr id="30" name="모서리가 둥근 직사각형 29">
            <a:extLst>
              <a:ext uri="{FF2B5EF4-FFF2-40B4-BE49-F238E27FC236}">
                <a16:creationId xmlns:a16="http://schemas.microsoft.com/office/drawing/2014/main" id="{8CE88483-6A2B-D837-1C59-C70CBEE8C737}"/>
              </a:ext>
            </a:extLst>
          </p:cNvPr>
          <p:cNvSpPr/>
          <p:nvPr/>
        </p:nvSpPr>
        <p:spPr>
          <a:xfrm>
            <a:off x="570473" y="2386695"/>
            <a:ext cx="1043104" cy="689111"/>
          </a:xfrm>
          <a:prstGeom prst="roundRect">
            <a:avLst>
              <a:gd name="adj" fmla="val 8070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 b="1" u="sng">
                <a:solidFill>
                  <a:schemeClr val="tx1"/>
                </a:solidFill>
              </a:rPr>
              <a:t>Isolated</a:t>
            </a:r>
            <a:r>
              <a:rPr kumimoji="1" lang="en-US" altLang="ko-KR" sz="900">
                <a:solidFill>
                  <a:schemeClr val="tx1"/>
                </a:solidFill>
              </a:rPr>
              <a:t> SM (Streaming Multiprocessor) 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34" name="모서리가 둥근 직사각형 33">
            <a:extLst>
              <a:ext uri="{FF2B5EF4-FFF2-40B4-BE49-F238E27FC236}">
                <a16:creationId xmlns:a16="http://schemas.microsoft.com/office/drawing/2014/main" id="{BED2A591-FC11-7777-79BD-D2C0F56BF17D}"/>
              </a:ext>
            </a:extLst>
          </p:cNvPr>
          <p:cNvSpPr/>
          <p:nvPr/>
        </p:nvSpPr>
        <p:spPr>
          <a:xfrm>
            <a:off x="570473" y="3929671"/>
            <a:ext cx="1043104" cy="288032"/>
          </a:xfrm>
          <a:prstGeom prst="roundRect">
            <a:avLst>
              <a:gd name="adj" fmla="val 15432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 b="1" u="sng">
                <a:solidFill>
                  <a:schemeClr val="tx1"/>
                </a:solidFill>
              </a:rPr>
              <a:t>Isolated</a:t>
            </a:r>
            <a:r>
              <a:rPr kumimoji="1" lang="en-US" altLang="ko-KR" sz="900">
                <a:solidFill>
                  <a:schemeClr val="tx1"/>
                </a:solidFill>
              </a:rPr>
              <a:t> </a:t>
            </a:r>
          </a:p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GPU Context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37" name="모서리가 둥근 직사각형 36">
            <a:extLst>
              <a:ext uri="{FF2B5EF4-FFF2-40B4-BE49-F238E27FC236}">
                <a16:creationId xmlns:a16="http://schemas.microsoft.com/office/drawing/2014/main" id="{AEC5F55F-66D1-CBDE-5ACE-889C1800E972}"/>
              </a:ext>
            </a:extLst>
          </p:cNvPr>
          <p:cNvSpPr/>
          <p:nvPr/>
        </p:nvSpPr>
        <p:spPr>
          <a:xfrm>
            <a:off x="2301713" y="2386695"/>
            <a:ext cx="1043104" cy="689111"/>
          </a:xfrm>
          <a:prstGeom prst="roundRect">
            <a:avLst>
              <a:gd name="adj" fmla="val 8070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 b="1" u="sng">
                <a:solidFill>
                  <a:schemeClr val="tx1"/>
                </a:solidFill>
              </a:rPr>
              <a:t>Isolated</a:t>
            </a:r>
            <a:r>
              <a:rPr kumimoji="1" lang="en-US" altLang="ko-KR" sz="900">
                <a:solidFill>
                  <a:schemeClr val="tx1"/>
                </a:solidFill>
              </a:rPr>
              <a:t> SM (Streaming Multiprocessor) 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38" name="모서리가 둥근 직사각형 37">
            <a:extLst>
              <a:ext uri="{FF2B5EF4-FFF2-40B4-BE49-F238E27FC236}">
                <a16:creationId xmlns:a16="http://schemas.microsoft.com/office/drawing/2014/main" id="{6BB3F0F8-FE89-BDA3-75EC-4830B2875A8A}"/>
              </a:ext>
            </a:extLst>
          </p:cNvPr>
          <p:cNvSpPr/>
          <p:nvPr/>
        </p:nvSpPr>
        <p:spPr>
          <a:xfrm>
            <a:off x="2301713" y="3929671"/>
            <a:ext cx="1043104" cy="288032"/>
          </a:xfrm>
          <a:prstGeom prst="roundRect">
            <a:avLst>
              <a:gd name="adj" fmla="val 15432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 b="1" u="sng">
                <a:solidFill>
                  <a:schemeClr val="tx1"/>
                </a:solidFill>
              </a:rPr>
              <a:t>Isolated</a:t>
            </a:r>
            <a:r>
              <a:rPr kumimoji="1" lang="en-US" altLang="ko-KR" sz="900">
                <a:solidFill>
                  <a:schemeClr val="tx1"/>
                </a:solidFill>
              </a:rPr>
              <a:t> </a:t>
            </a:r>
          </a:p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GPU Context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39" name="모서리가 둥근 직사각형 38">
            <a:extLst>
              <a:ext uri="{FF2B5EF4-FFF2-40B4-BE49-F238E27FC236}">
                <a16:creationId xmlns:a16="http://schemas.microsoft.com/office/drawing/2014/main" id="{43D6D215-CD27-7008-2F0F-0D53AFA3E3C3}"/>
              </a:ext>
            </a:extLst>
          </p:cNvPr>
          <p:cNvSpPr/>
          <p:nvPr/>
        </p:nvSpPr>
        <p:spPr>
          <a:xfrm>
            <a:off x="4023807" y="2386695"/>
            <a:ext cx="1043104" cy="689111"/>
          </a:xfrm>
          <a:prstGeom prst="roundRect">
            <a:avLst>
              <a:gd name="adj" fmla="val 8070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 b="1" u="sng">
                <a:solidFill>
                  <a:schemeClr val="tx1"/>
                </a:solidFill>
              </a:rPr>
              <a:t>Isolated</a:t>
            </a:r>
            <a:r>
              <a:rPr kumimoji="1" lang="en-US" altLang="ko-KR" sz="900">
                <a:solidFill>
                  <a:schemeClr val="tx1"/>
                </a:solidFill>
              </a:rPr>
              <a:t> SM (Streaming Multiprocessor) 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40" name="모서리가 둥근 직사각형 39">
            <a:extLst>
              <a:ext uri="{FF2B5EF4-FFF2-40B4-BE49-F238E27FC236}">
                <a16:creationId xmlns:a16="http://schemas.microsoft.com/office/drawing/2014/main" id="{1D3707E3-7576-30E3-073E-59F3566B3221}"/>
              </a:ext>
            </a:extLst>
          </p:cNvPr>
          <p:cNvSpPr/>
          <p:nvPr/>
        </p:nvSpPr>
        <p:spPr>
          <a:xfrm>
            <a:off x="4023807" y="3929671"/>
            <a:ext cx="1043104" cy="288032"/>
          </a:xfrm>
          <a:prstGeom prst="roundRect">
            <a:avLst>
              <a:gd name="adj" fmla="val 15432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 b="1" u="sng">
                <a:solidFill>
                  <a:schemeClr val="tx1"/>
                </a:solidFill>
              </a:rPr>
              <a:t>Isolated</a:t>
            </a:r>
            <a:r>
              <a:rPr kumimoji="1" lang="en-US" altLang="ko-KR" sz="900">
                <a:solidFill>
                  <a:schemeClr val="tx1"/>
                </a:solidFill>
              </a:rPr>
              <a:t> </a:t>
            </a:r>
          </a:p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GPU Context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685969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8906CD-E138-F5EC-95F3-A0B8BF0264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CBFB4EF-7547-0D22-3F73-90425E9CC3CA}"/>
              </a:ext>
            </a:extLst>
          </p:cNvPr>
          <p:cNvSpPr txBox="1">
            <a:spLocks/>
          </p:cNvSpPr>
          <p:nvPr/>
        </p:nvSpPr>
        <p:spPr>
          <a:xfrm>
            <a:off x="457200" y="-739613"/>
            <a:ext cx="8229600" cy="857250"/>
          </a:xfrm>
          <a:prstGeom prst="rect">
            <a:avLst/>
          </a:prstGeom>
        </p:spPr>
        <p:txBody>
          <a:bodyPr/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/>
              <a:t>MIG</a:t>
            </a:r>
            <a:endParaRPr lang="ko-KR" altLang="en-US" dirty="0"/>
          </a:p>
        </p:txBody>
      </p:sp>
      <p:cxnSp>
        <p:nvCxnSpPr>
          <p:cNvPr id="3" name="직선 연결선[R] 2">
            <a:extLst>
              <a:ext uri="{FF2B5EF4-FFF2-40B4-BE49-F238E27FC236}">
                <a16:creationId xmlns:a16="http://schemas.microsoft.com/office/drawing/2014/main" id="{2D5DC92C-D45F-769A-4638-742EA3B58F0A}"/>
              </a:ext>
            </a:extLst>
          </p:cNvPr>
          <p:cNvCxnSpPr>
            <a:cxnSpLocks/>
          </p:cNvCxnSpPr>
          <p:nvPr/>
        </p:nvCxnSpPr>
        <p:spPr>
          <a:xfrm>
            <a:off x="-36512" y="3139439"/>
            <a:ext cx="9289032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BF6298A9-2267-D0A7-FD62-A11B820843A5}"/>
              </a:ext>
            </a:extLst>
          </p:cNvPr>
          <p:cNvSpPr txBox="1"/>
          <p:nvPr/>
        </p:nvSpPr>
        <p:spPr>
          <a:xfrm>
            <a:off x="44450" y="3139439"/>
            <a:ext cx="10887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100" b="1"/>
              <a:t>GPU Memory</a:t>
            </a:r>
            <a:endParaRPr kumimoji="1" lang="ko-KR" altLang="en-US" sz="1100" b="1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538D958-B530-D82D-7699-EF2DECF30CF4}"/>
              </a:ext>
            </a:extLst>
          </p:cNvPr>
          <p:cNvSpPr txBox="1"/>
          <p:nvPr/>
        </p:nvSpPr>
        <p:spPr>
          <a:xfrm>
            <a:off x="44450" y="2877829"/>
            <a:ext cx="83708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100" b="1"/>
              <a:t>GPU Core</a:t>
            </a:r>
            <a:endParaRPr kumimoji="1" lang="ko-KR" altLang="en-US" sz="1100" b="1"/>
          </a:p>
        </p:txBody>
      </p: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76046714-DFA9-1624-C836-2EAB4BED9833}"/>
              </a:ext>
            </a:extLst>
          </p:cNvPr>
          <p:cNvGrpSpPr/>
          <p:nvPr/>
        </p:nvGrpSpPr>
        <p:grpSpPr>
          <a:xfrm>
            <a:off x="1902419" y="135990"/>
            <a:ext cx="7093149" cy="2671514"/>
            <a:chOff x="1902419" y="135990"/>
            <a:chExt cx="3018743" cy="2671514"/>
          </a:xfrm>
        </p:grpSpPr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id="{C4AB90E0-43A0-1360-B713-94F5505BB18B}"/>
                </a:ext>
              </a:extLst>
            </p:cNvPr>
            <p:cNvGrpSpPr/>
            <p:nvPr/>
          </p:nvGrpSpPr>
          <p:grpSpPr>
            <a:xfrm>
              <a:off x="1902419" y="135990"/>
              <a:ext cx="1954202" cy="720080"/>
              <a:chOff x="236727" y="987574"/>
              <a:chExt cx="1957044" cy="720080"/>
            </a:xfrm>
            <a:solidFill>
              <a:schemeClr val="accent1">
                <a:lumMod val="20000"/>
                <a:lumOff val="80000"/>
              </a:schemeClr>
            </a:solidFill>
          </p:grpSpPr>
          <p:sp>
            <p:nvSpPr>
              <p:cNvPr id="7" name="모서리가 둥근 직사각형 6">
                <a:extLst>
                  <a:ext uri="{FF2B5EF4-FFF2-40B4-BE49-F238E27FC236}">
                    <a16:creationId xmlns:a16="http://schemas.microsoft.com/office/drawing/2014/main" id="{89963D76-A4EE-4DA3-059B-C7B1EE3EE5A7}"/>
                  </a:ext>
                </a:extLst>
              </p:cNvPr>
              <p:cNvSpPr/>
              <p:nvPr/>
            </p:nvSpPr>
            <p:spPr>
              <a:xfrm>
                <a:off x="236727" y="987574"/>
                <a:ext cx="1241295" cy="288032"/>
              </a:xfrm>
              <a:prstGeom prst="roundRect">
                <a:avLst>
                  <a:gd name="adj" fmla="val 15432"/>
                </a:avLst>
              </a:prstGeom>
              <a:grpFill/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ko-KR" sz="900">
                    <a:solidFill>
                      <a:schemeClr val="tx1"/>
                    </a:solidFill>
                  </a:rPr>
                  <a:t>Kernel A1</a:t>
                </a:r>
                <a:endParaRPr kumimoji="1" lang="ko-KR" altLang="en-US" sz="900">
                  <a:solidFill>
                    <a:schemeClr val="tx1"/>
                  </a:solidFill>
                </a:endParaRPr>
              </a:p>
            </p:txBody>
          </p:sp>
          <p:sp>
            <p:nvSpPr>
              <p:cNvPr id="8" name="모서리가 둥근 직사각형 7">
                <a:extLst>
                  <a:ext uri="{FF2B5EF4-FFF2-40B4-BE49-F238E27FC236}">
                    <a16:creationId xmlns:a16="http://schemas.microsoft.com/office/drawing/2014/main" id="{D8D999DB-7FAE-0925-80F5-D4F8C1DC26B4}"/>
                  </a:ext>
                </a:extLst>
              </p:cNvPr>
              <p:cNvSpPr/>
              <p:nvPr/>
            </p:nvSpPr>
            <p:spPr>
              <a:xfrm>
                <a:off x="1478244" y="987574"/>
                <a:ext cx="715527" cy="288032"/>
              </a:xfrm>
              <a:prstGeom prst="roundRect">
                <a:avLst>
                  <a:gd name="adj" fmla="val 15432"/>
                </a:avLst>
              </a:prstGeom>
              <a:grpFill/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ko-KR" sz="900">
                    <a:solidFill>
                      <a:schemeClr val="tx1"/>
                    </a:solidFill>
                  </a:rPr>
                  <a:t>Kernel A2</a:t>
                </a:r>
                <a:endParaRPr kumimoji="1" lang="ko-KR" altLang="en-US" sz="900">
                  <a:solidFill>
                    <a:schemeClr val="tx1"/>
                  </a:solidFill>
                </a:endParaRPr>
              </a:p>
            </p:txBody>
          </p:sp>
          <p:sp>
            <p:nvSpPr>
              <p:cNvPr id="9" name="모서리가 둥근 직사각형 8">
                <a:extLst>
                  <a:ext uri="{FF2B5EF4-FFF2-40B4-BE49-F238E27FC236}">
                    <a16:creationId xmlns:a16="http://schemas.microsoft.com/office/drawing/2014/main" id="{AD12A29A-F88A-1A60-1527-4162E74E2A11}"/>
                  </a:ext>
                </a:extLst>
              </p:cNvPr>
              <p:cNvSpPr/>
              <p:nvPr/>
            </p:nvSpPr>
            <p:spPr>
              <a:xfrm>
                <a:off x="239069" y="1419622"/>
                <a:ext cx="1239175" cy="288032"/>
              </a:xfrm>
              <a:prstGeom prst="roundRect">
                <a:avLst>
                  <a:gd name="adj" fmla="val 15432"/>
                </a:avLst>
              </a:prstGeom>
              <a:grpFill/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ko-KR" sz="900">
                    <a:solidFill>
                      <a:schemeClr val="tx1"/>
                    </a:solidFill>
                  </a:rPr>
                  <a:t>Kernel A3</a:t>
                </a:r>
                <a:endParaRPr kumimoji="1" lang="ko-KR" altLang="en-US" sz="90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0" name="그룹 9">
              <a:extLst>
                <a:ext uri="{FF2B5EF4-FFF2-40B4-BE49-F238E27FC236}">
                  <a16:creationId xmlns:a16="http://schemas.microsoft.com/office/drawing/2014/main" id="{633FCFC6-9418-45CC-AB9D-0F15D71C64EF}"/>
                </a:ext>
              </a:extLst>
            </p:cNvPr>
            <p:cNvGrpSpPr/>
            <p:nvPr/>
          </p:nvGrpSpPr>
          <p:grpSpPr>
            <a:xfrm>
              <a:off x="1902419" y="1111707"/>
              <a:ext cx="1954544" cy="720080"/>
              <a:chOff x="2331399" y="987574"/>
              <a:chExt cx="1957387" cy="720080"/>
            </a:xfrm>
            <a:solidFill>
              <a:schemeClr val="accent3">
                <a:lumMod val="20000"/>
                <a:lumOff val="80000"/>
              </a:schemeClr>
            </a:solidFill>
          </p:grpSpPr>
          <p:sp>
            <p:nvSpPr>
              <p:cNvPr id="11" name="모서리가 둥근 직사각형 10">
                <a:extLst>
                  <a:ext uri="{FF2B5EF4-FFF2-40B4-BE49-F238E27FC236}">
                    <a16:creationId xmlns:a16="http://schemas.microsoft.com/office/drawing/2014/main" id="{97128B41-ABA1-B980-7A6D-D28126A34F45}"/>
                  </a:ext>
                </a:extLst>
              </p:cNvPr>
              <p:cNvSpPr/>
              <p:nvPr/>
            </p:nvSpPr>
            <p:spPr>
              <a:xfrm>
                <a:off x="2331964" y="987574"/>
                <a:ext cx="1241295" cy="288032"/>
              </a:xfrm>
              <a:prstGeom prst="roundRect">
                <a:avLst>
                  <a:gd name="adj" fmla="val 15432"/>
                </a:avLst>
              </a:prstGeom>
              <a:grpFill/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ko-KR" sz="900">
                    <a:solidFill>
                      <a:schemeClr val="tx1"/>
                    </a:solidFill>
                  </a:rPr>
                  <a:t>Kernel B1</a:t>
                </a:r>
                <a:endParaRPr kumimoji="1" lang="ko-KR" altLang="en-US" sz="900">
                  <a:solidFill>
                    <a:schemeClr val="tx1"/>
                  </a:solidFill>
                </a:endParaRPr>
              </a:p>
            </p:txBody>
          </p:sp>
          <p:sp>
            <p:nvSpPr>
              <p:cNvPr id="12" name="모서리가 둥근 직사각형 11">
                <a:extLst>
                  <a:ext uri="{FF2B5EF4-FFF2-40B4-BE49-F238E27FC236}">
                    <a16:creationId xmlns:a16="http://schemas.microsoft.com/office/drawing/2014/main" id="{92734DA5-8508-6C35-6CB9-F3D301DF4E09}"/>
                  </a:ext>
                </a:extLst>
              </p:cNvPr>
              <p:cNvSpPr/>
              <p:nvPr/>
            </p:nvSpPr>
            <p:spPr>
              <a:xfrm>
                <a:off x="2331399" y="1419622"/>
                <a:ext cx="715527" cy="288032"/>
              </a:xfrm>
              <a:prstGeom prst="roundRect">
                <a:avLst>
                  <a:gd name="adj" fmla="val 15432"/>
                </a:avLst>
              </a:prstGeom>
              <a:grpFill/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ko-KR" sz="900">
                    <a:solidFill>
                      <a:schemeClr val="tx1"/>
                    </a:solidFill>
                  </a:rPr>
                  <a:t>Kernel B3</a:t>
                </a:r>
                <a:endParaRPr kumimoji="1" lang="ko-KR" altLang="en-US" sz="900">
                  <a:solidFill>
                    <a:schemeClr val="tx1"/>
                  </a:solidFill>
                </a:endParaRPr>
              </a:p>
            </p:txBody>
          </p:sp>
          <p:sp>
            <p:nvSpPr>
              <p:cNvPr id="13" name="모서리가 둥근 직사각형 12">
                <a:extLst>
                  <a:ext uri="{FF2B5EF4-FFF2-40B4-BE49-F238E27FC236}">
                    <a16:creationId xmlns:a16="http://schemas.microsoft.com/office/drawing/2014/main" id="{6184F15A-99E3-B042-7D2C-24FCE69FEC9A}"/>
                  </a:ext>
                </a:extLst>
              </p:cNvPr>
              <p:cNvSpPr/>
              <p:nvPr/>
            </p:nvSpPr>
            <p:spPr>
              <a:xfrm>
                <a:off x="3573259" y="987574"/>
                <a:ext cx="715527" cy="288032"/>
              </a:xfrm>
              <a:prstGeom prst="roundRect">
                <a:avLst>
                  <a:gd name="adj" fmla="val 15432"/>
                </a:avLst>
              </a:prstGeom>
              <a:grpFill/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ko-KR" sz="900">
                    <a:solidFill>
                      <a:schemeClr val="tx1"/>
                    </a:solidFill>
                  </a:rPr>
                  <a:t>Kernel B2</a:t>
                </a:r>
                <a:endParaRPr kumimoji="1" lang="ko-KR" altLang="en-US" sz="90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4" name="그룹 13">
              <a:extLst>
                <a:ext uri="{FF2B5EF4-FFF2-40B4-BE49-F238E27FC236}">
                  <a16:creationId xmlns:a16="http://schemas.microsoft.com/office/drawing/2014/main" id="{3CC395CF-713D-DA78-7709-00B131D2A58B}"/>
                </a:ext>
              </a:extLst>
            </p:cNvPr>
            <p:cNvGrpSpPr/>
            <p:nvPr/>
          </p:nvGrpSpPr>
          <p:grpSpPr>
            <a:xfrm>
              <a:off x="1904758" y="2087424"/>
              <a:ext cx="1951863" cy="720080"/>
              <a:chOff x="4427984" y="987574"/>
              <a:chExt cx="1954702" cy="720080"/>
            </a:xfrm>
          </p:grpSpPr>
          <p:sp>
            <p:nvSpPr>
              <p:cNvPr id="15" name="모서리가 둥근 직사각형 14">
                <a:extLst>
                  <a:ext uri="{FF2B5EF4-FFF2-40B4-BE49-F238E27FC236}">
                    <a16:creationId xmlns:a16="http://schemas.microsoft.com/office/drawing/2014/main" id="{5882A09C-07B1-F5BB-B064-E71C17CD5E46}"/>
                  </a:ext>
                </a:extLst>
              </p:cNvPr>
              <p:cNvSpPr/>
              <p:nvPr/>
            </p:nvSpPr>
            <p:spPr>
              <a:xfrm>
                <a:off x="4427984" y="987574"/>
                <a:ext cx="715527" cy="288032"/>
              </a:xfrm>
              <a:prstGeom prst="roundRect">
                <a:avLst>
                  <a:gd name="adj" fmla="val 15432"/>
                </a:avLst>
              </a:prstGeom>
              <a:solidFill>
                <a:schemeClr val="accent2">
                  <a:lumMod val="20000"/>
                  <a:lumOff val="80000"/>
                </a:schemeClr>
              </a:solidFill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ko-KR" sz="900">
                    <a:solidFill>
                      <a:schemeClr val="tx1"/>
                    </a:solidFill>
                  </a:rPr>
                  <a:t>Kernel C1</a:t>
                </a:r>
                <a:endParaRPr kumimoji="1" lang="ko-KR" altLang="en-US" sz="900">
                  <a:solidFill>
                    <a:schemeClr val="tx1"/>
                  </a:solidFill>
                </a:endParaRPr>
              </a:p>
            </p:txBody>
          </p:sp>
          <p:sp>
            <p:nvSpPr>
              <p:cNvPr id="16" name="모서리가 둥근 직사각형 15">
                <a:extLst>
                  <a:ext uri="{FF2B5EF4-FFF2-40B4-BE49-F238E27FC236}">
                    <a16:creationId xmlns:a16="http://schemas.microsoft.com/office/drawing/2014/main" id="{5E929230-AB47-EB31-189D-88D06FD22C5E}"/>
                  </a:ext>
                </a:extLst>
              </p:cNvPr>
              <p:cNvSpPr/>
              <p:nvPr/>
            </p:nvSpPr>
            <p:spPr>
              <a:xfrm>
                <a:off x="5143511" y="987574"/>
                <a:ext cx="1239175" cy="288032"/>
              </a:xfrm>
              <a:prstGeom prst="roundRect">
                <a:avLst>
                  <a:gd name="adj" fmla="val 15432"/>
                </a:avLst>
              </a:prstGeom>
              <a:solidFill>
                <a:schemeClr val="accent2">
                  <a:lumMod val="20000"/>
                  <a:lumOff val="80000"/>
                </a:schemeClr>
              </a:solidFill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ko-KR" sz="900">
                    <a:solidFill>
                      <a:schemeClr val="tx1"/>
                    </a:solidFill>
                  </a:rPr>
                  <a:t>Kernel C2</a:t>
                </a:r>
                <a:endParaRPr kumimoji="1" lang="ko-KR" altLang="en-US" sz="900">
                  <a:solidFill>
                    <a:schemeClr val="tx1"/>
                  </a:solidFill>
                </a:endParaRPr>
              </a:p>
            </p:txBody>
          </p:sp>
          <p:sp>
            <p:nvSpPr>
              <p:cNvPr id="17" name="모서리가 둥근 직사각형 16">
                <a:extLst>
                  <a:ext uri="{FF2B5EF4-FFF2-40B4-BE49-F238E27FC236}">
                    <a16:creationId xmlns:a16="http://schemas.microsoft.com/office/drawing/2014/main" id="{5FC7089E-82B9-F082-143A-833EFA92696F}"/>
                  </a:ext>
                </a:extLst>
              </p:cNvPr>
              <p:cNvSpPr/>
              <p:nvPr/>
            </p:nvSpPr>
            <p:spPr>
              <a:xfrm>
                <a:off x="4427984" y="1419622"/>
                <a:ext cx="715527" cy="288032"/>
              </a:xfrm>
              <a:prstGeom prst="roundRect">
                <a:avLst>
                  <a:gd name="adj" fmla="val 15432"/>
                </a:avLst>
              </a:prstGeom>
              <a:solidFill>
                <a:schemeClr val="accent2">
                  <a:lumMod val="20000"/>
                  <a:lumOff val="80000"/>
                </a:schemeClr>
              </a:solidFill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ko-KR" sz="900">
                    <a:solidFill>
                      <a:schemeClr val="tx1"/>
                    </a:solidFill>
                  </a:rPr>
                  <a:t>Kernel C3</a:t>
                </a:r>
                <a:endParaRPr kumimoji="1" lang="ko-KR" altLang="en-US" sz="90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8" name="모서리가 둥근 직사각형 17">
              <a:extLst>
                <a:ext uri="{FF2B5EF4-FFF2-40B4-BE49-F238E27FC236}">
                  <a16:creationId xmlns:a16="http://schemas.microsoft.com/office/drawing/2014/main" id="{DD2ABF89-9AE6-0FBF-DDF7-C6DDD5549DFC}"/>
                </a:ext>
              </a:extLst>
            </p:cNvPr>
            <p:cNvSpPr/>
            <p:nvPr/>
          </p:nvSpPr>
          <p:spPr>
            <a:xfrm>
              <a:off x="4206674" y="135990"/>
              <a:ext cx="714487" cy="288032"/>
            </a:xfrm>
            <a:prstGeom prst="roundRect">
              <a:avLst>
                <a:gd name="adj" fmla="val 15432"/>
              </a:avLst>
            </a:prstGeom>
            <a:solidFill>
              <a:schemeClr val="accent1">
                <a:lumMod val="20000"/>
                <a:lumOff val="8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900">
                  <a:solidFill>
                    <a:schemeClr val="tx1"/>
                  </a:solidFill>
                </a:rPr>
                <a:t>Kernel A4</a:t>
              </a:r>
              <a:endParaRPr kumimoji="1" lang="ko-KR" altLang="en-US" sz="900">
                <a:solidFill>
                  <a:schemeClr val="tx1"/>
                </a:solidFill>
              </a:endParaRPr>
            </a:p>
          </p:txBody>
        </p:sp>
        <p:sp>
          <p:nvSpPr>
            <p:cNvPr id="19" name="모서리가 둥근 직사각형 18">
              <a:extLst>
                <a:ext uri="{FF2B5EF4-FFF2-40B4-BE49-F238E27FC236}">
                  <a16:creationId xmlns:a16="http://schemas.microsoft.com/office/drawing/2014/main" id="{E75EA316-9E67-6B52-5530-BAEFC20415DD}"/>
                </a:ext>
              </a:extLst>
            </p:cNvPr>
            <p:cNvSpPr/>
            <p:nvPr/>
          </p:nvSpPr>
          <p:spPr>
            <a:xfrm>
              <a:off x="4206675" y="1537783"/>
              <a:ext cx="714487" cy="288032"/>
            </a:xfrm>
            <a:prstGeom prst="roundRect">
              <a:avLst>
                <a:gd name="adj" fmla="val 15432"/>
              </a:avLst>
            </a:prstGeom>
            <a:solidFill>
              <a:schemeClr val="accent3">
                <a:lumMod val="20000"/>
                <a:lumOff val="8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900">
                  <a:solidFill>
                    <a:schemeClr val="tx1"/>
                  </a:solidFill>
                </a:rPr>
                <a:t>Kernel B4</a:t>
              </a:r>
              <a:endParaRPr kumimoji="1" lang="ko-KR" altLang="en-US" sz="900">
                <a:solidFill>
                  <a:schemeClr val="tx1"/>
                </a:solidFill>
              </a:endParaRPr>
            </a:p>
          </p:txBody>
        </p:sp>
        <p:sp>
          <p:nvSpPr>
            <p:cNvPr id="20" name="모서리가 둥근 직사각형 19">
              <a:extLst>
                <a:ext uri="{FF2B5EF4-FFF2-40B4-BE49-F238E27FC236}">
                  <a16:creationId xmlns:a16="http://schemas.microsoft.com/office/drawing/2014/main" id="{A4FDC6AC-EB0A-282C-3382-96F6398CAD96}"/>
                </a:ext>
              </a:extLst>
            </p:cNvPr>
            <p:cNvSpPr/>
            <p:nvPr/>
          </p:nvSpPr>
          <p:spPr>
            <a:xfrm>
              <a:off x="4206674" y="2087424"/>
              <a:ext cx="714487" cy="288032"/>
            </a:xfrm>
            <a:prstGeom prst="roundRect">
              <a:avLst>
                <a:gd name="adj" fmla="val 15432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900">
                  <a:solidFill>
                    <a:schemeClr val="tx1"/>
                  </a:solidFill>
                </a:rPr>
                <a:t>Kernel C4</a:t>
              </a:r>
              <a:endParaRPr kumimoji="1" lang="ko-KR" altLang="en-US" sz="900">
                <a:solidFill>
                  <a:schemeClr val="tx1"/>
                </a:solidFill>
              </a:endParaRPr>
            </a:p>
          </p:txBody>
        </p:sp>
        <p:sp>
          <p:nvSpPr>
            <p:cNvPr id="21" name="모서리가 둥근 직사각형 20">
              <a:extLst>
                <a:ext uri="{FF2B5EF4-FFF2-40B4-BE49-F238E27FC236}">
                  <a16:creationId xmlns:a16="http://schemas.microsoft.com/office/drawing/2014/main" id="{4C84D921-CD65-C645-1949-96ACDE708B86}"/>
                </a:ext>
              </a:extLst>
            </p:cNvPr>
            <p:cNvSpPr/>
            <p:nvPr/>
          </p:nvSpPr>
          <p:spPr>
            <a:xfrm>
              <a:off x="4206674" y="2519472"/>
              <a:ext cx="714487" cy="288032"/>
            </a:xfrm>
            <a:prstGeom prst="roundRect">
              <a:avLst>
                <a:gd name="adj" fmla="val 15432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900">
                  <a:solidFill>
                    <a:schemeClr val="tx1"/>
                  </a:solidFill>
                </a:rPr>
                <a:t>Kernel C5</a:t>
              </a:r>
              <a:endParaRPr kumimoji="1" lang="ko-KR" altLang="en-US" sz="900">
                <a:solidFill>
                  <a:schemeClr val="tx1"/>
                </a:solidFill>
              </a:endParaRPr>
            </a:p>
          </p:txBody>
        </p:sp>
      </p:grpSp>
      <p:sp>
        <p:nvSpPr>
          <p:cNvPr id="22" name="모서리가 둥근 직사각형 21">
            <a:extLst>
              <a:ext uri="{FF2B5EF4-FFF2-40B4-BE49-F238E27FC236}">
                <a16:creationId xmlns:a16="http://schemas.microsoft.com/office/drawing/2014/main" id="{F40CE223-D559-6AC4-2257-0960FD53A902}"/>
              </a:ext>
            </a:extLst>
          </p:cNvPr>
          <p:cNvSpPr/>
          <p:nvPr/>
        </p:nvSpPr>
        <p:spPr>
          <a:xfrm>
            <a:off x="742091" y="61166"/>
            <a:ext cx="8313009" cy="857250"/>
          </a:xfrm>
          <a:prstGeom prst="roundRect">
            <a:avLst>
              <a:gd name="adj" fmla="val 8128"/>
            </a:avLst>
          </a:prstGeom>
          <a:noFill/>
          <a:ln w="12700"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kumimoji="1" lang="en-US" altLang="ko-KR" sz="1000" b="1">
                <a:solidFill>
                  <a:schemeClr val="tx1"/>
                </a:solidFill>
              </a:rPr>
              <a:t>CUDA App A</a:t>
            </a:r>
          </a:p>
        </p:txBody>
      </p:sp>
      <p:sp>
        <p:nvSpPr>
          <p:cNvPr id="23" name="모서리가 둥근 직사각형 22">
            <a:extLst>
              <a:ext uri="{FF2B5EF4-FFF2-40B4-BE49-F238E27FC236}">
                <a16:creationId xmlns:a16="http://schemas.microsoft.com/office/drawing/2014/main" id="{2D9FB8EF-54AC-D364-CE3F-D362BCDF7D0F}"/>
              </a:ext>
            </a:extLst>
          </p:cNvPr>
          <p:cNvSpPr/>
          <p:nvPr/>
        </p:nvSpPr>
        <p:spPr>
          <a:xfrm>
            <a:off x="742091" y="1040264"/>
            <a:ext cx="8313009" cy="857250"/>
          </a:xfrm>
          <a:prstGeom prst="roundRect">
            <a:avLst>
              <a:gd name="adj" fmla="val 8128"/>
            </a:avLst>
          </a:prstGeom>
          <a:noFill/>
          <a:ln w="12700"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kumimoji="1" lang="en-US" altLang="ko-KR" sz="1000" b="1">
                <a:solidFill>
                  <a:schemeClr val="tx1"/>
                </a:solidFill>
              </a:rPr>
              <a:t>CUDA App B</a:t>
            </a:r>
          </a:p>
        </p:txBody>
      </p:sp>
      <p:sp>
        <p:nvSpPr>
          <p:cNvPr id="24" name="모서리가 둥근 직사각형 23">
            <a:extLst>
              <a:ext uri="{FF2B5EF4-FFF2-40B4-BE49-F238E27FC236}">
                <a16:creationId xmlns:a16="http://schemas.microsoft.com/office/drawing/2014/main" id="{3A3B1AC9-2275-3F0D-A735-E8AB1B835820}"/>
              </a:ext>
            </a:extLst>
          </p:cNvPr>
          <p:cNvSpPr/>
          <p:nvPr/>
        </p:nvSpPr>
        <p:spPr>
          <a:xfrm>
            <a:off x="742091" y="2017404"/>
            <a:ext cx="8313009" cy="857250"/>
          </a:xfrm>
          <a:prstGeom prst="roundRect">
            <a:avLst>
              <a:gd name="adj" fmla="val 8128"/>
            </a:avLst>
          </a:prstGeom>
          <a:noFill/>
          <a:ln w="12700"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kumimoji="1" lang="en-US" altLang="ko-KR" sz="1000" b="1">
                <a:solidFill>
                  <a:schemeClr val="tx1"/>
                </a:solidFill>
              </a:rPr>
              <a:t>CUDA App C</a:t>
            </a:r>
          </a:p>
        </p:txBody>
      </p:sp>
      <p:sp>
        <p:nvSpPr>
          <p:cNvPr id="25" name="모서리가 둥근 직사각형 24">
            <a:extLst>
              <a:ext uri="{FF2B5EF4-FFF2-40B4-BE49-F238E27FC236}">
                <a16:creationId xmlns:a16="http://schemas.microsoft.com/office/drawing/2014/main" id="{B4922162-40A8-D571-CCF6-E4AF8B8A3D2A}"/>
              </a:ext>
            </a:extLst>
          </p:cNvPr>
          <p:cNvSpPr/>
          <p:nvPr/>
        </p:nvSpPr>
        <p:spPr>
          <a:xfrm>
            <a:off x="148432" y="25401"/>
            <a:ext cx="8960071" cy="942288"/>
          </a:xfrm>
          <a:prstGeom prst="roundRect">
            <a:avLst>
              <a:gd name="adj" fmla="val 8128"/>
            </a:avLst>
          </a:prstGeom>
          <a:noFill/>
          <a:ln w="12700"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kumimoji="1" lang="en-US" altLang="ko-KR" sz="1000" b="1">
                <a:solidFill>
                  <a:schemeClr val="tx1"/>
                </a:solidFill>
              </a:rPr>
              <a:t>MIG A</a:t>
            </a:r>
          </a:p>
        </p:txBody>
      </p:sp>
      <p:sp>
        <p:nvSpPr>
          <p:cNvPr id="26" name="모서리가 둥근 직사각형 25">
            <a:extLst>
              <a:ext uri="{FF2B5EF4-FFF2-40B4-BE49-F238E27FC236}">
                <a16:creationId xmlns:a16="http://schemas.microsoft.com/office/drawing/2014/main" id="{58E9D81B-0DA8-A88E-DAC9-9AA4F945B747}"/>
              </a:ext>
            </a:extLst>
          </p:cNvPr>
          <p:cNvSpPr/>
          <p:nvPr/>
        </p:nvSpPr>
        <p:spPr>
          <a:xfrm>
            <a:off x="148432" y="997745"/>
            <a:ext cx="8960071" cy="942288"/>
          </a:xfrm>
          <a:prstGeom prst="roundRect">
            <a:avLst>
              <a:gd name="adj" fmla="val 8128"/>
            </a:avLst>
          </a:prstGeom>
          <a:noFill/>
          <a:ln w="12700"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kumimoji="1" lang="en-US" altLang="ko-KR" sz="1000" b="1">
                <a:solidFill>
                  <a:schemeClr val="tx1"/>
                </a:solidFill>
              </a:rPr>
              <a:t>MIG B</a:t>
            </a:r>
          </a:p>
        </p:txBody>
      </p:sp>
      <p:sp>
        <p:nvSpPr>
          <p:cNvPr id="27" name="모서리가 둥근 직사각형 26">
            <a:extLst>
              <a:ext uri="{FF2B5EF4-FFF2-40B4-BE49-F238E27FC236}">
                <a16:creationId xmlns:a16="http://schemas.microsoft.com/office/drawing/2014/main" id="{27ABA628-5512-EF29-8257-61E6F5AEBB1B}"/>
              </a:ext>
            </a:extLst>
          </p:cNvPr>
          <p:cNvSpPr/>
          <p:nvPr/>
        </p:nvSpPr>
        <p:spPr>
          <a:xfrm>
            <a:off x="148432" y="1975803"/>
            <a:ext cx="8960071" cy="942288"/>
          </a:xfrm>
          <a:prstGeom prst="roundRect">
            <a:avLst>
              <a:gd name="adj" fmla="val 8128"/>
            </a:avLst>
          </a:prstGeom>
          <a:noFill/>
          <a:ln w="12700"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kumimoji="1" lang="en-US" altLang="ko-KR" sz="1000" b="1">
                <a:solidFill>
                  <a:schemeClr val="tx1"/>
                </a:solidFill>
              </a:rPr>
              <a:t>MIG C</a:t>
            </a:r>
          </a:p>
        </p:txBody>
      </p:sp>
      <p:sp>
        <p:nvSpPr>
          <p:cNvPr id="28" name="모서리가 둥근 직사각형 27">
            <a:extLst>
              <a:ext uri="{FF2B5EF4-FFF2-40B4-BE49-F238E27FC236}">
                <a16:creationId xmlns:a16="http://schemas.microsoft.com/office/drawing/2014/main" id="{BFAF77B8-1570-C3BC-5E75-0A279A51B7FB}"/>
              </a:ext>
            </a:extLst>
          </p:cNvPr>
          <p:cNvSpPr/>
          <p:nvPr/>
        </p:nvSpPr>
        <p:spPr>
          <a:xfrm>
            <a:off x="1902421" y="3500090"/>
            <a:ext cx="7093145" cy="327545"/>
          </a:xfrm>
          <a:prstGeom prst="roundRect">
            <a:avLst>
              <a:gd name="adj" fmla="val 15205"/>
            </a:avLst>
          </a:prstGeom>
          <a:solidFill>
            <a:schemeClr val="accent1">
              <a:lumMod val="20000"/>
              <a:lumOff val="80000"/>
            </a:schemeClr>
          </a:solidFill>
          <a:ln w="12700"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 b="1">
                <a:solidFill>
                  <a:schemeClr val="tx1"/>
                </a:solidFill>
              </a:rPr>
              <a:t>CUDA App A </a:t>
            </a:r>
          </a:p>
        </p:txBody>
      </p:sp>
      <p:sp>
        <p:nvSpPr>
          <p:cNvPr id="29" name="모서리가 둥근 직사각형 28">
            <a:extLst>
              <a:ext uri="{FF2B5EF4-FFF2-40B4-BE49-F238E27FC236}">
                <a16:creationId xmlns:a16="http://schemas.microsoft.com/office/drawing/2014/main" id="{6B9D0897-AF5A-9CB3-901D-C20BE4740FB0}"/>
              </a:ext>
            </a:extLst>
          </p:cNvPr>
          <p:cNvSpPr/>
          <p:nvPr/>
        </p:nvSpPr>
        <p:spPr>
          <a:xfrm>
            <a:off x="1902420" y="4050816"/>
            <a:ext cx="7093145" cy="327545"/>
          </a:xfrm>
          <a:prstGeom prst="roundRect">
            <a:avLst>
              <a:gd name="adj" fmla="val 10702"/>
            </a:avLst>
          </a:prstGeom>
          <a:solidFill>
            <a:schemeClr val="accent3">
              <a:lumMod val="20000"/>
              <a:lumOff val="80000"/>
            </a:schemeClr>
          </a:solidFill>
          <a:ln w="12700"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 b="1">
                <a:solidFill>
                  <a:schemeClr val="tx1"/>
                </a:solidFill>
              </a:rPr>
              <a:t>CUDA App B </a:t>
            </a:r>
          </a:p>
        </p:txBody>
      </p:sp>
      <p:sp>
        <p:nvSpPr>
          <p:cNvPr id="30" name="모서리가 둥근 직사각형 29">
            <a:extLst>
              <a:ext uri="{FF2B5EF4-FFF2-40B4-BE49-F238E27FC236}">
                <a16:creationId xmlns:a16="http://schemas.microsoft.com/office/drawing/2014/main" id="{61CE423D-0B4B-75D9-F379-9EC4C2DAF22C}"/>
              </a:ext>
            </a:extLst>
          </p:cNvPr>
          <p:cNvSpPr/>
          <p:nvPr/>
        </p:nvSpPr>
        <p:spPr>
          <a:xfrm>
            <a:off x="1902421" y="4607718"/>
            <a:ext cx="7093145" cy="327545"/>
          </a:xfrm>
          <a:prstGeom prst="roundRect">
            <a:avLst>
              <a:gd name="adj" fmla="val 15133"/>
            </a:avLst>
          </a:prstGeom>
          <a:solidFill>
            <a:schemeClr val="accent2">
              <a:lumMod val="20000"/>
              <a:lumOff val="80000"/>
            </a:schemeClr>
          </a:solidFill>
          <a:ln w="12700"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 b="1">
                <a:solidFill>
                  <a:schemeClr val="tx1"/>
                </a:solidFill>
              </a:rPr>
              <a:t>CUDA App C </a:t>
            </a:r>
          </a:p>
        </p:txBody>
      </p:sp>
      <p:sp>
        <p:nvSpPr>
          <p:cNvPr id="31" name="모서리가 둥근 직사각형 30">
            <a:extLst>
              <a:ext uri="{FF2B5EF4-FFF2-40B4-BE49-F238E27FC236}">
                <a16:creationId xmlns:a16="http://schemas.microsoft.com/office/drawing/2014/main" id="{8C7334AD-223D-19D6-EF99-EB1BE4653C7B}"/>
              </a:ext>
            </a:extLst>
          </p:cNvPr>
          <p:cNvSpPr/>
          <p:nvPr/>
        </p:nvSpPr>
        <p:spPr>
          <a:xfrm>
            <a:off x="148432" y="3420072"/>
            <a:ext cx="8960071" cy="476824"/>
          </a:xfrm>
          <a:prstGeom prst="roundRect">
            <a:avLst>
              <a:gd name="adj" fmla="val 16118"/>
            </a:avLst>
          </a:prstGeom>
          <a:noFill/>
          <a:ln w="12700"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1000" b="1">
                <a:solidFill>
                  <a:schemeClr val="tx1"/>
                </a:solidFill>
              </a:rPr>
              <a:t>MIG A</a:t>
            </a:r>
          </a:p>
        </p:txBody>
      </p:sp>
      <p:sp>
        <p:nvSpPr>
          <p:cNvPr id="32" name="모서리가 둥근 직사각형 31">
            <a:extLst>
              <a:ext uri="{FF2B5EF4-FFF2-40B4-BE49-F238E27FC236}">
                <a16:creationId xmlns:a16="http://schemas.microsoft.com/office/drawing/2014/main" id="{B2BFE3AF-7340-2C54-CCA4-214503CF30DC}"/>
              </a:ext>
            </a:extLst>
          </p:cNvPr>
          <p:cNvSpPr/>
          <p:nvPr/>
        </p:nvSpPr>
        <p:spPr>
          <a:xfrm>
            <a:off x="148432" y="3976176"/>
            <a:ext cx="8960071" cy="476824"/>
          </a:xfrm>
          <a:prstGeom prst="roundRect">
            <a:avLst>
              <a:gd name="adj" fmla="val 16118"/>
            </a:avLst>
          </a:prstGeom>
          <a:noFill/>
          <a:ln w="12700"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1000" b="1">
                <a:solidFill>
                  <a:schemeClr val="tx1"/>
                </a:solidFill>
              </a:rPr>
              <a:t>MIG B</a:t>
            </a:r>
          </a:p>
        </p:txBody>
      </p:sp>
      <p:sp>
        <p:nvSpPr>
          <p:cNvPr id="33" name="모서리가 둥근 직사각형 32">
            <a:extLst>
              <a:ext uri="{FF2B5EF4-FFF2-40B4-BE49-F238E27FC236}">
                <a16:creationId xmlns:a16="http://schemas.microsoft.com/office/drawing/2014/main" id="{1A3449D2-A111-EDA9-CC20-87F8ADACDF8A}"/>
              </a:ext>
            </a:extLst>
          </p:cNvPr>
          <p:cNvSpPr/>
          <p:nvPr/>
        </p:nvSpPr>
        <p:spPr>
          <a:xfrm>
            <a:off x="148432" y="4532281"/>
            <a:ext cx="8960071" cy="476824"/>
          </a:xfrm>
          <a:prstGeom prst="roundRect">
            <a:avLst>
              <a:gd name="adj" fmla="val 16118"/>
            </a:avLst>
          </a:prstGeom>
          <a:noFill/>
          <a:ln w="12700"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1000" b="1">
                <a:solidFill>
                  <a:schemeClr val="tx1"/>
                </a:solidFill>
              </a:rPr>
              <a:t>MIG C</a:t>
            </a:r>
          </a:p>
        </p:txBody>
      </p:sp>
      <p:cxnSp>
        <p:nvCxnSpPr>
          <p:cNvPr id="34" name="직선 화살표 연결선 33">
            <a:extLst>
              <a:ext uri="{FF2B5EF4-FFF2-40B4-BE49-F238E27FC236}">
                <a16:creationId xmlns:a16="http://schemas.microsoft.com/office/drawing/2014/main" id="{BD0EB08E-1842-17B9-37EC-62D1B02B5561}"/>
              </a:ext>
            </a:extLst>
          </p:cNvPr>
          <p:cNvCxnSpPr>
            <a:cxnSpLocks/>
            <a:stCxn id="28" idx="0"/>
            <a:endCxn id="22" idx="2"/>
          </p:cNvCxnSpPr>
          <p:nvPr/>
        </p:nvCxnSpPr>
        <p:spPr>
          <a:xfrm flipH="1" flipV="1">
            <a:off x="4898596" y="918416"/>
            <a:ext cx="550398" cy="258167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직선 화살표 연결선 35">
            <a:extLst>
              <a:ext uri="{FF2B5EF4-FFF2-40B4-BE49-F238E27FC236}">
                <a16:creationId xmlns:a16="http://schemas.microsoft.com/office/drawing/2014/main" id="{708A3BD7-1BC8-D028-CC58-30FCAF5F62C0}"/>
              </a:ext>
            </a:extLst>
          </p:cNvPr>
          <p:cNvCxnSpPr>
            <a:cxnSpLocks/>
            <a:stCxn id="29" idx="0"/>
            <a:endCxn id="23" idx="2"/>
          </p:cNvCxnSpPr>
          <p:nvPr/>
        </p:nvCxnSpPr>
        <p:spPr>
          <a:xfrm flipH="1" flipV="1">
            <a:off x="4898596" y="1897514"/>
            <a:ext cx="550397" cy="215330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직선 화살표 연결선 38">
            <a:extLst>
              <a:ext uri="{FF2B5EF4-FFF2-40B4-BE49-F238E27FC236}">
                <a16:creationId xmlns:a16="http://schemas.microsoft.com/office/drawing/2014/main" id="{784759F9-272C-BF36-F42B-75F44B50DF9E}"/>
              </a:ext>
            </a:extLst>
          </p:cNvPr>
          <p:cNvCxnSpPr>
            <a:cxnSpLocks/>
            <a:stCxn id="30" idx="0"/>
            <a:endCxn id="24" idx="2"/>
          </p:cNvCxnSpPr>
          <p:nvPr/>
        </p:nvCxnSpPr>
        <p:spPr>
          <a:xfrm flipH="1" flipV="1">
            <a:off x="4898596" y="2874654"/>
            <a:ext cx="550398" cy="173306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894CBE0B-F9DB-1732-B5AE-08A576D5B846}"/>
              </a:ext>
            </a:extLst>
          </p:cNvPr>
          <p:cNvCxnSpPr>
            <a:cxnSpLocks/>
          </p:cNvCxnSpPr>
          <p:nvPr/>
        </p:nvCxnSpPr>
        <p:spPr>
          <a:xfrm>
            <a:off x="8245999" y="3276740"/>
            <a:ext cx="853551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55715EA1-8483-7459-4940-381FAAA8CF02}"/>
              </a:ext>
            </a:extLst>
          </p:cNvPr>
          <p:cNvSpPr txBox="1"/>
          <p:nvPr/>
        </p:nvSpPr>
        <p:spPr>
          <a:xfrm>
            <a:off x="7734319" y="3141619"/>
            <a:ext cx="511679" cy="2616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kumimoji="1" lang="en-US" altLang="ko-KR" sz="1100" b="1" i="1"/>
              <a:t>Time</a:t>
            </a:r>
            <a:endParaRPr kumimoji="1" lang="ko-KR" altLang="en-US" sz="900" b="1" i="1"/>
          </a:p>
        </p:txBody>
      </p:sp>
    </p:spTree>
    <p:extLst>
      <p:ext uri="{BB962C8B-B14F-4D97-AF65-F5344CB8AC3E}">
        <p14:creationId xmlns:p14="http://schemas.microsoft.com/office/powerpoint/2010/main" val="29631834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013F34-4B41-94D1-9835-E45F2A1421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모서리가 둥근 직사각형 38">
            <a:extLst>
              <a:ext uri="{FF2B5EF4-FFF2-40B4-BE49-F238E27FC236}">
                <a16:creationId xmlns:a16="http://schemas.microsoft.com/office/drawing/2014/main" id="{BC22E90A-67B0-6CBE-8ADE-3334AD673259}"/>
              </a:ext>
            </a:extLst>
          </p:cNvPr>
          <p:cNvSpPr/>
          <p:nvPr/>
        </p:nvSpPr>
        <p:spPr>
          <a:xfrm>
            <a:off x="2179109" y="1347614"/>
            <a:ext cx="2086240" cy="1368152"/>
          </a:xfrm>
          <a:prstGeom prst="roundRect">
            <a:avLst>
              <a:gd name="adj" fmla="val 6199"/>
            </a:avLst>
          </a:prstGeom>
          <a:solidFill>
            <a:schemeClr val="accent3">
              <a:lumMod val="20000"/>
              <a:lumOff val="80000"/>
            </a:schemeClr>
          </a:solidFill>
          <a:ln w="12700"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kumimoji="1" lang="en-US" altLang="ko-KR" sz="1000" b="1">
                <a:solidFill>
                  <a:schemeClr val="tx1"/>
                </a:solidFill>
              </a:rPr>
              <a:t>CUDA App B </a:t>
            </a:r>
          </a:p>
          <a:p>
            <a:pPr algn="ctr"/>
            <a:r>
              <a:rPr kumimoji="1" lang="en-US" altLang="ko-KR" sz="1000" b="1">
                <a:solidFill>
                  <a:schemeClr val="tx1"/>
                </a:solidFill>
              </a:rPr>
              <a:t>Context</a:t>
            </a:r>
            <a:endParaRPr kumimoji="1" lang="ko-KR" altLang="en-US" sz="1000" b="1">
              <a:solidFill>
                <a:schemeClr val="tx1"/>
              </a:solidFill>
            </a:endParaRPr>
          </a:p>
        </p:txBody>
      </p:sp>
      <p:sp>
        <p:nvSpPr>
          <p:cNvPr id="43" name="모서리가 둥근 직사각형 42">
            <a:extLst>
              <a:ext uri="{FF2B5EF4-FFF2-40B4-BE49-F238E27FC236}">
                <a16:creationId xmlns:a16="http://schemas.microsoft.com/office/drawing/2014/main" id="{291EA81C-1114-F6BF-99B9-F87F4004723D}"/>
              </a:ext>
            </a:extLst>
          </p:cNvPr>
          <p:cNvSpPr/>
          <p:nvPr/>
        </p:nvSpPr>
        <p:spPr>
          <a:xfrm>
            <a:off x="7351709" y="1347614"/>
            <a:ext cx="853552" cy="1368152"/>
          </a:xfrm>
          <a:prstGeom prst="roundRect">
            <a:avLst>
              <a:gd name="adj" fmla="val 6199"/>
            </a:avLst>
          </a:prstGeom>
          <a:solidFill>
            <a:schemeClr val="accent3">
              <a:lumMod val="20000"/>
              <a:lumOff val="80000"/>
            </a:schemeClr>
          </a:solidFill>
          <a:ln w="12700"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kumimoji="1" lang="en-US" altLang="ko-KR" sz="1000" b="1">
                <a:solidFill>
                  <a:schemeClr val="tx1"/>
                </a:solidFill>
              </a:rPr>
              <a:t>CUDA App B Context</a:t>
            </a:r>
            <a:endParaRPr kumimoji="1" lang="ko-KR" altLang="en-US" sz="1000" b="1">
              <a:solidFill>
                <a:schemeClr val="tx1"/>
              </a:solidFill>
            </a:endParaRPr>
          </a:p>
        </p:txBody>
      </p:sp>
      <p:sp>
        <p:nvSpPr>
          <p:cNvPr id="35" name="모서리가 둥근 직사각형 34">
            <a:extLst>
              <a:ext uri="{FF2B5EF4-FFF2-40B4-BE49-F238E27FC236}">
                <a16:creationId xmlns:a16="http://schemas.microsoft.com/office/drawing/2014/main" id="{D51A131D-D787-64AE-83FD-5D8FF14F37A3}"/>
              </a:ext>
            </a:extLst>
          </p:cNvPr>
          <p:cNvSpPr/>
          <p:nvPr/>
        </p:nvSpPr>
        <p:spPr>
          <a:xfrm>
            <a:off x="44450" y="1347614"/>
            <a:ext cx="2086240" cy="1368152"/>
          </a:xfrm>
          <a:prstGeom prst="roundRect">
            <a:avLst>
              <a:gd name="adj" fmla="val 6199"/>
            </a:avLst>
          </a:prstGeom>
          <a:solidFill>
            <a:schemeClr val="accent1">
              <a:lumMod val="20000"/>
              <a:lumOff val="80000"/>
            </a:schemeClr>
          </a:solidFill>
          <a:ln w="12700"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kumimoji="1" lang="en-US" altLang="ko-KR" sz="1000" b="1">
                <a:solidFill>
                  <a:schemeClr val="tx1"/>
                </a:solidFill>
              </a:rPr>
              <a:t>CUDA App A </a:t>
            </a:r>
          </a:p>
          <a:p>
            <a:pPr algn="ctr"/>
            <a:r>
              <a:rPr kumimoji="1" lang="en-US" altLang="ko-KR" sz="1000" b="1">
                <a:solidFill>
                  <a:schemeClr val="tx1"/>
                </a:solidFill>
              </a:rPr>
              <a:t>Context</a:t>
            </a:r>
            <a:endParaRPr kumimoji="1" lang="ko-KR" altLang="en-US" sz="1000" b="1">
              <a:solidFill>
                <a:schemeClr val="tx1"/>
              </a:solidFill>
            </a:endParaRPr>
          </a:p>
        </p:txBody>
      </p:sp>
      <p:sp>
        <p:nvSpPr>
          <p:cNvPr id="42" name="모서리가 둥근 직사각형 41">
            <a:extLst>
              <a:ext uri="{FF2B5EF4-FFF2-40B4-BE49-F238E27FC236}">
                <a16:creationId xmlns:a16="http://schemas.microsoft.com/office/drawing/2014/main" id="{82DF740E-FB88-53CE-6C58-B33C230BDEB0}"/>
              </a:ext>
            </a:extLst>
          </p:cNvPr>
          <p:cNvSpPr/>
          <p:nvPr/>
        </p:nvSpPr>
        <p:spPr>
          <a:xfrm>
            <a:off x="6448467" y="1347614"/>
            <a:ext cx="853552" cy="1368152"/>
          </a:xfrm>
          <a:prstGeom prst="roundRect">
            <a:avLst>
              <a:gd name="adj" fmla="val 6199"/>
            </a:avLst>
          </a:prstGeom>
          <a:solidFill>
            <a:schemeClr val="accent1">
              <a:lumMod val="20000"/>
              <a:lumOff val="80000"/>
            </a:schemeClr>
          </a:solidFill>
          <a:ln w="12700"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kumimoji="1" lang="en-US" altLang="ko-KR" sz="1000" b="1">
                <a:solidFill>
                  <a:schemeClr val="tx1"/>
                </a:solidFill>
              </a:rPr>
              <a:t>CUDA App A Context</a:t>
            </a:r>
            <a:endParaRPr kumimoji="1" lang="ko-KR" altLang="en-US" sz="1000" b="1">
              <a:solidFill>
                <a:schemeClr val="tx1"/>
              </a:solidFill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31E5D0B8-7D9E-BAD0-06B4-8F2D52D5C39D}"/>
              </a:ext>
            </a:extLst>
          </p:cNvPr>
          <p:cNvSpPr txBox="1">
            <a:spLocks/>
          </p:cNvSpPr>
          <p:nvPr/>
        </p:nvSpPr>
        <p:spPr>
          <a:xfrm>
            <a:off x="457200" y="-141895"/>
            <a:ext cx="8229600" cy="857250"/>
          </a:xfrm>
          <a:prstGeom prst="rect">
            <a:avLst/>
          </a:prstGeom>
        </p:spPr>
        <p:txBody>
          <a:bodyPr/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/>
              <a:t>Time-slicing</a:t>
            </a:r>
            <a:endParaRPr lang="ko-KR" altLang="en-US" dirty="0"/>
          </a:p>
        </p:txBody>
      </p: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7658D869-35B4-1580-17BE-83EB6ADF06EB}"/>
              </a:ext>
            </a:extLst>
          </p:cNvPr>
          <p:cNvGrpSpPr/>
          <p:nvPr/>
        </p:nvGrpSpPr>
        <p:grpSpPr>
          <a:xfrm>
            <a:off x="107486" y="1419622"/>
            <a:ext cx="1954202" cy="720080"/>
            <a:chOff x="236727" y="987574"/>
            <a:chExt cx="1957044" cy="720080"/>
          </a:xfrm>
        </p:grpSpPr>
        <p:sp>
          <p:nvSpPr>
            <p:cNvPr id="18" name="모서리가 둥근 직사각형 17">
              <a:extLst>
                <a:ext uri="{FF2B5EF4-FFF2-40B4-BE49-F238E27FC236}">
                  <a16:creationId xmlns:a16="http://schemas.microsoft.com/office/drawing/2014/main" id="{AB985D04-B7A8-E915-5EFA-85F7869EF1B3}"/>
                </a:ext>
              </a:extLst>
            </p:cNvPr>
            <p:cNvSpPr/>
            <p:nvPr/>
          </p:nvSpPr>
          <p:spPr>
            <a:xfrm>
              <a:off x="236727" y="987574"/>
              <a:ext cx="1241295" cy="288032"/>
            </a:xfrm>
            <a:prstGeom prst="roundRect">
              <a:avLst>
                <a:gd name="adj" fmla="val 15432"/>
              </a:avLst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900">
                  <a:solidFill>
                    <a:schemeClr val="tx1"/>
                  </a:solidFill>
                </a:rPr>
                <a:t>Kernel A1</a:t>
              </a:r>
              <a:endParaRPr kumimoji="1" lang="ko-KR" altLang="en-US" sz="900">
                <a:solidFill>
                  <a:schemeClr val="tx1"/>
                </a:solidFill>
              </a:endParaRPr>
            </a:p>
          </p:txBody>
        </p:sp>
        <p:sp>
          <p:nvSpPr>
            <p:cNvPr id="19" name="모서리가 둥근 직사각형 18">
              <a:extLst>
                <a:ext uri="{FF2B5EF4-FFF2-40B4-BE49-F238E27FC236}">
                  <a16:creationId xmlns:a16="http://schemas.microsoft.com/office/drawing/2014/main" id="{E4129BA0-1244-941B-737E-A66058EC06C9}"/>
                </a:ext>
              </a:extLst>
            </p:cNvPr>
            <p:cNvSpPr/>
            <p:nvPr/>
          </p:nvSpPr>
          <p:spPr>
            <a:xfrm>
              <a:off x="1478244" y="987574"/>
              <a:ext cx="715527" cy="288032"/>
            </a:xfrm>
            <a:prstGeom prst="roundRect">
              <a:avLst>
                <a:gd name="adj" fmla="val 15432"/>
              </a:avLst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900">
                  <a:solidFill>
                    <a:schemeClr val="tx1"/>
                  </a:solidFill>
                </a:rPr>
                <a:t>Kernel A2</a:t>
              </a:r>
              <a:endParaRPr kumimoji="1" lang="ko-KR" altLang="en-US" sz="900">
                <a:solidFill>
                  <a:schemeClr val="tx1"/>
                </a:solidFill>
              </a:endParaRPr>
            </a:p>
          </p:txBody>
        </p:sp>
        <p:sp>
          <p:nvSpPr>
            <p:cNvPr id="20" name="모서리가 둥근 직사각형 19">
              <a:extLst>
                <a:ext uri="{FF2B5EF4-FFF2-40B4-BE49-F238E27FC236}">
                  <a16:creationId xmlns:a16="http://schemas.microsoft.com/office/drawing/2014/main" id="{45694269-CBF5-55EC-4737-75E66073E144}"/>
                </a:ext>
              </a:extLst>
            </p:cNvPr>
            <p:cNvSpPr/>
            <p:nvPr/>
          </p:nvSpPr>
          <p:spPr>
            <a:xfrm>
              <a:off x="239069" y="1419622"/>
              <a:ext cx="1239175" cy="288032"/>
            </a:xfrm>
            <a:prstGeom prst="roundRect">
              <a:avLst>
                <a:gd name="adj" fmla="val 15432"/>
              </a:avLst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900">
                  <a:solidFill>
                    <a:schemeClr val="tx1"/>
                  </a:solidFill>
                </a:rPr>
                <a:t>Kernel A3</a:t>
              </a:r>
              <a:endParaRPr kumimoji="1" lang="ko-KR" altLang="en-US" sz="900">
                <a:solidFill>
                  <a:schemeClr val="tx1"/>
                </a:solidFill>
              </a:endParaRPr>
            </a:p>
          </p:txBody>
        </p:sp>
      </p:grp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769F3257-A8DC-6921-9CF5-8C40220DEB52}"/>
              </a:ext>
            </a:extLst>
          </p:cNvPr>
          <p:cNvGrpSpPr/>
          <p:nvPr/>
        </p:nvGrpSpPr>
        <p:grpSpPr>
          <a:xfrm>
            <a:off x="2243072" y="1419622"/>
            <a:ext cx="1954544" cy="720080"/>
            <a:chOff x="2331399" y="987574"/>
            <a:chExt cx="1957387" cy="720080"/>
          </a:xfrm>
        </p:grpSpPr>
        <p:sp>
          <p:nvSpPr>
            <p:cNvPr id="21" name="모서리가 둥근 직사각형 20">
              <a:extLst>
                <a:ext uri="{FF2B5EF4-FFF2-40B4-BE49-F238E27FC236}">
                  <a16:creationId xmlns:a16="http://schemas.microsoft.com/office/drawing/2014/main" id="{B4FF6F05-3F00-1153-B4AB-18ACCD7DD654}"/>
                </a:ext>
              </a:extLst>
            </p:cNvPr>
            <p:cNvSpPr/>
            <p:nvPr/>
          </p:nvSpPr>
          <p:spPr>
            <a:xfrm>
              <a:off x="2331964" y="987574"/>
              <a:ext cx="1241295" cy="288032"/>
            </a:xfrm>
            <a:prstGeom prst="roundRect">
              <a:avLst>
                <a:gd name="adj" fmla="val 15432"/>
              </a:avLst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900">
                  <a:solidFill>
                    <a:schemeClr val="tx1"/>
                  </a:solidFill>
                </a:rPr>
                <a:t>Kernel B1</a:t>
              </a:r>
              <a:endParaRPr kumimoji="1" lang="ko-KR" altLang="en-US" sz="900">
                <a:solidFill>
                  <a:schemeClr val="tx1"/>
                </a:solidFill>
              </a:endParaRPr>
            </a:p>
          </p:txBody>
        </p:sp>
        <p:sp>
          <p:nvSpPr>
            <p:cNvPr id="22" name="모서리가 둥근 직사각형 21">
              <a:extLst>
                <a:ext uri="{FF2B5EF4-FFF2-40B4-BE49-F238E27FC236}">
                  <a16:creationId xmlns:a16="http://schemas.microsoft.com/office/drawing/2014/main" id="{109338B7-70FF-803E-523A-908071E60B7E}"/>
                </a:ext>
              </a:extLst>
            </p:cNvPr>
            <p:cNvSpPr/>
            <p:nvPr/>
          </p:nvSpPr>
          <p:spPr>
            <a:xfrm>
              <a:off x="2331399" y="1419622"/>
              <a:ext cx="715527" cy="288032"/>
            </a:xfrm>
            <a:prstGeom prst="roundRect">
              <a:avLst>
                <a:gd name="adj" fmla="val 15432"/>
              </a:avLst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900">
                  <a:solidFill>
                    <a:schemeClr val="tx1"/>
                  </a:solidFill>
                </a:rPr>
                <a:t>Kernel B3</a:t>
              </a:r>
              <a:endParaRPr kumimoji="1" lang="ko-KR" altLang="en-US" sz="900">
                <a:solidFill>
                  <a:schemeClr val="tx1"/>
                </a:solidFill>
              </a:endParaRPr>
            </a:p>
          </p:txBody>
        </p:sp>
        <p:sp>
          <p:nvSpPr>
            <p:cNvPr id="23" name="모서리가 둥근 직사각형 22">
              <a:extLst>
                <a:ext uri="{FF2B5EF4-FFF2-40B4-BE49-F238E27FC236}">
                  <a16:creationId xmlns:a16="http://schemas.microsoft.com/office/drawing/2014/main" id="{66CC7EDE-C977-640F-0EB0-C6DBE3AA7709}"/>
                </a:ext>
              </a:extLst>
            </p:cNvPr>
            <p:cNvSpPr/>
            <p:nvPr/>
          </p:nvSpPr>
          <p:spPr>
            <a:xfrm>
              <a:off x="3573259" y="987574"/>
              <a:ext cx="715527" cy="288032"/>
            </a:xfrm>
            <a:prstGeom prst="roundRect">
              <a:avLst>
                <a:gd name="adj" fmla="val 15432"/>
              </a:avLst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900">
                  <a:solidFill>
                    <a:schemeClr val="tx1"/>
                  </a:solidFill>
                </a:rPr>
                <a:t>Kernel B2</a:t>
              </a:r>
              <a:endParaRPr kumimoji="1" lang="ko-KR" altLang="en-US" sz="900">
                <a:solidFill>
                  <a:schemeClr val="tx1"/>
                </a:solidFill>
              </a:endParaRPr>
            </a:p>
          </p:txBody>
        </p:sp>
      </p:grp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666F6445-B1CB-8BEC-E360-40709B85FA62}"/>
              </a:ext>
            </a:extLst>
          </p:cNvPr>
          <p:cNvGrpSpPr/>
          <p:nvPr/>
        </p:nvGrpSpPr>
        <p:grpSpPr>
          <a:xfrm>
            <a:off x="4383594" y="1419622"/>
            <a:ext cx="1951863" cy="720080"/>
            <a:chOff x="4427984" y="987574"/>
            <a:chExt cx="1954702" cy="720080"/>
          </a:xfrm>
        </p:grpSpPr>
        <p:sp>
          <p:nvSpPr>
            <p:cNvPr id="24" name="모서리가 둥근 직사각형 23">
              <a:extLst>
                <a:ext uri="{FF2B5EF4-FFF2-40B4-BE49-F238E27FC236}">
                  <a16:creationId xmlns:a16="http://schemas.microsoft.com/office/drawing/2014/main" id="{A6537905-A4D7-C88D-DDC1-3786EBFA820E}"/>
                </a:ext>
              </a:extLst>
            </p:cNvPr>
            <p:cNvSpPr/>
            <p:nvPr/>
          </p:nvSpPr>
          <p:spPr>
            <a:xfrm>
              <a:off x="4427984" y="987574"/>
              <a:ext cx="715527" cy="288032"/>
            </a:xfrm>
            <a:prstGeom prst="roundRect">
              <a:avLst>
                <a:gd name="adj" fmla="val 15432"/>
              </a:avLst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900">
                  <a:solidFill>
                    <a:schemeClr val="tx1"/>
                  </a:solidFill>
                </a:rPr>
                <a:t>Kernel C1</a:t>
              </a:r>
              <a:endParaRPr kumimoji="1" lang="ko-KR" altLang="en-US" sz="900">
                <a:solidFill>
                  <a:schemeClr val="tx1"/>
                </a:solidFill>
              </a:endParaRPr>
            </a:p>
          </p:txBody>
        </p:sp>
        <p:sp>
          <p:nvSpPr>
            <p:cNvPr id="25" name="모서리가 둥근 직사각형 24">
              <a:extLst>
                <a:ext uri="{FF2B5EF4-FFF2-40B4-BE49-F238E27FC236}">
                  <a16:creationId xmlns:a16="http://schemas.microsoft.com/office/drawing/2014/main" id="{90CE0E8C-6F06-CCF7-2C96-AAA7FE484E2F}"/>
                </a:ext>
              </a:extLst>
            </p:cNvPr>
            <p:cNvSpPr/>
            <p:nvPr/>
          </p:nvSpPr>
          <p:spPr>
            <a:xfrm>
              <a:off x="5143511" y="987574"/>
              <a:ext cx="1239175" cy="288032"/>
            </a:xfrm>
            <a:prstGeom prst="roundRect">
              <a:avLst>
                <a:gd name="adj" fmla="val 15432"/>
              </a:avLst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900">
                  <a:solidFill>
                    <a:schemeClr val="tx1"/>
                  </a:solidFill>
                </a:rPr>
                <a:t>Kernel C2</a:t>
              </a:r>
              <a:endParaRPr kumimoji="1" lang="ko-KR" altLang="en-US" sz="900">
                <a:solidFill>
                  <a:schemeClr val="tx1"/>
                </a:solidFill>
              </a:endParaRPr>
            </a:p>
          </p:txBody>
        </p:sp>
        <p:sp>
          <p:nvSpPr>
            <p:cNvPr id="26" name="모서리가 둥근 직사각형 25">
              <a:extLst>
                <a:ext uri="{FF2B5EF4-FFF2-40B4-BE49-F238E27FC236}">
                  <a16:creationId xmlns:a16="http://schemas.microsoft.com/office/drawing/2014/main" id="{2704EF8C-41F6-AB38-FC5C-AA90F2848943}"/>
                </a:ext>
              </a:extLst>
            </p:cNvPr>
            <p:cNvSpPr/>
            <p:nvPr/>
          </p:nvSpPr>
          <p:spPr>
            <a:xfrm>
              <a:off x="4427984" y="1419622"/>
              <a:ext cx="715527" cy="288032"/>
            </a:xfrm>
            <a:prstGeom prst="roundRect">
              <a:avLst>
                <a:gd name="adj" fmla="val 15432"/>
              </a:avLst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900">
                  <a:solidFill>
                    <a:schemeClr val="tx1"/>
                  </a:solidFill>
                </a:rPr>
                <a:t>Kernel C3</a:t>
              </a:r>
              <a:endParaRPr kumimoji="1" lang="ko-KR" altLang="en-US" sz="900">
                <a:solidFill>
                  <a:schemeClr val="tx1"/>
                </a:solidFill>
              </a:endParaRPr>
            </a:p>
          </p:txBody>
        </p:sp>
      </p:grpSp>
      <p:sp>
        <p:nvSpPr>
          <p:cNvPr id="28" name="모서리가 둥근 직사각형 27">
            <a:extLst>
              <a:ext uri="{FF2B5EF4-FFF2-40B4-BE49-F238E27FC236}">
                <a16:creationId xmlns:a16="http://schemas.microsoft.com/office/drawing/2014/main" id="{352BD52A-7C2C-29B6-46FF-6EFF93A16D3F}"/>
              </a:ext>
            </a:extLst>
          </p:cNvPr>
          <p:cNvSpPr/>
          <p:nvPr/>
        </p:nvSpPr>
        <p:spPr>
          <a:xfrm>
            <a:off x="6517303" y="1419622"/>
            <a:ext cx="714487" cy="288032"/>
          </a:xfrm>
          <a:prstGeom prst="roundRect">
            <a:avLst>
              <a:gd name="adj" fmla="val 15432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Kernel A4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31" name="모서리가 둥근 직사각형 30">
            <a:extLst>
              <a:ext uri="{FF2B5EF4-FFF2-40B4-BE49-F238E27FC236}">
                <a16:creationId xmlns:a16="http://schemas.microsoft.com/office/drawing/2014/main" id="{E6D0DDD0-2F4B-2BCD-EE35-42AF7BBF42C8}"/>
              </a:ext>
            </a:extLst>
          </p:cNvPr>
          <p:cNvSpPr/>
          <p:nvPr/>
        </p:nvSpPr>
        <p:spPr>
          <a:xfrm>
            <a:off x="7417585" y="1419622"/>
            <a:ext cx="714487" cy="288032"/>
          </a:xfrm>
          <a:prstGeom prst="roundRect">
            <a:avLst>
              <a:gd name="adj" fmla="val 15432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Kernel B4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32" name="모서리가 둥근 직사각형 31">
            <a:extLst>
              <a:ext uri="{FF2B5EF4-FFF2-40B4-BE49-F238E27FC236}">
                <a16:creationId xmlns:a16="http://schemas.microsoft.com/office/drawing/2014/main" id="{7515D9F0-A731-963B-D63A-3094F43D4268}"/>
              </a:ext>
            </a:extLst>
          </p:cNvPr>
          <p:cNvSpPr/>
          <p:nvPr/>
        </p:nvSpPr>
        <p:spPr>
          <a:xfrm>
            <a:off x="8316364" y="1419622"/>
            <a:ext cx="714487" cy="288032"/>
          </a:xfrm>
          <a:prstGeom prst="roundRect">
            <a:avLst>
              <a:gd name="adj" fmla="val 15432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Kernel C4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34" name="모서리가 둥근 직사각형 33">
            <a:extLst>
              <a:ext uri="{FF2B5EF4-FFF2-40B4-BE49-F238E27FC236}">
                <a16:creationId xmlns:a16="http://schemas.microsoft.com/office/drawing/2014/main" id="{13FF9A82-2F5C-8143-6FC0-F7C56B27AC83}"/>
              </a:ext>
            </a:extLst>
          </p:cNvPr>
          <p:cNvSpPr/>
          <p:nvPr/>
        </p:nvSpPr>
        <p:spPr>
          <a:xfrm>
            <a:off x="8316364" y="1851670"/>
            <a:ext cx="714487" cy="288032"/>
          </a:xfrm>
          <a:prstGeom prst="roundRect">
            <a:avLst>
              <a:gd name="adj" fmla="val 15432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Kernel C5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41" name="모서리가 둥근 직사각형 40">
            <a:extLst>
              <a:ext uri="{FF2B5EF4-FFF2-40B4-BE49-F238E27FC236}">
                <a16:creationId xmlns:a16="http://schemas.microsoft.com/office/drawing/2014/main" id="{315927D8-8660-9472-8FB7-EF8789146997}"/>
              </a:ext>
            </a:extLst>
          </p:cNvPr>
          <p:cNvSpPr/>
          <p:nvPr/>
        </p:nvSpPr>
        <p:spPr>
          <a:xfrm>
            <a:off x="4316405" y="1347614"/>
            <a:ext cx="2086240" cy="1368152"/>
          </a:xfrm>
          <a:prstGeom prst="roundRect">
            <a:avLst>
              <a:gd name="adj" fmla="val 6199"/>
            </a:avLst>
          </a:prstGeom>
          <a:noFill/>
          <a:ln w="12700"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kumimoji="1" lang="en-US" altLang="ko-KR" sz="1000" b="1">
                <a:solidFill>
                  <a:schemeClr val="tx1"/>
                </a:solidFill>
              </a:rPr>
              <a:t>CUDA App C </a:t>
            </a:r>
          </a:p>
          <a:p>
            <a:pPr algn="ctr"/>
            <a:r>
              <a:rPr kumimoji="1" lang="en-US" altLang="ko-KR" sz="1000" b="1">
                <a:solidFill>
                  <a:schemeClr val="tx1"/>
                </a:solidFill>
              </a:rPr>
              <a:t>Context</a:t>
            </a:r>
            <a:endParaRPr kumimoji="1" lang="ko-KR" altLang="en-US" sz="1000" b="1">
              <a:solidFill>
                <a:schemeClr val="tx1"/>
              </a:solidFill>
            </a:endParaRPr>
          </a:p>
        </p:txBody>
      </p:sp>
      <p:sp>
        <p:nvSpPr>
          <p:cNvPr id="44" name="모서리가 둥근 직사각형 43">
            <a:extLst>
              <a:ext uri="{FF2B5EF4-FFF2-40B4-BE49-F238E27FC236}">
                <a16:creationId xmlns:a16="http://schemas.microsoft.com/office/drawing/2014/main" id="{728ED813-AEDA-957F-20FC-08EB053B601F}"/>
              </a:ext>
            </a:extLst>
          </p:cNvPr>
          <p:cNvSpPr/>
          <p:nvPr/>
        </p:nvSpPr>
        <p:spPr>
          <a:xfrm>
            <a:off x="8254952" y="1347614"/>
            <a:ext cx="853552" cy="1368152"/>
          </a:xfrm>
          <a:prstGeom prst="roundRect">
            <a:avLst>
              <a:gd name="adj" fmla="val 6199"/>
            </a:avLst>
          </a:prstGeom>
          <a:noFill/>
          <a:ln w="12700"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kumimoji="1" lang="en-US" altLang="ko-KR" sz="1000" b="1">
                <a:solidFill>
                  <a:schemeClr val="tx1"/>
                </a:solidFill>
              </a:rPr>
              <a:t>CUDA App C Context</a:t>
            </a:r>
            <a:endParaRPr kumimoji="1" lang="ko-KR" altLang="en-US" sz="1000" b="1">
              <a:solidFill>
                <a:schemeClr val="tx1"/>
              </a:solidFill>
            </a:endParaRPr>
          </a:p>
        </p:txBody>
      </p:sp>
      <p:sp>
        <p:nvSpPr>
          <p:cNvPr id="55" name="호 54">
            <a:extLst>
              <a:ext uri="{FF2B5EF4-FFF2-40B4-BE49-F238E27FC236}">
                <a16:creationId xmlns:a16="http://schemas.microsoft.com/office/drawing/2014/main" id="{A7008DEF-A976-8B04-009C-DCA06781C7CC}"/>
              </a:ext>
            </a:extLst>
          </p:cNvPr>
          <p:cNvSpPr/>
          <p:nvPr/>
        </p:nvSpPr>
        <p:spPr>
          <a:xfrm>
            <a:off x="1942541" y="1203598"/>
            <a:ext cx="422080" cy="288032"/>
          </a:xfrm>
          <a:prstGeom prst="arc">
            <a:avLst>
              <a:gd name="adj1" fmla="val 10916784"/>
              <a:gd name="adj2" fmla="val 0"/>
            </a:avLst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1162720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39E1A7-7103-35A6-7089-1B3142FF0F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모서리가 둥근 직사각형 40">
            <a:extLst>
              <a:ext uri="{FF2B5EF4-FFF2-40B4-BE49-F238E27FC236}">
                <a16:creationId xmlns:a16="http://schemas.microsoft.com/office/drawing/2014/main" id="{CEA9A3E0-811C-AD92-A912-AD5C08F59718}"/>
              </a:ext>
            </a:extLst>
          </p:cNvPr>
          <p:cNvSpPr/>
          <p:nvPr/>
        </p:nvSpPr>
        <p:spPr>
          <a:xfrm>
            <a:off x="4316405" y="1347614"/>
            <a:ext cx="2086240" cy="1239949"/>
          </a:xfrm>
          <a:prstGeom prst="roundRect">
            <a:avLst>
              <a:gd name="adj" fmla="val 6199"/>
            </a:avLst>
          </a:prstGeom>
          <a:noFill/>
          <a:ln w="12700"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kumimoji="1" lang="en-US" altLang="ko-KR" sz="1000" b="1">
                <a:solidFill>
                  <a:schemeClr val="tx1"/>
                </a:solidFill>
              </a:rPr>
              <a:t>CUDA App C </a:t>
            </a:r>
          </a:p>
        </p:txBody>
      </p:sp>
      <p:sp>
        <p:nvSpPr>
          <p:cNvPr id="44" name="모서리가 둥근 직사각형 43">
            <a:extLst>
              <a:ext uri="{FF2B5EF4-FFF2-40B4-BE49-F238E27FC236}">
                <a16:creationId xmlns:a16="http://schemas.microsoft.com/office/drawing/2014/main" id="{412AD5FC-1974-8C82-95DF-3378AEDBA8F3}"/>
              </a:ext>
            </a:extLst>
          </p:cNvPr>
          <p:cNvSpPr/>
          <p:nvPr/>
        </p:nvSpPr>
        <p:spPr>
          <a:xfrm>
            <a:off x="8254952" y="1347614"/>
            <a:ext cx="853552" cy="1239949"/>
          </a:xfrm>
          <a:prstGeom prst="roundRect">
            <a:avLst>
              <a:gd name="adj" fmla="val 6199"/>
            </a:avLst>
          </a:prstGeom>
          <a:noFill/>
          <a:ln w="12700"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kumimoji="1" lang="en-US" altLang="ko-KR" sz="1000" b="1">
                <a:solidFill>
                  <a:schemeClr val="tx1"/>
                </a:solidFill>
              </a:rPr>
              <a:t>CUDA App C</a:t>
            </a:r>
            <a:endParaRPr kumimoji="1" lang="ko-KR" altLang="en-US" sz="1000" b="1">
              <a:solidFill>
                <a:schemeClr val="tx1"/>
              </a:solidFill>
            </a:endParaRPr>
          </a:p>
        </p:txBody>
      </p:sp>
      <p:sp>
        <p:nvSpPr>
          <p:cNvPr id="39" name="모서리가 둥근 직사각형 38">
            <a:extLst>
              <a:ext uri="{FF2B5EF4-FFF2-40B4-BE49-F238E27FC236}">
                <a16:creationId xmlns:a16="http://schemas.microsoft.com/office/drawing/2014/main" id="{9A6A6E6E-EAA8-3B26-3C21-60C9410D4ACC}"/>
              </a:ext>
            </a:extLst>
          </p:cNvPr>
          <p:cNvSpPr/>
          <p:nvPr/>
        </p:nvSpPr>
        <p:spPr>
          <a:xfrm>
            <a:off x="2179109" y="1347614"/>
            <a:ext cx="2086240" cy="1239949"/>
          </a:xfrm>
          <a:prstGeom prst="roundRect">
            <a:avLst>
              <a:gd name="adj" fmla="val 6199"/>
            </a:avLst>
          </a:prstGeom>
          <a:noFill/>
          <a:ln w="12700"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kumimoji="1" lang="en-US" altLang="ko-KR" sz="1000" b="1">
                <a:solidFill>
                  <a:schemeClr val="tx1"/>
                </a:solidFill>
              </a:rPr>
              <a:t>CUDA App B </a:t>
            </a:r>
          </a:p>
        </p:txBody>
      </p:sp>
      <p:sp>
        <p:nvSpPr>
          <p:cNvPr id="43" name="모서리가 둥근 직사각형 42">
            <a:extLst>
              <a:ext uri="{FF2B5EF4-FFF2-40B4-BE49-F238E27FC236}">
                <a16:creationId xmlns:a16="http://schemas.microsoft.com/office/drawing/2014/main" id="{A8F5EDCA-B791-41EC-F76A-B4DD8AEAEB67}"/>
              </a:ext>
            </a:extLst>
          </p:cNvPr>
          <p:cNvSpPr/>
          <p:nvPr/>
        </p:nvSpPr>
        <p:spPr>
          <a:xfrm>
            <a:off x="7351709" y="1347614"/>
            <a:ext cx="853552" cy="1239949"/>
          </a:xfrm>
          <a:prstGeom prst="roundRect">
            <a:avLst>
              <a:gd name="adj" fmla="val 6199"/>
            </a:avLst>
          </a:prstGeom>
          <a:noFill/>
          <a:ln w="12700"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kumimoji="1" lang="en-US" altLang="ko-KR" sz="1000" b="1">
                <a:solidFill>
                  <a:schemeClr val="tx1"/>
                </a:solidFill>
              </a:rPr>
              <a:t>CUDA App B</a:t>
            </a:r>
            <a:endParaRPr kumimoji="1" lang="ko-KR" altLang="en-US" sz="1000" b="1">
              <a:solidFill>
                <a:schemeClr val="tx1"/>
              </a:solidFill>
            </a:endParaRPr>
          </a:p>
        </p:txBody>
      </p:sp>
      <p:sp>
        <p:nvSpPr>
          <p:cNvPr id="35" name="모서리가 둥근 직사각형 34">
            <a:extLst>
              <a:ext uri="{FF2B5EF4-FFF2-40B4-BE49-F238E27FC236}">
                <a16:creationId xmlns:a16="http://schemas.microsoft.com/office/drawing/2014/main" id="{B3A3EADB-B682-6955-D056-66CF8F522F9C}"/>
              </a:ext>
            </a:extLst>
          </p:cNvPr>
          <p:cNvSpPr/>
          <p:nvPr/>
        </p:nvSpPr>
        <p:spPr>
          <a:xfrm>
            <a:off x="44450" y="1347614"/>
            <a:ext cx="2086240" cy="1239949"/>
          </a:xfrm>
          <a:prstGeom prst="roundRect">
            <a:avLst>
              <a:gd name="adj" fmla="val 6199"/>
            </a:avLst>
          </a:prstGeom>
          <a:noFill/>
          <a:ln w="12700"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kumimoji="1" lang="en-US" altLang="ko-KR" sz="1000" b="1">
                <a:solidFill>
                  <a:schemeClr val="tx1"/>
                </a:solidFill>
              </a:rPr>
              <a:t>CUDA App A </a:t>
            </a:r>
          </a:p>
        </p:txBody>
      </p:sp>
      <p:sp>
        <p:nvSpPr>
          <p:cNvPr id="42" name="모서리가 둥근 직사각형 41">
            <a:extLst>
              <a:ext uri="{FF2B5EF4-FFF2-40B4-BE49-F238E27FC236}">
                <a16:creationId xmlns:a16="http://schemas.microsoft.com/office/drawing/2014/main" id="{FACB497E-BC00-AA82-150E-C1D197E71396}"/>
              </a:ext>
            </a:extLst>
          </p:cNvPr>
          <p:cNvSpPr/>
          <p:nvPr/>
        </p:nvSpPr>
        <p:spPr>
          <a:xfrm>
            <a:off x="6448467" y="1347614"/>
            <a:ext cx="853552" cy="1239949"/>
          </a:xfrm>
          <a:prstGeom prst="roundRect">
            <a:avLst>
              <a:gd name="adj" fmla="val 6199"/>
            </a:avLst>
          </a:prstGeom>
          <a:noFill/>
          <a:ln w="12700"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kumimoji="1" lang="en-US" altLang="ko-KR" sz="1000" b="1">
                <a:solidFill>
                  <a:schemeClr val="tx1"/>
                </a:solidFill>
              </a:rPr>
              <a:t>CUDA App A</a:t>
            </a:r>
            <a:endParaRPr kumimoji="1" lang="ko-KR" altLang="en-US" sz="1000" b="1">
              <a:solidFill>
                <a:schemeClr val="tx1"/>
              </a:solidFill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D4A633FB-7CE8-D8F8-1738-9E7E703C7DF6}"/>
              </a:ext>
            </a:extLst>
          </p:cNvPr>
          <p:cNvSpPr txBox="1">
            <a:spLocks/>
          </p:cNvSpPr>
          <p:nvPr/>
        </p:nvSpPr>
        <p:spPr>
          <a:xfrm>
            <a:off x="457200" y="-141895"/>
            <a:ext cx="8229600" cy="857250"/>
          </a:xfrm>
          <a:prstGeom prst="rect">
            <a:avLst/>
          </a:prstGeom>
        </p:spPr>
        <p:txBody>
          <a:bodyPr/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/>
              <a:t>Time-slicing</a:t>
            </a:r>
            <a:endParaRPr lang="ko-KR" altLang="en-US" dirty="0"/>
          </a:p>
        </p:txBody>
      </p: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C0D9B898-7F7E-074D-139F-B22ED31A06BF}"/>
              </a:ext>
            </a:extLst>
          </p:cNvPr>
          <p:cNvGrpSpPr/>
          <p:nvPr/>
        </p:nvGrpSpPr>
        <p:grpSpPr>
          <a:xfrm>
            <a:off x="107486" y="1419622"/>
            <a:ext cx="1954202" cy="720080"/>
            <a:chOff x="236727" y="987574"/>
            <a:chExt cx="1957044" cy="720080"/>
          </a:xfrm>
          <a:solidFill>
            <a:schemeClr val="accent1">
              <a:lumMod val="20000"/>
              <a:lumOff val="80000"/>
            </a:schemeClr>
          </a:solidFill>
        </p:grpSpPr>
        <p:sp>
          <p:nvSpPr>
            <p:cNvPr id="18" name="모서리가 둥근 직사각형 17">
              <a:extLst>
                <a:ext uri="{FF2B5EF4-FFF2-40B4-BE49-F238E27FC236}">
                  <a16:creationId xmlns:a16="http://schemas.microsoft.com/office/drawing/2014/main" id="{DA14687C-1620-1718-1B32-2D91CBB54A80}"/>
                </a:ext>
              </a:extLst>
            </p:cNvPr>
            <p:cNvSpPr/>
            <p:nvPr/>
          </p:nvSpPr>
          <p:spPr>
            <a:xfrm>
              <a:off x="236727" y="987574"/>
              <a:ext cx="1241295" cy="288032"/>
            </a:xfrm>
            <a:prstGeom prst="roundRect">
              <a:avLst>
                <a:gd name="adj" fmla="val 15432"/>
              </a:avLst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900">
                  <a:solidFill>
                    <a:schemeClr val="tx1"/>
                  </a:solidFill>
                </a:rPr>
                <a:t>Kernel A1</a:t>
              </a:r>
              <a:endParaRPr kumimoji="1" lang="ko-KR" altLang="en-US" sz="900">
                <a:solidFill>
                  <a:schemeClr val="tx1"/>
                </a:solidFill>
              </a:endParaRPr>
            </a:p>
          </p:txBody>
        </p:sp>
        <p:sp>
          <p:nvSpPr>
            <p:cNvPr id="19" name="모서리가 둥근 직사각형 18">
              <a:extLst>
                <a:ext uri="{FF2B5EF4-FFF2-40B4-BE49-F238E27FC236}">
                  <a16:creationId xmlns:a16="http://schemas.microsoft.com/office/drawing/2014/main" id="{1883563F-4408-3679-B2EA-28079320A5A8}"/>
                </a:ext>
              </a:extLst>
            </p:cNvPr>
            <p:cNvSpPr/>
            <p:nvPr/>
          </p:nvSpPr>
          <p:spPr>
            <a:xfrm>
              <a:off x="1478244" y="987574"/>
              <a:ext cx="715527" cy="288032"/>
            </a:xfrm>
            <a:prstGeom prst="roundRect">
              <a:avLst>
                <a:gd name="adj" fmla="val 15432"/>
              </a:avLst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900">
                  <a:solidFill>
                    <a:schemeClr val="tx1"/>
                  </a:solidFill>
                </a:rPr>
                <a:t>Kernel A2</a:t>
              </a:r>
              <a:endParaRPr kumimoji="1" lang="ko-KR" altLang="en-US" sz="900">
                <a:solidFill>
                  <a:schemeClr val="tx1"/>
                </a:solidFill>
              </a:endParaRPr>
            </a:p>
          </p:txBody>
        </p:sp>
        <p:sp>
          <p:nvSpPr>
            <p:cNvPr id="20" name="모서리가 둥근 직사각형 19">
              <a:extLst>
                <a:ext uri="{FF2B5EF4-FFF2-40B4-BE49-F238E27FC236}">
                  <a16:creationId xmlns:a16="http://schemas.microsoft.com/office/drawing/2014/main" id="{E151E7C1-24FD-78F3-9A19-117E7E1F5860}"/>
                </a:ext>
              </a:extLst>
            </p:cNvPr>
            <p:cNvSpPr/>
            <p:nvPr/>
          </p:nvSpPr>
          <p:spPr>
            <a:xfrm>
              <a:off x="239069" y="1419622"/>
              <a:ext cx="1239175" cy="288032"/>
            </a:xfrm>
            <a:prstGeom prst="roundRect">
              <a:avLst>
                <a:gd name="adj" fmla="val 15432"/>
              </a:avLst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900">
                  <a:solidFill>
                    <a:schemeClr val="tx1"/>
                  </a:solidFill>
                </a:rPr>
                <a:t>Kernel A3</a:t>
              </a:r>
              <a:endParaRPr kumimoji="1" lang="ko-KR" altLang="en-US" sz="900">
                <a:solidFill>
                  <a:schemeClr val="tx1"/>
                </a:solidFill>
              </a:endParaRPr>
            </a:p>
          </p:txBody>
        </p:sp>
      </p:grp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0CAF02E0-E957-ACF1-A6A4-82D150F15A2F}"/>
              </a:ext>
            </a:extLst>
          </p:cNvPr>
          <p:cNvGrpSpPr/>
          <p:nvPr/>
        </p:nvGrpSpPr>
        <p:grpSpPr>
          <a:xfrm>
            <a:off x="2243072" y="1419622"/>
            <a:ext cx="1954544" cy="720080"/>
            <a:chOff x="2331399" y="987574"/>
            <a:chExt cx="1957387" cy="720080"/>
          </a:xfrm>
          <a:solidFill>
            <a:schemeClr val="accent3">
              <a:lumMod val="20000"/>
              <a:lumOff val="80000"/>
            </a:schemeClr>
          </a:solidFill>
        </p:grpSpPr>
        <p:sp>
          <p:nvSpPr>
            <p:cNvPr id="21" name="모서리가 둥근 직사각형 20">
              <a:extLst>
                <a:ext uri="{FF2B5EF4-FFF2-40B4-BE49-F238E27FC236}">
                  <a16:creationId xmlns:a16="http://schemas.microsoft.com/office/drawing/2014/main" id="{964F455E-B89A-7369-83C8-6D3E602105CA}"/>
                </a:ext>
              </a:extLst>
            </p:cNvPr>
            <p:cNvSpPr/>
            <p:nvPr/>
          </p:nvSpPr>
          <p:spPr>
            <a:xfrm>
              <a:off x="2331964" y="987574"/>
              <a:ext cx="1241295" cy="288032"/>
            </a:xfrm>
            <a:prstGeom prst="roundRect">
              <a:avLst>
                <a:gd name="adj" fmla="val 15432"/>
              </a:avLst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900">
                  <a:solidFill>
                    <a:schemeClr val="tx1"/>
                  </a:solidFill>
                </a:rPr>
                <a:t>Kernel B1</a:t>
              </a:r>
              <a:endParaRPr kumimoji="1" lang="ko-KR" altLang="en-US" sz="900">
                <a:solidFill>
                  <a:schemeClr val="tx1"/>
                </a:solidFill>
              </a:endParaRPr>
            </a:p>
          </p:txBody>
        </p:sp>
        <p:sp>
          <p:nvSpPr>
            <p:cNvPr id="22" name="모서리가 둥근 직사각형 21">
              <a:extLst>
                <a:ext uri="{FF2B5EF4-FFF2-40B4-BE49-F238E27FC236}">
                  <a16:creationId xmlns:a16="http://schemas.microsoft.com/office/drawing/2014/main" id="{DCDF0796-6560-6EEB-CC02-75BD7C324B49}"/>
                </a:ext>
              </a:extLst>
            </p:cNvPr>
            <p:cNvSpPr/>
            <p:nvPr/>
          </p:nvSpPr>
          <p:spPr>
            <a:xfrm>
              <a:off x="2331399" y="1419622"/>
              <a:ext cx="715527" cy="288032"/>
            </a:xfrm>
            <a:prstGeom prst="roundRect">
              <a:avLst>
                <a:gd name="adj" fmla="val 15432"/>
              </a:avLst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900">
                  <a:solidFill>
                    <a:schemeClr val="tx1"/>
                  </a:solidFill>
                </a:rPr>
                <a:t>Kernel B3</a:t>
              </a:r>
              <a:endParaRPr kumimoji="1" lang="ko-KR" altLang="en-US" sz="900">
                <a:solidFill>
                  <a:schemeClr val="tx1"/>
                </a:solidFill>
              </a:endParaRPr>
            </a:p>
          </p:txBody>
        </p:sp>
        <p:sp>
          <p:nvSpPr>
            <p:cNvPr id="23" name="모서리가 둥근 직사각형 22">
              <a:extLst>
                <a:ext uri="{FF2B5EF4-FFF2-40B4-BE49-F238E27FC236}">
                  <a16:creationId xmlns:a16="http://schemas.microsoft.com/office/drawing/2014/main" id="{23049B20-AA84-2A86-5D46-BAE3B3D7DD08}"/>
                </a:ext>
              </a:extLst>
            </p:cNvPr>
            <p:cNvSpPr/>
            <p:nvPr/>
          </p:nvSpPr>
          <p:spPr>
            <a:xfrm>
              <a:off x="3573259" y="987574"/>
              <a:ext cx="715527" cy="288032"/>
            </a:xfrm>
            <a:prstGeom prst="roundRect">
              <a:avLst>
                <a:gd name="adj" fmla="val 15432"/>
              </a:avLst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900">
                  <a:solidFill>
                    <a:schemeClr val="tx1"/>
                  </a:solidFill>
                </a:rPr>
                <a:t>Kernel B2</a:t>
              </a:r>
              <a:endParaRPr kumimoji="1" lang="ko-KR" altLang="en-US" sz="900">
                <a:solidFill>
                  <a:schemeClr val="tx1"/>
                </a:solidFill>
              </a:endParaRPr>
            </a:p>
          </p:txBody>
        </p:sp>
      </p:grp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4A61249A-DE91-ED66-99E7-333107C7DE9F}"/>
              </a:ext>
            </a:extLst>
          </p:cNvPr>
          <p:cNvGrpSpPr/>
          <p:nvPr/>
        </p:nvGrpSpPr>
        <p:grpSpPr>
          <a:xfrm>
            <a:off x="4383594" y="1419622"/>
            <a:ext cx="1951863" cy="720080"/>
            <a:chOff x="4427984" y="987574"/>
            <a:chExt cx="1954702" cy="720080"/>
          </a:xfrm>
        </p:grpSpPr>
        <p:sp>
          <p:nvSpPr>
            <p:cNvPr id="24" name="모서리가 둥근 직사각형 23">
              <a:extLst>
                <a:ext uri="{FF2B5EF4-FFF2-40B4-BE49-F238E27FC236}">
                  <a16:creationId xmlns:a16="http://schemas.microsoft.com/office/drawing/2014/main" id="{A3C17CEA-1CA5-8361-C7E5-1CE38E883450}"/>
                </a:ext>
              </a:extLst>
            </p:cNvPr>
            <p:cNvSpPr/>
            <p:nvPr/>
          </p:nvSpPr>
          <p:spPr>
            <a:xfrm>
              <a:off x="4427984" y="987574"/>
              <a:ext cx="715527" cy="288032"/>
            </a:xfrm>
            <a:prstGeom prst="roundRect">
              <a:avLst>
                <a:gd name="adj" fmla="val 15432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900">
                  <a:solidFill>
                    <a:schemeClr val="tx1"/>
                  </a:solidFill>
                </a:rPr>
                <a:t>Kernel C1</a:t>
              </a:r>
              <a:endParaRPr kumimoji="1" lang="ko-KR" altLang="en-US" sz="900">
                <a:solidFill>
                  <a:schemeClr val="tx1"/>
                </a:solidFill>
              </a:endParaRPr>
            </a:p>
          </p:txBody>
        </p:sp>
        <p:sp>
          <p:nvSpPr>
            <p:cNvPr id="25" name="모서리가 둥근 직사각형 24">
              <a:extLst>
                <a:ext uri="{FF2B5EF4-FFF2-40B4-BE49-F238E27FC236}">
                  <a16:creationId xmlns:a16="http://schemas.microsoft.com/office/drawing/2014/main" id="{FF812574-C036-7C11-104D-235C1D5C6C91}"/>
                </a:ext>
              </a:extLst>
            </p:cNvPr>
            <p:cNvSpPr/>
            <p:nvPr/>
          </p:nvSpPr>
          <p:spPr>
            <a:xfrm>
              <a:off x="5143511" y="987574"/>
              <a:ext cx="1239175" cy="288032"/>
            </a:xfrm>
            <a:prstGeom prst="roundRect">
              <a:avLst>
                <a:gd name="adj" fmla="val 15432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900">
                  <a:solidFill>
                    <a:schemeClr val="tx1"/>
                  </a:solidFill>
                </a:rPr>
                <a:t>Kernel C2</a:t>
              </a:r>
              <a:endParaRPr kumimoji="1" lang="ko-KR" altLang="en-US" sz="900">
                <a:solidFill>
                  <a:schemeClr val="tx1"/>
                </a:solidFill>
              </a:endParaRPr>
            </a:p>
          </p:txBody>
        </p:sp>
        <p:sp>
          <p:nvSpPr>
            <p:cNvPr id="26" name="모서리가 둥근 직사각형 25">
              <a:extLst>
                <a:ext uri="{FF2B5EF4-FFF2-40B4-BE49-F238E27FC236}">
                  <a16:creationId xmlns:a16="http://schemas.microsoft.com/office/drawing/2014/main" id="{B423A7FC-4BAF-6648-5101-C82D487F0EA5}"/>
                </a:ext>
              </a:extLst>
            </p:cNvPr>
            <p:cNvSpPr/>
            <p:nvPr/>
          </p:nvSpPr>
          <p:spPr>
            <a:xfrm>
              <a:off x="4427984" y="1419622"/>
              <a:ext cx="715527" cy="288032"/>
            </a:xfrm>
            <a:prstGeom prst="roundRect">
              <a:avLst>
                <a:gd name="adj" fmla="val 15432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900">
                  <a:solidFill>
                    <a:schemeClr val="tx1"/>
                  </a:solidFill>
                </a:rPr>
                <a:t>Kernel C3</a:t>
              </a:r>
              <a:endParaRPr kumimoji="1" lang="ko-KR" altLang="en-US" sz="900">
                <a:solidFill>
                  <a:schemeClr val="tx1"/>
                </a:solidFill>
              </a:endParaRPr>
            </a:p>
          </p:txBody>
        </p:sp>
      </p:grpSp>
      <p:sp>
        <p:nvSpPr>
          <p:cNvPr id="28" name="모서리가 둥근 직사각형 27">
            <a:extLst>
              <a:ext uri="{FF2B5EF4-FFF2-40B4-BE49-F238E27FC236}">
                <a16:creationId xmlns:a16="http://schemas.microsoft.com/office/drawing/2014/main" id="{D6F99DC2-C99A-5954-685C-D73D92259DFA}"/>
              </a:ext>
            </a:extLst>
          </p:cNvPr>
          <p:cNvSpPr/>
          <p:nvPr/>
        </p:nvSpPr>
        <p:spPr>
          <a:xfrm>
            <a:off x="6517303" y="1419622"/>
            <a:ext cx="714487" cy="288032"/>
          </a:xfrm>
          <a:prstGeom prst="roundRect">
            <a:avLst>
              <a:gd name="adj" fmla="val 15432"/>
            </a:avLst>
          </a:prstGeom>
          <a:solidFill>
            <a:schemeClr val="accent1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Kernel A4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31" name="모서리가 둥근 직사각형 30">
            <a:extLst>
              <a:ext uri="{FF2B5EF4-FFF2-40B4-BE49-F238E27FC236}">
                <a16:creationId xmlns:a16="http://schemas.microsoft.com/office/drawing/2014/main" id="{21A9FA7E-47E3-0EE5-7070-27F0505FA8AA}"/>
              </a:ext>
            </a:extLst>
          </p:cNvPr>
          <p:cNvSpPr/>
          <p:nvPr/>
        </p:nvSpPr>
        <p:spPr>
          <a:xfrm>
            <a:off x="7417585" y="1419622"/>
            <a:ext cx="714487" cy="288032"/>
          </a:xfrm>
          <a:prstGeom prst="roundRect">
            <a:avLst>
              <a:gd name="adj" fmla="val 15432"/>
            </a:avLst>
          </a:prstGeom>
          <a:solidFill>
            <a:schemeClr val="accent3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Kernel B4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32" name="모서리가 둥근 직사각형 31">
            <a:extLst>
              <a:ext uri="{FF2B5EF4-FFF2-40B4-BE49-F238E27FC236}">
                <a16:creationId xmlns:a16="http://schemas.microsoft.com/office/drawing/2014/main" id="{E66B6355-0233-7735-EE4D-42D5463EFD08}"/>
              </a:ext>
            </a:extLst>
          </p:cNvPr>
          <p:cNvSpPr/>
          <p:nvPr/>
        </p:nvSpPr>
        <p:spPr>
          <a:xfrm>
            <a:off x="8316364" y="1419622"/>
            <a:ext cx="714487" cy="288032"/>
          </a:xfrm>
          <a:prstGeom prst="roundRect">
            <a:avLst>
              <a:gd name="adj" fmla="val 15432"/>
            </a:avLst>
          </a:prstGeom>
          <a:solidFill>
            <a:schemeClr val="accent2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Kernel C4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34" name="모서리가 둥근 직사각형 33">
            <a:extLst>
              <a:ext uri="{FF2B5EF4-FFF2-40B4-BE49-F238E27FC236}">
                <a16:creationId xmlns:a16="http://schemas.microsoft.com/office/drawing/2014/main" id="{02E19BD6-73F8-6E0F-AAEA-85C61FB5F359}"/>
              </a:ext>
            </a:extLst>
          </p:cNvPr>
          <p:cNvSpPr/>
          <p:nvPr/>
        </p:nvSpPr>
        <p:spPr>
          <a:xfrm>
            <a:off x="8316364" y="1851670"/>
            <a:ext cx="714487" cy="288032"/>
          </a:xfrm>
          <a:prstGeom prst="roundRect">
            <a:avLst>
              <a:gd name="adj" fmla="val 15432"/>
            </a:avLst>
          </a:prstGeom>
          <a:solidFill>
            <a:schemeClr val="accent2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Kernel C5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55" name="호 54">
            <a:extLst>
              <a:ext uri="{FF2B5EF4-FFF2-40B4-BE49-F238E27FC236}">
                <a16:creationId xmlns:a16="http://schemas.microsoft.com/office/drawing/2014/main" id="{FDB087B9-3B97-42B0-82D4-C1BB3BC55892}"/>
              </a:ext>
            </a:extLst>
          </p:cNvPr>
          <p:cNvSpPr/>
          <p:nvPr/>
        </p:nvSpPr>
        <p:spPr>
          <a:xfrm>
            <a:off x="1942541" y="1203598"/>
            <a:ext cx="422080" cy="288032"/>
          </a:xfrm>
          <a:prstGeom prst="arc">
            <a:avLst>
              <a:gd name="adj1" fmla="val 10916784"/>
              <a:gd name="adj2" fmla="val 0"/>
            </a:avLst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25E670A-59EA-E32E-81A7-CE405F5DAAE4}"/>
              </a:ext>
            </a:extLst>
          </p:cNvPr>
          <p:cNvSpPr txBox="1"/>
          <p:nvPr/>
        </p:nvSpPr>
        <p:spPr>
          <a:xfrm>
            <a:off x="1838430" y="830821"/>
            <a:ext cx="630301" cy="3693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kumimoji="1" lang="en-US" altLang="ko-KR" sz="900" i="1"/>
              <a:t>Context </a:t>
            </a:r>
          </a:p>
          <a:p>
            <a:pPr algn="ctr"/>
            <a:r>
              <a:rPr kumimoji="1" lang="en-US" altLang="ko-KR" sz="900" i="1"/>
              <a:t>Switch</a:t>
            </a:r>
            <a:endParaRPr kumimoji="1" lang="ko-KR" altLang="en-US" sz="900" i="1"/>
          </a:p>
        </p:txBody>
      </p:sp>
      <p:sp>
        <p:nvSpPr>
          <p:cNvPr id="57" name="호 56">
            <a:extLst>
              <a:ext uri="{FF2B5EF4-FFF2-40B4-BE49-F238E27FC236}">
                <a16:creationId xmlns:a16="http://schemas.microsoft.com/office/drawing/2014/main" id="{294069F7-BAF3-998C-F177-67717839FA3B}"/>
              </a:ext>
            </a:extLst>
          </p:cNvPr>
          <p:cNvSpPr/>
          <p:nvPr/>
        </p:nvSpPr>
        <p:spPr>
          <a:xfrm>
            <a:off x="4075264" y="1203598"/>
            <a:ext cx="422080" cy="288032"/>
          </a:xfrm>
          <a:prstGeom prst="arc">
            <a:avLst>
              <a:gd name="adj1" fmla="val 10916784"/>
              <a:gd name="adj2" fmla="val 0"/>
            </a:avLst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7C5F57B5-A628-7A5F-7C27-B0ABE3C41E9A}"/>
              </a:ext>
            </a:extLst>
          </p:cNvPr>
          <p:cNvSpPr txBox="1"/>
          <p:nvPr/>
        </p:nvSpPr>
        <p:spPr>
          <a:xfrm>
            <a:off x="3971153" y="830821"/>
            <a:ext cx="630301" cy="3693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kumimoji="1" lang="en-US" altLang="ko-KR" sz="900" i="1"/>
              <a:t>Context </a:t>
            </a:r>
          </a:p>
          <a:p>
            <a:pPr algn="ctr"/>
            <a:r>
              <a:rPr kumimoji="1" lang="en-US" altLang="ko-KR" sz="900" i="1"/>
              <a:t>Switch</a:t>
            </a:r>
            <a:endParaRPr kumimoji="1" lang="ko-KR" altLang="en-US" sz="900" i="1"/>
          </a:p>
        </p:txBody>
      </p:sp>
      <p:sp>
        <p:nvSpPr>
          <p:cNvPr id="62" name="호 61">
            <a:extLst>
              <a:ext uri="{FF2B5EF4-FFF2-40B4-BE49-F238E27FC236}">
                <a16:creationId xmlns:a16="http://schemas.microsoft.com/office/drawing/2014/main" id="{BD035B34-8CF2-D483-B92F-31E276803765}"/>
              </a:ext>
            </a:extLst>
          </p:cNvPr>
          <p:cNvSpPr/>
          <p:nvPr/>
        </p:nvSpPr>
        <p:spPr>
          <a:xfrm>
            <a:off x="6212582" y="1203598"/>
            <a:ext cx="422080" cy="288032"/>
          </a:xfrm>
          <a:prstGeom prst="arc">
            <a:avLst>
              <a:gd name="adj1" fmla="val 10916784"/>
              <a:gd name="adj2" fmla="val 0"/>
            </a:avLst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B3398781-C5DF-D076-4728-8F4ACB16FB86}"/>
              </a:ext>
            </a:extLst>
          </p:cNvPr>
          <p:cNvSpPr txBox="1"/>
          <p:nvPr/>
        </p:nvSpPr>
        <p:spPr>
          <a:xfrm>
            <a:off x="6108471" y="830821"/>
            <a:ext cx="630301" cy="3693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kumimoji="1" lang="en-US" altLang="ko-KR" sz="900" i="1"/>
              <a:t>Context </a:t>
            </a:r>
          </a:p>
          <a:p>
            <a:pPr algn="ctr"/>
            <a:r>
              <a:rPr kumimoji="1" lang="en-US" altLang="ko-KR" sz="900" i="1"/>
              <a:t>Switch</a:t>
            </a:r>
            <a:endParaRPr kumimoji="1" lang="ko-KR" altLang="en-US" sz="900" i="1"/>
          </a:p>
        </p:txBody>
      </p:sp>
      <p:sp>
        <p:nvSpPr>
          <p:cNvPr id="64" name="호 63">
            <a:extLst>
              <a:ext uri="{FF2B5EF4-FFF2-40B4-BE49-F238E27FC236}">
                <a16:creationId xmlns:a16="http://schemas.microsoft.com/office/drawing/2014/main" id="{70A0FA53-C6AA-7394-2F10-2A458F305AE5}"/>
              </a:ext>
            </a:extLst>
          </p:cNvPr>
          <p:cNvSpPr/>
          <p:nvPr/>
        </p:nvSpPr>
        <p:spPr>
          <a:xfrm>
            <a:off x="7115824" y="1203598"/>
            <a:ext cx="422080" cy="288032"/>
          </a:xfrm>
          <a:prstGeom prst="arc">
            <a:avLst>
              <a:gd name="adj1" fmla="val 10916784"/>
              <a:gd name="adj2" fmla="val 0"/>
            </a:avLst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004FD7E2-E462-7998-A1C1-A776E70CCF4A}"/>
              </a:ext>
            </a:extLst>
          </p:cNvPr>
          <p:cNvSpPr txBox="1"/>
          <p:nvPr/>
        </p:nvSpPr>
        <p:spPr>
          <a:xfrm>
            <a:off x="7011713" y="830821"/>
            <a:ext cx="630301" cy="3693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kumimoji="1" lang="en-US" altLang="ko-KR" sz="900" i="1"/>
              <a:t>Context </a:t>
            </a:r>
          </a:p>
          <a:p>
            <a:pPr algn="ctr"/>
            <a:r>
              <a:rPr kumimoji="1" lang="en-US" altLang="ko-KR" sz="900" i="1"/>
              <a:t>Switch</a:t>
            </a:r>
            <a:endParaRPr kumimoji="1" lang="ko-KR" altLang="en-US" sz="900" i="1"/>
          </a:p>
        </p:txBody>
      </p:sp>
      <p:sp>
        <p:nvSpPr>
          <p:cNvPr id="66" name="호 65">
            <a:extLst>
              <a:ext uri="{FF2B5EF4-FFF2-40B4-BE49-F238E27FC236}">
                <a16:creationId xmlns:a16="http://schemas.microsoft.com/office/drawing/2014/main" id="{932F902C-E986-95CB-72BE-FE6B14BBF05E}"/>
              </a:ext>
            </a:extLst>
          </p:cNvPr>
          <p:cNvSpPr/>
          <p:nvPr/>
        </p:nvSpPr>
        <p:spPr>
          <a:xfrm>
            <a:off x="8013773" y="1203598"/>
            <a:ext cx="422080" cy="288032"/>
          </a:xfrm>
          <a:prstGeom prst="arc">
            <a:avLst>
              <a:gd name="adj1" fmla="val 10916784"/>
              <a:gd name="adj2" fmla="val 0"/>
            </a:avLst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43976DEA-52FF-D8BF-DE8A-0F82F7C6D6F9}"/>
              </a:ext>
            </a:extLst>
          </p:cNvPr>
          <p:cNvSpPr txBox="1"/>
          <p:nvPr/>
        </p:nvSpPr>
        <p:spPr>
          <a:xfrm>
            <a:off x="7909662" y="830821"/>
            <a:ext cx="630301" cy="3693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kumimoji="1" lang="en-US" altLang="ko-KR" sz="900" i="1"/>
              <a:t>Context </a:t>
            </a:r>
          </a:p>
          <a:p>
            <a:pPr algn="ctr"/>
            <a:r>
              <a:rPr kumimoji="1" lang="en-US" altLang="ko-KR" sz="900" i="1"/>
              <a:t>Switch</a:t>
            </a:r>
            <a:endParaRPr kumimoji="1" lang="ko-KR" altLang="en-US" sz="900" i="1"/>
          </a:p>
        </p:txBody>
      </p:sp>
      <p:sp>
        <p:nvSpPr>
          <p:cNvPr id="68" name="모서리가 둥근 직사각형 67">
            <a:extLst>
              <a:ext uri="{FF2B5EF4-FFF2-40B4-BE49-F238E27FC236}">
                <a16:creationId xmlns:a16="http://schemas.microsoft.com/office/drawing/2014/main" id="{B32D1702-1336-F5A6-5B88-3B6511483A8F}"/>
              </a:ext>
            </a:extLst>
          </p:cNvPr>
          <p:cNvSpPr/>
          <p:nvPr/>
        </p:nvSpPr>
        <p:spPr>
          <a:xfrm>
            <a:off x="1793384" y="3452529"/>
            <a:ext cx="1287190" cy="487374"/>
          </a:xfrm>
          <a:prstGeom prst="roundRect">
            <a:avLst>
              <a:gd name="adj" fmla="val 6199"/>
            </a:avLst>
          </a:prstGeom>
          <a:solidFill>
            <a:schemeClr val="accent1">
              <a:lumMod val="20000"/>
              <a:lumOff val="80000"/>
            </a:schemeClr>
          </a:solidFill>
          <a:ln w="12700"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 b="1">
                <a:solidFill>
                  <a:schemeClr val="tx1"/>
                </a:solidFill>
              </a:rPr>
              <a:t>CUDA App A </a:t>
            </a:r>
          </a:p>
        </p:txBody>
      </p:sp>
      <p:sp>
        <p:nvSpPr>
          <p:cNvPr id="69" name="모서리가 둥근 직사각형 68">
            <a:extLst>
              <a:ext uri="{FF2B5EF4-FFF2-40B4-BE49-F238E27FC236}">
                <a16:creationId xmlns:a16="http://schemas.microsoft.com/office/drawing/2014/main" id="{8502768C-AA00-FC3F-8893-62914D57966F}"/>
              </a:ext>
            </a:extLst>
          </p:cNvPr>
          <p:cNvSpPr/>
          <p:nvPr/>
        </p:nvSpPr>
        <p:spPr>
          <a:xfrm>
            <a:off x="3926107" y="3452529"/>
            <a:ext cx="1287190" cy="487374"/>
          </a:xfrm>
          <a:prstGeom prst="roundRect">
            <a:avLst>
              <a:gd name="adj" fmla="val 6199"/>
            </a:avLst>
          </a:prstGeom>
          <a:solidFill>
            <a:schemeClr val="accent3">
              <a:lumMod val="20000"/>
              <a:lumOff val="80000"/>
            </a:schemeClr>
          </a:solidFill>
          <a:ln w="12700"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 b="1">
                <a:solidFill>
                  <a:schemeClr val="tx1"/>
                </a:solidFill>
              </a:rPr>
              <a:t>CUDA App B </a:t>
            </a:r>
          </a:p>
        </p:txBody>
      </p:sp>
      <p:sp>
        <p:nvSpPr>
          <p:cNvPr id="70" name="모서리가 둥근 직사각형 69">
            <a:extLst>
              <a:ext uri="{FF2B5EF4-FFF2-40B4-BE49-F238E27FC236}">
                <a16:creationId xmlns:a16="http://schemas.microsoft.com/office/drawing/2014/main" id="{10193FC6-FCCE-2517-50F0-05F2CC92DF14}"/>
              </a:ext>
            </a:extLst>
          </p:cNvPr>
          <p:cNvSpPr/>
          <p:nvPr/>
        </p:nvSpPr>
        <p:spPr>
          <a:xfrm>
            <a:off x="6063425" y="3452529"/>
            <a:ext cx="1287190" cy="487374"/>
          </a:xfrm>
          <a:prstGeom prst="roundRect">
            <a:avLst>
              <a:gd name="adj" fmla="val 6199"/>
            </a:avLst>
          </a:prstGeom>
          <a:solidFill>
            <a:schemeClr val="accent2">
              <a:lumMod val="20000"/>
              <a:lumOff val="80000"/>
            </a:schemeClr>
          </a:solidFill>
          <a:ln w="12700"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 b="1">
                <a:solidFill>
                  <a:schemeClr val="tx1"/>
                </a:solidFill>
              </a:rPr>
              <a:t>CUDA App C </a:t>
            </a:r>
          </a:p>
        </p:txBody>
      </p:sp>
      <p:cxnSp>
        <p:nvCxnSpPr>
          <p:cNvPr id="74" name="직선 연결선[R] 73">
            <a:extLst>
              <a:ext uri="{FF2B5EF4-FFF2-40B4-BE49-F238E27FC236}">
                <a16:creationId xmlns:a16="http://schemas.microsoft.com/office/drawing/2014/main" id="{CF6FAD58-4BA8-17E5-EDD4-8CD25FDEB808}"/>
              </a:ext>
            </a:extLst>
          </p:cNvPr>
          <p:cNvCxnSpPr>
            <a:cxnSpLocks/>
          </p:cNvCxnSpPr>
          <p:nvPr/>
        </p:nvCxnSpPr>
        <p:spPr>
          <a:xfrm>
            <a:off x="-36512" y="3003798"/>
            <a:ext cx="9289032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TextBox 77">
            <a:extLst>
              <a:ext uri="{FF2B5EF4-FFF2-40B4-BE49-F238E27FC236}">
                <a16:creationId xmlns:a16="http://schemas.microsoft.com/office/drawing/2014/main" id="{55579499-A1C9-0478-E403-50C72084C55A}"/>
              </a:ext>
            </a:extLst>
          </p:cNvPr>
          <p:cNvSpPr txBox="1"/>
          <p:nvPr/>
        </p:nvSpPr>
        <p:spPr>
          <a:xfrm>
            <a:off x="44450" y="3003798"/>
            <a:ext cx="10887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100" b="1"/>
              <a:t>GPU Memory</a:t>
            </a:r>
            <a:endParaRPr kumimoji="1" lang="ko-KR" altLang="en-US" sz="1100" b="1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1D7910F3-45ED-F38B-74F9-F84818F32B59}"/>
              </a:ext>
            </a:extLst>
          </p:cNvPr>
          <p:cNvSpPr txBox="1"/>
          <p:nvPr/>
        </p:nvSpPr>
        <p:spPr>
          <a:xfrm>
            <a:off x="44450" y="2742188"/>
            <a:ext cx="83708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100" b="1"/>
              <a:t>GPU Core</a:t>
            </a:r>
            <a:endParaRPr kumimoji="1" lang="ko-KR" altLang="en-US" sz="1100" b="1"/>
          </a:p>
        </p:txBody>
      </p:sp>
      <p:cxnSp>
        <p:nvCxnSpPr>
          <p:cNvPr id="81" name="직선 화살표 연결선 80">
            <a:extLst>
              <a:ext uri="{FF2B5EF4-FFF2-40B4-BE49-F238E27FC236}">
                <a16:creationId xmlns:a16="http://schemas.microsoft.com/office/drawing/2014/main" id="{4F949B16-90FE-FAE5-92D1-34A4F8C05D18}"/>
              </a:ext>
            </a:extLst>
          </p:cNvPr>
          <p:cNvCxnSpPr>
            <a:cxnSpLocks/>
            <a:stCxn id="68" idx="0"/>
            <a:endCxn id="35" idx="2"/>
          </p:cNvCxnSpPr>
          <p:nvPr/>
        </p:nvCxnSpPr>
        <p:spPr>
          <a:xfrm flipH="1" flipV="1">
            <a:off x="1087570" y="2587563"/>
            <a:ext cx="1349409" cy="86496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직선 화살표 연결선 81">
            <a:extLst>
              <a:ext uri="{FF2B5EF4-FFF2-40B4-BE49-F238E27FC236}">
                <a16:creationId xmlns:a16="http://schemas.microsoft.com/office/drawing/2014/main" id="{8C1F82B7-508A-4527-DA2E-D189EC3D9F21}"/>
              </a:ext>
            </a:extLst>
          </p:cNvPr>
          <p:cNvCxnSpPr>
            <a:cxnSpLocks/>
            <a:stCxn id="68" idx="0"/>
            <a:endCxn id="42" idx="2"/>
          </p:cNvCxnSpPr>
          <p:nvPr/>
        </p:nvCxnSpPr>
        <p:spPr>
          <a:xfrm flipV="1">
            <a:off x="2436979" y="2587563"/>
            <a:ext cx="4438264" cy="86496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직선 화살표 연결선 84">
            <a:extLst>
              <a:ext uri="{FF2B5EF4-FFF2-40B4-BE49-F238E27FC236}">
                <a16:creationId xmlns:a16="http://schemas.microsoft.com/office/drawing/2014/main" id="{7CC3C210-F524-CEF3-7AAC-5B9A4D04B605}"/>
              </a:ext>
            </a:extLst>
          </p:cNvPr>
          <p:cNvCxnSpPr>
            <a:cxnSpLocks/>
            <a:stCxn id="69" idx="0"/>
            <a:endCxn id="39" idx="2"/>
          </p:cNvCxnSpPr>
          <p:nvPr/>
        </p:nvCxnSpPr>
        <p:spPr>
          <a:xfrm flipH="1" flipV="1">
            <a:off x="3222229" y="2587563"/>
            <a:ext cx="1347473" cy="86496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직선 화살표 연결선 87">
            <a:extLst>
              <a:ext uri="{FF2B5EF4-FFF2-40B4-BE49-F238E27FC236}">
                <a16:creationId xmlns:a16="http://schemas.microsoft.com/office/drawing/2014/main" id="{B92B9977-463F-8061-8B42-2968EF8BEF45}"/>
              </a:ext>
            </a:extLst>
          </p:cNvPr>
          <p:cNvCxnSpPr>
            <a:cxnSpLocks/>
            <a:stCxn id="69" idx="0"/>
            <a:endCxn id="43" idx="2"/>
          </p:cNvCxnSpPr>
          <p:nvPr/>
        </p:nvCxnSpPr>
        <p:spPr>
          <a:xfrm flipV="1">
            <a:off x="4569702" y="2587563"/>
            <a:ext cx="3208783" cy="86496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직선 화살표 연결선 90">
            <a:extLst>
              <a:ext uri="{FF2B5EF4-FFF2-40B4-BE49-F238E27FC236}">
                <a16:creationId xmlns:a16="http://schemas.microsoft.com/office/drawing/2014/main" id="{04189B98-DCB3-FD3D-79D0-068F1988B031}"/>
              </a:ext>
            </a:extLst>
          </p:cNvPr>
          <p:cNvCxnSpPr>
            <a:cxnSpLocks/>
            <a:stCxn id="70" idx="0"/>
            <a:endCxn id="44" idx="2"/>
          </p:cNvCxnSpPr>
          <p:nvPr/>
        </p:nvCxnSpPr>
        <p:spPr>
          <a:xfrm flipV="1">
            <a:off x="6707020" y="2587563"/>
            <a:ext cx="1974708" cy="86496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직선 화살표 연결선 93">
            <a:extLst>
              <a:ext uri="{FF2B5EF4-FFF2-40B4-BE49-F238E27FC236}">
                <a16:creationId xmlns:a16="http://schemas.microsoft.com/office/drawing/2014/main" id="{F2819CB5-D2E4-E86D-94E5-5E85C8AE9CA1}"/>
              </a:ext>
            </a:extLst>
          </p:cNvPr>
          <p:cNvCxnSpPr>
            <a:cxnSpLocks/>
            <a:stCxn id="70" idx="0"/>
            <a:endCxn id="41" idx="2"/>
          </p:cNvCxnSpPr>
          <p:nvPr/>
        </p:nvCxnSpPr>
        <p:spPr>
          <a:xfrm flipH="1" flipV="1">
            <a:off x="5359525" y="2587563"/>
            <a:ext cx="1347495" cy="86496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862488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3E0B15-39F7-8A3F-D0AB-AFD6DD89C2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08755C-50AD-A830-0BA2-A61798A22B14}"/>
              </a:ext>
            </a:extLst>
          </p:cNvPr>
          <p:cNvSpPr txBox="1">
            <a:spLocks/>
          </p:cNvSpPr>
          <p:nvPr/>
        </p:nvSpPr>
        <p:spPr>
          <a:xfrm>
            <a:off x="457200" y="-373721"/>
            <a:ext cx="8229600" cy="857250"/>
          </a:xfrm>
          <a:prstGeom prst="rect">
            <a:avLst/>
          </a:prstGeom>
        </p:spPr>
        <p:txBody>
          <a:bodyPr/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/>
              <a:t>MPS Before Volta</a:t>
            </a:r>
            <a:endParaRPr lang="ko-KR" altLang="en-US" dirty="0"/>
          </a:p>
        </p:txBody>
      </p:sp>
      <p:cxnSp>
        <p:nvCxnSpPr>
          <p:cNvPr id="3" name="직선 연결선[R] 2">
            <a:extLst>
              <a:ext uri="{FF2B5EF4-FFF2-40B4-BE49-F238E27FC236}">
                <a16:creationId xmlns:a16="http://schemas.microsoft.com/office/drawing/2014/main" id="{6B8A9495-6C75-3407-ECA8-F45CECE65A9E}"/>
              </a:ext>
            </a:extLst>
          </p:cNvPr>
          <p:cNvCxnSpPr>
            <a:cxnSpLocks/>
          </p:cNvCxnSpPr>
          <p:nvPr/>
        </p:nvCxnSpPr>
        <p:spPr>
          <a:xfrm>
            <a:off x="-36512" y="3765746"/>
            <a:ext cx="9289032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C917059A-43B2-B700-6FB8-F6D7FE2D9775}"/>
              </a:ext>
            </a:extLst>
          </p:cNvPr>
          <p:cNvSpPr txBox="1"/>
          <p:nvPr/>
        </p:nvSpPr>
        <p:spPr>
          <a:xfrm>
            <a:off x="44450" y="3765746"/>
            <a:ext cx="10887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100" b="1"/>
              <a:t>GPU Memory</a:t>
            </a:r>
            <a:endParaRPr kumimoji="1" lang="ko-KR" altLang="en-US" sz="1100" b="1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DA72E27-3E98-2C72-6036-8F935C1606A2}"/>
              </a:ext>
            </a:extLst>
          </p:cNvPr>
          <p:cNvSpPr txBox="1"/>
          <p:nvPr/>
        </p:nvSpPr>
        <p:spPr>
          <a:xfrm>
            <a:off x="44450" y="3504136"/>
            <a:ext cx="83708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100" b="1"/>
              <a:t>GPU Core</a:t>
            </a:r>
            <a:endParaRPr kumimoji="1" lang="ko-KR" altLang="en-US" sz="1100" b="1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76BEBA2E-4593-4357-CDD2-C8615986AD1E}"/>
              </a:ext>
            </a:extLst>
          </p:cNvPr>
          <p:cNvGrpSpPr/>
          <p:nvPr/>
        </p:nvGrpSpPr>
        <p:grpSpPr>
          <a:xfrm>
            <a:off x="2635986" y="760614"/>
            <a:ext cx="1954202" cy="720080"/>
            <a:chOff x="236727" y="987574"/>
            <a:chExt cx="1957044" cy="720080"/>
          </a:xfrm>
          <a:solidFill>
            <a:schemeClr val="accent1">
              <a:lumMod val="20000"/>
              <a:lumOff val="80000"/>
            </a:schemeClr>
          </a:solidFill>
        </p:grpSpPr>
        <p:sp>
          <p:nvSpPr>
            <p:cNvPr id="7" name="모서리가 둥근 직사각형 6">
              <a:extLst>
                <a:ext uri="{FF2B5EF4-FFF2-40B4-BE49-F238E27FC236}">
                  <a16:creationId xmlns:a16="http://schemas.microsoft.com/office/drawing/2014/main" id="{4F584EC3-82A1-4B0F-93D7-E042B6A67591}"/>
                </a:ext>
              </a:extLst>
            </p:cNvPr>
            <p:cNvSpPr/>
            <p:nvPr/>
          </p:nvSpPr>
          <p:spPr>
            <a:xfrm>
              <a:off x="236727" y="987574"/>
              <a:ext cx="1241295" cy="288032"/>
            </a:xfrm>
            <a:prstGeom prst="roundRect">
              <a:avLst>
                <a:gd name="adj" fmla="val 15432"/>
              </a:avLst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900">
                  <a:solidFill>
                    <a:schemeClr val="tx1"/>
                  </a:solidFill>
                </a:rPr>
                <a:t>Kernel A1</a:t>
              </a:r>
              <a:endParaRPr kumimoji="1" lang="ko-KR" altLang="en-US" sz="900">
                <a:solidFill>
                  <a:schemeClr val="tx1"/>
                </a:solidFill>
              </a:endParaRPr>
            </a:p>
          </p:txBody>
        </p:sp>
        <p:sp>
          <p:nvSpPr>
            <p:cNvPr id="8" name="모서리가 둥근 직사각형 7">
              <a:extLst>
                <a:ext uri="{FF2B5EF4-FFF2-40B4-BE49-F238E27FC236}">
                  <a16:creationId xmlns:a16="http://schemas.microsoft.com/office/drawing/2014/main" id="{D23717BC-2636-B30E-0763-3ACA6A3BF0D5}"/>
                </a:ext>
              </a:extLst>
            </p:cNvPr>
            <p:cNvSpPr/>
            <p:nvPr/>
          </p:nvSpPr>
          <p:spPr>
            <a:xfrm>
              <a:off x="1478244" y="987574"/>
              <a:ext cx="715527" cy="288032"/>
            </a:xfrm>
            <a:prstGeom prst="roundRect">
              <a:avLst>
                <a:gd name="adj" fmla="val 15432"/>
              </a:avLst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900">
                  <a:solidFill>
                    <a:schemeClr val="tx1"/>
                  </a:solidFill>
                </a:rPr>
                <a:t>Kernel A2</a:t>
              </a:r>
              <a:endParaRPr kumimoji="1" lang="ko-KR" altLang="en-US" sz="900">
                <a:solidFill>
                  <a:schemeClr val="tx1"/>
                </a:solidFill>
              </a:endParaRPr>
            </a:p>
          </p:txBody>
        </p:sp>
        <p:sp>
          <p:nvSpPr>
            <p:cNvPr id="9" name="모서리가 둥근 직사각형 8">
              <a:extLst>
                <a:ext uri="{FF2B5EF4-FFF2-40B4-BE49-F238E27FC236}">
                  <a16:creationId xmlns:a16="http://schemas.microsoft.com/office/drawing/2014/main" id="{BA299110-CB55-E68A-7835-817300B3AACD}"/>
                </a:ext>
              </a:extLst>
            </p:cNvPr>
            <p:cNvSpPr/>
            <p:nvPr/>
          </p:nvSpPr>
          <p:spPr>
            <a:xfrm>
              <a:off x="239069" y="1419622"/>
              <a:ext cx="1239175" cy="288032"/>
            </a:xfrm>
            <a:prstGeom prst="roundRect">
              <a:avLst>
                <a:gd name="adj" fmla="val 15432"/>
              </a:avLst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900">
                  <a:solidFill>
                    <a:schemeClr val="tx1"/>
                  </a:solidFill>
                </a:rPr>
                <a:t>Kernel A3</a:t>
              </a:r>
              <a:endParaRPr kumimoji="1" lang="ko-KR" altLang="en-US" sz="900">
                <a:solidFill>
                  <a:schemeClr val="tx1"/>
                </a:solidFill>
              </a:endParaRPr>
            </a:p>
          </p:txBody>
        </p: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4F6FF364-408A-4062-BB1A-7300C0708356}"/>
              </a:ext>
            </a:extLst>
          </p:cNvPr>
          <p:cNvGrpSpPr/>
          <p:nvPr/>
        </p:nvGrpSpPr>
        <p:grpSpPr>
          <a:xfrm>
            <a:off x="2635986" y="1736331"/>
            <a:ext cx="1954544" cy="720080"/>
            <a:chOff x="2331399" y="987574"/>
            <a:chExt cx="1957387" cy="720080"/>
          </a:xfrm>
          <a:solidFill>
            <a:schemeClr val="accent3">
              <a:lumMod val="20000"/>
              <a:lumOff val="80000"/>
            </a:schemeClr>
          </a:solidFill>
        </p:grpSpPr>
        <p:sp>
          <p:nvSpPr>
            <p:cNvPr id="11" name="모서리가 둥근 직사각형 10">
              <a:extLst>
                <a:ext uri="{FF2B5EF4-FFF2-40B4-BE49-F238E27FC236}">
                  <a16:creationId xmlns:a16="http://schemas.microsoft.com/office/drawing/2014/main" id="{FE6DABAC-4BE7-83FA-4622-930696C40D80}"/>
                </a:ext>
              </a:extLst>
            </p:cNvPr>
            <p:cNvSpPr/>
            <p:nvPr/>
          </p:nvSpPr>
          <p:spPr>
            <a:xfrm>
              <a:off x="2331964" y="987574"/>
              <a:ext cx="1241295" cy="288032"/>
            </a:xfrm>
            <a:prstGeom prst="roundRect">
              <a:avLst>
                <a:gd name="adj" fmla="val 15432"/>
              </a:avLst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900">
                  <a:solidFill>
                    <a:schemeClr val="tx1"/>
                  </a:solidFill>
                </a:rPr>
                <a:t>Kernel B1</a:t>
              </a:r>
              <a:endParaRPr kumimoji="1" lang="ko-KR" altLang="en-US" sz="900">
                <a:solidFill>
                  <a:schemeClr val="tx1"/>
                </a:solidFill>
              </a:endParaRPr>
            </a:p>
          </p:txBody>
        </p:sp>
        <p:sp>
          <p:nvSpPr>
            <p:cNvPr id="12" name="모서리가 둥근 직사각형 11">
              <a:extLst>
                <a:ext uri="{FF2B5EF4-FFF2-40B4-BE49-F238E27FC236}">
                  <a16:creationId xmlns:a16="http://schemas.microsoft.com/office/drawing/2014/main" id="{AF8125F2-B7AB-68CD-94DD-1A268F729D17}"/>
                </a:ext>
              </a:extLst>
            </p:cNvPr>
            <p:cNvSpPr/>
            <p:nvPr/>
          </p:nvSpPr>
          <p:spPr>
            <a:xfrm>
              <a:off x="2331399" y="1419622"/>
              <a:ext cx="715527" cy="288032"/>
            </a:xfrm>
            <a:prstGeom prst="roundRect">
              <a:avLst>
                <a:gd name="adj" fmla="val 15432"/>
              </a:avLst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900">
                  <a:solidFill>
                    <a:schemeClr val="tx1"/>
                  </a:solidFill>
                </a:rPr>
                <a:t>Kernel B3</a:t>
              </a:r>
              <a:endParaRPr kumimoji="1" lang="ko-KR" altLang="en-US" sz="900">
                <a:solidFill>
                  <a:schemeClr val="tx1"/>
                </a:solidFill>
              </a:endParaRPr>
            </a:p>
          </p:txBody>
        </p:sp>
        <p:sp>
          <p:nvSpPr>
            <p:cNvPr id="13" name="모서리가 둥근 직사각형 12">
              <a:extLst>
                <a:ext uri="{FF2B5EF4-FFF2-40B4-BE49-F238E27FC236}">
                  <a16:creationId xmlns:a16="http://schemas.microsoft.com/office/drawing/2014/main" id="{881A3021-F827-F4F1-981C-7ECA19AE1DD3}"/>
                </a:ext>
              </a:extLst>
            </p:cNvPr>
            <p:cNvSpPr/>
            <p:nvPr/>
          </p:nvSpPr>
          <p:spPr>
            <a:xfrm>
              <a:off x="3573259" y="987574"/>
              <a:ext cx="715527" cy="288032"/>
            </a:xfrm>
            <a:prstGeom prst="roundRect">
              <a:avLst>
                <a:gd name="adj" fmla="val 15432"/>
              </a:avLst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900">
                  <a:solidFill>
                    <a:schemeClr val="tx1"/>
                  </a:solidFill>
                </a:rPr>
                <a:t>Kernel B2</a:t>
              </a:r>
              <a:endParaRPr kumimoji="1" lang="ko-KR" altLang="en-US" sz="900">
                <a:solidFill>
                  <a:schemeClr val="tx1"/>
                </a:solidFill>
              </a:endParaRPr>
            </a:p>
          </p:txBody>
        </p:sp>
      </p:grp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EEBC925C-8053-17C5-27A4-5A99329F64AD}"/>
              </a:ext>
            </a:extLst>
          </p:cNvPr>
          <p:cNvGrpSpPr/>
          <p:nvPr/>
        </p:nvGrpSpPr>
        <p:grpSpPr>
          <a:xfrm>
            <a:off x="2638325" y="2712048"/>
            <a:ext cx="1951863" cy="720080"/>
            <a:chOff x="4427984" y="987574"/>
            <a:chExt cx="1954702" cy="720080"/>
          </a:xfrm>
        </p:grpSpPr>
        <p:sp>
          <p:nvSpPr>
            <p:cNvPr id="15" name="모서리가 둥근 직사각형 14">
              <a:extLst>
                <a:ext uri="{FF2B5EF4-FFF2-40B4-BE49-F238E27FC236}">
                  <a16:creationId xmlns:a16="http://schemas.microsoft.com/office/drawing/2014/main" id="{58828CF0-E9C4-1BD7-AA65-BBB4B787B56A}"/>
                </a:ext>
              </a:extLst>
            </p:cNvPr>
            <p:cNvSpPr/>
            <p:nvPr/>
          </p:nvSpPr>
          <p:spPr>
            <a:xfrm>
              <a:off x="4427984" y="987574"/>
              <a:ext cx="715527" cy="288032"/>
            </a:xfrm>
            <a:prstGeom prst="roundRect">
              <a:avLst>
                <a:gd name="adj" fmla="val 15432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900">
                  <a:solidFill>
                    <a:schemeClr val="tx1"/>
                  </a:solidFill>
                </a:rPr>
                <a:t>Kernel C1</a:t>
              </a:r>
              <a:endParaRPr kumimoji="1" lang="ko-KR" altLang="en-US" sz="900">
                <a:solidFill>
                  <a:schemeClr val="tx1"/>
                </a:solidFill>
              </a:endParaRPr>
            </a:p>
          </p:txBody>
        </p:sp>
        <p:sp>
          <p:nvSpPr>
            <p:cNvPr id="16" name="모서리가 둥근 직사각형 15">
              <a:extLst>
                <a:ext uri="{FF2B5EF4-FFF2-40B4-BE49-F238E27FC236}">
                  <a16:creationId xmlns:a16="http://schemas.microsoft.com/office/drawing/2014/main" id="{A84A05E3-94F0-11DC-0895-E5BD16FB7ADA}"/>
                </a:ext>
              </a:extLst>
            </p:cNvPr>
            <p:cNvSpPr/>
            <p:nvPr/>
          </p:nvSpPr>
          <p:spPr>
            <a:xfrm>
              <a:off x="5143511" y="987574"/>
              <a:ext cx="1239175" cy="288032"/>
            </a:xfrm>
            <a:prstGeom prst="roundRect">
              <a:avLst>
                <a:gd name="adj" fmla="val 15432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900">
                  <a:solidFill>
                    <a:schemeClr val="tx1"/>
                  </a:solidFill>
                </a:rPr>
                <a:t>Kernel C2</a:t>
              </a:r>
              <a:endParaRPr kumimoji="1" lang="ko-KR" altLang="en-US" sz="900">
                <a:solidFill>
                  <a:schemeClr val="tx1"/>
                </a:solidFill>
              </a:endParaRPr>
            </a:p>
          </p:txBody>
        </p:sp>
        <p:sp>
          <p:nvSpPr>
            <p:cNvPr id="17" name="모서리가 둥근 직사각형 16">
              <a:extLst>
                <a:ext uri="{FF2B5EF4-FFF2-40B4-BE49-F238E27FC236}">
                  <a16:creationId xmlns:a16="http://schemas.microsoft.com/office/drawing/2014/main" id="{73DED547-8DF9-80E7-CB8E-EEDB7ECD67F4}"/>
                </a:ext>
              </a:extLst>
            </p:cNvPr>
            <p:cNvSpPr/>
            <p:nvPr/>
          </p:nvSpPr>
          <p:spPr>
            <a:xfrm>
              <a:off x="4427984" y="1419622"/>
              <a:ext cx="715527" cy="288032"/>
            </a:xfrm>
            <a:prstGeom prst="roundRect">
              <a:avLst>
                <a:gd name="adj" fmla="val 15432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900">
                  <a:solidFill>
                    <a:schemeClr val="tx1"/>
                  </a:solidFill>
                </a:rPr>
                <a:t>Kernel C3</a:t>
              </a:r>
              <a:endParaRPr kumimoji="1" lang="ko-KR" altLang="en-US" sz="900">
                <a:solidFill>
                  <a:schemeClr val="tx1"/>
                </a:solidFill>
              </a:endParaRPr>
            </a:p>
          </p:txBody>
        </p:sp>
      </p:grpSp>
      <p:sp>
        <p:nvSpPr>
          <p:cNvPr id="18" name="모서리가 둥근 직사각형 17">
            <a:extLst>
              <a:ext uri="{FF2B5EF4-FFF2-40B4-BE49-F238E27FC236}">
                <a16:creationId xmlns:a16="http://schemas.microsoft.com/office/drawing/2014/main" id="{1D7AF70E-E99E-5A52-DCD6-4D8C812642E1}"/>
              </a:ext>
            </a:extLst>
          </p:cNvPr>
          <p:cNvSpPr/>
          <p:nvPr/>
        </p:nvSpPr>
        <p:spPr>
          <a:xfrm>
            <a:off x="4940241" y="760614"/>
            <a:ext cx="714487" cy="288032"/>
          </a:xfrm>
          <a:prstGeom prst="roundRect">
            <a:avLst>
              <a:gd name="adj" fmla="val 15432"/>
            </a:avLst>
          </a:prstGeom>
          <a:solidFill>
            <a:schemeClr val="accent1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Kernel A4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19" name="모서리가 둥근 직사각형 18">
            <a:extLst>
              <a:ext uri="{FF2B5EF4-FFF2-40B4-BE49-F238E27FC236}">
                <a16:creationId xmlns:a16="http://schemas.microsoft.com/office/drawing/2014/main" id="{57948C52-11C3-6E33-4E39-C10EC792AA9E}"/>
              </a:ext>
            </a:extLst>
          </p:cNvPr>
          <p:cNvSpPr/>
          <p:nvPr/>
        </p:nvSpPr>
        <p:spPr>
          <a:xfrm>
            <a:off x="4940242" y="2162407"/>
            <a:ext cx="714487" cy="288032"/>
          </a:xfrm>
          <a:prstGeom prst="roundRect">
            <a:avLst>
              <a:gd name="adj" fmla="val 15432"/>
            </a:avLst>
          </a:prstGeom>
          <a:solidFill>
            <a:schemeClr val="accent3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Kernel B4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20" name="모서리가 둥근 직사각형 19">
            <a:extLst>
              <a:ext uri="{FF2B5EF4-FFF2-40B4-BE49-F238E27FC236}">
                <a16:creationId xmlns:a16="http://schemas.microsoft.com/office/drawing/2014/main" id="{B0A282A4-D0D2-E8C0-43B4-B415E376E4DF}"/>
              </a:ext>
            </a:extLst>
          </p:cNvPr>
          <p:cNvSpPr/>
          <p:nvPr/>
        </p:nvSpPr>
        <p:spPr>
          <a:xfrm>
            <a:off x="4940241" y="2712048"/>
            <a:ext cx="714487" cy="288032"/>
          </a:xfrm>
          <a:prstGeom prst="roundRect">
            <a:avLst>
              <a:gd name="adj" fmla="val 15432"/>
            </a:avLst>
          </a:prstGeom>
          <a:solidFill>
            <a:schemeClr val="accent2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Kernel C4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21" name="모서리가 둥근 직사각형 20">
            <a:extLst>
              <a:ext uri="{FF2B5EF4-FFF2-40B4-BE49-F238E27FC236}">
                <a16:creationId xmlns:a16="http://schemas.microsoft.com/office/drawing/2014/main" id="{33DFE81B-7A3D-3248-56D8-A24B841564A3}"/>
              </a:ext>
            </a:extLst>
          </p:cNvPr>
          <p:cNvSpPr/>
          <p:nvPr/>
        </p:nvSpPr>
        <p:spPr>
          <a:xfrm>
            <a:off x="4940241" y="3144096"/>
            <a:ext cx="714487" cy="288032"/>
          </a:xfrm>
          <a:prstGeom prst="roundRect">
            <a:avLst>
              <a:gd name="adj" fmla="val 15432"/>
            </a:avLst>
          </a:prstGeom>
          <a:solidFill>
            <a:schemeClr val="accent2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Kernel C5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22" name="모서리가 둥근 직사각형 21">
            <a:extLst>
              <a:ext uri="{FF2B5EF4-FFF2-40B4-BE49-F238E27FC236}">
                <a16:creationId xmlns:a16="http://schemas.microsoft.com/office/drawing/2014/main" id="{6FB760B5-428B-62B3-C1B0-5D28CA76E79B}"/>
              </a:ext>
            </a:extLst>
          </p:cNvPr>
          <p:cNvSpPr/>
          <p:nvPr/>
        </p:nvSpPr>
        <p:spPr>
          <a:xfrm>
            <a:off x="2563976" y="695836"/>
            <a:ext cx="3168353" cy="2808300"/>
          </a:xfrm>
          <a:prstGeom prst="roundRect">
            <a:avLst>
              <a:gd name="adj" fmla="val 2943"/>
            </a:avLst>
          </a:prstGeom>
          <a:noFill/>
          <a:ln w="12700"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kumimoji="1" lang="en-US" altLang="ko-KR" sz="1000" b="1">
                <a:solidFill>
                  <a:schemeClr val="tx1"/>
                </a:solidFill>
              </a:rPr>
              <a:t>CUDA MPS </a:t>
            </a:r>
          </a:p>
        </p:txBody>
      </p: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D35DCC22-EB92-534F-DE41-FE784F9BBDB2}"/>
              </a:ext>
            </a:extLst>
          </p:cNvPr>
          <p:cNvCxnSpPr>
            <a:cxnSpLocks/>
            <a:stCxn id="34" idx="0"/>
            <a:endCxn id="22" idx="2"/>
          </p:cNvCxnSpPr>
          <p:nvPr/>
        </p:nvCxnSpPr>
        <p:spPr>
          <a:xfrm flipV="1">
            <a:off x="4145855" y="3504136"/>
            <a:ext cx="2298" cy="51431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모서리가 둥근 직사각형 30">
            <a:extLst>
              <a:ext uri="{FF2B5EF4-FFF2-40B4-BE49-F238E27FC236}">
                <a16:creationId xmlns:a16="http://schemas.microsoft.com/office/drawing/2014/main" id="{6A55F010-90D6-61CA-F129-993E8D2D5F53}"/>
              </a:ext>
            </a:extLst>
          </p:cNvPr>
          <p:cNvSpPr/>
          <p:nvPr/>
        </p:nvSpPr>
        <p:spPr>
          <a:xfrm>
            <a:off x="1369537" y="4163144"/>
            <a:ext cx="1287190" cy="487374"/>
          </a:xfrm>
          <a:prstGeom prst="roundRect">
            <a:avLst>
              <a:gd name="adj" fmla="val 6199"/>
            </a:avLst>
          </a:prstGeom>
          <a:solidFill>
            <a:schemeClr val="accent1">
              <a:lumMod val="20000"/>
              <a:lumOff val="80000"/>
            </a:schemeClr>
          </a:solidFill>
          <a:ln w="12700"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 b="1">
                <a:solidFill>
                  <a:schemeClr val="tx1"/>
                </a:solidFill>
              </a:rPr>
              <a:t>CUDA App A </a:t>
            </a:r>
          </a:p>
        </p:txBody>
      </p:sp>
      <p:sp>
        <p:nvSpPr>
          <p:cNvPr id="32" name="모서리가 둥근 직사각형 31">
            <a:extLst>
              <a:ext uri="{FF2B5EF4-FFF2-40B4-BE49-F238E27FC236}">
                <a16:creationId xmlns:a16="http://schemas.microsoft.com/office/drawing/2014/main" id="{5103D0E9-558B-6B6B-DD9D-35F32A4DC62A}"/>
              </a:ext>
            </a:extLst>
          </p:cNvPr>
          <p:cNvSpPr/>
          <p:nvPr/>
        </p:nvSpPr>
        <p:spPr>
          <a:xfrm>
            <a:off x="3502260" y="4163144"/>
            <a:ext cx="1287190" cy="487374"/>
          </a:xfrm>
          <a:prstGeom prst="roundRect">
            <a:avLst>
              <a:gd name="adj" fmla="val 6199"/>
            </a:avLst>
          </a:prstGeom>
          <a:solidFill>
            <a:schemeClr val="accent3">
              <a:lumMod val="20000"/>
              <a:lumOff val="80000"/>
            </a:schemeClr>
          </a:solidFill>
          <a:ln w="12700"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 b="1">
                <a:solidFill>
                  <a:schemeClr val="tx1"/>
                </a:solidFill>
              </a:rPr>
              <a:t>CUDA App B </a:t>
            </a:r>
          </a:p>
        </p:txBody>
      </p:sp>
      <p:sp>
        <p:nvSpPr>
          <p:cNvPr id="33" name="모서리가 둥근 직사각형 32">
            <a:extLst>
              <a:ext uri="{FF2B5EF4-FFF2-40B4-BE49-F238E27FC236}">
                <a16:creationId xmlns:a16="http://schemas.microsoft.com/office/drawing/2014/main" id="{7B4CF9DA-AB78-B4DC-EBC9-81E4F865F6C5}"/>
              </a:ext>
            </a:extLst>
          </p:cNvPr>
          <p:cNvSpPr/>
          <p:nvPr/>
        </p:nvSpPr>
        <p:spPr>
          <a:xfrm>
            <a:off x="5639578" y="4163144"/>
            <a:ext cx="1287190" cy="487374"/>
          </a:xfrm>
          <a:prstGeom prst="roundRect">
            <a:avLst>
              <a:gd name="adj" fmla="val 6199"/>
            </a:avLst>
          </a:prstGeom>
          <a:solidFill>
            <a:schemeClr val="accent2">
              <a:lumMod val="20000"/>
              <a:lumOff val="80000"/>
            </a:schemeClr>
          </a:solidFill>
          <a:ln w="12700"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 b="1">
                <a:solidFill>
                  <a:schemeClr val="tx1"/>
                </a:solidFill>
              </a:rPr>
              <a:t>CUDA App C </a:t>
            </a:r>
          </a:p>
        </p:txBody>
      </p:sp>
      <p:sp>
        <p:nvSpPr>
          <p:cNvPr id="34" name="모서리가 둥근 직사각형 33">
            <a:extLst>
              <a:ext uri="{FF2B5EF4-FFF2-40B4-BE49-F238E27FC236}">
                <a16:creationId xmlns:a16="http://schemas.microsoft.com/office/drawing/2014/main" id="{83AB6B76-0571-89D5-2D96-A0FE833C4D06}"/>
              </a:ext>
            </a:extLst>
          </p:cNvPr>
          <p:cNvSpPr/>
          <p:nvPr/>
        </p:nvSpPr>
        <p:spPr>
          <a:xfrm>
            <a:off x="1202960" y="4018447"/>
            <a:ext cx="5885789" cy="929562"/>
          </a:xfrm>
          <a:prstGeom prst="roundRect">
            <a:avLst>
              <a:gd name="adj" fmla="val 6199"/>
            </a:avLst>
          </a:prstGeom>
          <a:noFill/>
          <a:ln w="12700"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kumimoji="1" lang="en-US" altLang="ko-KR" sz="1000" b="1">
                <a:solidFill>
                  <a:schemeClr val="tx1"/>
                </a:solidFill>
              </a:rPr>
              <a:t>CUDA MPS</a:t>
            </a:r>
          </a:p>
        </p:txBody>
      </p:sp>
    </p:spTree>
    <p:extLst>
      <p:ext uri="{BB962C8B-B14F-4D97-AF65-F5344CB8AC3E}">
        <p14:creationId xmlns:p14="http://schemas.microsoft.com/office/powerpoint/2010/main" val="401612560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FA1961-99A5-A2F9-8D99-AF12FF9F78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4E9009A-72CE-5C59-8639-802384B1D465}"/>
              </a:ext>
            </a:extLst>
          </p:cNvPr>
          <p:cNvSpPr txBox="1">
            <a:spLocks/>
          </p:cNvSpPr>
          <p:nvPr/>
        </p:nvSpPr>
        <p:spPr>
          <a:xfrm>
            <a:off x="457200" y="-397141"/>
            <a:ext cx="8229600" cy="857250"/>
          </a:xfrm>
          <a:prstGeom prst="rect">
            <a:avLst/>
          </a:prstGeom>
        </p:spPr>
        <p:txBody>
          <a:bodyPr/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/>
              <a:t>MPS After Volta Architecture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2DF919C-0F88-C456-070F-37F799ABA919}"/>
              </a:ext>
            </a:extLst>
          </p:cNvPr>
          <p:cNvSpPr txBox="1"/>
          <p:nvPr/>
        </p:nvSpPr>
        <p:spPr>
          <a:xfrm>
            <a:off x="44450" y="3765746"/>
            <a:ext cx="10887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100" b="1"/>
              <a:t>GPU Memory</a:t>
            </a:r>
            <a:endParaRPr kumimoji="1" lang="ko-KR" altLang="en-US" sz="1100" b="1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0ADE746-3926-7E83-0AD0-02691411CEE2}"/>
              </a:ext>
            </a:extLst>
          </p:cNvPr>
          <p:cNvSpPr txBox="1"/>
          <p:nvPr/>
        </p:nvSpPr>
        <p:spPr>
          <a:xfrm>
            <a:off x="44450" y="3504136"/>
            <a:ext cx="83708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100" b="1"/>
              <a:t>GPU Core</a:t>
            </a:r>
            <a:endParaRPr kumimoji="1" lang="ko-KR" altLang="en-US" sz="1100" b="1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E012DC9B-2FE1-8EDC-34A8-B4C7261BC8EC}"/>
              </a:ext>
            </a:extLst>
          </p:cNvPr>
          <p:cNvGrpSpPr/>
          <p:nvPr/>
        </p:nvGrpSpPr>
        <p:grpSpPr>
          <a:xfrm>
            <a:off x="2169736" y="755426"/>
            <a:ext cx="1954202" cy="720080"/>
            <a:chOff x="236727" y="987574"/>
            <a:chExt cx="1957044" cy="720080"/>
          </a:xfrm>
          <a:solidFill>
            <a:schemeClr val="accent1">
              <a:lumMod val="20000"/>
              <a:lumOff val="80000"/>
            </a:schemeClr>
          </a:solidFill>
        </p:grpSpPr>
        <p:sp>
          <p:nvSpPr>
            <p:cNvPr id="6" name="모서리가 둥근 직사각형 5">
              <a:extLst>
                <a:ext uri="{FF2B5EF4-FFF2-40B4-BE49-F238E27FC236}">
                  <a16:creationId xmlns:a16="http://schemas.microsoft.com/office/drawing/2014/main" id="{D2F5C866-F428-26EB-070D-978C9632DDCC}"/>
                </a:ext>
              </a:extLst>
            </p:cNvPr>
            <p:cNvSpPr/>
            <p:nvPr/>
          </p:nvSpPr>
          <p:spPr>
            <a:xfrm>
              <a:off x="236727" y="987574"/>
              <a:ext cx="1241295" cy="288032"/>
            </a:xfrm>
            <a:prstGeom prst="roundRect">
              <a:avLst>
                <a:gd name="adj" fmla="val 15432"/>
              </a:avLst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900">
                  <a:solidFill>
                    <a:schemeClr val="tx1"/>
                  </a:solidFill>
                </a:rPr>
                <a:t>Kernel A1</a:t>
              </a:r>
              <a:endParaRPr kumimoji="1" lang="ko-KR" altLang="en-US" sz="900">
                <a:solidFill>
                  <a:schemeClr val="tx1"/>
                </a:solidFill>
              </a:endParaRPr>
            </a:p>
          </p:txBody>
        </p:sp>
        <p:sp>
          <p:nvSpPr>
            <p:cNvPr id="7" name="모서리가 둥근 직사각형 6">
              <a:extLst>
                <a:ext uri="{FF2B5EF4-FFF2-40B4-BE49-F238E27FC236}">
                  <a16:creationId xmlns:a16="http://schemas.microsoft.com/office/drawing/2014/main" id="{7B171129-28C4-F9A2-D188-13AFB8E35217}"/>
                </a:ext>
              </a:extLst>
            </p:cNvPr>
            <p:cNvSpPr/>
            <p:nvPr/>
          </p:nvSpPr>
          <p:spPr>
            <a:xfrm>
              <a:off x="1478244" y="987574"/>
              <a:ext cx="715527" cy="288032"/>
            </a:xfrm>
            <a:prstGeom prst="roundRect">
              <a:avLst>
                <a:gd name="adj" fmla="val 15432"/>
              </a:avLst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900">
                  <a:solidFill>
                    <a:schemeClr val="tx1"/>
                  </a:solidFill>
                </a:rPr>
                <a:t>Kernel A2</a:t>
              </a:r>
              <a:endParaRPr kumimoji="1" lang="ko-KR" altLang="en-US" sz="900">
                <a:solidFill>
                  <a:schemeClr val="tx1"/>
                </a:solidFill>
              </a:endParaRPr>
            </a:p>
          </p:txBody>
        </p:sp>
        <p:sp>
          <p:nvSpPr>
            <p:cNvPr id="8" name="모서리가 둥근 직사각형 7">
              <a:extLst>
                <a:ext uri="{FF2B5EF4-FFF2-40B4-BE49-F238E27FC236}">
                  <a16:creationId xmlns:a16="http://schemas.microsoft.com/office/drawing/2014/main" id="{22C91B64-27B2-3864-459D-205C4AE09270}"/>
                </a:ext>
              </a:extLst>
            </p:cNvPr>
            <p:cNvSpPr/>
            <p:nvPr/>
          </p:nvSpPr>
          <p:spPr>
            <a:xfrm>
              <a:off x="239069" y="1419622"/>
              <a:ext cx="1239175" cy="288032"/>
            </a:xfrm>
            <a:prstGeom prst="roundRect">
              <a:avLst>
                <a:gd name="adj" fmla="val 15432"/>
              </a:avLst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900">
                  <a:solidFill>
                    <a:schemeClr val="tx1"/>
                  </a:solidFill>
                </a:rPr>
                <a:t>Kernel A3</a:t>
              </a:r>
              <a:endParaRPr kumimoji="1" lang="ko-KR" altLang="en-US" sz="900">
                <a:solidFill>
                  <a:schemeClr val="tx1"/>
                </a:solidFill>
              </a:endParaRPr>
            </a:p>
          </p:txBody>
        </p:sp>
      </p:grpSp>
      <p:grpSp>
        <p:nvGrpSpPr>
          <p:cNvPr id="9" name="그룹 8">
            <a:extLst>
              <a:ext uri="{FF2B5EF4-FFF2-40B4-BE49-F238E27FC236}">
                <a16:creationId xmlns:a16="http://schemas.microsoft.com/office/drawing/2014/main" id="{02AC8276-E9B2-4711-7D98-539C5426F7DD}"/>
              </a:ext>
            </a:extLst>
          </p:cNvPr>
          <p:cNvGrpSpPr/>
          <p:nvPr/>
        </p:nvGrpSpPr>
        <p:grpSpPr>
          <a:xfrm>
            <a:off x="2169736" y="1731143"/>
            <a:ext cx="1954544" cy="720080"/>
            <a:chOff x="2331399" y="987574"/>
            <a:chExt cx="1957387" cy="720080"/>
          </a:xfrm>
          <a:solidFill>
            <a:schemeClr val="accent3">
              <a:lumMod val="20000"/>
              <a:lumOff val="80000"/>
            </a:schemeClr>
          </a:solidFill>
        </p:grpSpPr>
        <p:sp>
          <p:nvSpPr>
            <p:cNvPr id="10" name="모서리가 둥근 직사각형 9">
              <a:extLst>
                <a:ext uri="{FF2B5EF4-FFF2-40B4-BE49-F238E27FC236}">
                  <a16:creationId xmlns:a16="http://schemas.microsoft.com/office/drawing/2014/main" id="{06D0A695-A313-C1C9-FCFB-48DBADFC3988}"/>
                </a:ext>
              </a:extLst>
            </p:cNvPr>
            <p:cNvSpPr/>
            <p:nvPr/>
          </p:nvSpPr>
          <p:spPr>
            <a:xfrm>
              <a:off x="2331964" y="987574"/>
              <a:ext cx="1241295" cy="288032"/>
            </a:xfrm>
            <a:prstGeom prst="roundRect">
              <a:avLst>
                <a:gd name="adj" fmla="val 15432"/>
              </a:avLst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900">
                  <a:solidFill>
                    <a:schemeClr val="tx1"/>
                  </a:solidFill>
                </a:rPr>
                <a:t>Kernel B1</a:t>
              </a:r>
              <a:endParaRPr kumimoji="1" lang="ko-KR" altLang="en-US" sz="900">
                <a:solidFill>
                  <a:schemeClr val="tx1"/>
                </a:solidFill>
              </a:endParaRPr>
            </a:p>
          </p:txBody>
        </p:sp>
        <p:sp>
          <p:nvSpPr>
            <p:cNvPr id="11" name="모서리가 둥근 직사각형 10">
              <a:extLst>
                <a:ext uri="{FF2B5EF4-FFF2-40B4-BE49-F238E27FC236}">
                  <a16:creationId xmlns:a16="http://schemas.microsoft.com/office/drawing/2014/main" id="{CC1A6873-9CB6-6837-CB12-BE3C9A2101B8}"/>
                </a:ext>
              </a:extLst>
            </p:cNvPr>
            <p:cNvSpPr/>
            <p:nvPr/>
          </p:nvSpPr>
          <p:spPr>
            <a:xfrm>
              <a:off x="2331399" y="1419622"/>
              <a:ext cx="715527" cy="288032"/>
            </a:xfrm>
            <a:prstGeom prst="roundRect">
              <a:avLst>
                <a:gd name="adj" fmla="val 15432"/>
              </a:avLst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900">
                  <a:solidFill>
                    <a:schemeClr val="tx1"/>
                  </a:solidFill>
                </a:rPr>
                <a:t>Kernel B3</a:t>
              </a:r>
              <a:endParaRPr kumimoji="1" lang="ko-KR" altLang="en-US" sz="900">
                <a:solidFill>
                  <a:schemeClr val="tx1"/>
                </a:solidFill>
              </a:endParaRPr>
            </a:p>
          </p:txBody>
        </p:sp>
        <p:sp>
          <p:nvSpPr>
            <p:cNvPr id="12" name="모서리가 둥근 직사각형 11">
              <a:extLst>
                <a:ext uri="{FF2B5EF4-FFF2-40B4-BE49-F238E27FC236}">
                  <a16:creationId xmlns:a16="http://schemas.microsoft.com/office/drawing/2014/main" id="{5B088537-2A39-8F0C-516A-F858E24D46A2}"/>
                </a:ext>
              </a:extLst>
            </p:cNvPr>
            <p:cNvSpPr/>
            <p:nvPr/>
          </p:nvSpPr>
          <p:spPr>
            <a:xfrm>
              <a:off x="3573259" y="987574"/>
              <a:ext cx="715527" cy="288032"/>
            </a:xfrm>
            <a:prstGeom prst="roundRect">
              <a:avLst>
                <a:gd name="adj" fmla="val 15432"/>
              </a:avLst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900">
                  <a:solidFill>
                    <a:schemeClr val="tx1"/>
                  </a:solidFill>
                </a:rPr>
                <a:t>Kernel B2</a:t>
              </a:r>
              <a:endParaRPr kumimoji="1" lang="ko-KR" altLang="en-US" sz="900">
                <a:solidFill>
                  <a:schemeClr val="tx1"/>
                </a:solidFill>
              </a:endParaRPr>
            </a:p>
          </p:txBody>
        </p:sp>
      </p:grp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EF9B6885-738D-1891-EBCA-54FEC4AD5C37}"/>
              </a:ext>
            </a:extLst>
          </p:cNvPr>
          <p:cNvGrpSpPr/>
          <p:nvPr/>
        </p:nvGrpSpPr>
        <p:grpSpPr>
          <a:xfrm>
            <a:off x="2172075" y="2706860"/>
            <a:ext cx="1951863" cy="720080"/>
            <a:chOff x="4427984" y="987574"/>
            <a:chExt cx="1954702" cy="720080"/>
          </a:xfrm>
        </p:grpSpPr>
        <p:sp>
          <p:nvSpPr>
            <p:cNvPr id="14" name="모서리가 둥근 직사각형 13">
              <a:extLst>
                <a:ext uri="{FF2B5EF4-FFF2-40B4-BE49-F238E27FC236}">
                  <a16:creationId xmlns:a16="http://schemas.microsoft.com/office/drawing/2014/main" id="{9F0BBF4B-DA2A-B227-4200-52F21781FDB0}"/>
                </a:ext>
              </a:extLst>
            </p:cNvPr>
            <p:cNvSpPr/>
            <p:nvPr/>
          </p:nvSpPr>
          <p:spPr>
            <a:xfrm>
              <a:off x="4427984" y="987574"/>
              <a:ext cx="715527" cy="288032"/>
            </a:xfrm>
            <a:prstGeom prst="roundRect">
              <a:avLst>
                <a:gd name="adj" fmla="val 15432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900">
                  <a:solidFill>
                    <a:schemeClr val="tx1"/>
                  </a:solidFill>
                </a:rPr>
                <a:t>Kernel C1</a:t>
              </a:r>
              <a:endParaRPr kumimoji="1" lang="ko-KR" altLang="en-US" sz="900">
                <a:solidFill>
                  <a:schemeClr val="tx1"/>
                </a:solidFill>
              </a:endParaRPr>
            </a:p>
          </p:txBody>
        </p:sp>
        <p:sp>
          <p:nvSpPr>
            <p:cNvPr id="15" name="모서리가 둥근 직사각형 14">
              <a:extLst>
                <a:ext uri="{FF2B5EF4-FFF2-40B4-BE49-F238E27FC236}">
                  <a16:creationId xmlns:a16="http://schemas.microsoft.com/office/drawing/2014/main" id="{C246C6A8-5472-A483-C5F4-926ABB7C92E8}"/>
                </a:ext>
              </a:extLst>
            </p:cNvPr>
            <p:cNvSpPr/>
            <p:nvPr/>
          </p:nvSpPr>
          <p:spPr>
            <a:xfrm>
              <a:off x="5143511" y="987574"/>
              <a:ext cx="1239175" cy="288032"/>
            </a:xfrm>
            <a:prstGeom prst="roundRect">
              <a:avLst>
                <a:gd name="adj" fmla="val 15432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900">
                  <a:solidFill>
                    <a:schemeClr val="tx1"/>
                  </a:solidFill>
                </a:rPr>
                <a:t>Kernel C2</a:t>
              </a:r>
              <a:endParaRPr kumimoji="1" lang="ko-KR" altLang="en-US" sz="900">
                <a:solidFill>
                  <a:schemeClr val="tx1"/>
                </a:solidFill>
              </a:endParaRPr>
            </a:p>
          </p:txBody>
        </p:sp>
        <p:sp>
          <p:nvSpPr>
            <p:cNvPr id="16" name="모서리가 둥근 직사각형 15">
              <a:extLst>
                <a:ext uri="{FF2B5EF4-FFF2-40B4-BE49-F238E27FC236}">
                  <a16:creationId xmlns:a16="http://schemas.microsoft.com/office/drawing/2014/main" id="{2014CFA0-3D49-5A5A-C8A9-ECE6EDE9DA7E}"/>
                </a:ext>
              </a:extLst>
            </p:cNvPr>
            <p:cNvSpPr/>
            <p:nvPr/>
          </p:nvSpPr>
          <p:spPr>
            <a:xfrm>
              <a:off x="4427984" y="1419622"/>
              <a:ext cx="715527" cy="288032"/>
            </a:xfrm>
            <a:prstGeom prst="roundRect">
              <a:avLst>
                <a:gd name="adj" fmla="val 15432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900">
                  <a:solidFill>
                    <a:schemeClr val="tx1"/>
                  </a:solidFill>
                </a:rPr>
                <a:t>Kernel C3</a:t>
              </a:r>
              <a:endParaRPr kumimoji="1" lang="ko-KR" altLang="en-US" sz="900">
                <a:solidFill>
                  <a:schemeClr val="tx1"/>
                </a:solidFill>
              </a:endParaRPr>
            </a:p>
          </p:txBody>
        </p:sp>
      </p:grpSp>
      <p:sp>
        <p:nvSpPr>
          <p:cNvPr id="17" name="모서리가 둥근 직사각형 16">
            <a:extLst>
              <a:ext uri="{FF2B5EF4-FFF2-40B4-BE49-F238E27FC236}">
                <a16:creationId xmlns:a16="http://schemas.microsoft.com/office/drawing/2014/main" id="{1725D7CE-534D-A771-4694-821A00F63B6F}"/>
              </a:ext>
            </a:extLst>
          </p:cNvPr>
          <p:cNvSpPr/>
          <p:nvPr/>
        </p:nvSpPr>
        <p:spPr>
          <a:xfrm>
            <a:off x="4473991" y="755426"/>
            <a:ext cx="714487" cy="288032"/>
          </a:xfrm>
          <a:prstGeom prst="roundRect">
            <a:avLst>
              <a:gd name="adj" fmla="val 15432"/>
            </a:avLst>
          </a:prstGeom>
          <a:solidFill>
            <a:schemeClr val="accent1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Kernel A4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18" name="모서리가 둥근 직사각형 17">
            <a:extLst>
              <a:ext uri="{FF2B5EF4-FFF2-40B4-BE49-F238E27FC236}">
                <a16:creationId xmlns:a16="http://schemas.microsoft.com/office/drawing/2014/main" id="{69F677F9-83E0-05DD-CBA5-DAD36E3D7A39}"/>
              </a:ext>
            </a:extLst>
          </p:cNvPr>
          <p:cNvSpPr/>
          <p:nvPr/>
        </p:nvSpPr>
        <p:spPr>
          <a:xfrm>
            <a:off x="4473992" y="2157219"/>
            <a:ext cx="714487" cy="288032"/>
          </a:xfrm>
          <a:prstGeom prst="roundRect">
            <a:avLst>
              <a:gd name="adj" fmla="val 15432"/>
            </a:avLst>
          </a:prstGeom>
          <a:solidFill>
            <a:schemeClr val="accent3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Kernel B4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19" name="모서리가 둥근 직사각형 18">
            <a:extLst>
              <a:ext uri="{FF2B5EF4-FFF2-40B4-BE49-F238E27FC236}">
                <a16:creationId xmlns:a16="http://schemas.microsoft.com/office/drawing/2014/main" id="{DD131962-923E-A219-66B9-848AF83857A7}"/>
              </a:ext>
            </a:extLst>
          </p:cNvPr>
          <p:cNvSpPr/>
          <p:nvPr/>
        </p:nvSpPr>
        <p:spPr>
          <a:xfrm>
            <a:off x="4473991" y="2706860"/>
            <a:ext cx="714487" cy="288032"/>
          </a:xfrm>
          <a:prstGeom prst="roundRect">
            <a:avLst>
              <a:gd name="adj" fmla="val 15432"/>
            </a:avLst>
          </a:prstGeom>
          <a:solidFill>
            <a:schemeClr val="accent2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Kernel C4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20" name="모서리가 둥근 직사각형 19">
            <a:extLst>
              <a:ext uri="{FF2B5EF4-FFF2-40B4-BE49-F238E27FC236}">
                <a16:creationId xmlns:a16="http://schemas.microsoft.com/office/drawing/2014/main" id="{A43815F8-8A79-2D06-5203-D48B9D13AE39}"/>
              </a:ext>
            </a:extLst>
          </p:cNvPr>
          <p:cNvSpPr/>
          <p:nvPr/>
        </p:nvSpPr>
        <p:spPr>
          <a:xfrm>
            <a:off x="4473991" y="3138908"/>
            <a:ext cx="714487" cy="288032"/>
          </a:xfrm>
          <a:prstGeom prst="roundRect">
            <a:avLst>
              <a:gd name="adj" fmla="val 15432"/>
            </a:avLst>
          </a:prstGeom>
          <a:solidFill>
            <a:schemeClr val="accent2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Kernel C5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21" name="모서리가 둥근 직사각형 20">
            <a:extLst>
              <a:ext uri="{FF2B5EF4-FFF2-40B4-BE49-F238E27FC236}">
                <a16:creationId xmlns:a16="http://schemas.microsoft.com/office/drawing/2014/main" id="{E940BA90-6A72-F78C-F78E-71D08BCCFFEB}"/>
              </a:ext>
            </a:extLst>
          </p:cNvPr>
          <p:cNvSpPr/>
          <p:nvPr/>
        </p:nvSpPr>
        <p:spPr>
          <a:xfrm>
            <a:off x="2097726" y="690648"/>
            <a:ext cx="4096256" cy="857250"/>
          </a:xfrm>
          <a:prstGeom prst="roundRect">
            <a:avLst>
              <a:gd name="adj" fmla="val 8128"/>
            </a:avLst>
          </a:prstGeom>
          <a:noFill/>
          <a:ln w="12700"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r"/>
            <a:r>
              <a:rPr kumimoji="1" lang="en-US" altLang="ko-KR" sz="1000" b="1">
                <a:solidFill>
                  <a:schemeClr val="tx1"/>
                </a:solidFill>
              </a:rPr>
              <a:t>CUDA App A</a:t>
            </a:r>
          </a:p>
        </p:txBody>
      </p: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682B2B9E-A4D5-E582-69A5-7A1251D90A34}"/>
              </a:ext>
            </a:extLst>
          </p:cNvPr>
          <p:cNvCxnSpPr>
            <a:cxnSpLocks/>
            <a:stCxn id="23" idx="0"/>
            <a:endCxn id="21" idx="1"/>
          </p:cNvCxnSpPr>
          <p:nvPr/>
        </p:nvCxnSpPr>
        <p:spPr>
          <a:xfrm flipV="1">
            <a:off x="2013132" y="1119273"/>
            <a:ext cx="84594" cy="304387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모서리가 둥근 직사각형 22">
            <a:extLst>
              <a:ext uri="{FF2B5EF4-FFF2-40B4-BE49-F238E27FC236}">
                <a16:creationId xmlns:a16="http://schemas.microsoft.com/office/drawing/2014/main" id="{9570CE72-8BE6-4D9D-405A-9C73FD5AF559}"/>
              </a:ext>
            </a:extLst>
          </p:cNvPr>
          <p:cNvSpPr/>
          <p:nvPr/>
        </p:nvSpPr>
        <p:spPr>
          <a:xfrm>
            <a:off x="1369537" y="4163144"/>
            <a:ext cx="1287190" cy="487374"/>
          </a:xfrm>
          <a:prstGeom prst="roundRect">
            <a:avLst>
              <a:gd name="adj" fmla="val 6199"/>
            </a:avLst>
          </a:prstGeom>
          <a:solidFill>
            <a:schemeClr val="accent1">
              <a:lumMod val="20000"/>
              <a:lumOff val="80000"/>
            </a:schemeClr>
          </a:solidFill>
          <a:ln w="12700"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 b="1">
                <a:solidFill>
                  <a:schemeClr val="tx1"/>
                </a:solidFill>
              </a:rPr>
              <a:t>CUDA App A </a:t>
            </a:r>
          </a:p>
        </p:txBody>
      </p:sp>
      <p:sp>
        <p:nvSpPr>
          <p:cNvPr id="24" name="모서리가 둥근 직사각형 23">
            <a:extLst>
              <a:ext uri="{FF2B5EF4-FFF2-40B4-BE49-F238E27FC236}">
                <a16:creationId xmlns:a16="http://schemas.microsoft.com/office/drawing/2014/main" id="{2AE65BCE-8906-4A38-4F00-BFD2422DB3DA}"/>
              </a:ext>
            </a:extLst>
          </p:cNvPr>
          <p:cNvSpPr/>
          <p:nvPr/>
        </p:nvSpPr>
        <p:spPr>
          <a:xfrm>
            <a:off x="3502260" y="4163144"/>
            <a:ext cx="1287190" cy="487374"/>
          </a:xfrm>
          <a:prstGeom prst="roundRect">
            <a:avLst>
              <a:gd name="adj" fmla="val 6199"/>
            </a:avLst>
          </a:prstGeom>
          <a:solidFill>
            <a:schemeClr val="accent3">
              <a:lumMod val="20000"/>
              <a:lumOff val="80000"/>
            </a:schemeClr>
          </a:solidFill>
          <a:ln w="12700"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 b="1">
                <a:solidFill>
                  <a:schemeClr val="tx1"/>
                </a:solidFill>
              </a:rPr>
              <a:t>CUDA App B </a:t>
            </a:r>
          </a:p>
        </p:txBody>
      </p:sp>
      <p:sp>
        <p:nvSpPr>
          <p:cNvPr id="25" name="모서리가 둥근 직사각형 24">
            <a:extLst>
              <a:ext uri="{FF2B5EF4-FFF2-40B4-BE49-F238E27FC236}">
                <a16:creationId xmlns:a16="http://schemas.microsoft.com/office/drawing/2014/main" id="{B3D068BE-230D-5B63-6367-7873EB547570}"/>
              </a:ext>
            </a:extLst>
          </p:cNvPr>
          <p:cNvSpPr/>
          <p:nvPr/>
        </p:nvSpPr>
        <p:spPr>
          <a:xfrm>
            <a:off x="5639578" y="4163144"/>
            <a:ext cx="1287190" cy="487374"/>
          </a:xfrm>
          <a:prstGeom prst="roundRect">
            <a:avLst>
              <a:gd name="adj" fmla="val 6199"/>
            </a:avLst>
          </a:prstGeom>
          <a:solidFill>
            <a:schemeClr val="accent2">
              <a:lumMod val="20000"/>
              <a:lumOff val="80000"/>
            </a:schemeClr>
          </a:solidFill>
          <a:ln w="12700"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 b="1">
                <a:solidFill>
                  <a:schemeClr val="tx1"/>
                </a:solidFill>
              </a:rPr>
              <a:t>CUDA App C </a:t>
            </a:r>
          </a:p>
        </p:txBody>
      </p:sp>
      <p:cxnSp>
        <p:nvCxnSpPr>
          <p:cNvPr id="32" name="직선 연결선[R] 31">
            <a:extLst>
              <a:ext uri="{FF2B5EF4-FFF2-40B4-BE49-F238E27FC236}">
                <a16:creationId xmlns:a16="http://schemas.microsoft.com/office/drawing/2014/main" id="{B64F16C7-0CB0-F732-4056-35C9394A8EFC}"/>
              </a:ext>
            </a:extLst>
          </p:cNvPr>
          <p:cNvCxnSpPr>
            <a:cxnSpLocks/>
          </p:cNvCxnSpPr>
          <p:nvPr/>
        </p:nvCxnSpPr>
        <p:spPr>
          <a:xfrm>
            <a:off x="-36512" y="3765746"/>
            <a:ext cx="9289032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모서리가 둥근 직사각형 34">
            <a:extLst>
              <a:ext uri="{FF2B5EF4-FFF2-40B4-BE49-F238E27FC236}">
                <a16:creationId xmlns:a16="http://schemas.microsoft.com/office/drawing/2014/main" id="{5471EB44-28A4-8E7C-97D3-B80FC4F1D95A}"/>
              </a:ext>
            </a:extLst>
          </p:cNvPr>
          <p:cNvSpPr/>
          <p:nvPr/>
        </p:nvSpPr>
        <p:spPr>
          <a:xfrm>
            <a:off x="2097726" y="1669746"/>
            <a:ext cx="4096256" cy="857250"/>
          </a:xfrm>
          <a:prstGeom prst="roundRect">
            <a:avLst>
              <a:gd name="adj" fmla="val 8128"/>
            </a:avLst>
          </a:prstGeom>
          <a:noFill/>
          <a:ln w="12700"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r"/>
            <a:r>
              <a:rPr kumimoji="1" lang="en-US" altLang="ko-KR" sz="1000" b="1">
                <a:solidFill>
                  <a:schemeClr val="tx1"/>
                </a:solidFill>
              </a:rPr>
              <a:t>CUDA App B</a:t>
            </a:r>
          </a:p>
        </p:txBody>
      </p:sp>
      <p:sp>
        <p:nvSpPr>
          <p:cNvPr id="39" name="모서리가 둥근 직사각형 38">
            <a:extLst>
              <a:ext uri="{FF2B5EF4-FFF2-40B4-BE49-F238E27FC236}">
                <a16:creationId xmlns:a16="http://schemas.microsoft.com/office/drawing/2014/main" id="{F6FA00E2-A1EC-F15C-234E-D58A88E8C121}"/>
              </a:ext>
            </a:extLst>
          </p:cNvPr>
          <p:cNvSpPr/>
          <p:nvPr/>
        </p:nvSpPr>
        <p:spPr>
          <a:xfrm>
            <a:off x="2097726" y="2646886"/>
            <a:ext cx="4096256" cy="857250"/>
          </a:xfrm>
          <a:prstGeom prst="roundRect">
            <a:avLst>
              <a:gd name="adj" fmla="val 8128"/>
            </a:avLst>
          </a:prstGeom>
          <a:noFill/>
          <a:ln w="12700"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r"/>
            <a:r>
              <a:rPr kumimoji="1" lang="en-US" altLang="ko-KR" sz="1000" b="1">
                <a:solidFill>
                  <a:schemeClr val="tx1"/>
                </a:solidFill>
              </a:rPr>
              <a:t>CUDA App C</a:t>
            </a:r>
          </a:p>
        </p:txBody>
      </p:sp>
      <p:cxnSp>
        <p:nvCxnSpPr>
          <p:cNvPr id="42" name="직선 화살표 연결선 41">
            <a:extLst>
              <a:ext uri="{FF2B5EF4-FFF2-40B4-BE49-F238E27FC236}">
                <a16:creationId xmlns:a16="http://schemas.microsoft.com/office/drawing/2014/main" id="{67CE386D-D38D-B509-796A-5A4746EBBBB0}"/>
              </a:ext>
            </a:extLst>
          </p:cNvPr>
          <p:cNvCxnSpPr>
            <a:cxnSpLocks/>
            <a:stCxn id="24" idx="0"/>
            <a:endCxn id="35" idx="2"/>
          </p:cNvCxnSpPr>
          <p:nvPr/>
        </p:nvCxnSpPr>
        <p:spPr>
          <a:xfrm flipH="1" flipV="1">
            <a:off x="4145854" y="2526996"/>
            <a:ext cx="1" cy="163614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87690585-65FB-1A9E-2126-6A48A8C210D4}"/>
              </a:ext>
            </a:extLst>
          </p:cNvPr>
          <p:cNvCxnSpPr>
            <a:cxnSpLocks/>
            <a:stCxn id="25" idx="0"/>
            <a:endCxn id="39" idx="3"/>
          </p:cNvCxnSpPr>
          <p:nvPr/>
        </p:nvCxnSpPr>
        <p:spPr>
          <a:xfrm flipH="1" flipV="1">
            <a:off x="6193982" y="3075511"/>
            <a:ext cx="89191" cy="108763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9941576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30848E-F96D-BC16-EF28-73096F7AFC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모서리가 둥근 직사각형 40">
            <a:extLst>
              <a:ext uri="{FF2B5EF4-FFF2-40B4-BE49-F238E27FC236}">
                <a16:creationId xmlns:a16="http://schemas.microsoft.com/office/drawing/2014/main" id="{9330EE16-16BE-D545-2AB3-CA9D619D40CE}"/>
              </a:ext>
            </a:extLst>
          </p:cNvPr>
          <p:cNvSpPr/>
          <p:nvPr/>
        </p:nvSpPr>
        <p:spPr>
          <a:xfrm>
            <a:off x="4316405" y="1347614"/>
            <a:ext cx="2086240" cy="1368152"/>
          </a:xfrm>
          <a:prstGeom prst="roundRect">
            <a:avLst>
              <a:gd name="adj" fmla="val 6199"/>
            </a:avLst>
          </a:prstGeom>
          <a:solidFill>
            <a:schemeClr val="accent2">
              <a:lumMod val="20000"/>
              <a:lumOff val="80000"/>
            </a:schemeClr>
          </a:solidFill>
          <a:ln w="12700"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kumimoji="1" lang="en-US" altLang="ko-KR" sz="1000" b="1">
                <a:solidFill>
                  <a:schemeClr val="tx1"/>
                </a:solidFill>
              </a:rPr>
              <a:t>CUDA App C </a:t>
            </a:r>
          </a:p>
          <a:p>
            <a:pPr algn="ctr"/>
            <a:r>
              <a:rPr kumimoji="1" lang="en-US" altLang="ko-KR" sz="1000" b="1">
                <a:solidFill>
                  <a:schemeClr val="tx1"/>
                </a:solidFill>
              </a:rPr>
              <a:t>Context</a:t>
            </a:r>
            <a:endParaRPr kumimoji="1" lang="ko-KR" altLang="en-US" sz="1000" b="1">
              <a:solidFill>
                <a:schemeClr val="tx1"/>
              </a:solidFill>
            </a:endParaRPr>
          </a:p>
        </p:txBody>
      </p:sp>
      <p:sp>
        <p:nvSpPr>
          <p:cNvPr id="44" name="모서리가 둥근 직사각형 43">
            <a:extLst>
              <a:ext uri="{FF2B5EF4-FFF2-40B4-BE49-F238E27FC236}">
                <a16:creationId xmlns:a16="http://schemas.microsoft.com/office/drawing/2014/main" id="{AD07AC92-16CF-DB97-0410-F2FC4AAED02B}"/>
              </a:ext>
            </a:extLst>
          </p:cNvPr>
          <p:cNvSpPr/>
          <p:nvPr/>
        </p:nvSpPr>
        <p:spPr>
          <a:xfrm>
            <a:off x="8254952" y="1347614"/>
            <a:ext cx="853552" cy="1368152"/>
          </a:xfrm>
          <a:prstGeom prst="roundRect">
            <a:avLst>
              <a:gd name="adj" fmla="val 6199"/>
            </a:avLst>
          </a:prstGeom>
          <a:solidFill>
            <a:schemeClr val="accent2">
              <a:lumMod val="20000"/>
              <a:lumOff val="80000"/>
            </a:schemeClr>
          </a:solidFill>
          <a:ln w="12700"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kumimoji="1" lang="en-US" altLang="ko-KR" sz="1000" b="1">
                <a:solidFill>
                  <a:schemeClr val="tx1"/>
                </a:solidFill>
              </a:rPr>
              <a:t>CUDA App C Context</a:t>
            </a:r>
            <a:endParaRPr kumimoji="1" lang="ko-KR" altLang="en-US" sz="1000" b="1">
              <a:solidFill>
                <a:schemeClr val="tx1"/>
              </a:solidFill>
            </a:endParaRPr>
          </a:p>
        </p:txBody>
      </p:sp>
      <p:sp>
        <p:nvSpPr>
          <p:cNvPr id="39" name="모서리가 둥근 직사각형 38">
            <a:extLst>
              <a:ext uri="{FF2B5EF4-FFF2-40B4-BE49-F238E27FC236}">
                <a16:creationId xmlns:a16="http://schemas.microsoft.com/office/drawing/2014/main" id="{EC29FC7E-BCDD-9727-650E-85A172B2596C}"/>
              </a:ext>
            </a:extLst>
          </p:cNvPr>
          <p:cNvSpPr/>
          <p:nvPr/>
        </p:nvSpPr>
        <p:spPr>
          <a:xfrm>
            <a:off x="2179109" y="1347614"/>
            <a:ext cx="2086240" cy="1368152"/>
          </a:xfrm>
          <a:prstGeom prst="roundRect">
            <a:avLst>
              <a:gd name="adj" fmla="val 6199"/>
            </a:avLst>
          </a:prstGeom>
          <a:solidFill>
            <a:schemeClr val="accent3">
              <a:lumMod val="20000"/>
              <a:lumOff val="80000"/>
            </a:schemeClr>
          </a:solidFill>
          <a:ln w="12700"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kumimoji="1" lang="en-US" altLang="ko-KR" sz="1000" b="1">
                <a:solidFill>
                  <a:schemeClr val="tx1"/>
                </a:solidFill>
              </a:rPr>
              <a:t>CUDA App B </a:t>
            </a:r>
          </a:p>
          <a:p>
            <a:pPr algn="ctr"/>
            <a:r>
              <a:rPr kumimoji="1" lang="en-US" altLang="ko-KR" sz="1000" b="1">
                <a:solidFill>
                  <a:schemeClr val="tx1"/>
                </a:solidFill>
              </a:rPr>
              <a:t>Context</a:t>
            </a:r>
            <a:endParaRPr kumimoji="1" lang="ko-KR" altLang="en-US" sz="1000" b="1">
              <a:solidFill>
                <a:schemeClr val="tx1"/>
              </a:solidFill>
            </a:endParaRPr>
          </a:p>
        </p:txBody>
      </p:sp>
      <p:sp>
        <p:nvSpPr>
          <p:cNvPr id="43" name="모서리가 둥근 직사각형 42">
            <a:extLst>
              <a:ext uri="{FF2B5EF4-FFF2-40B4-BE49-F238E27FC236}">
                <a16:creationId xmlns:a16="http://schemas.microsoft.com/office/drawing/2014/main" id="{5032589E-EAE2-2AEA-FE79-937DFCC7543C}"/>
              </a:ext>
            </a:extLst>
          </p:cNvPr>
          <p:cNvSpPr/>
          <p:nvPr/>
        </p:nvSpPr>
        <p:spPr>
          <a:xfrm>
            <a:off x="7351709" y="1347614"/>
            <a:ext cx="853552" cy="1368152"/>
          </a:xfrm>
          <a:prstGeom prst="roundRect">
            <a:avLst>
              <a:gd name="adj" fmla="val 6199"/>
            </a:avLst>
          </a:prstGeom>
          <a:solidFill>
            <a:schemeClr val="accent3">
              <a:lumMod val="20000"/>
              <a:lumOff val="80000"/>
            </a:schemeClr>
          </a:solidFill>
          <a:ln w="12700"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kumimoji="1" lang="en-US" altLang="ko-KR" sz="1000" b="1">
                <a:solidFill>
                  <a:schemeClr val="tx1"/>
                </a:solidFill>
              </a:rPr>
              <a:t>CUDA App B Context</a:t>
            </a:r>
            <a:endParaRPr kumimoji="1" lang="ko-KR" altLang="en-US" sz="1000" b="1">
              <a:solidFill>
                <a:schemeClr val="tx1"/>
              </a:solidFill>
            </a:endParaRPr>
          </a:p>
        </p:txBody>
      </p:sp>
      <p:sp>
        <p:nvSpPr>
          <p:cNvPr id="35" name="모서리가 둥근 직사각형 34">
            <a:extLst>
              <a:ext uri="{FF2B5EF4-FFF2-40B4-BE49-F238E27FC236}">
                <a16:creationId xmlns:a16="http://schemas.microsoft.com/office/drawing/2014/main" id="{191CD4CD-7D52-4B18-C00A-8141E353AE69}"/>
              </a:ext>
            </a:extLst>
          </p:cNvPr>
          <p:cNvSpPr/>
          <p:nvPr/>
        </p:nvSpPr>
        <p:spPr>
          <a:xfrm>
            <a:off x="44450" y="1347614"/>
            <a:ext cx="2086240" cy="1368152"/>
          </a:xfrm>
          <a:prstGeom prst="roundRect">
            <a:avLst>
              <a:gd name="adj" fmla="val 6199"/>
            </a:avLst>
          </a:prstGeom>
          <a:solidFill>
            <a:schemeClr val="accent1">
              <a:lumMod val="20000"/>
              <a:lumOff val="80000"/>
            </a:schemeClr>
          </a:solidFill>
          <a:ln w="12700"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kumimoji="1" lang="en-US" altLang="ko-KR" sz="1000" b="1">
                <a:solidFill>
                  <a:schemeClr val="tx1"/>
                </a:solidFill>
              </a:rPr>
              <a:t>CUDA App A </a:t>
            </a:r>
          </a:p>
          <a:p>
            <a:pPr algn="ctr"/>
            <a:r>
              <a:rPr kumimoji="1" lang="en-US" altLang="ko-KR" sz="1000" b="1">
                <a:solidFill>
                  <a:schemeClr val="tx1"/>
                </a:solidFill>
              </a:rPr>
              <a:t>Context</a:t>
            </a:r>
            <a:endParaRPr kumimoji="1" lang="ko-KR" altLang="en-US" sz="1000" b="1">
              <a:solidFill>
                <a:schemeClr val="tx1"/>
              </a:solidFill>
            </a:endParaRPr>
          </a:p>
        </p:txBody>
      </p:sp>
      <p:sp>
        <p:nvSpPr>
          <p:cNvPr id="42" name="모서리가 둥근 직사각형 41">
            <a:extLst>
              <a:ext uri="{FF2B5EF4-FFF2-40B4-BE49-F238E27FC236}">
                <a16:creationId xmlns:a16="http://schemas.microsoft.com/office/drawing/2014/main" id="{1268D548-E43A-5EBF-D9F9-AAA0D00471DD}"/>
              </a:ext>
            </a:extLst>
          </p:cNvPr>
          <p:cNvSpPr/>
          <p:nvPr/>
        </p:nvSpPr>
        <p:spPr>
          <a:xfrm>
            <a:off x="6448467" y="1347614"/>
            <a:ext cx="853552" cy="1368152"/>
          </a:xfrm>
          <a:prstGeom prst="roundRect">
            <a:avLst>
              <a:gd name="adj" fmla="val 6199"/>
            </a:avLst>
          </a:prstGeom>
          <a:solidFill>
            <a:schemeClr val="accent1">
              <a:lumMod val="20000"/>
              <a:lumOff val="80000"/>
            </a:schemeClr>
          </a:solidFill>
          <a:ln w="12700"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kumimoji="1" lang="en-US" altLang="ko-KR" sz="1000" b="1">
                <a:solidFill>
                  <a:schemeClr val="tx1"/>
                </a:solidFill>
              </a:rPr>
              <a:t>CUDA App A Context</a:t>
            </a:r>
            <a:endParaRPr kumimoji="1" lang="ko-KR" altLang="en-US" sz="1000" b="1">
              <a:solidFill>
                <a:schemeClr val="tx1"/>
              </a:solidFill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63B7BD5E-2E05-0B8A-89C6-DA8CB9CA6E7A}"/>
              </a:ext>
            </a:extLst>
          </p:cNvPr>
          <p:cNvSpPr txBox="1">
            <a:spLocks/>
          </p:cNvSpPr>
          <p:nvPr/>
        </p:nvSpPr>
        <p:spPr>
          <a:xfrm>
            <a:off x="457200" y="-141895"/>
            <a:ext cx="8229600" cy="857250"/>
          </a:xfrm>
          <a:prstGeom prst="rect">
            <a:avLst/>
          </a:prstGeom>
        </p:spPr>
        <p:txBody>
          <a:bodyPr/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/>
              <a:t>Time-slicing</a:t>
            </a:r>
            <a:endParaRPr lang="ko-KR" altLang="en-US" dirty="0"/>
          </a:p>
        </p:txBody>
      </p: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D889DA1B-9A16-6E55-D940-58EBFE1108F1}"/>
              </a:ext>
            </a:extLst>
          </p:cNvPr>
          <p:cNvGrpSpPr/>
          <p:nvPr/>
        </p:nvGrpSpPr>
        <p:grpSpPr>
          <a:xfrm>
            <a:off x="107486" y="1419622"/>
            <a:ext cx="1954202" cy="720080"/>
            <a:chOff x="236727" y="987574"/>
            <a:chExt cx="1957044" cy="720080"/>
          </a:xfrm>
        </p:grpSpPr>
        <p:sp>
          <p:nvSpPr>
            <p:cNvPr id="18" name="모서리가 둥근 직사각형 17">
              <a:extLst>
                <a:ext uri="{FF2B5EF4-FFF2-40B4-BE49-F238E27FC236}">
                  <a16:creationId xmlns:a16="http://schemas.microsoft.com/office/drawing/2014/main" id="{E1AD53C8-99C3-C716-63EB-53D0D69AAD46}"/>
                </a:ext>
              </a:extLst>
            </p:cNvPr>
            <p:cNvSpPr/>
            <p:nvPr/>
          </p:nvSpPr>
          <p:spPr>
            <a:xfrm>
              <a:off x="236727" y="987574"/>
              <a:ext cx="1241295" cy="288032"/>
            </a:xfrm>
            <a:prstGeom prst="roundRect">
              <a:avLst>
                <a:gd name="adj" fmla="val 15432"/>
              </a:avLst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900">
                  <a:solidFill>
                    <a:schemeClr val="tx1"/>
                  </a:solidFill>
                </a:rPr>
                <a:t>Kernel A1</a:t>
              </a:r>
              <a:endParaRPr kumimoji="1" lang="ko-KR" altLang="en-US" sz="900">
                <a:solidFill>
                  <a:schemeClr val="tx1"/>
                </a:solidFill>
              </a:endParaRPr>
            </a:p>
          </p:txBody>
        </p:sp>
        <p:sp>
          <p:nvSpPr>
            <p:cNvPr id="19" name="모서리가 둥근 직사각형 18">
              <a:extLst>
                <a:ext uri="{FF2B5EF4-FFF2-40B4-BE49-F238E27FC236}">
                  <a16:creationId xmlns:a16="http://schemas.microsoft.com/office/drawing/2014/main" id="{671B18DB-CCAF-D4BE-0DA0-2D1D3B0B386C}"/>
                </a:ext>
              </a:extLst>
            </p:cNvPr>
            <p:cNvSpPr/>
            <p:nvPr/>
          </p:nvSpPr>
          <p:spPr>
            <a:xfrm>
              <a:off x="1478244" y="987574"/>
              <a:ext cx="715527" cy="288032"/>
            </a:xfrm>
            <a:prstGeom prst="roundRect">
              <a:avLst>
                <a:gd name="adj" fmla="val 15432"/>
              </a:avLst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900">
                  <a:solidFill>
                    <a:schemeClr val="tx1"/>
                  </a:solidFill>
                </a:rPr>
                <a:t>Kernel A2</a:t>
              </a:r>
              <a:endParaRPr kumimoji="1" lang="ko-KR" altLang="en-US" sz="900">
                <a:solidFill>
                  <a:schemeClr val="tx1"/>
                </a:solidFill>
              </a:endParaRPr>
            </a:p>
          </p:txBody>
        </p:sp>
        <p:sp>
          <p:nvSpPr>
            <p:cNvPr id="20" name="모서리가 둥근 직사각형 19">
              <a:extLst>
                <a:ext uri="{FF2B5EF4-FFF2-40B4-BE49-F238E27FC236}">
                  <a16:creationId xmlns:a16="http://schemas.microsoft.com/office/drawing/2014/main" id="{219FA6D9-44EC-3BD0-5664-C2E3897805D5}"/>
                </a:ext>
              </a:extLst>
            </p:cNvPr>
            <p:cNvSpPr/>
            <p:nvPr/>
          </p:nvSpPr>
          <p:spPr>
            <a:xfrm>
              <a:off x="239069" y="1419622"/>
              <a:ext cx="1239175" cy="288032"/>
            </a:xfrm>
            <a:prstGeom prst="roundRect">
              <a:avLst>
                <a:gd name="adj" fmla="val 15432"/>
              </a:avLst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900">
                  <a:solidFill>
                    <a:schemeClr val="tx1"/>
                  </a:solidFill>
                </a:rPr>
                <a:t>Kernel A3</a:t>
              </a:r>
              <a:endParaRPr kumimoji="1" lang="ko-KR" altLang="en-US" sz="900">
                <a:solidFill>
                  <a:schemeClr val="tx1"/>
                </a:solidFill>
              </a:endParaRPr>
            </a:p>
          </p:txBody>
        </p:sp>
      </p:grp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0E373B04-6398-0706-76BE-34762C18B6DE}"/>
              </a:ext>
            </a:extLst>
          </p:cNvPr>
          <p:cNvGrpSpPr/>
          <p:nvPr/>
        </p:nvGrpSpPr>
        <p:grpSpPr>
          <a:xfrm>
            <a:off x="2243072" y="1419622"/>
            <a:ext cx="1954544" cy="720080"/>
            <a:chOff x="2331399" y="987574"/>
            <a:chExt cx="1957387" cy="720080"/>
          </a:xfrm>
        </p:grpSpPr>
        <p:sp>
          <p:nvSpPr>
            <p:cNvPr id="21" name="모서리가 둥근 직사각형 20">
              <a:extLst>
                <a:ext uri="{FF2B5EF4-FFF2-40B4-BE49-F238E27FC236}">
                  <a16:creationId xmlns:a16="http://schemas.microsoft.com/office/drawing/2014/main" id="{925D15FD-C599-8705-418A-3DEC28770603}"/>
                </a:ext>
              </a:extLst>
            </p:cNvPr>
            <p:cNvSpPr/>
            <p:nvPr/>
          </p:nvSpPr>
          <p:spPr>
            <a:xfrm>
              <a:off x="2331964" y="987574"/>
              <a:ext cx="1241295" cy="288032"/>
            </a:xfrm>
            <a:prstGeom prst="roundRect">
              <a:avLst>
                <a:gd name="adj" fmla="val 15432"/>
              </a:avLst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900">
                  <a:solidFill>
                    <a:schemeClr val="tx1"/>
                  </a:solidFill>
                </a:rPr>
                <a:t>Kernel B1</a:t>
              </a:r>
              <a:endParaRPr kumimoji="1" lang="ko-KR" altLang="en-US" sz="900">
                <a:solidFill>
                  <a:schemeClr val="tx1"/>
                </a:solidFill>
              </a:endParaRPr>
            </a:p>
          </p:txBody>
        </p:sp>
        <p:sp>
          <p:nvSpPr>
            <p:cNvPr id="22" name="모서리가 둥근 직사각형 21">
              <a:extLst>
                <a:ext uri="{FF2B5EF4-FFF2-40B4-BE49-F238E27FC236}">
                  <a16:creationId xmlns:a16="http://schemas.microsoft.com/office/drawing/2014/main" id="{103EA92A-273E-815E-EAEA-265D840381B1}"/>
                </a:ext>
              </a:extLst>
            </p:cNvPr>
            <p:cNvSpPr/>
            <p:nvPr/>
          </p:nvSpPr>
          <p:spPr>
            <a:xfrm>
              <a:off x="2331399" y="1419622"/>
              <a:ext cx="715527" cy="288032"/>
            </a:xfrm>
            <a:prstGeom prst="roundRect">
              <a:avLst>
                <a:gd name="adj" fmla="val 15432"/>
              </a:avLst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900">
                  <a:solidFill>
                    <a:schemeClr val="tx1"/>
                  </a:solidFill>
                </a:rPr>
                <a:t>Kernel B3</a:t>
              </a:r>
              <a:endParaRPr kumimoji="1" lang="ko-KR" altLang="en-US" sz="900">
                <a:solidFill>
                  <a:schemeClr val="tx1"/>
                </a:solidFill>
              </a:endParaRPr>
            </a:p>
          </p:txBody>
        </p:sp>
        <p:sp>
          <p:nvSpPr>
            <p:cNvPr id="23" name="모서리가 둥근 직사각형 22">
              <a:extLst>
                <a:ext uri="{FF2B5EF4-FFF2-40B4-BE49-F238E27FC236}">
                  <a16:creationId xmlns:a16="http://schemas.microsoft.com/office/drawing/2014/main" id="{7501255A-DE6D-085D-871D-B7BBD3958376}"/>
                </a:ext>
              </a:extLst>
            </p:cNvPr>
            <p:cNvSpPr/>
            <p:nvPr/>
          </p:nvSpPr>
          <p:spPr>
            <a:xfrm>
              <a:off x="3573259" y="987574"/>
              <a:ext cx="715527" cy="288032"/>
            </a:xfrm>
            <a:prstGeom prst="roundRect">
              <a:avLst>
                <a:gd name="adj" fmla="val 15432"/>
              </a:avLst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900">
                  <a:solidFill>
                    <a:schemeClr val="tx1"/>
                  </a:solidFill>
                </a:rPr>
                <a:t>Kernel B2</a:t>
              </a:r>
              <a:endParaRPr kumimoji="1" lang="ko-KR" altLang="en-US" sz="900">
                <a:solidFill>
                  <a:schemeClr val="tx1"/>
                </a:solidFill>
              </a:endParaRPr>
            </a:p>
          </p:txBody>
        </p:sp>
      </p:grp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B3F90CBD-94E7-041A-8AD3-03871B12F278}"/>
              </a:ext>
            </a:extLst>
          </p:cNvPr>
          <p:cNvGrpSpPr/>
          <p:nvPr/>
        </p:nvGrpSpPr>
        <p:grpSpPr>
          <a:xfrm>
            <a:off x="4383594" y="1419622"/>
            <a:ext cx="1951863" cy="720080"/>
            <a:chOff x="4427984" y="987574"/>
            <a:chExt cx="1954702" cy="720080"/>
          </a:xfrm>
        </p:grpSpPr>
        <p:sp>
          <p:nvSpPr>
            <p:cNvPr id="24" name="모서리가 둥근 직사각형 23">
              <a:extLst>
                <a:ext uri="{FF2B5EF4-FFF2-40B4-BE49-F238E27FC236}">
                  <a16:creationId xmlns:a16="http://schemas.microsoft.com/office/drawing/2014/main" id="{0268DB27-902F-1191-FC83-08249E55436D}"/>
                </a:ext>
              </a:extLst>
            </p:cNvPr>
            <p:cNvSpPr/>
            <p:nvPr/>
          </p:nvSpPr>
          <p:spPr>
            <a:xfrm>
              <a:off x="4427984" y="987574"/>
              <a:ext cx="715527" cy="288032"/>
            </a:xfrm>
            <a:prstGeom prst="roundRect">
              <a:avLst>
                <a:gd name="adj" fmla="val 15432"/>
              </a:avLst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900">
                  <a:solidFill>
                    <a:schemeClr val="tx1"/>
                  </a:solidFill>
                </a:rPr>
                <a:t>Kernel C1</a:t>
              </a:r>
              <a:endParaRPr kumimoji="1" lang="ko-KR" altLang="en-US" sz="900">
                <a:solidFill>
                  <a:schemeClr val="tx1"/>
                </a:solidFill>
              </a:endParaRPr>
            </a:p>
          </p:txBody>
        </p:sp>
        <p:sp>
          <p:nvSpPr>
            <p:cNvPr id="25" name="모서리가 둥근 직사각형 24">
              <a:extLst>
                <a:ext uri="{FF2B5EF4-FFF2-40B4-BE49-F238E27FC236}">
                  <a16:creationId xmlns:a16="http://schemas.microsoft.com/office/drawing/2014/main" id="{3A330288-75C4-5563-448C-F46386E9B350}"/>
                </a:ext>
              </a:extLst>
            </p:cNvPr>
            <p:cNvSpPr/>
            <p:nvPr/>
          </p:nvSpPr>
          <p:spPr>
            <a:xfrm>
              <a:off x="5143511" y="987574"/>
              <a:ext cx="1239175" cy="288032"/>
            </a:xfrm>
            <a:prstGeom prst="roundRect">
              <a:avLst>
                <a:gd name="adj" fmla="val 15432"/>
              </a:avLst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900">
                  <a:solidFill>
                    <a:schemeClr val="tx1"/>
                  </a:solidFill>
                </a:rPr>
                <a:t>Kernel C2</a:t>
              </a:r>
              <a:endParaRPr kumimoji="1" lang="ko-KR" altLang="en-US" sz="900">
                <a:solidFill>
                  <a:schemeClr val="tx1"/>
                </a:solidFill>
              </a:endParaRPr>
            </a:p>
          </p:txBody>
        </p:sp>
        <p:sp>
          <p:nvSpPr>
            <p:cNvPr id="26" name="모서리가 둥근 직사각형 25">
              <a:extLst>
                <a:ext uri="{FF2B5EF4-FFF2-40B4-BE49-F238E27FC236}">
                  <a16:creationId xmlns:a16="http://schemas.microsoft.com/office/drawing/2014/main" id="{3D73B38F-93A3-43E4-7229-94224C90E56E}"/>
                </a:ext>
              </a:extLst>
            </p:cNvPr>
            <p:cNvSpPr/>
            <p:nvPr/>
          </p:nvSpPr>
          <p:spPr>
            <a:xfrm>
              <a:off x="4427984" y="1419622"/>
              <a:ext cx="715527" cy="288032"/>
            </a:xfrm>
            <a:prstGeom prst="roundRect">
              <a:avLst>
                <a:gd name="adj" fmla="val 15432"/>
              </a:avLst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900">
                  <a:solidFill>
                    <a:schemeClr val="tx1"/>
                  </a:solidFill>
                </a:rPr>
                <a:t>Kernel C3</a:t>
              </a:r>
              <a:endParaRPr kumimoji="1" lang="ko-KR" altLang="en-US" sz="900">
                <a:solidFill>
                  <a:schemeClr val="tx1"/>
                </a:solidFill>
              </a:endParaRPr>
            </a:p>
          </p:txBody>
        </p:sp>
      </p:grpSp>
      <p:sp>
        <p:nvSpPr>
          <p:cNvPr id="28" name="모서리가 둥근 직사각형 27">
            <a:extLst>
              <a:ext uri="{FF2B5EF4-FFF2-40B4-BE49-F238E27FC236}">
                <a16:creationId xmlns:a16="http://schemas.microsoft.com/office/drawing/2014/main" id="{7FBA6F7F-F554-B88D-DE4F-4359E787B4A4}"/>
              </a:ext>
            </a:extLst>
          </p:cNvPr>
          <p:cNvSpPr/>
          <p:nvPr/>
        </p:nvSpPr>
        <p:spPr>
          <a:xfrm>
            <a:off x="6517303" y="1419622"/>
            <a:ext cx="714487" cy="288032"/>
          </a:xfrm>
          <a:prstGeom prst="roundRect">
            <a:avLst>
              <a:gd name="adj" fmla="val 15432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Kernel A4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31" name="모서리가 둥근 직사각형 30">
            <a:extLst>
              <a:ext uri="{FF2B5EF4-FFF2-40B4-BE49-F238E27FC236}">
                <a16:creationId xmlns:a16="http://schemas.microsoft.com/office/drawing/2014/main" id="{62D5978F-8F8E-620B-7D61-873947DD2A12}"/>
              </a:ext>
            </a:extLst>
          </p:cNvPr>
          <p:cNvSpPr/>
          <p:nvPr/>
        </p:nvSpPr>
        <p:spPr>
          <a:xfrm>
            <a:off x="7417585" y="1419622"/>
            <a:ext cx="714487" cy="288032"/>
          </a:xfrm>
          <a:prstGeom prst="roundRect">
            <a:avLst>
              <a:gd name="adj" fmla="val 15432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Kernel B4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32" name="모서리가 둥근 직사각형 31">
            <a:extLst>
              <a:ext uri="{FF2B5EF4-FFF2-40B4-BE49-F238E27FC236}">
                <a16:creationId xmlns:a16="http://schemas.microsoft.com/office/drawing/2014/main" id="{DCC8D1D2-18EA-5835-A119-51C2A85611A4}"/>
              </a:ext>
            </a:extLst>
          </p:cNvPr>
          <p:cNvSpPr/>
          <p:nvPr/>
        </p:nvSpPr>
        <p:spPr>
          <a:xfrm>
            <a:off x="8316364" y="1419622"/>
            <a:ext cx="714487" cy="288032"/>
          </a:xfrm>
          <a:prstGeom prst="roundRect">
            <a:avLst>
              <a:gd name="adj" fmla="val 15432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Kernel C4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34" name="모서리가 둥근 직사각형 33">
            <a:extLst>
              <a:ext uri="{FF2B5EF4-FFF2-40B4-BE49-F238E27FC236}">
                <a16:creationId xmlns:a16="http://schemas.microsoft.com/office/drawing/2014/main" id="{A3A02BC6-0E1B-2A4A-A6AF-C5A2F7E4578C}"/>
              </a:ext>
            </a:extLst>
          </p:cNvPr>
          <p:cNvSpPr/>
          <p:nvPr/>
        </p:nvSpPr>
        <p:spPr>
          <a:xfrm>
            <a:off x="8316364" y="1851670"/>
            <a:ext cx="714487" cy="288032"/>
          </a:xfrm>
          <a:prstGeom prst="roundRect">
            <a:avLst>
              <a:gd name="adj" fmla="val 15432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Kernel C5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55" name="호 54">
            <a:extLst>
              <a:ext uri="{FF2B5EF4-FFF2-40B4-BE49-F238E27FC236}">
                <a16:creationId xmlns:a16="http://schemas.microsoft.com/office/drawing/2014/main" id="{BCF17F81-6489-AC73-5079-2D02872773D1}"/>
              </a:ext>
            </a:extLst>
          </p:cNvPr>
          <p:cNvSpPr/>
          <p:nvPr/>
        </p:nvSpPr>
        <p:spPr>
          <a:xfrm>
            <a:off x="1942541" y="1203598"/>
            <a:ext cx="422080" cy="288032"/>
          </a:xfrm>
          <a:prstGeom prst="arc">
            <a:avLst>
              <a:gd name="adj1" fmla="val 10916784"/>
              <a:gd name="adj2" fmla="val 0"/>
            </a:avLst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00B628C-5467-3268-13EF-DF89C7C20547}"/>
              </a:ext>
            </a:extLst>
          </p:cNvPr>
          <p:cNvSpPr txBox="1"/>
          <p:nvPr/>
        </p:nvSpPr>
        <p:spPr>
          <a:xfrm>
            <a:off x="1838430" y="830821"/>
            <a:ext cx="630301" cy="3693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kumimoji="1" lang="en-US" altLang="ko-KR" sz="900" i="1"/>
              <a:t>Context </a:t>
            </a:r>
          </a:p>
          <a:p>
            <a:pPr algn="ctr"/>
            <a:r>
              <a:rPr kumimoji="1" lang="en-US" altLang="ko-KR" sz="900" i="1"/>
              <a:t>Switch</a:t>
            </a:r>
            <a:endParaRPr kumimoji="1" lang="ko-KR" altLang="en-US" sz="900" i="1"/>
          </a:p>
        </p:txBody>
      </p:sp>
      <p:sp>
        <p:nvSpPr>
          <p:cNvPr id="57" name="호 56">
            <a:extLst>
              <a:ext uri="{FF2B5EF4-FFF2-40B4-BE49-F238E27FC236}">
                <a16:creationId xmlns:a16="http://schemas.microsoft.com/office/drawing/2014/main" id="{146CF763-9EEE-56AA-7E57-A3839ED022B6}"/>
              </a:ext>
            </a:extLst>
          </p:cNvPr>
          <p:cNvSpPr/>
          <p:nvPr/>
        </p:nvSpPr>
        <p:spPr>
          <a:xfrm>
            <a:off x="4075264" y="1203598"/>
            <a:ext cx="422080" cy="288032"/>
          </a:xfrm>
          <a:prstGeom prst="arc">
            <a:avLst>
              <a:gd name="adj1" fmla="val 10916784"/>
              <a:gd name="adj2" fmla="val 0"/>
            </a:avLst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2ED7C6E4-8119-5F08-31D0-EB578FAB1512}"/>
              </a:ext>
            </a:extLst>
          </p:cNvPr>
          <p:cNvSpPr txBox="1"/>
          <p:nvPr/>
        </p:nvSpPr>
        <p:spPr>
          <a:xfrm>
            <a:off x="3971153" y="830821"/>
            <a:ext cx="630301" cy="3693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kumimoji="1" lang="en-US" altLang="ko-KR" sz="900" i="1"/>
              <a:t>Context </a:t>
            </a:r>
          </a:p>
          <a:p>
            <a:pPr algn="ctr"/>
            <a:r>
              <a:rPr kumimoji="1" lang="en-US" altLang="ko-KR" sz="900" i="1"/>
              <a:t>Switch</a:t>
            </a:r>
            <a:endParaRPr kumimoji="1" lang="ko-KR" altLang="en-US" sz="900" i="1"/>
          </a:p>
        </p:txBody>
      </p:sp>
      <p:sp>
        <p:nvSpPr>
          <p:cNvPr id="62" name="호 61">
            <a:extLst>
              <a:ext uri="{FF2B5EF4-FFF2-40B4-BE49-F238E27FC236}">
                <a16:creationId xmlns:a16="http://schemas.microsoft.com/office/drawing/2014/main" id="{CB3944D2-C9A0-84A5-1E97-2705E776D338}"/>
              </a:ext>
            </a:extLst>
          </p:cNvPr>
          <p:cNvSpPr/>
          <p:nvPr/>
        </p:nvSpPr>
        <p:spPr>
          <a:xfrm>
            <a:off x="6212582" y="1203598"/>
            <a:ext cx="422080" cy="288032"/>
          </a:xfrm>
          <a:prstGeom prst="arc">
            <a:avLst>
              <a:gd name="adj1" fmla="val 10916784"/>
              <a:gd name="adj2" fmla="val 0"/>
            </a:avLst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D7040236-9C6B-5007-E07A-091CB82950F2}"/>
              </a:ext>
            </a:extLst>
          </p:cNvPr>
          <p:cNvSpPr txBox="1"/>
          <p:nvPr/>
        </p:nvSpPr>
        <p:spPr>
          <a:xfrm>
            <a:off x="6108471" y="830821"/>
            <a:ext cx="630301" cy="3693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kumimoji="1" lang="en-US" altLang="ko-KR" sz="900" i="1"/>
              <a:t>Context </a:t>
            </a:r>
          </a:p>
          <a:p>
            <a:pPr algn="ctr"/>
            <a:r>
              <a:rPr kumimoji="1" lang="en-US" altLang="ko-KR" sz="900" i="1"/>
              <a:t>Switch</a:t>
            </a:r>
            <a:endParaRPr kumimoji="1" lang="ko-KR" altLang="en-US" sz="900" i="1"/>
          </a:p>
        </p:txBody>
      </p:sp>
      <p:sp>
        <p:nvSpPr>
          <p:cNvPr id="64" name="호 63">
            <a:extLst>
              <a:ext uri="{FF2B5EF4-FFF2-40B4-BE49-F238E27FC236}">
                <a16:creationId xmlns:a16="http://schemas.microsoft.com/office/drawing/2014/main" id="{F68EEE47-019A-7C02-6A0A-7407425A8499}"/>
              </a:ext>
            </a:extLst>
          </p:cNvPr>
          <p:cNvSpPr/>
          <p:nvPr/>
        </p:nvSpPr>
        <p:spPr>
          <a:xfrm>
            <a:off x="7115824" y="1203598"/>
            <a:ext cx="422080" cy="288032"/>
          </a:xfrm>
          <a:prstGeom prst="arc">
            <a:avLst>
              <a:gd name="adj1" fmla="val 10916784"/>
              <a:gd name="adj2" fmla="val 0"/>
            </a:avLst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E1E71C27-325D-133A-21EE-79519B6ECB21}"/>
              </a:ext>
            </a:extLst>
          </p:cNvPr>
          <p:cNvSpPr txBox="1"/>
          <p:nvPr/>
        </p:nvSpPr>
        <p:spPr>
          <a:xfrm>
            <a:off x="7011713" y="830821"/>
            <a:ext cx="630301" cy="3693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kumimoji="1" lang="en-US" altLang="ko-KR" sz="900" i="1"/>
              <a:t>Context </a:t>
            </a:r>
          </a:p>
          <a:p>
            <a:pPr algn="ctr"/>
            <a:r>
              <a:rPr kumimoji="1" lang="en-US" altLang="ko-KR" sz="900" i="1"/>
              <a:t>Switch</a:t>
            </a:r>
            <a:endParaRPr kumimoji="1" lang="ko-KR" altLang="en-US" sz="900" i="1"/>
          </a:p>
        </p:txBody>
      </p:sp>
      <p:sp>
        <p:nvSpPr>
          <p:cNvPr id="66" name="호 65">
            <a:extLst>
              <a:ext uri="{FF2B5EF4-FFF2-40B4-BE49-F238E27FC236}">
                <a16:creationId xmlns:a16="http://schemas.microsoft.com/office/drawing/2014/main" id="{B8E959F0-7D88-E1B8-D97F-2851D00A72D4}"/>
              </a:ext>
            </a:extLst>
          </p:cNvPr>
          <p:cNvSpPr/>
          <p:nvPr/>
        </p:nvSpPr>
        <p:spPr>
          <a:xfrm>
            <a:off x="8013773" y="1203598"/>
            <a:ext cx="422080" cy="288032"/>
          </a:xfrm>
          <a:prstGeom prst="arc">
            <a:avLst>
              <a:gd name="adj1" fmla="val 10916784"/>
              <a:gd name="adj2" fmla="val 0"/>
            </a:avLst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D8258FF4-289F-C5AF-6DD4-22145EA18087}"/>
              </a:ext>
            </a:extLst>
          </p:cNvPr>
          <p:cNvSpPr txBox="1"/>
          <p:nvPr/>
        </p:nvSpPr>
        <p:spPr>
          <a:xfrm>
            <a:off x="7909662" y="830821"/>
            <a:ext cx="630301" cy="3693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kumimoji="1" lang="en-US" altLang="ko-KR" sz="900" i="1"/>
              <a:t>Context </a:t>
            </a:r>
          </a:p>
          <a:p>
            <a:pPr algn="ctr"/>
            <a:r>
              <a:rPr kumimoji="1" lang="en-US" altLang="ko-KR" sz="900" i="1"/>
              <a:t>Switch</a:t>
            </a:r>
            <a:endParaRPr kumimoji="1" lang="ko-KR" altLang="en-US" sz="900" i="1"/>
          </a:p>
        </p:txBody>
      </p:sp>
      <p:grpSp>
        <p:nvGrpSpPr>
          <p:cNvPr id="72" name="그룹 71">
            <a:extLst>
              <a:ext uri="{FF2B5EF4-FFF2-40B4-BE49-F238E27FC236}">
                <a16:creationId xmlns:a16="http://schemas.microsoft.com/office/drawing/2014/main" id="{2CB89158-237A-E672-8100-1282C0457391}"/>
              </a:ext>
            </a:extLst>
          </p:cNvPr>
          <p:cNvGrpSpPr/>
          <p:nvPr/>
        </p:nvGrpSpPr>
        <p:grpSpPr>
          <a:xfrm>
            <a:off x="2112287" y="3507854"/>
            <a:ext cx="5557231" cy="703063"/>
            <a:chOff x="1509985" y="3507854"/>
            <a:chExt cx="5557231" cy="703063"/>
          </a:xfrm>
        </p:grpSpPr>
        <p:sp>
          <p:nvSpPr>
            <p:cNvPr id="68" name="모서리가 둥근 직사각형 67">
              <a:extLst>
                <a:ext uri="{FF2B5EF4-FFF2-40B4-BE49-F238E27FC236}">
                  <a16:creationId xmlns:a16="http://schemas.microsoft.com/office/drawing/2014/main" id="{3959FC8E-5D82-68D1-B26C-62F642534A2D}"/>
                </a:ext>
              </a:extLst>
            </p:cNvPr>
            <p:cNvSpPr/>
            <p:nvPr/>
          </p:nvSpPr>
          <p:spPr>
            <a:xfrm>
              <a:off x="1509985" y="3507854"/>
              <a:ext cx="1287190" cy="703063"/>
            </a:xfrm>
            <a:prstGeom prst="roundRect">
              <a:avLst>
                <a:gd name="adj" fmla="val 6199"/>
              </a:avLst>
            </a:prstGeom>
            <a:solidFill>
              <a:schemeClr val="accent1">
                <a:lumMod val="20000"/>
                <a:lumOff val="80000"/>
              </a:schemeClr>
            </a:solidFill>
            <a:ln w="12700"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1000" b="1">
                  <a:solidFill>
                    <a:schemeClr val="tx1"/>
                  </a:solidFill>
                </a:rPr>
                <a:t>CUDA App A </a:t>
              </a:r>
            </a:p>
            <a:p>
              <a:pPr algn="ctr"/>
              <a:r>
                <a:rPr kumimoji="1" lang="en-US" altLang="ko-KR" sz="1000" b="1">
                  <a:solidFill>
                    <a:schemeClr val="tx1"/>
                  </a:solidFill>
                </a:rPr>
                <a:t>Memory</a:t>
              </a:r>
            </a:p>
          </p:txBody>
        </p:sp>
        <p:sp>
          <p:nvSpPr>
            <p:cNvPr id="69" name="모서리가 둥근 직사각형 68">
              <a:extLst>
                <a:ext uri="{FF2B5EF4-FFF2-40B4-BE49-F238E27FC236}">
                  <a16:creationId xmlns:a16="http://schemas.microsoft.com/office/drawing/2014/main" id="{FD753F57-008C-3C02-F41C-E679F10CFB88}"/>
                </a:ext>
              </a:extLst>
            </p:cNvPr>
            <p:cNvSpPr/>
            <p:nvPr/>
          </p:nvSpPr>
          <p:spPr>
            <a:xfrm>
              <a:off x="3642708" y="3507854"/>
              <a:ext cx="1287190" cy="703063"/>
            </a:xfrm>
            <a:prstGeom prst="roundRect">
              <a:avLst>
                <a:gd name="adj" fmla="val 6199"/>
              </a:avLst>
            </a:prstGeom>
            <a:solidFill>
              <a:schemeClr val="accent3">
                <a:lumMod val="20000"/>
                <a:lumOff val="80000"/>
              </a:schemeClr>
            </a:solidFill>
            <a:ln w="12700"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1000" b="1">
                  <a:solidFill>
                    <a:schemeClr val="tx1"/>
                  </a:solidFill>
                </a:rPr>
                <a:t>CUDA App B </a:t>
              </a:r>
            </a:p>
            <a:p>
              <a:pPr algn="ctr"/>
              <a:r>
                <a:rPr kumimoji="1" lang="en-US" altLang="ko-KR" sz="1000" b="1">
                  <a:solidFill>
                    <a:schemeClr val="tx1"/>
                  </a:solidFill>
                </a:rPr>
                <a:t>Memory</a:t>
              </a:r>
            </a:p>
          </p:txBody>
        </p:sp>
        <p:sp>
          <p:nvSpPr>
            <p:cNvPr id="70" name="모서리가 둥근 직사각형 69">
              <a:extLst>
                <a:ext uri="{FF2B5EF4-FFF2-40B4-BE49-F238E27FC236}">
                  <a16:creationId xmlns:a16="http://schemas.microsoft.com/office/drawing/2014/main" id="{BDDF1320-8621-0E52-4C28-C00BC7F10174}"/>
                </a:ext>
              </a:extLst>
            </p:cNvPr>
            <p:cNvSpPr/>
            <p:nvPr/>
          </p:nvSpPr>
          <p:spPr>
            <a:xfrm>
              <a:off x="5780026" y="3507854"/>
              <a:ext cx="1287190" cy="703063"/>
            </a:xfrm>
            <a:prstGeom prst="roundRect">
              <a:avLst>
                <a:gd name="adj" fmla="val 6199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12700"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1000" b="1">
                  <a:solidFill>
                    <a:schemeClr val="tx1"/>
                  </a:solidFill>
                </a:rPr>
                <a:t>CUDA App C </a:t>
              </a:r>
            </a:p>
            <a:p>
              <a:pPr algn="ctr"/>
              <a:r>
                <a:rPr kumimoji="1" lang="en-US" altLang="ko-KR" sz="1000" b="1">
                  <a:solidFill>
                    <a:schemeClr val="tx1"/>
                  </a:solidFill>
                </a:rPr>
                <a:t>Memory</a:t>
              </a:r>
            </a:p>
          </p:txBody>
        </p:sp>
      </p:grpSp>
      <p:sp>
        <p:nvSpPr>
          <p:cNvPr id="71" name="모서리가 둥근 직사각형 70">
            <a:extLst>
              <a:ext uri="{FF2B5EF4-FFF2-40B4-BE49-F238E27FC236}">
                <a16:creationId xmlns:a16="http://schemas.microsoft.com/office/drawing/2014/main" id="{236EC5D0-51A8-D363-F5C6-D60C35B4166C}"/>
              </a:ext>
            </a:extLst>
          </p:cNvPr>
          <p:cNvSpPr/>
          <p:nvPr/>
        </p:nvSpPr>
        <p:spPr>
          <a:xfrm>
            <a:off x="1942541" y="3348025"/>
            <a:ext cx="5892128" cy="1239949"/>
          </a:xfrm>
          <a:prstGeom prst="roundRect">
            <a:avLst>
              <a:gd name="adj" fmla="val 5166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kumimoji="1" lang="en-US" altLang="ko-KR" sz="1000" b="1">
                <a:solidFill>
                  <a:schemeClr val="tx1"/>
                </a:solidFill>
              </a:rPr>
              <a:t>GPU Memory</a:t>
            </a:r>
            <a:endParaRPr kumimoji="1" lang="ko-KR" altLang="en-US" sz="1000" b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520107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EF8AA1-96F7-D30E-D9EF-CF02F90130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1532A25-40C6-E8AC-9305-130BB22C6D27}"/>
              </a:ext>
            </a:extLst>
          </p:cNvPr>
          <p:cNvSpPr txBox="1">
            <a:spLocks/>
          </p:cNvSpPr>
          <p:nvPr/>
        </p:nvSpPr>
        <p:spPr>
          <a:xfrm>
            <a:off x="457200" y="-141895"/>
            <a:ext cx="8229600" cy="857250"/>
          </a:xfrm>
          <a:prstGeom prst="rect">
            <a:avLst/>
          </a:prstGeom>
        </p:spPr>
        <p:txBody>
          <a:bodyPr/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dirty="0"/>
              <a:t>CUDA Apps</a:t>
            </a:r>
            <a:endParaRPr lang="ko-KR" altLang="en-US" dirty="0"/>
          </a:p>
        </p:txBody>
      </p:sp>
      <p:sp>
        <p:nvSpPr>
          <p:cNvPr id="4" name="모서리가 둥근 직사각형 3">
            <a:extLst>
              <a:ext uri="{FF2B5EF4-FFF2-40B4-BE49-F238E27FC236}">
                <a16:creationId xmlns:a16="http://schemas.microsoft.com/office/drawing/2014/main" id="{7798EF6D-9A38-0FBE-518F-492F7F3DB530}"/>
              </a:ext>
            </a:extLst>
          </p:cNvPr>
          <p:cNvSpPr/>
          <p:nvPr/>
        </p:nvSpPr>
        <p:spPr>
          <a:xfrm>
            <a:off x="4857204" y="795623"/>
            <a:ext cx="864096" cy="288032"/>
          </a:xfrm>
          <a:prstGeom prst="roundRect">
            <a:avLst>
              <a:gd name="adj" fmla="val 15432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Kernel B1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5" name="모서리가 둥근 직사각형 4">
            <a:extLst>
              <a:ext uri="{FF2B5EF4-FFF2-40B4-BE49-F238E27FC236}">
                <a16:creationId xmlns:a16="http://schemas.microsoft.com/office/drawing/2014/main" id="{F8508226-4F7A-84C4-855F-AF907C9ACC95}"/>
              </a:ext>
            </a:extLst>
          </p:cNvPr>
          <p:cNvSpPr/>
          <p:nvPr/>
        </p:nvSpPr>
        <p:spPr>
          <a:xfrm>
            <a:off x="4857204" y="1185219"/>
            <a:ext cx="1656184" cy="288032"/>
          </a:xfrm>
          <a:prstGeom prst="roundRect">
            <a:avLst>
              <a:gd name="adj" fmla="val 15432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Kernel B2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6" name="모서리가 둥근 직사각형 5">
            <a:extLst>
              <a:ext uri="{FF2B5EF4-FFF2-40B4-BE49-F238E27FC236}">
                <a16:creationId xmlns:a16="http://schemas.microsoft.com/office/drawing/2014/main" id="{26BD3A46-C027-94C1-ACD7-7DBD0D75AB67}"/>
              </a:ext>
            </a:extLst>
          </p:cNvPr>
          <p:cNvSpPr/>
          <p:nvPr/>
        </p:nvSpPr>
        <p:spPr>
          <a:xfrm>
            <a:off x="5721300" y="795623"/>
            <a:ext cx="864096" cy="288032"/>
          </a:xfrm>
          <a:prstGeom prst="roundRect">
            <a:avLst>
              <a:gd name="adj" fmla="val 15432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Kernel B3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8" name="모서리가 둥근 직사각형 7">
            <a:extLst>
              <a:ext uri="{FF2B5EF4-FFF2-40B4-BE49-F238E27FC236}">
                <a16:creationId xmlns:a16="http://schemas.microsoft.com/office/drawing/2014/main" id="{E2016637-0B94-30C4-5791-C97F0511FCD6}"/>
              </a:ext>
            </a:extLst>
          </p:cNvPr>
          <p:cNvSpPr/>
          <p:nvPr/>
        </p:nvSpPr>
        <p:spPr>
          <a:xfrm>
            <a:off x="1619672" y="723614"/>
            <a:ext cx="2664296" cy="1073355"/>
          </a:xfrm>
          <a:prstGeom prst="roundRect">
            <a:avLst>
              <a:gd name="adj" fmla="val 7115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kumimoji="1" lang="en-US" altLang="ko-KR" sz="1000" b="1">
                <a:solidFill>
                  <a:schemeClr val="tx1"/>
                </a:solidFill>
              </a:rPr>
              <a:t>CUDA App A</a:t>
            </a:r>
            <a:endParaRPr kumimoji="1" lang="ko-KR" altLang="en-US" sz="1000" b="1">
              <a:solidFill>
                <a:schemeClr val="tx1"/>
              </a:solidFill>
            </a:endParaRPr>
          </a:p>
        </p:txBody>
      </p:sp>
      <p:sp>
        <p:nvSpPr>
          <p:cNvPr id="10" name="모서리가 둥근 직사각형 9">
            <a:extLst>
              <a:ext uri="{FF2B5EF4-FFF2-40B4-BE49-F238E27FC236}">
                <a16:creationId xmlns:a16="http://schemas.microsoft.com/office/drawing/2014/main" id="{C5414B98-A8E0-1830-DE93-17C9AD1460DA}"/>
              </a:ext>
            </a:extLst>
          </p:cNvPr>
          <p:cNvSpPr/>
          <p:nvPr/>
        </p:nvSpPr>
        <p:spPr>
          <a:xfrm>
            <a:off x="1691680" y="795623"/>
            <a:ext cx="1656184" cy="288032"/>
          </a:xfrm>
          <a:prstGeom prst="roundRect">
            <a:avLst>
              <a:gd name="adj" fmla="val 15432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Kernel A1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11" name="모서리가 둥근 직사각형 10">
            <a:extLst>
              <a:ext uri="{FF2B5EF4-FFF2-40B4-BE49-F238E27FC236}">
                <a16:creationId xmlns:a16="http://schemas.microsoft.com/office/drawing/2014/main" id="{044EC391-6FB0-1B44-C831-669067235F83}"/>
              </a:ext>
            </a:extLst>
          </p:cNvPr>
          <p:cNvSpPr/>
          <p:nvPr/>
        </p:nvSpPr>
        <p:spPr>
          <a:xfrm>
            <a:off x="1691680" y="1185219"/>
            <a:ext cx="864096" cy="288032"/>
          </a:xfrm>
          <a:prstGeom prst="roundRect">
            <a:avLst>
              <a:gd name="adj" fmla="val 15432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Kernel A2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12" name="모서리가 둥근 직사각형 11">
            <a:extLst>
              <a:ext uri="{FF2B5EF4-FFF2-40B4-BE49-F238E27FC236}">
                <a16:creationId xmlns:a16="http://schemas.microsoft.com/office/drawing/2014/main" id="{ABCDE9D3-F9DA-3707-AAC5-C015976D5ADA}"/>
              </a:ext>
            </a:extLst>
          </p:cNvPr>
          <p:cNvSpPr/>
          <p:nvPr/>
        </p:nvSpPr>
        <p:spPr>
          <a:xfrm>
            <a:off x="3345036" y="795623"/>
            <a:ext cx="864096" cy="288032"/>
          </a:xfrm>
          <a:prstGeom prst="roundRect">
            <a:avLst>
              <a:gd name="adj" fmla="val 15432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Kernel A3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15" name="모서리가 둥근 직사각형 14">
            <a:extLst>
              <a:ext uri="{FF2B5EF4-FFF2-40B4-BE49-F238E27FC236}">
                <a16:creationId xmlns:a16="http://schemas.microsoft.com/office/drawing/2014/main" id="{032E55C2-9BD2-C835-2F40-E51F04354F30}"/>
              </a:ext>
            </a:extLst>
          </p:cNvPr>
          <p:cNvSpPr/>
          <p:nvPr/>
        </p:nvSpPr>
        <p:spPr>
          <a:xfrm>
            <a:off x="3275856" y="2146468"/>
            <a:ext cx="864096" cy="288032"/>
          </a:xfrm>
          <a:prstGeom prst="roundRect">
            <a:avLst>
              <a:gd name="adj" fmla="val 15432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Kernel C1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16" name="모서리가 둥근 직사각형 15">
            <a:extLst>
              <a:ext uri="{FF2B5EF4-FFF2-40B4-BE49-F238E27FC236}">
                <a16:creationId xmlns:a16="http://schemas.microsoft.com/office/drawing/2014/main" id="{7F9F2D61-38A7-C3A1-5D57-7D402BB33F40}"/>
              </a:ext>
            </a:extLst>
          </p:cNvPr>
          <p:cNvSpPr/>
          <p:nvPr/>
        </p:nvSpPr>
        <p:spPr>
          <a:xfrm>
            <a:off x="3275856" y="2536064"/>
            <a:ext cx="864096" cy="288032"/>
          </a:xfrm>
          <a:prstGeom prst="roundRect">
            <a:avLst>
              <a:gd name="adj" fmla="val 15432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Kernel C2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17" name="모서리가 둥근 직사각형 16">
            <a:extLst>
              <a:ext uri="{FF2B5EF4-FFF2-40B4-BE49-F238E27FC236}">
                <a16:creationId xmlns:a16="http://schemas.microsoft.com/office/drawing/2014/main" id="{6FB1246D-1D9D-14CE-88A9-A16CBB274272}"/>
              </a:ext>
            </a:extLst>
          </p:cNvPr>
          <p:cNvSpPr/>
          <p:nvPr/>
        </p:nvSpPr>
        <p:spPr>
          <a:xfrm>
            <a:off x="4139952" y="2146468"/>
            <a:ext cx="1656184" cy="288032"/>
          </a:xfrm>
          <a:prstGeom prst="roundRect">
            <a:avLst>
              <a:gd name="adj" fmla="val 15432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Kernel C3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21" name="모서리가 둥근 직사각형 20">
            <a:extLst>
              <a:ext uri="{FF2B5EF4-FFF2-40B4-BE49-F238E27FC236}">
                <a16:creationId xmlns:a16="http://schemas.microsoft.com/office/drawing/2014/main" id="{3BC8BFB4-2739-9ADC-BFC5-0572810E0EA7}"/>
              </a:ext>
            </a:extLst>
          </p:cNvPr>
          <p:cNvSpPr/>
          <p:nvPr/>
        </p:nvSpPr>
        <p:spPr>
          <a:xfrm>
            <a:off x="4788024" y="723614"/>
            <a:ext cx="2664296" cy="1073355"/>
          </a:xfrm>
          <a:prstGeom prst="roundRect">
            <a:avLst>
              <a:gd name="adj" fmla="val 7115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kumimoji="1" lang="en-US" altLang="ko-KR" sz="1000" b="1">
                <a:solidFill>
                  <a:schemeClr val="tx1"/>
                </a:solidFill>
              </a:rPr>
              <a:t>CUDA App B</a:t>
            </a:r>
            <a:endParaRPr kumimoji="1" lang="ko-KR" altLang="en-US" sz="1000" b="1">
              <a:solidFill>
                <a:schemeClr val="tx1"/>
              </a:solidFill>
            </a:endParaRPr>
          </a:p>
        </p:txBody>
      </p:sp>
      <p:sp>
        <p:nvSpPr>
          <p:cNvPr id="22" name="모서리가 둥근 직사각형 21">
            <a:extLst>
              <a:ext uri="{FF2B5EF4-FFF2-40B4-BE49-F238E27FC236}">
                <a16:creationId xmlns:a16="http://schemas.microsoft.com/office/drawing/2014/main" id="{B568FD16-E6A1-9086-349C-085377459398}"/>
              </a:ext>
            </a:extLst>
          </p:cNvPr>
          <p:cNvSpPr/>
          <p:nvPr/>
        </p:nvSpPr>
        <p:spPr>
          <a:xfrm>
            <a:off x="3203848" y="2067694"/>
            <a:ext cx="2664296" cy="1073355"/>
          </a:xfrm>
          <a:prstGeom prst="roundRect">
            <a:avLst>
              <a:gd name="adj" fmla="val 7115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kumimoji="1" lang="en-US" altLang="ko-KR" sz="1000" b="1">
                <a:solidFill>
                  <a:schemeClr val="tx1"/>
                </a:solidFill>
              </a:rPr>
              <a:t>CUDA App C</a:t>
            </a:r>
            <a:endParaRPr kumimoji="1" lang="ko-KR" altLang="en-US" sz="1000" b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6585921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8945AB-1321-4570-AC2F-34B66BA39D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7F3A233-F1BD-5411-4824-D8BD71F017B3}"/>
              </a:ext>
            </a:extLst>
          </p:cNvPr>
          <p:cNvSpPr txBox="1">
            <a:spLocks/>
          </p:cNvSpPr>
          <p:nvPr/>
        </p:nvSpPr>
        <p:spPr>
          <a:xfrm>
            <a:off x="457200" y="-141895"/>
            <a:ext cx="8229600" cy="857250"/>
          </a:xfrm>
          <a:prstGeom prst="rect">
            <a:avLst/>
          </a:prstGeom>
        </p:spPr>
        <p:txBody>
          <a:bodyPr/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dirty="0"/>
              <a:t>CUDA Apps</a:t>
            </a:r>
            <a:endParaRPr lang="ko-KR" altLang="en-US" dirty="0"/>
          </a:p>
        </p:txBody>
      </p:sp>
      <p:sp>
        <p:nvSpPr>
          <p:cNvPr id="3" name="모서리가 둥근 직사각형 2">
            <a:extLst>
              <a:ext uri="{FF2B5EF4-FFF2-40B4-BE49-F238E27FC236}">
                <a16:creationId xmlns:a16="http://schemas.microsoft.com/office/drawing/2014/main" id="{EC3A312D-7E2F-397F-D45F-D7AF5194EE13}"/>
              </a:ext>
            </a:extLst>
          </p:cNvPr>
          <p:cNvSpPr/>
          <p:nvPr/>
        </p:nvSpPr>
        <p:spPr>
          <a:xfrm>
            <a:off x="4785196" y="723615"/>
            <a:ext cx="3528392" cy="648072"/>
          </a:xfrm>
          <a:prstGeom prst="roundRect">
            <a:avLst>
              <a:gd name="adj" fmla="val 12223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kumimoji="1" lang="en-US" altLang="ko-KR" sz="1000" b="1">
                <a:solidFill>
                  <a:schemeClr val="tx1"/>
                </a:solidFill>
              </a:rPr>
              <a:t>CUDA App B</a:t>
            </a:r>
            <a:endParaRPr kumimoji="1" lang="ko-KR" altLang="en-US" sz="1000" b="1">
              <a:solidFill>
                <a:schemeClr val="tx1"/>
              </a:solidFill>
            </a:endParaRPr>
          </a:p>
        </p:txBody>
      </p:sp>
      <p:sp>
        <p:nvSpPr>
          <p:cNvPr id="4" name="모서리가 둥근 직사각형 3">
            <a:extLst>
              <a:ext uri="{FF2B5EF4-FFF2-40B4-BE49-F238E27FC236}">
                <a16:creationId xmlns:a16="http://schemas.microsoft.com/office/drawing/2014/main" id="{74607617-AEA6-981C-98CA-CC3350BCCA4B}"/>
              </a:ext>
            </a:extLst>
          </p:cNvPr>
          <p:cNvSpPr/>
          <p:nvPr/>
        </p:nvSpPr>
        <p:spPr>
          <a:xfrm>
            <a:off x="4857204" y="795623"/>
            <a:ext cx="864096" cy="288032"/>
          </a:xfrm>
          <a:prstGeom prst="roundRect">
            <a:avLst>
              <a:gd name="adj" fmla="val 15432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Kernel B1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5" name="모서리가 둥근 직사각형 4">
            <a:extLst>
              <a:ext uri="{FF2B5EF4-FFF2-40B4-BE49-F238E27FC236}">
                <a16:creationId xmlns:a16="http://schemas.microsoft.com/office/drawing/2014/main" id="{6E0F4A8F-FD6E-0BFB-DB96-DF2A555D6A74}"/>
              </a:ext>
            </a:extLst>
          </p:cNvPr>
          <p:cNvSpPr/>
          <p:nvPr/>
        </p:nvSpPr>
        <p:spPr>
          <a:xfrm>
            <a:off x="5721300" y="795623"/>
            <a:ext cx="1656184" cy="288032"/>
          </a:xfrm>
          <a:prstGeom prst="roundRect">
            <a:avLst>
              <a:gd name="adj" fmla="val 15432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Kernel B2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6" name="모서리가 둥근 직사각형 5">
            <a:extLst>
              <a:ext uri="{FF2B5EF4-FFF2-40B4-BE49-F238E27FC236}">
                <a16:creationId xmlns:a16="http://schemas.microsoft.com/office/drawing/2014/main" id="{314D595A-1B56-D204-A568-F7AB69B64B13}"/>
              </a:ext>
            </a:extLst>
          </p:cNvPr>
          <p:cNvSpPr/>
          <p:nvPr/>
        </p:nvSpPr>
        <p:spPr>
          <a:xfrm>
            <a:off x="7377484" y="795623"/>
            <a:ext cx="864096" cy="288032"/>
          </a:xfrm>
          <a:prstGeom prst="roundRect">
            <a:avLst>
              <a:gd name="adj" fmla="val 15432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Kernel B3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8" name="모서리가 둥근 직사각형 7">
            <a:extLst>
              <a:ext uri="{FF2B5EF4-FFF2-40B4-BE49-F238E27FC236}">
                <a16:creationId xmlns:a16="http://schemas.microsoft.com/office/drawing/2014/main" id="{6DDBD436-D5FB-AB41-85D8-02D438236F02}"/>
              </a:ext>
            </a:extLst>
          </p:cNvPr>
          <p:cNvSpPr/>
          <p:nvPr/>
        </p:nvSpPr>
        <p:spPr>
          <a:xfrm>
            <a:off x="827584" y="723615"/>
            <a:ext cx="3528392" cy="648072"/>
          </a:xfrm>
          <a:prstGeom prst="roundRect">
            <a:avLst>
              <a:gd name="adj" fmla="val 12223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kumimoji="1" lang="en-US" altLang="ko-KR" sz="1000" b="1">
                <a:solidFill>
                  <a:schemeClr val="tx1"/>
                </a:solidFill>
              </a:rPr>
              <a:t>CUDA App A</a:t>
            </a:r>
            <a:endParaRPr kumimoji="1" lang="ko-KR" altLang="en-US" sz="1000" b="1">
              <a:solidFill>
                <a:schemeClr val="tx1"/>
              </a:solidFill>
            </a:endParaRPr>
          </a:p>
        </p:txBody>
      </p:sp>
      <p:sp>
        <p:nvSpPr>
          <p:cNvPr id="10" name="모서리가 둥근 직사각형 9">
            <a:extLst>
              <a:ext uri="{FF2B5EF4-FFF2-40B4-BE49-F238E27FC236}">
                <a16:creationId xmlns:a16="http://schemas.microsoft.com/office/drawing/2014/main" id="{0FFA6DC0-4C19-4948-54EA-95FA5A38E114}"/>
              </a:ext>
            </a:extLst>
          </p:cNvPr>
          <p:cNvSpPr/>
          <p:nvPr/>
        </p:nvSpPr>
        <p:spPr>
          <a:xfrm>
            <a:off x="899592" y="795623"/>
            <a:ext cx="1656184" cy="288032"/>
          </a:xfrm>
          <a:prstGeom prst="roundRect">
            <a:avLst>
              <a:gd name="adj" fmla="val 15432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Kernel A1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11" name="모서리가 둥근 직사각형 10">
            <a:extLst>
              <a:ext uri="{FF2B5EF4-FFF2-40B4-BE49-F238E27FC236}">
                <a16:creationId xmlns:a16="http://schemas.microsoft.com/office/drawing/2014/main" id="{6BCFDB43-05B8-6D74-693C-BD77B094416A}"/>
              </a:ext>
            </a:extLst>
          </p:cNvPr>
          <p:cNvSpPr/>
          <p:nvPr/>
        </p:nvSpPr>
        <p:spPr>
          <a:xfrm>
            <a:off x="2555776" y="795623"/>
            <a:ext cx="864096" cy="288032"/>
          </a:xfrm>
          <a:prstGeom prst="roundRect">
            <a:avLst>
              <a:gd name="adj" fmla="val 15432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Kernel A2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12" name="모서리가 둥근 직사각형 11">
            <a:extLst>
              <a:ext uri="{FF2B5EF4-FFF2-40B4-BE49-F238E27FC236}">
                <a16:creationId xmlns:a16="http://schemas.microsoft.com/office/drawing/2014/main" id="{836D9686-C411-F480-48D5-A63F9C9201DC}"/>
              </a:ext>
            </a:extLst>
          </p:cNvPr>
          <p:cNvSpPr/>
          <p:nvPr/>
        </p:nvSpPr>
        <p:spPr>
          <a:xfrm>
            <a:off x="3419872" y="795623"/>
            <a:ext cx="864096" cy="288032"/>
          </a:xfrm>
          <a:prstGeom prst="roundRect">
            <a:avLst>
              <a:gd name="adj" fmla="val 15432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Kernel A3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13" name="모서리가 둥근 직사각형 12">
            <a:extLst>
              <a:ext uri="{FF2B5EF4-FFF2-40B4-BE49-F238E27FC236}">
                <a16:creationId xmlns:a16="http://schemas.microsoft.com/office/drawing/2014/main" id="{C832824D-593A-7CD7-EBE5-80C7400D23B2}"/>
              </a:ext>
            </a:extLst>
          </p:cNvPr>
          <p:cNvSpPr/>
          <p:nvPr/>
        </p:nvSpPr>
        <p:spPr>
          <a:xfrm>
            <a:off x="2771800" y="1505161"/>
            <a:ext cx="3528392" cy="648072"/>
          </a:xfrm>
          <a:prstGeom prst="roundRect">
            <a:avLst>
              <a:gd name="adj" fmla="val 12223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kumimoji="1" lang="en-US" altLang="ko-KR" sz="1000" b="1">
                <a:solidFill>
                  <a:schemeClr val="tx1"/>
                </a:solidFill>
              </a:rPr>
              <a:t>CUDA App C</a:t>
            </a:r>
            <a:endParaRPr kumimoji="1" lang="ko-KR" altLang="en-US" sz="1000" b="1">
              <a:solidFill>
                <a:schemeClr val="tx1"/>
              </a:solidFill>
            </a:endParaRPr>
          </a:p>
        </p:txBody>
      </p:sp>
      <p:sp>
        <p:nvSpPr>
          <p:cNvPr id="15" name="모서리가 둥근 직사각형 14">
            <a:extLst>
              <a:ext uri="{FF2B5EF4-FFF2-40B4-BE49-F238E27FC236}">
                <a16:creationId xmlns:a16="http://schemas.microsoft.com/office/drawing/2014/main" id="{0B7F53A7-A9FE-B139-5605-60025328328F}"/>
              </a:ext>
            </a:extLst>
          </p:cNvPr>
          <p:cNvSpPr/>
          <p:nvPr/>
        </p:nvSpPr>
        <p:spPr>
          <a:xfrm>
            <a:off x="2843808" y="1577169"/>
            <a:ext cx="864096" cy="288032"/>
          </a:xfrm>
          <a:prstGeom prst="roundRect">
            <a:avLst>
              <a:gd name="adj" fmla="val 15432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Kernel C1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16" name="모서리가 둥근 직사각형 15">
            <a:extLst>
              <a:ext uri="{FF2B5EF4-FFF2-40B4-BE49-F238E27FC236}">
                <a16:creationId xmlns:a16="http://schemas.microsoft.com/office/drawing/2014/main" id="{22DE5B08-0B44-ACB9-A08F-1A081CEDD84A}"/>
              </a:ext>
            </a:extLst>
          </p:cNvPr>
          <p:cNvSpPr/>
          <p:nvPr/>
        </p:nvSpPr>
        <p:spPr>
          <a:xfrm>
            <a:off x="3707904" y="1577169"/>
            <a:ext cx="864096" cy="288032"/>
          </a:xfrm>
          <a:prstGeom prst="roundRect">
            <a:avLst>
              <a:gd name="adj" fmla="val 15432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Kernel C2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  <p:sp>
        <p:nvSpPr>
          <p:cNvPr id="17" name="모서리가 둥근 직사각형 16">
            <a:extLst>
              <a:ext uri="{FF2B5EF4-FFF2-40B4-BE49-F238E27FC236}">
                <a16:creationId xmlns:a16="http://schemas.microsoft.com/office/drawing/2014/main" id="{9425185E-1B85-8608-B50C-229900571A3C}"/>
              </a:ext>
            </a:extLst>
          </p:cNvPr>
          <p:cNvSpPr/>
          <p:nvPr/>
        </p:nvSpPr>
        <p:spPr>
          <a:xfrm>
            <a:off x="4572000" y="1577169"/>
            <a:ext cx="1656184" cy="288032"/>
          </a:xfrm>
          <a:prstGeom prst="roundRect">
            <a:avLst>
              <a:gd name="adj" fmla="val 15432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>
                <a:solidFill>
                  <a:schemeClr val="tx1"/>
                </a:solidFill>
              </a:rPr>
              <a:t>Kernel C3</a:t>
            </a:r>
            <a:endParaRPr kumimoji="1" lang="ko-KR" altLang="en-US" sz="9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08874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7BDA65-9EC1-B7CA-EFEE-724CBE0E5C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66E4C7-CAC9-8DBC-7858-75875C9D04A5}"/>
              </a:ext>
            </a:extLst>
          </p:cNvPr>
          <p:cNvSpPr txBox="1">
            <a:spLocks/>
          </p:cNvSpPr>
          <p:nvPr/>
        </p:nvSpPr>
        <p:spPr>
          <a:xfrm>
            <a:off x="457200" y="-141895"/>
            <a:ext cx="8229600" cy="857250"/>
          </a:xfrm>
          <a:prstGeom prst="rect">
            <a:avLst/>
          </a:prstGeom>
        </p:spPr>
        <p:txBody>
          <a:bodyPr/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/>
              <a:t>Time-slicing</a:t>
            </a:r>
            <a:endParaRPr lang="ko-KR" altLang="en-US" dirty="0"/>
          </a:p>
        </p:txBody>
      </p:sp>
      <p:sp>
        <p:nvSpPr>
          <p:cNvPr id="3" name="모서리가 둥근 직사각형 2">
            <a:extLst>
              <a:ext uri="{FF2B5EF4-FFF2-40B4-BE49-F238E27FC236}">
                <a16:creationId xmlns:a16="http://schemas.microsoft.com/office/drawing/2014/main" id="{DAA7660C-C526-AFF8-B3E0-20CCB5227B27}"/>
              </a:ext>
            </a:extLst>
          </p:cNvPr>
          <p:cNvSpPr/>
          <p:nvPr/>
        </p:nvSpPr>
        <p:spPr>
          <a:xfrm>
            <a:off x="827584" y="723615"/>
            <a:ext cx="3528392" cy="648072"/>
          </a:xfrm>
          <a:prstGeom prst="roundRect">
            <a:avLst>
              <a:gd name="adj" fmla="val 12223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kumimoji="1" lang="en-US" altLang="ko-KR" sz="1000" b="1">
                <a:solidFill>
                  <a:schemeClr val="tx1"/>
                </a:solidFill>
              </a:rPr>
              <a:t>CUDA App A</a:t>
            </a:r>
            <a:endParaRPr kumimoji="1" lang="ko-KR" altLang="en-US" sz="1000" b="1">
              <a:solidFill>
                <a:schemeClr val="tx1"/>
              </a:solidFill>
            </a:endParaRP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D2F04AF0-693A-2FA0-AD35-E792768EA6CE}"/>
              </a:ext>
            </a:extLst>
          </p:cNvPr>
          <p:cNvGrpSpPr/>
          <p:nvPr/>
        </p:nvGrpSpPr>
        <p:grpSpPr>
          <a:xfrm>
            <a:off x="899592" y="795623"/>
            <a:ext cx="3384376" cy="288032"/>
            <a:chOff x="683568" y="1128167"/>
            <a:chExt cx="3384376" cy="288032"/>
          </a:xfrm>
        </p:grpSpPr>
        <p:sp>
          <p:nvSpPr>
            <p:cNvPr id="4" name="모서리가 둥근 직사각형 3">
              <a:extLst>
                <a:ext uri="{FF2B5EF4-FFF2-40B4-BE49-F238E27FC236}">
                  <a16:creationId xmlns:a16="http://schemas.microsoft.com/office/drawing/2014/main" id="{F436FB4D-988D-1D9D-E93A-0514D1487911}"/>
                </a:ext>
              </a:extLst>
            </p:cNvPr>
            <p:cNvSpPr/>
            <p:nvPr/>
          </p:nvSpPr>
          <p:spPr>
            <a:xfrm>
              <a:off x="683568" y="1128167"/>
              <a:ext cx="864096" cy="288032"/>
            </a:xfrm>
            <a:prstGeom prst="roundRect">
              <a:avLst>
                <a:gd name="adj" fmla="val 15432"/>
              </a:avLst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900">
                  <a:solidFill>
                    <a:schemeClr val="tx1"/>
                  </a:solidFill>
                </a:rPr>
                <a:t>Kernel A1</a:t>
              </a:r>
              <a:endParaRPr kumimoji="1" lang="ko-KR" altLang="en-US" sz="900">
                <a:solidFill>
                  <a:schemeClr val="tx1"/>
                </a:solidFill>
              </a:endParaRPr>
            </a:p>
          </p:txBody>
        </p:sp>
        <p:sp>
          <p:nvSpPr>
            <p:cNvPr id="5" name="모서리가 둥근 직사각형 4">
              <a:extLst>
                <a:ext uri="{FF2B5EF4-FFF2-40B4-BE49-F238E27FC236}">
                  <a16:creationId xmlns:a16="http://schemas.microsoft.com/office/drawing/2014/main" id="{ED2FB2B6-8909-3280-7349-8DF8C93823C4}"/>
                </a:ext>
              </a:extLst>
            </p:cNvPr>
            <p:cNvSpPr/>
            <p:nvPr/>
          </p:nvSpPr>
          <p:spPr>
            <a:xfrm>
              <a:off x="1547664" y="1128167"/>
              <a:ext cx="1656184" cy="288032"/>
            </a:xfrm>
            <a:prstGeom prst="roundRect">
              <a:avLst>
                <a:gd name="adj" fmla="val 15432"/>
              </a:avLst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900">
                  <a:solidFill>
                    <a:schemeClr val="tx1"/>
                  </a:solidFill>
                </a:rPr>
                <a:t>Kernel A2</a:t>
              </a:r>
              <a:endParaRPr kumimoji="1" lang="ko-KR" altLang="en-US" sz="900">
                <a:solidFill>
                  <a:schemeClr val="tx1"/>
                </a:solidFill>
              </a:endParaRPr>
            </a:p>
          </p:txBody>
        </p:sp>
        <p:sp>
          <p:nvSpPr>
            <p:cNvPr id="6" name="모서리가 둥근 직사각형 5">
              <a:extLst>
                <a:ext uri="{FF2B5EF4-FFF2-40B4-BE49-F238E27FC236}">
                  <a16:creationId xmlns:a16="http://schemas.microsoft.com/office/drawing/2014/main" id="{13FB6B6F-9DB3-72D6-9ED5-CEF2B94603C8}"/>
                </a:ext>
              </a:extLst>
            </p:cNvPr>
            <p:cNvSpPr/>
            <p:nvPr/>
          </p:nvSpPr>
          <p:spPr>
            <a:xfrm>
              <a:off x="3203848" y="1128167"/>
              <a:ext cx="864096" cy="288032"/>
            </a:xfrm>
            <a:prstGeom prst="roundRect">
              <a:avLst>
                <a:gd name="adj" fmla="val 15432"/>
              </a:avLst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900">
                  <a:solidFill>
                    <a:schemeClr val="tx1"/>
                  </a:solidFill>
                </a:rPr>
                <a:t>Kernel A3</a:t>
              </a:r>
              <a:endParaRPr kumimoji="1" lang="ko-KR" altLang="en-US" sz="900">
                <a:solidFill>
                  <a:schemeClr val="tx1"/>
                </a:solidFill>
              </a:endParaRPr>
            </a:p>
          </p:txBody>
        </p:sp>
      </p:grpSp>
      <p:sp>
        <p:nvSpPr>
          <p:cNvPr id="8" name="모서리가 둥근 직사각형 7">
            <a:extLst>
              <a:ext uri="{FF2B5EF4-FFF2-40B4-BE49-F238E27FC236}">
                <a16:creationId xmlns:a16="http://schemas.microsoft.com/office/drawing/2014/main" id="{A2FF6ABA-4637-B63B-CF88-E65A785C2834}"/>
              </a:ext>
            </a:extLst>
          </p:cNvPr>
          <p:cNvSpPr/>
          <p:nvPr/>
        </p:nvSpPr>
        <p:spPr>
          <a:xfrm>
            <a:off x="4716016" y="723615"/>
            <a:ext cx="3528392" cy="648072"/>
          </a:xfrm>
          <a:prstGeom prst="roundRect">
            <a:avLst>
              <a:gd name="adj" fmla="val 12223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kumimoji="1" lang="en-US" altLang="ko-KR" sz="1000" b="1">
                <a:solidFill>
                  <a:schemeClr val="tx1"/>
                </a:solidFill>
              </a:rPr>
              <a:t>CUDA App B</a:t>
            </a:r>
            <a:endParaRPr kumimoji="1" lang="ko-KR" altLang="en-US" sz="1000" b="1">
              <a:solidFill>
                <a:schemeClr val="tx1"/>
              </a:solidFill>
            </a:endParaRP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CB24E9C9-CBB9-F6C8-DAE7-AD22426AD277}"/>
              </a:ext>
            </a:extLst>
          </p:cNvPr>
          <p:cNvGrpSpPr/>
          <p:nvPr/>
        </p:nvGrpSpPr>
        <p:grpSpPr>
          <a:xfrm>
            <a:off x="4788024" y="795623"/>
            <a:ext cx="3384376" cy="288032"/>
            <a:chOff x="683568" y="1128167"/>
            <a:chExt cx="3384376" cy="288032"/>
          </a:xfrm>
        </p:grpSpPr>
        <p:sp>
          <p:nvSpPr>
            <p:cNvPr id="10" name="모서리가 둥근 직사각형 9">
              <a:extLst>
                <a:ext uri="{FF2B5EF4-FFF2-40B4-BE49-F238E27FC236}">
                  <a16:creationId xmlns:a16="http://schemas.microsoft.com/office/drawing/2014/main" id="{72495349-F96E-2D2E-279A-85B98F26BA13}"/>
                </a:ext>
              </a:extLst>
            </p:cNvPr>
            <p:cNvSpPr/>
            <p:nvPr/>
          </p:nvSpPr>
          <p:spPr>
            <a:xfrm>
              <a:off x="683568" y="1128167"/>
              <a:ext cx="1656184" cy="288032"/>
            </a:xfrm>
            <a:prstGeom prst="roundRect">
              <a:avLst>
                <a:gd name="adj" fmla="val 15432"/>
              </a:avLst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900">
                  <a:solidFill>
                    <a:schemeClr val="tx1"/>
                  </a:solidFill>
                </a:rPr>
                <a:t>Kernel B1</a:t>
              </a:r>
              <a:endParaRPr kumimoji="1" lang="ko-KR" altLang="en-US" sz="900">
                <a:solidFill>
                  <a:schemeClr val="tx1"/>
                </a:solidFill>
              </a:endParaRPr>
            </a:p>
          </p:txBody>
        </p:sp>
        <p:sp>
          <p:nvSpPr>
            <p:cNvPr id="11" name="모서리가 둥근 직사각형 10">
              <a:extLst>
                <a:ext uri="{FF2B5EF4-FFF2-40B4-BE49-F238E27FC236}">
                  <a16:creationId xmlns:a16="http://schemas.microsoft.com/office/drawing/2014/main" id="{166ADEC3-FFD2-3978-0241-31B54847A404}"/>
                </a:ext>
              </a:extLst>
            </p:cNvPr>
            <p:cNvSpPr/>
            <p:nvPr/>
          </p:nvSpPr>
          <p:spPr>
            <a:xfrm>
              <a:off x="2339752" y="1128167"/>
              <a:ext cx="864096" cy="288032"/>
            </a:xfrm>
            <a:prstGeom prst="roundRect">
              <a:avLst>
                <a:gd name="adj" fmla="val 15432"/>
              </a:avLst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900">
                  <a:solidFill>
                    <a:schemeClr val="tx1"/>
                  </a:solidFill>
                </a:rPr>
                <a:t>Kernel B2</a:t>
              </a:r>
              <a:endParaRPr kumimoji="1" lang="ko-KR" altLang="en-US" sz="900">
                <a:solidFill>
                  <a:schemeClr val="tx1"/>
                </a:solidFill>
              </a:endParaRPr>
            </a:p>
          </p:txBody>
        </p:sp>
        <p:sp>
          <p:nvSpPr>
            <p:cNvPr id="12" name="모서리가 둥근 직사각형 11">
              <a:extLst>
                <a:ext uri="{FF2B5EF4-FFF2-40B4-BE49-F238E27FC236}">
                  <a16:creationId xmlns:a16="http://schemas.microsoft.com/office/drawing/2014/main" id="{9FE6D3CE-C472-A778-9315-F771F0A42E26}"/>
                </a:ext>
              </a:extLst>
            </p:cNvPr>
            <p:cNvSpPr/>
            <p:nvPr/>
          </p:nvSpPr>
          <p:spPr>
            <a:xfrm>
              <a:off x="3203848" y="1128167"/>
              <a:ext cx="864096" cy="288032"/>
            </a:xfrm>
            <a:prstGeom prst="roundRect">
              <a:avLst>
                <a:gd name="adj" fmla="val 15432"/>
              </a:avLst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900">
                  <a:solidFill>
                    <a:schemeClr val="tx1"/>
                  </a:solidFill>
                </a:rPr>
                <a:t>Kernel B3</a:t>
              </a:r>
              <a:endParaRPr kumimoji="1" lang="ko-KR" altLang="en-US" sz="900">
                <a:solidFill>
                  <a:schemeClr val="tx1"/>
                </a:solidFill>
              </a:endParaRPr>
            </a:p>
          </p:txBody>
        </p:sp>
      </p:grpSp>
      <p:sp>
        <p:nvSpPr>
          <p:cNvPr id="13" name="모서리가 둥근 직사각형 12">
            <a:extLst>
              <a:ext uri="{FF2B5EF4-FFF2-40B4-BE49-F238E27FC236}">
                <a16:creationId xmlns:a16="http://schemas.microsoft.com/office/drawing/2014/main" id="{E97E8661-3E67-748E-091D-5D5169F4F294}"/>
              </a:ext>
            </a:extLst>
          </p:cNvPr>
          <p:cNvSpPr/>
          <p:nvPr/>
        </p:nvSpPr>
        <p:spPr>
          <a:xfrm>
            <a:off x="2771800" y="1505161"/>
            <a:ext cx="3528392" cy="648072"/>
          </a:xfrm>
          <a:prstGeom prst="roundRect">
            <a:avLst>
              <a:gd name="adj" fmla="val 12223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kumimoji="1" lang="en-US" altLang="ko-KR" sz="1000" b="1">
                <a:solidFill>
                  <a:schemeClr val="tx1"/>
                </a:solidFill>
              </a:rPr>
              <a:t>CUDA App C</a:t>
            </a:r>
            <a:endParaRPr kumimoji="1" lang="ko-KR" altLang="en-US" sz="1000" b="1">
              <a:solidFill>
                <a:schemeClr val="tx1"/>
              </a:solidFill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061BDB5F-355B-C007-6D1C-F26A99D66FB3}"/>
              </a:ext>
            </a:extLst>
          </p:cNvPr>
          <p:cNvGrpSpPr/>
          <p:nvPr/>
        </p:nvGrpSpPr>
        <p:grpSpPr>
          <a:xfrm>
            <a:off x="2843808" y="1577169"/>
            <a:ext cx="3384376" cy="288032"/>
            <a:chOff x="683568" y="1128167"/>
            <a:chExt cx="3384376" cy="288032"/>
          </a:xfrm>
        </p:grpSpPr>
        <p:sp>
          <p:nvSpPr>
            <p:cNvPr id="15" name="모서리가 둥근 직사각형 14">
              <a:extLst>
                <a:ext uri="{FF2B5EF4-FFF2-40B4-BE49-F238E27FC236}">
                  <a16:creationId xmlns:a16="http://schemas.microsoft.com/office/drawing/2014/main" id="{2DD5A78D-C288-931E-610C-172A03205CF3}"/>
                </a:ext>
              </a:extLst>
            </p:cNvPr>
            <p:cNvSpPr/>
            <p:nvPr/>
          </p:nvSpPr>
          <p:spPr>
            <a:xfrm>
              <a:off x="683568" y="1128167"/>
              <a:ext cx="864096" cy="288032"/>
            </a:xfrm>
            <a:prstGeom prst="roundRect">
              <a:avLst>
                <a:gd name="adj" fmla="val 15432"/>
              </a:avLst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900">
                  <a:solidFill>
                    <a:schemeClr val="tx1"/>
                  </a:solidFill>
                </a:rPr>
                <a:t>Kernel C1</a:t>
              </a:r>
              <a:endParaRPr kumimoji="1" lang="ko-KR" altLang="en-US" sz="900">
                <a:solidFill>
                  <a:schemeClr val="tx1"/>
                </a:solidFill>
              </a:endParaRPr>
            </a:p>
          </p:txBody>
        </p:sp>
        <p:sp>
          <p:nvSpPr>
            <p:cNvPr id="16" name="모서리가 둥근 직사각형 15">
              <a:extLst>
                <a:ext uri="{FF2B5EF4-FFF2-40B4-BE49-F238E27FC236}">
                  <a16:creationId xmlns:a16="http://schemas.microsoft.com/office/drawing/2014/main" id="{700AD777-20EC-67B6-4E5A-6B31D2BD594F}"/>
                </a:ext>
              </a:extLst>
            </p:cNvPr>
            <p:cNvSpPr/>
            <p:nvPr/>
          </p:nvSpPr>
          <p:spPr>
            <a:xfrm>
              <a:off x="1547664" y="1128167"/>
              <a:ext cx="864096" cy="288032"/>
            </a:xfrm>
            <a:prstGeom prst="roundRect">
              <a:avLst>
                <a:gd name="adj" fmla="val 15432"/>
              </a:avLst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900">
                  <a:solidFill>
                    <a:schemeClr val="tx1"/>
                  </a:solidFill>
                </a:rPr>
                <a:t>Kernel C2</a:t>
              </a:r>
              <a:endParaRPr kumimoji="1" lang="ko-KR" altLang="en-US" sz="900">
                <a:solidFill>
                  <a:schemeClr val="tx1"/>
                </a:solidFill>
              </a:endParaRPr>
            </a:p>
          </p:txBody>
        </p:sp>
        <p:sp>
          <p:nvSpPr>
            <p:cNvPr id="17" name="모서리가 둥근 직사각형 16">
              <a:extLst>
                <a:ext uri="{FF2B5EF4-FFF2-40B4-BE49-F238E27FC236}">
                  <a16:creationId xmlns:a16="http://schemas.microsoft.com/office/drawing/2014/main" id="{107A7545-1243-A1B8-9D5E-492D5F777E13}"/>
                </a:ext>
              </a:extLst>
            </p:cNvPr>
            <p:cNvSpPr/>
            <p:nvPr/>
          </p:nvSpPr>
          <p:spPr>
            <a:xfrm>
              <a:off x="2411760" y="1128167"/>
              <a:ext cx="1656184" cy="288032"/>
            </a:xfrm>
            <a:prstGeom prst="roundRect">
              <a:avLst>
                <a:gd name="adj" fmla="val 15432"/>
              </a:avLst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900">
                  <a:solidFill>
                    <a:schemeClr val="tx1"/>
                  </a:solidFill>
                </a:rPr>
                <a:t>Kernel C3</a:t>
              </a:r>
              <a:endParaRPr kumimoji="1" lang="ko-KR" altLang="en-US" sz="90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0709609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1CA2FF-8F0F-427E-757A-ECEFA33578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00C1BF-B0D6-8347-80A1-BAD63B07A001}"/>
              </a:ext>
            </a:extLst>
          </p:cNvPr>
          <p:cNvSpPr txBox="1">
            <a:spLocks/>
          </p:cNvSpPr>
          <p:nvPr/>
        </p:nvSpPr>
        <p:spPr>
          <a:xfrm>
            <a:off x="457200" y="-141895"/>
            <a:ext cx="8229600" cy="857250"/>
          </a:xfrm>
          <a:prstGeom prst="rect">
            <a:avLst/>
          </a:prstGeom>
        </p:spPr>
        <p:txBody>
          <a:bodyPr/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/>
              <a:t>Time-slicing</a:t>
            </a:r>
            <a:endParaRPr lang="ko-KR" altLang="en-US" dirty="0"/>
          </a:p>
        </p:txBody>
      </p:sp>
      <p:sp>
        <p:nvSpPr>
          <p:cNvPr id="3" name="모서리가 둥근 직사각형 2">
            <a:extLst>
              <a:ext uri="{FF2B5EF4-FFF2-40B4-BE49-F238E27FC236}">
                <a16:creationId xmlns:a16="http://schemas.microsoft.com/office/drawing/2014/main" id="{F0A7D793-2B03-923C-17CE-CAFC52237DCD}"/>
              </a:ext>
            </a:extLst>
          </p:cNvPr>
          <p:cNvSpPr/>
          <p:nvPr/>
        </p:nvSpPr>
        <p:spPr>
          <a:xfrm>
            <a:off x="827584" y="723615"/>
            <a:ext cx="3528392" cy="648072"/>
          </a:xfrm>
          <a:prstGeom prst="roundRect">
            <a:avLst>
              <a:gd name="adj" fmla="val 12223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kumimoji="1" lang="en-US" altLang="ko-KR" sz="1000" b="1">
                <a:solidFill>
                  <a:schemeClr val="tx1"/>
                </a:solidFill>
              </a:rPr>
              <a:t>CUDA App A</a:t>
            </a:r>
            <a:endParaRPr kumimoji="1" lang="ko-KR" altLang="en-US" sz="1000" b="1">
              <a:solidFill>
                <a:schemeClr val="tx1"/>
              </a:solidFill>
            </a:endParaRP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BD658316-59A4-2091-A88D-EFCB16847817}"/>
              </a:ext>
            </a:extLst>
          </p:cNvPr>
          <p:cNvGrpSpPr/>
          <p:nvPr/>
        </p:nvGrpSpPr>
        <p:grpSpPr>
          <a:xfrm>
            <a:off x="899592" y="795623"/>
            <a:ext cx="3384376" cy="288032"/>
            <a:chOff x="683568" y="1128167"/>
            <a:chExt cx="3384376" cy="288032"/>
          </a:xfrm>
        </p:grpSpPr>
        <p:sp>
          <p:nvSpPr>
            <p:cNvPr id="4" name="모서리가 둥근 직사각형 3">
              <a:extLst>
                <a:ext uri="{FF2B5EF4-FFF2-40B4-BE49-F238E27FC236}">
                  <a16:creationId xmlns:a16="http://schemas.microsoft.com/office/drawing/2014/main" id="{FC5AB164-4FBF-C54E-AA05-5205CBF8F39C}"/>
                </a:ext>
              </a:extLst>
            </p:cNvPr>
            <p:cNvSpPr/>
            <p:nvPr/>
          </p:nvSpPr>
          <p:spPr>
            <a:xfrm>
              <a:off x="683568" y="1128167"/>
              <a:ext cx="864096" cy="288032"/>
            </a:xfrm>
            <a:prstGeom prst="roundRect">
              <a:avLst>
                <a:gd name="adj" fmla="val 15432"/>
              </a:avLst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900">
                  <a:solidFill>
                    <a:schemeClr val="tx1"/>
                  </a:solidFill>
                </a:rPr>
                <a:t>Kernel A1</a:t>
              </a:r>
              <a:endParaRPr kumimoji="1" lang="ko-KR" altLang="en-US" sz="900">
                <a:solidFill>
                  <a:schemeClr val="tx1"/>
                </a:solidFill>
              </a:endParaRPr>
            </a:p>
          </p:txBody>
        </p:sp>
        <p:sp>
          <p:nvSpPr>
            <p:cNvPr id="5" name="모서리가 둥근 직사각형 4">
              <a:extLst>
                <a:ext uri="{FF2B5EF4-FFF2-40B4-BE49-F238E27FC236}">
                  <a16:creationId xmlns:a16="http://schemas.microsoft.com/office/drawing/2014/main" id="{6BC590C9-7C99-14B1-BE16-A0EE47B72AEC}"/>
                </a:ext>
              </a:extLst>
            </p:cNvPr>
            <p:cNvSpPr/>
            <p:nvPr/>
          </p:nvSpPr>
          <p:spPr>
            <a:xfrm>
              <a:off x="1547664" y="1128167"/>
              <a:ext cx="1656184" cy="288032"/>
            </a:xfrm>
            <a:prstGeom prst="roundRect">
              <a:avLst>
                <a:gd name="adj" fmla="val 15432"/>
              </a:avLst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900">
                  <a:solidFill>
                    <a:schemeClr val="tx1"/>
                  </a:solidFill>
                </a:rPr>
                <a:t>Kernel A2</a:t>
              </a:r>
              <a:endParaRPr kumimoji="1" lang="ko-KR" altLang="en-US" sz="900">
                <a:solidFill>
                  <a:schemeClr val="tx1"/>
                </a:solidFill>
              </a:endParaRPr>
            </a:p>
          </p:txBody>
        </p:sp>
        <p:sp>
          <p:nvSpPr>
            <p:cNvPr id="6" name="모서리가 둥근 직사각형 5">
              <a:extLst>
                <a:ext uri="{FF2B5EF4-FFF2-40B4-BE49-F238E27FC236}">
                  <a16:creationId xmlns:a16="http://schemas.microsoft.com/office/drawing/2014/main" id="{E59BDF5E-4949-7215-0AE4-DCF5F76FCE39}"/>
                </a:ext>
              </a:extLst>
            </p:cNvPr>
            <p:cNvSpPr/>
            <p:nvPr/>
          </p:nvSpPr>
          <p:spPr>
            <a:xfrm>
              <a:off x="3203848" y="1128167"/>
              <a:ext cx="864096" cy="288032"/>
            </a:xfrm>
            <a:prstGeom prst="roundRect">
              <a:avLst>
                <a:gd name="adj" fmla="val 15432"/>
              </a:avLst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900">
                  <a:solidFill>
                    <a:schemeClr val="tx1"/>
                  </a:solidFill>
                </a:rPr>
                <a:t>Kernel A3</a:t>
              </a:r>
              <a:endParaRPr kumimoji="1" lang="ko-KR" altLang="en-US" sz="900">
                <a:solidFill>
                  <a:schemeClr val="tx1"/>
                </a:solidFill>
              </a:endParaRPr>
            </a:p>
          </p:txBody>
        </p:sp>
      </p:grpSp>
      <p:sp>
        <p:nvSpPr>
          <p:cNvPr id="8" name="모서리가 둥근 직사각형 7">
            <a:extLst>
              <a:ext uri="{FF2B5EF4-FFF2-40B4-BE49-F238E27FC236}">
                <a16:creationId xmlns:a16="http://schemas.microsoft.com/office/drawing/2014/main" id="{D9585E1B-6CB9-6965-3E8B-D09781D3B2C0}"/>
              </a:ext>
            </a:extLst>
          </p:cNvPr>
          <p:cNvSpPr/>
          <p:nvPr/>
        </p:nvSpPr>
        <p:spPr>
          <a:xfrm>
            <a:off x="4716016" y="723615"/>
            <a:ext cx="3528392" cy="648072"/>
          </a:xfrm>
          <a:prstGeom prst="roundRect">
            <a:avLst>
              <a:gd name="adj" fmla="val 12223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kumimoji="1" lang="en-US" altLang="ko-KR" sz="1000" b="1">
                <a:solidFill>
                  <a:schemeClr val="tx1"/>
                </a:solidFill>
              </a:rPr>
              <a:t>CUDA App B</a:t>
            </a:r>
            <a:endParaRPr kumimoji="1" lang="ko-KR" altLang="en-US" sz="1000" b="1">
              <a:solidFill>
                <a:schemeClr val="tx1"/>
              </a:solidFill>
            </a:endParaRP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DE227CD6-5E18-8012-165F-E6702C340521}"/>
              </a:ext>
            </a:extLst>
          </p:cNvPr>
          <p:cNvGrpSpPr/>
          <p:nvPr/>
        </p:nvGrpSpPr>
        <p:grpSpPr>
          <a:xfrm>
            <a:off x="4788024" y="795623"/>
            <a:ext cx="3384376" cy="288032"/>
            <a:chOff x="683568" y="1128167"/>
            <a:chExt cx="3384376" cy="288032"/>
          </a:xfrm>
        </p:grpSpPr>
        <p:sp>
          <p:nvSpPr>
            <p:cNvPr id="10" name="모서리가 둥근 직사각형 9">
              <a:extLst>
                <a:ext uri="{FF2B5EF4-FFF2-40B4-BE49-F238E27FC236}">
                  <a16:creationId xmlns:a16="http://schemas.microsoft.com/office/drawing/2014/main" id="{8DC856FB-0A8E-421E-6BA5-81F4D12FAB73}"/>
                </a:ext>
              </a:extLst>
            </p:cNvPr>
            <p:cNvSpPr/>
            <p:nvPr/>
          </p:nvSpPr>
          <p:spPr>
            <a:xfrm>
              <a:off x="683568" y="1128167"/>
              <a:ext cx="1656184" cy="288032"/>
            </a:xfrm>
            <a:prstGeom prst="roundRect">
              <a:avLst>
                <a:gd name="adj" fmla="val 15432"/>
              </a:avLst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900">
                  <a:solidFill>
                    <a:schemeClr val="tx1"/>
                  </a:solidFill>
                </a:rPr>
                <a:t>Kernel B1</a:t>
              </a:r>
              <a:endParaRPr kumimoji="1" lang="ko-KR" altLang="en-US" sz="900">
                <a:solidFill>
                  <a:schemeClr val="tx1"/>
                </a:solidFill>
              </a:endParaRPr>
            </a:p>
          </p:txBody>
        </p:sp>
        <p:sp>
          <p:nvSpPr>
            <p:cNvPr id="11" name="모서리가 둥근 직사각형 10">
              <a:extLst>
                <a:ext uri="{FF2B5EF4-FFF2-40B4-BE49-F238E27FC236}">
                  <a16:creationId xmlns:a16="http://schemas.microsoft.com/office/drawing/2014/main" id="{07C107C7-9D7C-E7AE-D1C3-41EE824E3909}"/>
                </a:ext>
              </a:extLst>
            </p:cNvPr>
            <p:cNvSpPr/>
            <p:nvPr/>
          </p:nvSpPr>
          <p:spPr>
            <a:xfrm>
              <a:off x="2339752" y="1128167"/>
              <a:ext cx="864096" cy="288032"/>
            </a:xfrm>
            <a:prstGeom prst="roundRect">
              <a:avLst>
                <a:gd name="adj" fmla="val 15432"/>
              </a:avLst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900">
                  <a:solidFill>
                    <a:schemeClr val="tx1"/>
                  </a:solidFill>
                </a:rPr>
                <a:t>Kernel B2</a:t>
              </a:r>
              <a:endParaRPr kumimoji="1" lang="ko-KR" altLang="en-US" sz="900">
                <a:solidFill>
                  <a:schemeClr val="tx1"/>
                </a:solidFill>
              </a:endParaRPr>
            </a:p>
          </p:txBody>
        </p:sp>
        <p:sp>
          <p:nvSpPr>
            <p:cNvPr id="12" name="모서리가 둥근 직사각형 11">
              <a:extLst>
                <a:ext uri="{FF2B5EF4-FFF2-40B4-BE49-F238E27FC236}">
                  <a16:creationId xmlns:a16="http://schemas.microsoft.com/office/drawing/2014/main" id="{A2669627-73D6-B3FF-7FED-B1D6D2FC4F2A}"/>
                </a:ext>
              </a:extLst>
            </p:cNvPr>
            <p:cNvSpPr/>
            <p:nvPr/>
          </p:nvSpPr>
          <p:spPr>
            <a:xfrm>
              <a:off x="3203848" y="1128167"/>
              <a:ext cx="864096" cy="288032"/>
            </a:xfrm>
            <a:prstGeom prst="roundRect">
              <a:avLst>
                <a:gd name="adj" fmla="val 15432"/>
              </a:avLst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900">
                  <a:solidFill>
                    <a:schemeClr val="tx1"/>
                  </a:solidFill>
                </a:rPr>
                <a:t>Kernel B3</a:t>
              </a:r>
              <a:endParaRPr kumimoji="1" lang="ko-KR" altLang="en-US" sz="900">
                <a:solidFill>
                  <a:schemeClr val="tx1"/>
                </a:solidFill>
              </a:endParaRPr>
            </a:p>
          </p:txBody>
        </p:sp>
      </p:grpSp>
      <p:sp>
        <p:nvSpPr>
          <p:cNvPr id="13" name="모서리가 둥근 직사각형 12">
            <a:extLst>
              <a:ext uri="{FF2B5EF4-FFF2-40B4-BE49-F238E27FC236}">
                <a16:creationId xmlns:a16="http://schemas.microsoft.com/office/drawing/2014/main" id="{A21AF130-6885-216D-0F68-A10AC4328C5F}"/>
              </a:ext>
            </a:extLst>
          </p:cNvPr>
          <p:cNvSpPr/>
          <p:nvPr/>
        </p:nvSpPr>
        <p:spPr>
          <a:xfrm>
            <a:off x="2771800" y="1505161"/>
            <a:ext cx="3528392" cy="648072"/>
          </a:xfrm>
          <a:prstGeom prst="roundRect">
            <a:avLst>
              <a:gd name="adj" fmla="val 12223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kumimoji="1" lang="en-US" altLang="ko-KR" sz="1000" b="1">
                <a:solidFill>
                  <a:schemeClr val="tx1"/>
                </a:solidFill>
              </a:rPr>
              <a:t>CUDA App C</a:t>
            </a:r>
            <a:endParaRPr kumimoji="1" lang="ko-KR" altLang="en-US" sz="1000" b="1">
              <a:solidFill>
                <a:schemeClr val="tx1"/>
              </a:solidFill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9DA589F1-6CC7-723B-84C1-FBBE65B97DA0}"/>
              </a:ext>
            </a:extLst>
          </p:cNvPr>
          <p:cNvGrpSpPr/>
          <p:nvPr/>
        </p:nvGrpSpPr>
        <p:grpSpPr>
          <a:xfrm>
            <a:off x="2843808" y="1577169"/>
            <a:ext cx="3384376" cy="288032"/>
            <a:chOff x="683568" y="1128167"/>
            <a:chExt cx="3384376" cy="288032"/>
          </a:xfrm>
        </p:grpSpPr>
        <p:sp>
          <p:nvSpPr>
            <p:cNvPr id="15" name="모서리가 둥근 직사각형 14">
              <a:extLst>
                <a:ext uri="{FF2B5EF4-FFF2-40B4-BE49-F238E27FC236}">
                  <a16:creationId xmlns:a16="http://schemas.microsoft.com/office/drawing/2014/main" id="{2D01787A-7B22-CFA0-B1D5-E1917CE09C14}"/>
                </a:ext>
              </a:extLst>
            </p:cNvPr>
            <p:cNvSpPr/>
            <p:nvPr/>
          </p:nvSpPr>
          <p:spPr>
            <a:xfrm>
              <a:off x="683568" y="1128167"/>
              <a:ext cx="864096" cy="288032"/>
            </a:xfrm>
            <a:prstGeom prst="roundRect">
              <a:avLst>
                <a:gd name="adj" fmla="val 15432"/>
              </a:avLst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900">
                  <a:solidFill>
                    <a:schemeClr val="tx1"/>
                  </a:solidFill>
                </a:rPr>
                <a:t>Kernel C1</a:t>
              </a:r>
              <a:endParaRPr kumimoji="1" lang="ko-KR" altLang="en-US" sz="900">
                <a:solidFill>
                  <a:schemeClr val="tx1"/>
                </a:solidFill>
              </a:endParaRPr>
            </a:p>
          </p:txBody>
        </p:sp>
        <p:sp>
          <p:nvSpPr>
            <p:cNvPr id="16" name="모서리가 둥근 직사각형 15">
              <a:extLst>
                <a:ext uri="{FF2B5EF4-FFF2-40B4-BE49-F238E27FC236}">
                  <a16:creationId xmlns:a16="http://schemas.microsoft.com/office/drawing/2014/main" id="{2D6B41C6-4940-31FD-CE2A-F9593AF3F2C1}"/>
                </a:ext>
              </a:extLst>
            </p:cNvPr>
            <p:cNvSpPr/>
            <p:nvPr/>
          </p:nvSpPr>
          <p:spPr>
            <a:xfrm>
              <a:off x="1547664" y="1128167"/>
              <a:ext cx="864096" cy="288032"/>
            </a:xfrm>
            <a:prstGeom prst="roundRect">
              <a:avLst>
                <a:gd name="adj" fmla="val 15432"/>
              </a:avLst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900">
                  <a:solidFill>
                    <a:schemeClr val="tx1"/>
                  </a:solidFill>
                </a:rPr>
                <a:t>Kernel C2</a:t>
              </a:r>
              <a:endParaRPr kumimoji="1" lang="ko-KR" altLang="en-US" sz="900">
                <a:solidFill>
                  <a:schemeClr val="tx1"/>
                </a:solidFill>
              </a:endParaRPr>
            </a:p>
          </p:txBody>
        </p:sp>
        <p:sp>
          <p:nvSpPr>
            <p:cNvPr id="17" name="모서리가 둥근 직사각형 16">
              <a:extLst>
                <a:ext uri="{FF2B5EF4-FFF2-40B4-BE49-F238E27FC236}">
                  <a16:creationId xmlns:a16="http://schemas.microsoft.com/office/drawing/2014/main" id="{B5E4CD30-AD61-033E-500F-4197B0859121}"/>
                </a:ext>
              </a:extLst>
            </p:cNvPr>
            <p:cNvSpPr/>
            <p:nvPr/>
          </p:nvSpPr>
          <p:spPr>
            <a:xfrm>
              <a:off x="2411760" y="1128167"/>
              <a:ext cx="1656184" cy="288032"/>
            </a:xfrm>
            <a:prstGeom prst="roundRect">
              <a:avLst>
                <a:gd name="adj" fmla="val 15432"/>
              </a:avLst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900">
                  <a:solidFill>
                    <a:schemeClr val="tx1"/>
                  </a:solidFill>
                </a:rPr>
                <a:t>Kernel C3</a:t>
              </a:r>
              <a:endParaRPr kumimoji="1" lang="ko-KR" altLang="en-US" sz="90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7722191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738443D-5E72-49E2-86AC-581D61C41C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-92546"/>
            <a:ext cx="8229600" cy="857250"/>
          </a:xfrm>
        </p:spPr>
        <p:txBody>
          <a:bodyPr/>
          <a:lstStyle/>
          <a:p>
            <a:r>
              <a:rPr lang="en-US" altLang="ko-KR"/>
              <a:t>Key-value</a:t>
            </a:r>
            <a:endParaRPr lang="ko-KR" altLang="en-US" dirty="0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0737893A-0903-4CE4-8266-22919264CB85}"/>
              </a:ext>
            </a:extLst>
          </p:cNvPr>
          <p:cNvGrpSpPr/>
          <p:nvPr/>
        </p:nvGrpSpPr>
        <p:grpSpPr>
          <a:xfrm>
            <a:off x="2771800" y="1131590"/>
            <a:ext cx="3528392" cy="1224136"/>
            <a:chOff x="2771800" y="1059582"/>
            <a:chExt cx="3528392" cy="1296144"/>
          </a:xfrm>
        </p:grpSpPr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C40C13BA-C3DE-4929-9CC6-887BC578BA2B}"/>
                </a:ext>
              </a:extLst>
            </p:cNvPr>
            <p:cNvSpPr/>
            <p:nvPr/>
          </p:nvSpPr>
          <p:spPr>
            <a:xfrm>
              <a:off x="2771800" y="1059582"/>
              <a:ext cx="1080120" cy="432048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400"/>
                <a:t>Key</a:t>
              </a:r>
              <a:endParaRPr lang="ko-KR" altLang="en-US" sz="1400"/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15675355-181B-438F-BFCB-FE3E29EE89D5}"/>
                </a:ext>
              </a:extLst>
            </p:cNvPr>
            <p:cNvSpPr/>
            <p:nvPr/>
          </p:nvSpPr>
          <p:spPr>
            <a:xfrm>
              <a:off x="3851920" y="1059582"/>
              <a:ext cx="2448272" cy="432048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400"/>
                <a:t>Value</a:t>
              </a:r>
              <a:endParaRPr lang="ko-KR" altLang="en-US" sz="1400"/>
            </a:p>
          </p:txBody>
        </p: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49ECC80A-7CDE-497A-A78A-3574E55997F8}"/>
                </a:ext>
              </a:extLst>
            </p:cNvPr>
            <p:cNvSpPr/>
            <p:nvPr/>
          </p:nvSpPr>
          <p:spPr>
            <a:xfrm>
              <a:off x="2771800" y="1491630"/>
              <a:ext cx="1080120" cy="432048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400"/>
                <a:t>Key</a:t>
              </a:r>
              <a:endParaRPr lang="ko-KR" altLang="en-US" sz="1400"/>
            </a:p>
          </p:txBody>
        </p: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E5258C22-3B6E-4C90-81BC-89888EC22F86}"/>
                </a:ext>
              </a:extLst>
            </p:cNvPr>
            <p:cNvSpPr/>
            <p:nvPr/>
          </p:nvSpPr>
          <p:spPr>
            <a:xfrm>
              <a:off x="3851920" y="1491630"/>
              <a:ext cx="2448272" cy="432048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400"/>
                <a:t>Value</a:t>
              </a:r>
              <a:endParaRPr lang="ko-KR" altLang="en-US" sz="1400"/>
            </a:p>
          </p:txBody>
        </p: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65A4C71B-108E-4C37-B6D6-DABD6B171446}"/>
                </a:ext>
              </a:extLst>
            </p:cNvPr>
            <p:cNvSpPr/>
            <p:nvPr/>
          </p:nvSpPr>
          <p:spPr>
            <a:xfrm>
              <a:off x="2771800" y="1923678"/>
              <a:ext cx="1080120" cy="432048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400"/>
                <a:t>Key</a:t>
              </a:r>
              <a:endParaRPr lang="ko-KR" altLang="en-US" sz="1400"/>
            </a:p>
          </p:txBody>
        </p:sp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51B541F3-102A-4EE7-9259-A1777C25671A}"/>
                </a:ext>
              </a:extLst>
            </p:cNvPr>
            <p:cNvSpPr/>
            <p:nvPr/>
          </p:nvSpPr>
          <p:spPr>
            <a:xfrm>
              <a:off x="3851920" y="1923678"/>
              <a:ext cx="2448272" cy="432048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400"/>
                <a:t>Value</a:t>
              </a:r>
              <a:endParaRPr lang="ko-KR" altLang="en-US" sz="1400"/>
            </a:p>
          </p:txBody>
        </p:sp>
      </p:grpSp>
    </p:spTree>
    <p:extLst>
      <p:ext uri="{BB962C8B-B14F-4D97-AF65-F5344CB8AC3E}">
        <p14:creationId xmlns:p14="http://schemas.microsoft.com/office/powerpoint/2010/main" val="6803715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46279</TotalTime>
  <Words>1690</Words>
  <Application>Microsoft Macintosh PowerPoint</Application>
  <PresentationFormat>화면 슬라이드 쇼(16:9)</PresentationFormat>
  <Paragraphs>700</Paragraphs>
  <Slides>27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27</vt:i4>
      </vt:variant>
    </vt:vector>
  </HeadingPairs>
  <TitlesOfParts>
    <vt:vector size="31" baseType="lpstr">
      <vt:lpstr>맑은 고딕</vt:lpstr>
      <vt:lpstr>Arial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Key-value</vt:lpstr>
    </vt:vector>
  </TitlesOfParts>
  <Company>R&amp;D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Microsoft Corporation</dc:creator>
  <cp:lastModifiedBy>정섭 신</cp:lastModifiedBy>
  <cp:revision>6179</cp:revision>
  <dcterms:created xsi:type="dcterms:W3CDTF">2006-10-05T04:04:58Z</dcterms:created>
  <dcterms:modified xsi:type="dcterms:W3CDTF">2026-03-23T12:42:25Z</dcterms:modified>
</cp:coreProperties>
</file>