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425" r:id="rId2"/>
    <p:sldId id="426" r:id="rId3"/>
    <p:sldId id="423" r:id="rId4"/>
    <p:sldId id="424" r:id="rId5"/>
    <p:sldId id="419" r:id="rId6"/>
    <p:sldId id="417" r:id="rId7"/>
    <p:sldId id="421" r:id="rId8"/>
    <p:sldId id="422" r:id="rId9"/>
    <p:sldId id="418" r:id="rId10"/>
    <p:sldId id="420" r:id="rId11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9" autoAdjust="0"/>
    <p:restoredTop sz="81402" autoAdjust="0"/>
  </p:normalViewPr>
  <p:slideViewPr>
    <p:cSldViewPr>
      <p:cViewPr varScale="1">
        <p:scale>
          <a:sx n="206" d="100"/>
          <a:sy n="206" d="100"/>
        </p:scale>
        <p:origin x="176" y="760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2026. 5. 24.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85D14-203F-1574-CB0F-F16B6F258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C3D4FE-E0BB-C590-3983-F88390935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88B79E-307B-7312-FB55-3723734D0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AppArmor</a:t>
            </a:r>
            <a:r>
              <a:rPr lang="en-US" altLang="ko-KR" baseline="0" dirty="0"/>
              <a:t> </a:t>
            </a:r>
            <a:r>
              <a:rPr lang="ko-KR" altLang="en-US" baseline="0" dirty="0"/>
              <a:t>변경 권한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41FB69-CE78-258F-4538-36110CC70C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865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6B167-1403-0366-50F8-04A282A55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1D151C-46DE-F354-C32C-7926B6874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A19D75-0886-ED39-05DE-718E4F129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AppArmor</a:t>
            </a:r>
            <a:r>
              <a:rPr lang="en-US" altLang="ko-KR" baseline="0" dirty="0"/>
              <a:t> </a:t>
            </a:r>
            <a:r>
              <a:rPr lang="ko-KR" altLang="en-US" baseline="0" dirty="0"/>
              <a:t>변경 권한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25A10F-92D0-2804-D168-AAA91D87A0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897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AppArmor</a:t>
            </a:r>
            <a:r>
              <a:rPr lang="en-US" altLang="ko-KR" baseline="0" dirty="0"/>
              <a:t> </a:t>
            </a:r>
            <a:r>
              <a:rPr lang="ko-KR" altLang="en-US" baseline="0" dirty="0"/>
              <a:t>변경 권한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953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AppArmor</a:t>
            </a:r>
            <a:r>
              <a:rPr lang="en-US" altLang="ko-KR" baseline="0" dirty="0"/>
              <a:t> </a:t>
            </a:r>
            <a:r>
              <a:rPr lang="ko-KR" altLang="en-US" baseline="0" dirty="0"/>
              <a:t>변경 권한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291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AppArmor</a:t>
            </a:r>
            <a:r>
              <a:rPr lang="en-US" altLang="ko-KR" baseline="0" dirty="0"/>
              <a:t> </a:t>
            </a:r>
            <a:r>
              <a:rPr lang="ko-KR" altLang="en-US" baseline="0" dirty="0"/>
              <a:t>변경 권한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003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AppArmor</a:t>
            </a:r>
            <a:r>
              <a:rPr lang="en-US" altLang="ko-KR" baseline="0" dirty="0"/>
              <a:t> </a:t>
            </a:r>
            <a:r>
              <a:rPr lang="ko-KR" altLang="en-US" baseline="0" dirty="0"/>
              <a:t>변경 권한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402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AppArmor</a:t>
            </a:r>
            <a:r>
              <a:rPr lang="en-US" altLang="ko-KR" baseline="0" dirty="0"/>
              <a:t> </a:t>
            </a:r>
            <a:r>
              <a:rPr lang="ko-KR" altLang="en-US" baseline="0" dirty="0"/>
              <a:t>변경 권한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691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2026. 5. 24.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2026. 5. 24.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2026. 5. 24.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2026. 5. 24.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2026. 5. 24.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2026. 5. 24.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2026. 5. 24.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2026. 5. 24.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2026. 5. 24.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2026. 5. 24.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2026. 5. 24.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2026. 5. 24.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40171-5944-068C-A00F-9497B59A6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1D086F6-D4D9-BDF0-9EF0-D2DECDBD7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0538"/>
            <a:ext cx="8229600" cy="857250"/>
          </a:xfrm>
        </p:spPr>
        <p:txBody>
          <a:bodyPr>
            <a:normAutofit/>
          </a:bodyPr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F0DEFC8-4DEF-F05D-9DD2-5C9C31869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709273"/>
              </p:ext>
            </p:extLst>
          </p:nvPr>
        </p:nvGraphicFramePr>
        <p:xfrm>
          <a:off x="5364088" y="1596390"/>
          <a:ext cx="1944216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2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dept_name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Engineering</a:t>
                      </a:r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Marketing</a:t>
                      </a:r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30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HR</a:t>
                      </a:r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3F3CA63F-C88D-F73C-EEE6-47D6F76628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171437"/>
              </p:ext>
            </p:extLst>
          </p:nvPr>
        </p:nvGraphicFramePr>
        <p:xfrm>
          <a:off x="1459868" y="1596390"/>
          <a:ext cx="2952327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id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name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dept_id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Alice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Bob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Coral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Dave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Eve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B51FCC2-55CB-2CB0-762F-9F0DD896F6F0}"/>
              </a:ext>
            </a:extLst>
          </p:cNvPr>
          <p:cNvSpPr txBox="1"/>
          <p:nvPr/>
        </p:nvSpPr>
        <p:spPr>
          <a:xfrm>
            <a:off x="1459868" y="1286639"/>
            <a:ext cx="2952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Employees (Outer Table)</a:t>
            </a:r>
            <a:endParaRPr lang="ko-KR" altLang="en-US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AFBBF9-F89D-9670-ED15-A35122C6C1E6}"/>
              </a:ext>
            </a:extLst>
          </p:cNvPr>
          <p:cNvSpPr txBox="1"/>
          <p:nvPr/>
        </p:nvSpPr>
        <p:spPr>
          <a:xfrm>
            <a:off x="5292080" y="1286639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Departments (Inner Table)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411728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18AA1-AB45-EE4B-F166-278289B93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D97BF23-BDB9-F905-E623-CC9EC4311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0538"/>
            <a:ext cx="8229600" cy="857250"/>
          </a:xfrm>
        </p:spPr>
        <p:txBody>
          <a:bodyPr>
            <a:normAutofit/>
          </a:bodyPr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A967EEE-B373-451A-5FF3-7820DC5FA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519609"/>
              </p:ext>
            </p:extLst>
          </p:nvPr>
        </p:nvGraphicFramePr>
        <p:xfrm>
          <a:off x="5364088" y="1596390"/>
          <a:ext cx="1944216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2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dept_name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Engineering</a:t>
                      </a:r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Marketing</a:t>
                      </a:r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30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HR</a:t>
                      </a:r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3E8F1235-3DB8-2CDB-79BA-7CE3B0AE2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05950"/>
              </p:ext>
            </p:extLst>
          </p:nvPr>
        </p:nvGraphicFramePr>
        <p:xfrm>
          <a:off x="1459868" y="1596390"/>
          <a:ext cx="2952327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id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name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dept_id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Alice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Bob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Coral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Eve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Dave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30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FA175E3-E9F8-220F-2C70-073F4366396C}"/>
              </a:ext>
            </a:extLst>
          </p:cNvPr>
          <p:cNvSpPr txBox="1"/>
          <p:nvPr/>
        </p:nvSpPr>
        <p:spPr>
          <a:xfrm>
            <a:off x="1459868" y="1286639"/>
            <a:ext cx="2952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Employees (Outer Table)</a:t>
            </a:r>
            <a:endParaRPr lang="ko-KR" altLang="en-US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DBE98B-DA20-986C-8FBA-ED828C99A5B0}"/>
              </a:ext>
            </a:extLst>
          </p:cNvPr>
          <p:cNvSpPr txBox="1"/>
          <p:nvPr/>
        </p:nvSpPr>
        <p:spPr>
          <a:xfrm>
            <a:off x="5292080" y="1286639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Departments (Inner Table)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980111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70D64-D25F-2768-844F-63D742C21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3378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C41DE-7376-50F7-140F-9FE0FF7B2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147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132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457200" y="-20538"/>
            <a:ext cx="8229600" cy="857250"/>
          </a:xfrm>
        </p:spPr>
        <p:txBody>
          <a:bodyPr>
            <a:normAutofit/>
          </a:bodyPr>
          <a:lstStyle/>
          <a:p>
            <a:r>
              <a:rPr lang="en-US" altLang="ko-KR" dirty="0"/>
              <a:t>Database Indexing</a:t>
            </a:r>
            <a:endParaRPr lang="ko-KR" altLang="en-US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950130"/>
              </p:ext>
            </p:extLst>
          </p:nvPr>
        </p:nvGraphicFramePr>
        <p:xfrm>
          <a:off x="1691680" y="1563638"/>
          <a:ext cx="1944216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2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State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Fruit ID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CA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CA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NC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NC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SC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296451"/>
              </p:ext>
            </p:extLst>
          </p:nvPr>
        </p:nvGraphicFramePr>
        <p:xfrm>
          <a:off x="4644009" y="1563638"/>
          <a:ext cx="2952327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Fruit ID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Fruit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State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Orange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FL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Apple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NC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Peach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SC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Grape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CA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Lemon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FL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Cherry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NC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Orange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CA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5" name="직선 화살표 연결선 4"/>
          <p:cNvCxnSpPr/>
          <p:nvPr/>
        </p:nvCxnSpPr>
        <p:spPr>
          <a:xfrm>
            <a:off x="3635896" y="1995686"/>
            <a:ext cx="1008112" cy="93610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3637533" y="2317750"/>
            <a:ext cx="1006475" cy="155014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 flipV="1">
            <a:off x="3637533" y="1995686"/>
            <a:ext cx="1006475" cy="64807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3637533" y="2931790"/>
            <a:ext cx="1006475" cy="31623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/>
          <p:nvPr/>
        </p:nvCxnSpPr>
        <p:spPr>
          <a:xfrm flipV="1">
            <a:off x="3635896" y="2319722"/>
            <a:ext cx="1008112" cy="92830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 flipV="1">
            <a:off x="3635896" y="3555484"/>
            <a:ext cx="1008112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 flipV="1">
            <a:off x="3635896" y="2643758"/>
            <a:ext cx="1008112" cy="121727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948136" y="1203598"/>
            <a:ext cx="1399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State Index</a:t>
            </a:r>
            <a:endParaRPr lang="ko-KR" alt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5179640" y="1203598"/>
            <a:ext cx="1912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Fruit_Info</a:t>
            </a:r>
            <a:r>
              <a:rPr lang="en-US" altLang="ko-KR" sz="1600" dirty="0"/>
              <a:t> Table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99234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457200" y="-524594"/>
            <a:ext cx="8229600" cy="857250"/>
          </a:xfrm>
        </p:spPr>
        <p:txBody>
          <a:bodyPr>
            <a:noAutofit/>
          </a:bodyPr>
          <a:lstStyle/>
          <a:p>
            <a:r>
              <a:rPr lang="en-US" altLang="ko-KR" sz="3600"/>
              <a:t>Clustered Index, Non-clustered Index</a:t>
            </a:r>
            <a:endParaRPr lang="ko-KR" altLang="en-US" sz="3600" dirty="0"/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607795"/>
              </p:ext>
            </p:extLst>
          </p:nvPr>
        </p:nvGraphicFramePr>
        <p:xfrm>
          <a:off x="117846" y="3929247"/>
          <a:ext cx="1810542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Fruit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Orange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FL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Apple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NC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Peach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SC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9BC6D908-75E2-4B4F-923F-095E050B4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063177"/>
              </p:ext>
            </p:extLst>
          </p:nvPr>
        </p:nvGraphicFramePr>
        <p:xfrm>
          <a:off x="2627784" y="3929247"/>
          <a:ext cx="1810542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Fruit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Grape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CA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Lemon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FL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9075518D-1AFA-4D44-BEA7-C7A78007D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854986"/>
              </p:ext>
            </p:extLst>
          </p:nvPr>
        </p:nvGraphicFramePr>
        <p:xfrm>
          <a:off x="5137722" y="3929247"/>
          <a:ext cx="1810542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Fruit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6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Cherry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NC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7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Orange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CA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BFEAF8F-2F2A-4804-98BE-47FB8D752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8366"/>
              </p:ext>
            </p:extLst>
          </p:nvPr>
        </p:nvGraphicFramePr>
        <p:xfrm>
          <a:off x="2929541" y="2849127"/>
          <a:ext cx="1207028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Page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1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11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4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12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6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13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96855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4323429-660F-422E-B663-F232922592EC}"/>
              </a:ext>
            </a:extLst>
          </p:cNvPr>
          <p:cNvSpPr txBox="1"/>
          <p:nvPr/>
        </p:nvSpPr>
        <p:spPr>
          <a:xfrm>
            <a:off x="323253" y="4782687"/>
            <a:ext cx="1399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Page ID 11</a:t>
            </a:r>
            <a:endParaRPr lang="ko-KR" alt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C38BE3-D682-4EFA-B1A2-C15C7A654A2C}"/>
              </a:ext>
            </a:extLst>
          </p:cNvPr>
          <p:cNvSpPr txBox="1"/>
          <p:nvPr/>
        </p:nvSpPr>
        <p:spPr>
          <a:xfrm>
            <a:off x="2833191" y="4569327"/>
            <a:ext cx="1399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Page ID 12</a:t>
            </a:r>
            <a:endParaRPr lang="ko-KR" alt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BDEED7-A43A-4576-B57A-154DEEE85752}"/>
              </a:ext>
            </a:extLst>
          </p:cNvPr>
          <p:cNvSpPr txBox="1"/>
          <p:nvPr/>
        </p:nvSpPr>
        <p:spPr>
          <a:xfrm>
            <a:off x="5343129" y="4569327"/>
            <a:ext cx="1399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Page ID 13</a:t>
            </a:r>
            <a:endParaRPr lang="ko-KR" altLang="en-US" sz="1100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58B1D5C-2AC6-450D-A076-3DF2E427DDF2}"/>
              </a:ext>
            </a:extLst>
          </p:cNvPr>
          <p:cNvCxnSpPr>
            <a:cxnSpLocks/>
            <a:stCxn id="16" idx="2"/>
            <a:endCxn id="24" idx="0"/>
          </p:cNvCxnSpPr>
          <p:nvPr/>
        </p:nvCxnSpPr>
        <p:spPr>
          <a:xfrm flipH="1">
            <a:off x="1023117" y="3702567"/>
            <a:ext cx="2509938" cy="22668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A21491E-BBFD-4DA4-9315-A8D0556FA761}"/>
              </a:ext>
            </a:extLst>
          </p:cNvPr>
          <p:cNvCxnSpPr>
            <a:cxnSpLocks/>
            <a:stCxn id="16" idx="2"/>
            <a:endCxn id="14" idx="0"/>
          </p:cNvCxnSpPr>
          <p:nvPr/>
        </p:nvCxnSpPr>
        <p:spPr>
          <a:xfrm>
            <a:off x="3533055" y="3702567"/>
            <a:ext cx="0" cy="22668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A287F4F-BF9E-4A17-82BE-08F4F48E1AF9}"/>
              </a:ext>
            </a:extLst>
          </p:cNvPr>
          <p:cNvCxnSpPr>
            <a:cxnSpLocks/>
            <a:stCxn id="16" idx="2"/>
            <a:endCxn id="15" idx="0"/>
          </p:cNvCxnSpPr>
          <p:nvPr/>
        </p:nvCxnSpPr>
        <p:spPr>
          <a:xfrm>
            <a:off x="3533055" y="3702567"/>
            <a:ext cx="2509938" cy="22668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D0A8735A-21F4-4EC2-ACDE-00F94ED86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919537"/>
              </p:ext>
            </p:extLst>
          </p:nvPr>
        </p:nvGraphicFramePr>
        <p:xfrm>
          <a:off x="2929541" y="1565157"/>
          <a:ext cx="1207028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FL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FL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3CF01C31-95AF-4E9B-8D58-BD2996D9F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852436"/>
              </p:ext>
            </p:extLst>
          </p:nvPr>
        </p:nvGraphicFramePr>
        <p:xfrm>
          <a:off x="419603" y="1563421"/>
          <a:ext cx="1207028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CA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CA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44EEB92E-536A-4C48-A783-30D7464F2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113332"/>
              </p:ext>
            </p:extLst>
          </p:nvPr>
        </p:nvGraphicFramePr>
        <p:xfrm>
          <a:off x="5439479" y="1565638"/>
          <a:ext cx="1207028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NC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NC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6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968552"/>
                  </a:ext>
                </a:extLst>
              </a:tr>
            </a:tbl>
          </a:graphicData>
        </a:graphic>
      </p:graphicFrame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B40296A2-3DAE-41E3-A20E-B7E2D5D3A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046433"/>
              </p:ext>
            </p:extLst>
          </p:nvPr>
        </p:nvGraphicFramePr>
        <p:xfrm>
          <a:off x="2929541" y="483519"/>
          <a:ext cx="1207028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Page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CA</a:t>
                      </a:r>
                      <a:endParaRPr lang="ko-KR" alt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FL</a:t>
                      </a:r>
                      <a:endParaRPr lang="ko-KR" alt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NC</a:t>
                      </a:r>
                      <a:endParaRPr lang="ko-KR" alt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968552"/>
                  </a:ext>
                </a:extLst>
              </a:tr>
            </a:tbl>
          </a:graphicData>
        </a:graphic>
      </p:graphicFrame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5C47709-6FB6-4161-A588-19C0604BB169}"/>
              </a:ext>
            </a:extLst>
          </p:cNvPr>
          <p:cNvCxnSpPr>
            <a:cxnSpLocks/>
            <a:stCxn id="43" idx="2"/>
            <a:endCxn id="37" idx="0"/>
          </p:cNvCxnSpPr>
          <p:nvPr/>
        </p:nvCxnSpPr>
        <p:spPr>
          <a:xfrm>
            <a:off x="3533055" y="1336959"/>
            <a:ext cx="0" cy="22819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B44B02A6-EF49-49CA-82AD-4F6312D206C0}"/>
              </a:ext>
            </a:extLst>
          </p:cNvPr>
          <p:cNvCxnSpPr>
            <a:cxnSpLocks/>
            <a:stCxn id="43" idx="2"/>
            <a:endCxn id="39" idx="0"/>
          </p:cNvCxnSpPr>
          <p:nvPr/>
        </p:nvCxnSpPr>
        <p:spPr>
          <a:xfrm flipH="1">
            <a:off x="1023117" y="1336959"/>
            <a:ext cx="2509938" cy="22646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DDBB8C6D-330D-4CC3-9ABA-B41919A27B9B}"/>
              </a:ext>
            </a:extLst>
          </p:cNvPr>
          <p:cNvCxnSpPr>
            <a:cxnSpLocks/>
            <a:stCxn id="43" idx="2"/>
            <a:endCxn id="40" idx="0"/>
          </p:cNvCxnSpPr>
          <p:nvPr/>
        </p:nvCxnSpPr>
        <p:spPr>
          <a:xfrm>
            <a:off x="3533055" y="1336959"/>
            <a:ext cx="2509938" cy="22867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0E6467B-F017-40E5-812F-07264648895E}"/>
              </a:ext>
            </a:extLst>
          </p:cNvPr>
          <p:cNvSpPr txBox="1"/>
          <p:nvPr/>
        </p:nvSpPr>
        <p:spPr>
          <a:xfrm>
            <a:off x="323253" y="2208213"/>
            <a:ext cx="1399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Page ID 1</a:t>
            </a:r>
            <a:endParaRPr lang="ko-KR" altLang="en-US" sz="11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21219F-2616-441A-9030-13DFBCCAE1D0}"/>
              </a:ext>
            </a:extLst>
          </p:cNvPr>
          <p:cNvSpPr txBox="1"/>
          <p:nvPr/>
        </p:nvSpPr>
        <p:spPr>
          <a:xfrm>
            <a:off x="5343129" y="2416861"/>
            <a:ext cx="1399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Page ID 3</a:t>
            </a:r>
            <a:endParaRPr lang="ko-KR" altLang="en-US" sz="11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50834A-598E-4C21-AA52-23EA6FAA4E53}"/>
              </a:ext>
            </a:extLst>
          </p:cNvPr>
          <p:cNvSpPr txBox="1"/>
          <p:nvPr/>
        </p:nvSpPr>
        <p:spPr>
          <a:xfrm>
            <a:off x="2833191" y="2203501"/>
            <a:ext cx="1399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Page ID 2</a:t>
            </a:r>
            <a:endParaRPr lang="ko-KR" altLang="en-US" sz="1100" dirty="0"/>
          </a:p>
        </p:txBody>
      </p:sp>
      <p:sp>
        <p:nvSpPr>
          <p:cNvPr id="61" name="오른쪽 중괄호 60">
            <a:extLst>
              <a:ext uri="{FF2B5EF4-FFF2-40B4-BE49-F238E27FC236}">
                <a16:creationId xmlns:a16="http://schemas.microsoft.com/office/drawing/2014/main" id="{4FE64452-4A11-48A1-A60B-694B166EA6D0}"/>
              </a:ext>
            </a:extLst>
          </p:cNvPr>
          <p:cNvSpPr/>
          <p:nvPr/>
        </p:nvSpPr>
        <p:spPr>
          <a:xfrm>
            <a:off x="7236296" y="2715767"/>
            <a:ext cx="288032" cy="232853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00BECAB-1C6F-432C-8EAC-8868A9ABA238}"/>
              </a:ext>
            </a:extLst>
          </p:cNvPr>
          <p:cNvSpPr txBox="1"/>
          <p:nvPr/>
        </p:nvSpPr>
        <p:spPr>
          <a:xfrm>
            <a:off x="7308304" y="3749227"/>
            <a:ext cx="154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Clustered Index</a:t>
            </a:r>
            <a:endParaRPr lang="ko-KR" altLang="en-US" sz="1100" dirty="0"/>
          </a:p>
        </p:txBody>
      </p:sp>
      <p:sp>
        <p:nvSpPr>
          <p:cNvPr id="65" name="오른쪽 중괄호 64">
            <a:extLst>
              <a:ext uri="{FF2B5EF4-FFF2-40B4-BE49-F238E27FC236}">
                <a16:creationId xmlns:a16="http://schemas.microsoft.com/office/drawing/2014/main" id="{6F48D161-EBCD-4E0C-839A-6921BC9DF282}"/>
              </a:ext>
            </a:extLst>
          </p:cNvPr>
          <p:cNvSpPr/>
          <p:nvPr/>
        </p:nvSpPr>
        <p:spPr>
          <a:xfrm>
            <a:off x="7236296" y="411510"/>
            <a:ext cx="288032" cy="226807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200A459-42D7-4CE7-AFA2-B7432A55E53F}"/>
              </a:ext>
            </a:extLst>
          </p:cNvPr>
          <p:cNvSpPr txBox="1"/>
          <p:nvPr/>
        </p:nvSpPr>
        <p:spPr>
          <a:xfrm>
            <a:off x="7452320" y="1414741"/>
            <a:ext cx="154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Non-clustered Index</a:t>
            </a:r>
            <a:endParaRPr lang="ko-KR" altLang="en-US" sz="11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A120AA52-03CE-4829-A76B-9833AB9B149F}"/>
              </a:ext>
            </a:extLst>
          </p:cNvPr>
          <p:cNvCxnSpPr>
            <a:cxnSpLocks/>
            <a:endCxn id="106" idx="2"/>
          </p:cNvCxnSpPr>
          <p:nvPr/>
        </p:nvCxnSpPr>
        <p:spPr>
          <a:xfrm>
            <a:off x="2627784" y="1010754"/>
            <a:ext cx="414461" cy="219942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351EA37D-E181-4DAF-AF98-A7050FA68902}"/>
              </a:ext>
            </a:extLst>
          </p:cNvPr>
          <p:cNvCxnSpPr>
            <a:cxnSpLocks/>
            <a:stCxn id="106" idx="6"/>
            <a:endCxn id="88" idx="2"/>
          </p:cNvCxnSpPr>
          <p:nvPr/>
        </p:nvCxnSpPr>
        <p:spPr>
          <a:xfrm>
            <a:off x="4012964" y="1230696"/>
            <a:ext cx="1522865" cy="652114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타원 87">
            <a:extLst>
              <a:ext uri="{FF2B5EF4-FFF2-40B4-BE49-F238E27FC236}">
                <a16:creationId xmlns:a16="http://schemas.microsoft.com/office/drawing/2014/main" id="{CC2A25C7-0DAE-4501-BB42-B5C7E8C9D49E}"/>
              </a:ext>
            </a:extLst>
          </p:cNvPr>
          <p:cNvSpPr/>
          <p:nvPr/>
        </p:nvSpPr>
        <p:spPr>
          <a:xfrm>
            <a:off x="5535829" y="1778334"/>
            <a:ext cx="970719" cy="20895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F9692EC2-7699-4D81-97CB-C477B362209C}"/>
              </a:ext>
            </a:extLst>
          </p:cNvPr>
          <p:cNvSpPr/>
          <p:nvPr/>
        </p:nvSpPr>
        <p:spPr>
          <a:xfrm>
            <a:off x="5535829" y="1993247"/>
            <a:ext cx="970719" cy="20895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C457FC7A-B5EC-4C60-8402-38C4C5BCA0C8}"/>
              </a:ext>
            </a:extLst>
          </p:cNvPr>
          <p:cNvSpPr/>
          <p:nvPr/>
        </p:nvSpPr>
        <p:spPr>
          <a:xfrm>
            <a:off x="3042245" y="1126220"/>
            <a:ext cx="970719" cy="20895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948EDA09-B547-4AD6-9FA6-314A1FCDA42F}"/>
              </a:ext>
            </a:extLst>
          </p:cNvPr>
          <p:cNvCxnSpPr>
            <a:cxnSpLocks/>
            <a:stCxn id="106" idx="6"/>
            <a:endCxn id="104" idx="2"/>
          </p:cNvCxnSpPr>
          <p:nvPr/>
        </p:nvCxnSpPr>
        <p:spPr>
          <a:xfrm>
            <a:off x="4012964" y="1230696"/>
            <a:ext cx="1522865" cy="867027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타원 122">
            <a:extLst>
              <a:ext uri="{FF2B5EF4-FFF2-40B4-BE49-F238E27FC236}">
                <a16:creationId xmlns:a16="http://schemas.microsoft.com/office/drawing/2014/main" id="{85F56CCA-376F-4AFB-9F77-39725490B0BC}"/>
              </a:ext>
            </a:extLst>
          </p:cNvPr>
          <p:cNvSpPr/>
          <p:nvPr/>
        </p:nvSpPr>
        <p:spPr>
          <a:xfrm>
            <a:off x="3047220" y="3059275"/>
            <a:ext cx="970719" cy="20895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BB942323-C4ED-4977-A688-F4FDF8937626}"/>
              </a:ext>
            </a:extLst>
          </p:cNvPr>
          <p:cNvSpPr/>
          <p:nvPr/>
        </p:nvSpPr>
        <p:spPr>
          <a:xfrm>
            <a:off x="3047220" y="3494907"/>
            <a:ext cx="970719" cy="20895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A7A9EE24-36E4-4528-8198-FF97E555FDE2}"/>
              </a:ext>
            </a:extLst>
          </p:cNvPr>
          <p:cNvCxnSpPr>
            <a:cxnSpLocks/>
            <a:stCxn id="88" idx="2"/>
            <a:endCxn id="123" idx="6"/>
          </p:cNvCxnSpPr>
          <p:nvPr/>
        </p:nvCxnSpPr>
        <p:spPr>
          <a:xfrm flipH="1">
            <a:off x="4017939" y="1882810"/>
            <a:ext cx="1517890" cy="1280941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95F0C77-0A1D-47A4-90F2-AD6602B293C9}"/>
              </a:ext>
            </a:extLst>
          </p:cNvPr>
          <p:cNvCxnSpPr>
            <a:cxnSpLocks/>
            <a:endCxn id="124" idx="6"/>
          </p:cNvCxnSpPr>
          <p:nvPr/>
        </p:nvCxnSpPr>
        <p:spPr>
          <a:xfrm flipH="1">
            <a:off x="4017939" y="2103973"/>
            <a:ext cx="1517890" cy="149541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5AABB6DF-BC5F-4475-9F6F-579B090BF408}"/>
              </a:ext>
            </a:extLst>
          </p:cNvPr>
          <p:cNvCxnSpPr>
            <a:cxnSpLocks/>
            <a:stCxn id="123" idx="2"/>
            <a:endCxn id="24" idx="0"/>
          </p:cNvCxnSpPr>
          <p:nvPr/>
        </p:nvCxnSpPr>
        <p:spPr>
          <a:xfrm flipH="1">
            <a:off x="1023117" y="3163751"/>
            <a:ext cx="2024103" cy="765496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1D9AF08-8437-4847-B61F-F40D570240F1}"/>
              </a:ext>
            </a:extLst>
          </p:cNvPr>
          <p:cNvCxnSpPr>
            <a:cxnSpLocks/>
            <a:stCxn id="124" idx="6"/>
            <a:endCxn id="15" idx="0"/>
          </p:cNvCxnSpPr>
          <p:nvPr/>
        </p:nvCxnSpPr>
        <p:spPr>
          <a:xfrm>
            <a:off x="4017939" y="3599383"/>
            <a:ext cx="2025054" cy="329864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FF8BC6DC-6EBF-439B-A57C-1F9DDE7386D3}"/>
              </a:ext>
            </a:extLst>
          </p:cNvPr>
          <p:cNvSpPr/>
          <p:nvPr/>
        </p:nvSpPr>
        <p:spPr>
          <a:xfrm>
            <a:off x="3047220" y="3274839"/>
            <a:ext cx="970719" cy="208952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1EF77FCF-E600-4A32-871A-393E48BFB894}"/>
              </a:ext>
            </a:extLst>
          </p:cNvPr>
          <p:cNvCxnSpPr>
            <a:cxnSpLocks/>
          </p:cNvCxnSpPr>
          <p:nvPr/>
        </p:nvCxnSpPr>
        <p:spPr>
          <a:xfrm>
            <a:off x="2627784" y="3167766"/>
            <a:ext cx="414461" cy="219942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6C37B632-ABB2-46B7-B7A1-B4EDA590C1F3}"/>
              </a:ext>
            </a:extLst>
          </p:cNvPr>
          <p:cNvCxnSpPr>
            <a:cxnSpLocks/>
            <a:stCxn id="42" idx="6"/>
            <a:endCxn id="14" idx="0"/>
          </p:cNvCxnSpPr>
          <p:nvPr/>
        </p:nvCxnSpPr>
        <p:spPr>
          <a:xfrm flipH="1">
            <a:off x="3533055" y="3379315"/>
            <a:ext cx="484884" cy="549932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8F33FDF-6619-4645-9CB7-6DCE4AC82028}"/>
              </a:ext>
            </a:extLst>
          </p:cNvPr>
          <p:cNvSpPr txBox="1"/>
          <p:nvPr/>
        </p:nvSpPr>
        <p:spPr>
          <a:xfrm>
            <a:off x="1122203" y="715171"/>
            <a:ext cx="16564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>
                <a:solidFill>
                  <a:schemeClr val="tx2"/>
                </a:solidFill>
              </a:rPr>
              <a:t>Record access through Non-clustered Index 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5D54C-F29C-438F-A12F-E02BEFE7B27B}"/>
              </a:ext>
            </a:extLst>
          </p:cNvPr>
          <p:cNvSpPr txBox="1"/>
          <p:nvPr/>
        </p:nvSpPr>
        <p:spPr>
          <a:xfrm>
            <a:off x="1122203" y="2837340"/>
            <a:ext cx="16564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>
                <a:solidFill>
                  <a:srgbClr val="C00000"/>
                </a:solidFill>
              </a:rPr>
              <a:t>Record access through Clustered Index </a:t>
            </a:r>
            <a:endParaRPr lang="ko-KR" altLang="en-US" sz="11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49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457200" y="-524594"/>
            <a:ext cx="8229600" cy="857250"/>
          </a:xfrm>
        </p:spPr>
        <p:txBody>
          <a:bodyPr>
            <a:noAutofit/>
          </a:bodyPr>
          <a:lstStyle/>
          <a:p>
            <a:r>
              <a:rPr lang="en-US" altLang="ko-KR" sz="3600"/>
              <a:t>Clustered Index, Non-clustered Index</a:t>
            </a:r>
            <a:endParaRPr lang="ko-KR" altLang="en-US" sz="3600" dirty="0"/>
          </a:p>
        </p:txBody>
      </p:sp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117846" y="3929247"/>
          <a:ext cx="1810542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Fruit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Orange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FL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Apple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NC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Peach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SC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9BC6D908-75E2-4B4F-923F-095E050B4268}"/>
              </a:ext>
            </a:extLst>
          </p:cNvPr>
          <p:cNvGraphicFramePr>
            <a:graphicFrameLocks noGrp="1"/>
          </p:cNvGraphicFramePr>
          <p:nvPr/>
        </p:nvGraphicFramePr>
        <p:xfrm>
          <a:off x="2627784" y="3929247"/>
          <a:ext cx="1810542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Fruit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Grape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CA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Lemon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FL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9075518D-1AFA-4D44-BEA7-C7A78007DF92}"/>
              </a:ext>
            </a:extLst>
          </p:cNvPr>
          <p:cNvGraphicFramePr>
            <a:graphicFrameLocks noGrp="1"/>
          </p:cNvGraphicFramePr>
          <p:nvPr/>
        </p:nvGraphicFramePr>
        <p:xfrm>
          <a:off x="5137722" y="3929247"/>
          <a:ext cx="1810542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Fruit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6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Cherry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NC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7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Orange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CA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BFEAF8F-2F2A-4804-98BE-47FB8D75287D}"/>
              </a:ext>
            </a:extLst>
          </p:cNvPr>
          <p:cNvGraphicFramePr>
            <a:graphicFrameLocks noGrp="1"/>
          </p:cNvGraphicFramePr>
          <p:nvPr/>
        </p:nvGraphicFramePr>
        <p:xfrm>
          <a:off x="2929541" y="2849127"/>
          <a:ext cx="1207028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Page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1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11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4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12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6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13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96855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4323429-660F-422E-B663-F232922592EC}"/>
              </a:ext>
            </a:extLst>
          </p:cNvPr>
          <p:cNvSpPr txBox="1"/>
          <p:nvPr/>
        </p:nvSpPr>
        <p:spPr>
          <a:xfrm>
            <a:off x="323253" y="4782687"/>
            <a:ext cx="1399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Page ID 11</a:t>
            </a:r>
            <a:endParaRPr lang="ko-KR" alt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C38BE3-D682-4EFA-B1A2-C15C7A654A2C}"/>
              </a:ext>
            </a:extLst>
          </p:cNvPr>
          <p:cNvSpPr txBox="1"/>
          <p:nvPr/>
        </p:nvSpPr>
        <p:spPr>
          <a:xfrm>
            <a:off x="2833191" y="4569327"/>
            <a:ext cx="1399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Page ID 12</a:t>
            </a:r>
            <a:endParaRPr lang="ko-KR" alt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BDEED7-A43A-4576-B57A-154DEEE85752}"/>
              </a:ext>
            </a:extLst>
          </p:cNvPr>
          <p:cNvSpPr txBox="1"/>
          <p:nvPr/>
        </p:nvSpPr>
        <p:spPr>
          <a:xfrm>
            <a:off x="5343129" y="4569327"/>
            <a:ext cx="1399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Page ID 13</a:t>
            </a:r>
            <a:endParaRPr lang="ko-KR" altLang="en-US" sz="1100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58B1D5C-2AC6-450D-A076-3DF2E427DDF2}"/>
              </a:ext>
            </a:extLst>
          </p:cNvPr>
          <p:cNvCxnSpPr>
            <a:cxnSpLocks/>
            <a:stCxn id="16" idx="2"/>
            <a:endCxn id="24" idx="0"/>
          </p:cNvCxnSpPr>
          <p:nvPr/>
        </p:nvCxnSpPr>
        <p:spPr>
          <a:xfrm flipH="1">
            <a:off x="1023117" y="3702567"/>
            <a:ext cx="2509938" cy="22668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A21491E-BBFD-4DA4-9315-A8D0556FA761}"/>
              </a:ext>
            </a:extLst>
          </p:cNvPr>
          <p:cNvCxnSpPr>
            <a:cxnSpLocks/>
            <a:stCxn id="16" idx="2"/>
            <a:endCxn id="14" idx="0"/>
          </p:cNvCxnSpPr>
          <p:nvPr/>
        </p:nvCxnSpPr>
        <p:spPr>
          <a:xfrm>
            <a:off x="3533055" y="3702567"/>
            <a:ext cx="0" cy="22668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A287F4F-BF9E-4A17-82BE-08F4F48E1AF9}"/>
              </a:ext>
            </a:extLst>
          </p:cNvPr>
          <p:cNvCxnSpPr>
            <a:cxnSpLocks/>
            <a:stCxn id="16" idx="2"/>
            <a:endCxn id="15" idx="0"/>
          </p:cNvCxnSpPr>
          <p:nvPr/>
        </p:nvCxnSpPr>
        <p:spPr>
          <a:xfrm>
            <a:off x="3533055" y="3702567"/>
            <a:ext cx="2509938" cy="22668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D0A8735A-21F4-4EC2-ACDE-00F94ED86AD0}"/>
              </a:ext>
            </a:extLst>
          </p:cNvPr>
          <p:cNvGraphicFramePr>
            <a:graphicFrameLocks noGrp="1"/>
          </p:cNvGraphicFramePr>
          <p:nvPr/>
        </p:nvGraphicFramePr>
        <p:xfrm>
          <a:off x="2929541" y="1565157"/>
          <a:ext cx="1207028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FL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FL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3CF01C31-95AF-4E9B-8D58-BD2996D9F57D}"/>
              </a:ext>
            </a:extLst>
          </p:cNvPr>
          <p:cNvGraphicFramePr>
            <a:graphicFrameLocks noGrp="1"/>
          </p:cNvGraphicFramePr>
          <p:nvPr/>
        </p:nvGraphicFramePr>
        <p:xfrm>
          <a:off x="419603" y="1563421"/>
          <a:ext cx="1207028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CA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CA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44EEB92E-536A-4C48-A783-30D7464F2FCF}"/>
              </a:ext>
            </a:extLst>
          </p:cNvPr>
          <p:cNvGraphicFramePr>
            <a:graphicFrameLocks noGrp="1"/>
          </p:cNvGraphicFramePr>
          <p:nvPr/>
        </p:nvGraphicFramePr>
        <p:xfrm>
          <a:off x="5439479" y="1565638"/>
          <a:ext cx="1207028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NC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NC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6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968552"/>
                  </a:ext>
                </a:extLst>
              </a:tr>
            </a:tbl>
          </a:graphicData>
        </a:graphic>
      </p:graphicFrame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B40296A2-3DAE-41E3-A20E-B7E2D5D3A58F}"/>
              </a:ext>
            </a:extLst>
          </p:cNvPr>
          <p:cNvGraphicFramePr>
            <a:graphicFrameLocks noGrp="1"/>
          </p:cNvGraphicFramePr>
          <p:nvPr/>
        </p:nvGraphicFramePr>
        <p:xfrm>
          <a:off x="2929541" y="483519"/>
          <a:ext cx="1207028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Page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CA</a:t>
                      </a:r>
                      <a:endParaRPr lang="ko-KR" alt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FL</a:t>
                      </a:r>
                      <a:endParaRPr lang="ko-KR" alt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NC</a:t>
                      </a:r>
                      <a:endParaRPr lang="ko-KR" alt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968552"/>
                  </a:ext>
                </a:extLst>
              </a:tr>
            </a:tbl>
          </a:graphicData>
        </a:graphic>
      </p:graphicFrame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5C47709-6FB6-4161-A588-19C0604BB169}"/>
              </a:ext>
            </a:extLst>
          </p:cNvPr>
          <p:cNvCxnSpPr>
            <a:cxnSpLocks/>
            <a:stCxn id="43" idx="2"/>
            <a:endCxn id="37" idx="0"/>
          </p:cNvCxnSpPr>
          <p:nvPr/>
        </p:nvCxnSpPr>
        <p:spPr>
          <a:xfrm>
            <a:off x="3533055" y="1336959"/>
            <a:ext cx="0" cy="22819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B44B02A6-EF49-49CA-82AD-4F6312D206C0}"/>
              </a:ext>
            </a:extLst>
          </p:cNvPr>
          <p:cNvCxnSpPr>
            <a:cxnSpLocks/>
            <a:stCxn id="43" idx="2"/>
            <a:endCxn id="39" idx="0"/>
          </p:cNvCxnSpPr>
          <p:nvPr/>
        </p:nvCxnSpPr>
        <p:spPr>
          <a:xfrm flipH="1">
            <a:off x="1023117" y="1336959"/>
            <a:ext cx="2509938" cy="22646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DDBB8C6D-330D-4CC3-9ABA-B41919A27B9B}"/>
              </a:ext>
            </a:extLst>
          </p:cNvPr>
          <p:cNvCxnSpPr>
            <a:cxnSpLocks/>
            <a:stCxn id="43" idx="2"/>
            <a:endCxn id="40" idx="0"/>
          </p:cNvCxnSpPr>
          <p:nvPr/>
        </p:nvCxnSpPr>
        <p:spPr>
          <a:xfrm>
            <a:off x="3533055" y="1336959"/>
            <a:ext cx="2509938" cy="22867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0E6467B-F017-40E5-812F-07264648895E}"/>
              </a:ext>
            </a:extLst>
          </p:cNvPr>
          <p:cNvSpPr txBox="1"/>
          <p:nvPr/>
        </p:nvSpPr>
        <p:spPr>
          <a:xfrm>
            <a:off x="323253" y="2208213"/>
            <a:ext cx="1399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Page ID 1</a:t>
            </a:r>
            <a:endParaRPr lang="ko-KR" altLang="en-US" sz="11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21219F-2616-441A-9030-13DFBCCAE1D0}"/>
              </a:ext>
            </a:extLst>
          </p:cNvPr>
          <p:cNvSpPr txBox="1"/>
          <p:nvPr/>
        </p:nvSpPr>
        <p:spPr>
          <a:xfrm>
            <a:off x="5343129" y="2416861"/>
            <a:ext cx="1399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Page ID 3</a:t>
            </a:r>
            <a:endParaRPr lang="ko-KR" altLang="en-US" sz="11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50834A-598E-4C21-AA52-23EA6FAA4E53}"/>
              </a:ext>
            </a:extLst>
          </p:cNvPr>
          <p:cNvSpPr txBox="1"/>
          <p:nvPr/>
        </p:nvSpPr>
        <p:spPr>
          <a:xfrm>
            <a:off x="2833191" y="2203501"/>
            <a:ext cx="1399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Page ID 2</a:t>
            </a:r>
            <a:endParaRPr lang="ko-KR" altLang="en-US" sz="1100" dirty="0"/>
          </a:p>
        </p:txBody>
      </p:sp>
      <p:sp>
        <p:nvSpPr>
          <p:cNvPr id="61" name="오른쪽 중괄호 60">
            <a:extLst>
              <a:ext uri="{FF2B5EF4-FFF2-40B4-BE49-F238E27FC236}">
                <a16:creationId xmlns:a16="http://schemas.microsoft.com/office/drawing/2014/main" id="{4FE64452-4A11-48A1-A60B-694B166EA6D0}"/>
              </a:ext>
            </a:extLst>
          </p:cNvPr>
          <p:cNvSpPr/>
          <p:nvPr/>
        </p:nvSpPr>
        <p:spPr>
          <a:xfrm>
            <a:off x="7236296" y="2715767"/>
            <a:ext cx="288032" cy="232853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00BECAB-1C6F-432C-8EAC-8868A9ABA238}"/>
              </a:ext>
            </a:extLst>
          </p:cNvPr>
          <p:cNvSpPr txBox="1"/>
          <p:nvPr/>
        </p:nvSpPr>
        <p:spPr>
          <a:xfrm>
            <a:off x="7308304" y="3749227"/>
            <a:ext cx="154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Clustered Index</a:t>
            </a:r>
            <a:endParaRPr lang="ko-KR" altLang="en-US" sz="1100" dirty="0"/>
          </a:p>
        </p:txBody>
      </p:sp>
      <p:sp>
        <p:nvSpPr>
          <p:cNvPr id="65" name="오른쪽 중괄호 64">
            <a:extLst>
              <a:ext uri="{FF2B5EF4-FFF2-40B4-BE49-F238E27FC236}">
                <a16:creationId xmlns:a16="http://schemas.microsoft.com/office/drawing/2014/main" id="{6F48D161-EBCD-4E0C-839A-6921BC9DF282}"/>
              </a:ext>
            </a:extLst>
          </p:cNvPr>
          <p:cNvSpPr/>
          <p:nvPr/>
        </p:nvSpPr>
        <p:spPr>
          <a:xfrm>
            <a:off x="7236296" y="411510"/>
            <a:ext cx="288032" cy="226807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200A459-42D7-4CE7-AFA2-B7432A55E53F}"/>
              </a:ext>
            </a:extLst>
          </p:cNvPr>
          <p:cNvSpPr txBox="1"/>
          <p:nvPr/>
        </p:nvSpPr>
        <p:spPr>
          <a:xfrm>
            <a:off x="7452320" y="1414741"/>
            <a:ext cx="154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Non-clustered Index</a:t>
            </a:r>
            <a:endParaRPr lang="ko-KR" altLang="en-US" sz="11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A120AA52-03CE-4829-A76B-9833AB9B149F}"/>
              </a:ext>
            </a:extLst>
          </p:cNvPr>
          <p:cNvCxnSpPr>
            <a:cxnSpLocks/>
            <a:endCxn id="106" idx="2"/>
          </p:cNvCxnSpPr>
          <p:nvPr/>
        </p:nvCxnSpPr>
        <p:spPr>
          <a:xfrm>
            <a:off x="2627784" y="1010754"/>
            <a:ext cx="414461" cy="219942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351EA37D-E181-4DAF-AF98-A7050FA68902}"/>
              </a:ext>
            </a:extLst>
          </p:cNvPr>
          <p:cNvCxnSpPr>
            <a:cxnSpLocks/>
            <a:stCxn id="106" idx="6"/>
            <a:endCxn id="88" idx="2"/>
          </p:cNvCxnSpPr>
          <p:nvPr/>
        </p:nvCxnSpPr>
        <p:spPr>
          <a:xfrm>
            <a:off x="4012964" y="1230696"/>
            <a:ext cx="1522865" cy="652114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타원 87">
            <a:extLst>
              <a:ext uri="{FF2B5EF4-FFF2-40B4-BE49-F238E27FC236}">
                <a16:creationId xmlns:a16="http://schemas.microsoft.com/office/drawing/2014/main" id="{CC2A25C7-0DAE-4501-BB42-B5C7E8C9D49E}"/>
              </a:ext>
            </a:extLst>
          </p:cNvPr>
          <p:cNvSpPr/>
          <p:nvPr/>
        </p:nvSpPr>
        <p:spPr>
          <a:xfrm>
            <a:off x="5535829" y="1778334"/>
            <a:ext cx="970719" cy="20895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F9692EC2-7699-4D81-97CB-C477B362209C}"/>
              </a:ext>
            </a:extLst>
          </p:cNvPr>
          <p:cNvSpPr/>
          <p:nvPr/>
        </p:nvSpPr>
        <p:spPr>
          <a:xfrm>
            <a:off x="5535829" y="1993247"/>
            <a:ext cx="970719" cy="20895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C457FC7A-B5EC-4C60-8402-38C4C5BCA0C8}"/>
              </a:ext>
            </a:extLst>
          </p:cNvPr>
          <p:cNvSpPr/>
          <p:nvPr/>
        </p:nvSpPr>
        <p:spPr>
          <a:xfrm>
            <a:off x="3042245" y="1126220"/>
            <a:ext cx="970719" cy="20895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948EDA09-B547-4AD6-9FA6-314A1FCDA42F}"/>
              </a:ext>
            </a:extLst>
          </p:cNvPr>
          <p:cNvCxnSpPr>
            <a:cxnSpLocks/>
            <a:stCxn id="106" idx="6"/>
            <a:endCxn id="104" idx="2"/>
          </p:cNvCxnSpPr>
          <p:nvPr/>
        </p:nvCxnSpPr>
        <p:spPr>
          <a:xfrm>
            <a:off x="4012964" y="1230696"/>
            <a:ext cx="1522865" cy="867027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타원 122">
            <a:extLst>
              <a:ext uri="{FF2B5EF4-FFF2-40B4-BE49-F238E27FC236}">
                <a16:creationId xmlns:a16="http://schemas.microsoft.com/office/drawing/2014/main" id="{85F56CCA-376F-4AFB-9F77-39725490B0BC}"/>
              </a:ext>
            </a:extLst>
          </p:cNvPr>
          <p:cNvSpPr/>
          <p:nvPr/>
        </p:nvSpPr>
        <p:spPr>
          <a:xfrm>
            <a:off x="3047220" y="3059275"/>
            <a:ext cx="970719" cy="20895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BB942323-C4ED-4977-A688-F4FDF8937626}"/>
              </a:ext>
            </a:extLst>
          </p:cNvPr>
          <p:cNvSpPr/>
          <p:nvPr/>
        </p:nvSpPr>
        <p:spPr>
          <a:xfrm>
            <a:off x="3047220" y="3494907"/>
            <a:ext cx="970719" cy="20895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A7A9EE24-36E4-4528-8198-FF97E555FDE2}"/>
              </a:ext>
            </a:extLst>
          </p:cNvPr>
          <p:cNvCxnSpPr>
            <a:cxnSpLocks/>
            <a:stCxn id="88" idx="2"/>
            <a:endCxn id="123" idx="6"/>
          </p:cNvCxnSpPr>
          <p:nvPr/>
        </p:nvCxnSpPr>
        <p:spPr>
          <a:xfrm flipH="1">
            <a:off x="4017939" y="1882810"/>
            <a:ext cx="1517890" cy="1280941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95F0C77-0A1D-47A4-90F2-AD6602B293C9}"/>
              </a:ext>
            </a:extLst>
          </p:cNvPr>
          <p:cNvCxnSpPr>
            <a:cxnSpLocks/>
            <a:endCxn id="124" idx="6"/>
          </p:cNvCxnSpPr>
          <p:nvPr/>
        </p:nvCxnSpPr>
        <p:spPr>
          <a:xfrm flipH="1">
            <a:off x="4017939" y="2103973"/>
            <a:ext cx="1517890" cy="1495410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5AABB6DF-BC5F-4475-9F6F-579B090BF408}"/>
              </a:ext>
            </a:extLst>
          </p:cNvPr>
          <p:cNvCxnSpPr>
            <a:cxnSpLocks/>
            <a:stCxn id="123" idx="2"/>
            <a:endCxn id="24" idx="0"/>
          </p:cNvCxnSpPr>
          <p:nvPr/>
        </p:nvCxnSpPr>
        <p:spPr>
          <a:xfrm flipH="1">
            <a:off x="1023117" y="3163751"/>
            <a:ext cx="2024103" cy="765496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1D9AF08-8437-4847-B61F-F40D570240F1}"/>
              </a:ext>
            </a:extLst>
          </p:cNvPr>
          <p:cNvCxnSpPr>
            <a:cxnSpLocks/>
            <a:stCxn id="124" idx="6"/>
            <a:endCxn id="15" idx="0"/>
          </p:cNvCxnSpPr>
          <p:nvPr/>
        </p:nvCxnSpPr>
        <p:spPr>
          <a:xfrm>
            <a:off x="4017939" y="3599383"/>
            <a:ext cx="2025054" cy="329864"/>
          </a:xfrm>
          <a:prstGeom prst="straightConnector1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604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457200" y="-524594"/>
            <a:ext cx="8229600" cy="857250"/>
          </a:xfrm>
        </p:spPr>
        <p:txBody>
          <a:bodyPr>
            <a:noAutofit/>
          </a:bodyPr>
          <a:lstStyle/>
          <a:p>
            <a:r>
              <a:rPr lang="en-US" altLang="ko-KR" sz="3600"/>
              <a:t>Clustered Index, Non-clustered Index</a:t>
            </a:r>
            <a:endParaRPr lang="ko-KR" altLang="en-US" sz="3600" dirty="0"/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602298"/>
              </p:ext>
            </p:extLst>
          </p:nvPr>
        </p:nvGraphicFramePr>
        <p:xfrm>
          <a:off x="117846" y="4001254"/>
          <a:ext cx="1810542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Fruit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Orange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FL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Apple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NC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Peach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SC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9BC6D908-75E2-4B4F-923F-095E050B4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922952"/>
              </p:ext>
            </p:extLst>
          </p:nvPr>
        </p:nvGraphicFramePr>
        <p:xfrm>
          <a:off x="2627784" y="4001254"/>
          <a:ext cx="1810542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Fruit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Grape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CA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Lemon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FL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9075518D-1AFA-4D44-BEA7-C7A78007D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516985"/>
              </p:ext>
            </p:extLst>
          </p:nvPr>
        </p:nvGraphicFramePr>
        <p:xfrm>
          <a:off x="5137722" y="4001254"/>
          <a:ext cx="1810542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Fruit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6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Cherry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NC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7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Orange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CA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BFEAF8F-2F2A-4804-98BE-47FB8D752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13311"/>
              </p:ext>
            </p:extLst>
          </p:nvPr>
        </p:nvGraphicFramePr>
        <p:xfrm>
          <a:off x="2929541" y="2921134"/>
          <a:ext cx="1207028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Page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1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11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4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12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6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13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96855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4323429-660F-422E-B663-F232922592EC}"/>
              </a:ext>
            </a:extLst>
          </p:cNvPr>
          <p:cNvSpPr txBox="1"/>
          <p:nvPr/>
        </p:nvSpPr>
        <p:spPr>
          <a:xfrm>
            <a:off x="323253" y="4854694"/>
            <a:ext cx="1399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Page ID 11</a:t>
            </a:r>
            <a:endParaRPr lang="ko-KR" alt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C38BE3-D682-4EFA-B1A2-C15C7A654A2C}"/>
              </a:ext>
            </a:extLst>
          </p:cNvPr>
          <p:cNvSpPr txBox="1"/>
          <p:nvPr/>
        </p:nvSpPr>
        <p:spPr>
          <a:xfrm>
            <a:off x="2833191" y="4641334"/>
            <a:ext cx="1399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Page ID 12</a:t>
            </a:r>
            <a:endParaRPr lang="ko-KR" alt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BDEED7-A43A-4576-B57A-154DEEE85752}"/>
              </a:ext>
            </a:extLst>
          </p:cNvPr>
          <p:cNvSpPr txBox="1"/>
          <p:nvPr/>
        </p:nvSpPr>
        <p:spPr>
          <a:xfrm>
            <a:off x="5343129" y="4641334"/>
            <a:ext cx="1399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Page ID 13</a:t>
            </a:r>
            <a:endParaRPr lang="ko-KR" altLang="en-US" sz="1100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58B1D5C-2AC6-450D-A076-3DF2E427DDF2}"/>
              </a:ext>
            </a:extLst>
          </p:cNvPr>
          <p:cNvCxnSpPr>
            <a:cxnSpLocks/>
            <a:stCxn id="16" idx="2"/>
            <a:endCxn id="24" idx="0"/>
          </p:cNvCxnSpPr>
          <p:nvPr/>
        </p:nvCxnSpPr>
        <p:spPr>
          <a:xfrm flipH="1">
            <a:off x="1023117" y="3774574"/>
            <a:ext cx="2509938" cy="22668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A21491E-BBFD-4DA4-9315-A8D0556FA761}"/>
              </a:ext>
            </a:extLst>
          </p:cNvPr>
          <p:cNvCxnSpPr>
            <a:cxnSpLocks/>
            <a:stCxn id="16" idx="2"/>
            <a:endCxn id="14" idx="0"/>
          </p:cNvCxnSpPr>
          <p:nvPr/>
        </p:nvCxnSpPr>
        <p:spPr>
          <a:xfrm>
            <a:off x="3533055" y="3774574"/>
            <a:ext cx="0" cy="22668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A287F4F-BF9E-4A17-82BE-08F4F48E1AF9}"/>
              </a:ext>
            </a:extLst>
          </p:cNvPr>
          <p:cNvCxnSpPr>
            <a:cxnSpLocks/>
            <a:stCxn id="16" idx="2"/>
            <a:endCxn id="15" idx="0"/>
          </p:cNvCxnSpPr>
          <p:nvPr/>
        </p:nvCxnSpPr>
        <p:spPr>
          <a:xfrm>
            <a:off x="3533055" y="3774574"/>
            <a:ext cx="2509938" cy="22668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D0A8735A-21F4-4EC2-ACDE-00F94ED86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439688"/>
              </p:ext>
            </p:extLst>
          </p:nvPr>
        </p:nvGraphicFramePr>
        <p:xfrm>
          <a:off x="2929541" y="1637164"/>
          <a:ext cx="1207028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FL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FL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3CF01C31-95AF-4E9B-8D58-BD2996D9F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404264"/>
              </p:ext>
            </p:extLst>
          </p:nvPr>
        </p:nvGraphicFramePr>
        <p:xfrm>
          <a:off x="419603" y="1635428"/>
          <a:ext cx="1207028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CA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CA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44EEB92E-536A-4C48-A783-30D7464F2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217948"/>
              </p:ext>
            </p:extLst>
          </p:nvPr>
        </p:nvGraphicFramePr>
        <p:xfrm>
          <a:off x="5439479" y="1637645"/>
          <a:ext cx="1207028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Fruit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NC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NC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6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968552"/>
                  </a:ext>
                </a:extLst>
              </a:tr>
            </a:tbl>
          </a:graphicData>
        </a:graphic>
      </p:graphicFrame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B40296A2-3DAE-41E3-A20E-B7E2D5D3A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666437"/>
              </p:ext>
            </p:extLst>
          </p:nvPr>
        </p:nvGraphicFramePr>
        <p:xfrm>
          <a:off x="2929541" y="555526"/>
          <a:ext cx="1207028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State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Page ID</a:t>
                      </a:r>
                      <a:endParaRPr lang="ko-KR" altLang="en-US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CA</a:t>
                      </a:r>
                      <a:endParaRPr lang="ko-KR" alt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FL</a:t>
                      </a:r>
                      <a:endParaRPr lang="ko-KR" alt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NC</a:t>
                      </a:r>
                      <a:endParaRPr lang="ko-KR" alt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/>
                        <a:t>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968552"/>
                  </a:ext>
                </a:extLst>
              </a:tr>
            </a:tbl>
          </a:graphicData>
        </a:graphic>
      </p:graphicFrame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5C47709-6FB6-4161-A588-19C0604BB169}"/>
              </a:ext>
            </a:extLst>
          </p:cNvPr>
          <p:cNvCxnSpPr>
            <a:cxnSpLocks/>
            <a:stCxn id="43" idx="2"/>
            <a:endCxn id="37" idx="0"/>
          </p:cNvCxnSpPr>
          <p:nvPr/>
        </p:nvCxnSpPr>
        <p:spPr>
          <a:xfrm>
            <a:off x="3533055" y="1408966"/>
            <a:ext cx="0" cy="22819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B44B02A6-EF49-49CA-82AD-4F6312D206C0}"/>
              </a:ext>
            </a:extLst>
          </p:cNvPr>
          <p:cNvCxnSpPr>
            <a:cxnSpLocks/>
            <a:stCxn id="43" idx="2"/>
            <a:endCxn id="39" idx="0"/>
          </p:cNvCxnSpPr>
          <p:nvPr/>
        </p:nvCxnSpPr>
        <p:spPr>
          <a:xfrm flipH="1">
            <a:off x="1023117" y="1408966"/>
            <a:ext cx="2509938" cy="22646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DDBB8C6D-330D-4CC3-9ABA-B41919A27B9B}"/>
              </a:ext>
            </a:extLst>
          </p:cNvPr>
          <p:cNvCxnSpPr>
            <a:cxnSpLocks/>
            <a:stCxn id="43" idx="2"/>
            <a:endCxn id="40" idx="0"/>
          </p:cNvCxnSpPr>
          <p:nvPr/>
        </p:nvCxnSpPr>
        <p:spPr>
          <a:xfrm>
            <a:off x="3533055" y="1408966"/>
            <a:ext cx="2509938" cy="22867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0E6467B-F017-40E5-812F-07264648895E}"/>
              </a:ext>
            </a:extLst>
          </p:cNvPr>
          <p:cNvSpPr txBox="1"/>
          <p:nvPr/>
        </p:nvSpPr>
        <p:spPr>
          <a:xfrm>
            <a:off x="323253" y="2280220"/>
            <a:ext cx="1399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Page ID 1</a:t>
            </a:r>
            <a:endParaRPr lang="ko-KR" altLang="en-US" sz="11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21219F-2616-441A-9030-13DFBCCAE1D0}"/>
              </a:ext>
            </a:extLst>
          </p:cNvPr>
          <p:cNvSpPr txBox="1"/>
          <p:nvPr/>
        </p:nvSpPr>
        <p:spPr>
          <a:xfrm>
            <a:off x="5343129" y="2488868"/>
            <a:ext cx="1399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Page ID 3</a:t>
            </a:r>
            <a:endParaRPr lang="ko-KR" altLang="en-US" sz="11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50834A-598E-4C21-AA52-23EA6FAA4E53}"/>
              </a:ext>
            </a:extLst>
          </p:cNvPr>
          <p:cNvSpPr txBox="1"/>
          <p:nvPr/>
        </p:nvSpPr>
        <p:spPr>
          <a:xfrm>
            <a:off x="2833191" y="2275508"/>
            <a:ext cx="1399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Page ID 2</a:t>
            </a:r>
            <a:endParaRPr lang="ko-KR" altLang="en-US" sz="1100" dirty="0"/>
          </a:p>
        </p:txBody>
      </p:sp>
      <p:sp>
        <p:nvSpPr>
          <p:cNvPr id="61" name="오른쪽 중괄호 60">
            <a:extLst>
              <a:ext uri="{FF2B5EF4-FFF2-40B4-BE49-F238E27FC236}">
                <a16:creationId xmlns:a16="http://schemas.microsoft.com/office/drawing/2014/main" id="{4FE64452-4A11-48A1-A60B-694B166EA6D0}"/>
              </a:ext>
            </a:extLst>
          </p:cNvPr>
          <p:cNvSpPr/>
          <p:nvPr/>
        </p:nvSpPr>
        <p:spPr>
          <a:xfrm>
            <a:off x="7236296" y="2787774"/>
            <a:ext cx="288032" cy="232853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00BECAB-1C6F-432C-8EAC-8868A9ABA238}"/>
              </a:ext>
            </a:extLst>
          </p:cNvPr>
          <p:cNvSpPr txBox="1"/>
          <p:nvPr/>
        </p:nvSpPr>
        <p:spPr>
          <a:xfrm>
            <a:off x="7308304" y="3821234"/>
            <a:ext cx="154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Clustered Index</a:t>
            </a:r>
            <a:endParaRPr lang="ko-KR" altLang="en-US" sz="1100" dirty="0"/>
          </a:p>
        </p:txBody>
      </p:sp>
      <p:sp>
        <p:nvSpPr>
          <p:cNvPr id="65" name="오른쪽 중괄호 64">
            <a:extLst>
              <a:ext uri="{FF2B5EF4-FFF2-40B4-BE49-F238E27FC236}">
                <a16:creationId xmlns:a16="http://schemas.microsoft.com/office/drawing/2014/main" id="{6F48D161-EBCD-4E0C-839A-6921BC9DF282}"/>
              </a:ext>
            </a:extLst>
          </p:cNvPr>
          <p:cNvSpPr/>
          <p:nvPr/>
        </p:nvSpPr>
        <p:spPr>
          <a:xfrm>
            <a:off x="7236296" y="423061"/>
            <a:ext cx="288032" cy="232853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200A459-42D7-4CE7-AFA2-B7432A55E53F}"/>
              </a:ext>
            </a:extLst>
          </p:cNvPr>
          <p:cNvSpPr txBox="1"/>
          <p:nvPr/>
        </p:nvSpPr>
        <p:spPr>
          <a:xfrm>
            <a:off x="7457970" y="1456521"/>
            <a:ext cx="154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Non-clustered Index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565860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457200" y="-20538"/>
            <a:ext cx="8229600" cy="857250"/>
          </a:xfrm>
        </p:spPr>
        <p:txBody>
          <a:bodyPr>
            <a:normAutofit/>
          </a:bodyPr>
          <a:lstStyle/>
          <a:p>
            <a:r>
              <a:rPr lang="en-US" altLang="ko-KR" dirty="0"/>
              <a:t>Database Indexing</a:t>
            </a:r>
            <a:endParaRPr lang="ko-KR" altLang="en-US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1691680" y="1563638"/>
          <a:ext cx="1944216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2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State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ID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CA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CA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NC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NC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SC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4644009" y="1563638"/>
          <a:ext cx="2952327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ID (PK)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Fruit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State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Orange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FL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Apple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NC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Peach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SC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Grape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CA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Lemon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FL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Apple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NC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Oragne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CA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5" name="직선 화살표 연결선 4"/>
          <p:cNvCxnSpPr/>
          <p:nvPr/>
        </p:nvCxnSpPr>
        <p:spPr>
          <a:xfrm>
            <a:off x="3635896" y="1995686"/>
            <a:ext cx="1008112" cy="93610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3637533" y="2317750"/>
            <a:ext cx="1006475" cy="155014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 flipV="1">
            <a:off x="3637533" y="1995686"/>
            <a:ext cx="1006475" cy="64807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3637533" y="2931790"/>
            <a:ext cx="1006475" cy="31623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/>
          <p:nvPr/>
        </p:nvCxnSpPr>
        <p:spPr>
          <a:xfrm flipV="1">
            <a:off x="3635896" y="2319722"/>
            <a:ext cx="1008112" cy="92830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 flipV="1">
            <a:off x="3635896" y="3555484"/>
            <a:ext cx="1008112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 flipV="1">
            <a:off x="3635896" y="2643758"/>
            <a:ext cx="1008112" cy="121727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948136" y="1255861"/>
            <a:ext cx="1399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State Index</a:t>
            </a:r>
            <a:endParaRPr lang="ko-KR" alt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79640" y="1255861"/>
            <a:ext cx="191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/>
              <a:t>Fruit_Info</a:t>
            </a:r>
            <a:r>
              <a:rPr lang="en-US" altLang="ko-KR" sz="1400" dirty="0"/>
              <a:t> Table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63630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44354</TotalTime>
  <Words>541</Words>
  <Application>Microsoft Macintosh PowerPoint</Application>
  <PresentationFormat>화면 슬라이드 쇼(16:9)</PresentationFormat>
  <Paragraphs>385</Paragraphs>
  <Slides>10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Algorithm</vt:lpstr>
      <vt:lpstr>Algorithm</vt:lpstr>
      <vt:lpstr>PowerPoint 프레젠테이션</vt:lpstr>
      <vt:lpstr>PowerPoint 프레젠테이션</vt:lpstr>
      <vt:lpstr>PowerPoint 프레젠테이션</vt:lpstr>
      <vt:lpstr>Database Indexing</vt:lpstr>
      <vt:lpstr>Clustered Index, Non-clustered Index</vt:lpstr>
      <vt:lpstr>Clustered Index, Non-clustered Index</vt:lpstr>
      <vt:lpstr>Clustered Index, Non-clustered Index</vt:lpstr>
      <vt:lpstr>Database Indexing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5724</cp:revision>
  <dcterms:created xsi:type="dcterms:W3CDTF">2006-10-05T04:04:58Z</dcterms:created>
  <dcterms:modified xsi:type="dcterms:W3CDTF">2026-05-24T12:42:23Z</dcterms:modified>
</cp:coreProperties>
</file>