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429" r:id="rId2"/>
    <p:sldId id="430" r:id="rId3"/>
    <p:sldId id="431" r:id="rId4"/>
    <p:sldId id="432" r:id="rId5"/>
    <p:sldId id="434" r:id="rId6"/>
    <p:sldId id="433" r:id="rId7"/>
    <p:sldId id="419" r:id="rId8"/>
    <p:sldId id="435" r:id="rId9"/>
    <p:sldId id="425" r:id="rId10"/>
    <p:sldId id="426" r:id="rId11"/>
    <p:sldId id="423" r:id="rId12"/>
    <p:sldId id="424" r:id="rId13"/>
    <p:sldId id="427" r:id="rId14"/>
    <p:sldId id="428" r:id="rId15"/>
    <p:sldId id="417" r:id="rId16"/>
    <p:sldId id="421" r:id="rId17"/>
    <p:sldId id="422" r:id="rId18"/>
    <p:sldId id="418" r:id="rId19"/>
    <p:sldId id="420" r:id="rId2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87135" autoAdjust="0"/>
  </p:normalViewPr>
  <p:slideViewPr>
    <p:cSldViewPr>
      <p:cViewPr>
        <p:scale>
          <a:sx n="200" d="100"/>
          <a:sy n="200" d="100"/>
        </p:scale>
        <p:origin x="336" y="1112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E6C1B-1AC1-87B7-57D1-3FCDDB783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FFDC3-51DF-3582-2D7D-BD53A0EEF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9B27FA-2D63-778B-3210-E5201E960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0D2A80-D814-ED66-B7A6-97A8DB1C1C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765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4A95-941C-9D6A-1778-8631E9479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5052B0-7EB5-C4C1-7A97-262F1D2B4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88DDE6-DE3F-7B37-B150-4AE2849AD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6232B3-AAE6-D38D-09F1-418FD08214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5210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64E5-55DB-CFDE-D77C-E1A181D4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84E95-4887-4CC9-8F5F-18CBFD944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67C7C8-CFAE-626A-E27D-E1628740E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CCD5DC-B7A1-FA8D-ADE9-BC8F5FEB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8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E6094-64E6-8F20-7530-96F1C4E86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FC6E95-B7DE-E3C2-798B-F6465FD4D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46DE207-62CA-D938-4B92-D881CDC4F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56E78C-1D7E-66B3-9731-6C987E342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3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4C0F-C30E-26C5-5089-20405344C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D3C219-49C4-B057-AAA4-5378DF122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A819DF-CB2B-E846-B578-07E0DEC00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E0C56E-0FD8-EF81-3DBF-1D5BD4EA82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1070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633BC-41F7-3875-B82B-2E1FD57D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74544B-41AA-90FF-C4DB-0F0761742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C9B922-A176-2962-83A6-313DD033D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32BF44-F3AF-4F4E-3530-79F60627EB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51213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DC237-FCCF-5E46-A535-72229D05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5F0A02-36BE-3D13-6F7C-2830708FC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099E44-9E48-9547-07C5-CBE1DFA92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A29228-AC2C-D3BF-15F3-7B1B326C3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6457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85D14-203F-1574-CB0F-F16B6F258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C3D4FE-E0BB-C590-3983-F88390935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88B79E-307B-7312-FB55-3723734D0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1FB69-CE78-258F-4538-36110CC70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865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B167-1403-0366-50F8-04A282A55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1D151C-46DE-F354-C32C-7926B6874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19D75-0886-ED39-05DE-718E4F129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25A10F-92D0-2804-D168-AAA91D87A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8978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776F9-9DA2-A11B-E78F-6B0473E39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53A141-85BD-3DAD-5FF5-7B3733447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1A0232-0846-33AD-033F-76484E26F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67F8F-64E1-3B13-711F-7BE64AA2FD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53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84AB-D2CA-C148-7483-0C38BA7B5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A1E166-D9B5-0406-D66C-FFD67D461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2D819-F840-2590-A556-5F4442226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3316E6-CA9F-E7D6-2856-A9223BFF9E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725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9532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2913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003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4022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691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2026. 5. 31.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DF4E8-85BD-4425-521D-A706F5A4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18C58BF-31C2-B135-5DEE-7D9FFE431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Dataset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021FBBC-CA43-D96E-35D5-8CCC97D6A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660909"/>
              </p:ext>
            </p:extLst>
          </p:nvPr>
        </p:nvGraphicFramePr>
        <p:xfrm>
          <a:off x="1907704" y="1596390"/>
          <a:ext cx="1944216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1823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A88385C-7912-5A33-2D26-61CB78713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970994"/>
              </p:ext>
            </p:extLst>
          </p:nvPr>
        </p:nvGraphicFramePr>
        <p:xfrm>
          <a:off x="4572000" y="1596390"/>
          <a:ext cx="2952327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2289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0798A9-7D68-0184-18C4-8B1886123EAD}"/>
              </a:ext>
            </a:extLst>
          </p:cNvPr>
          <p:cNvSpPr txBox="1"/>
          <p:nvPr/>
        </p:nvSpPr>
        <p:spPr>
          <a:xfrm>
            <a:off x="4572000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ADF622-7782-0248-1908-5A217E89CE8C}"/>
              </a:ext>
            </a:extLst>
          </p:cNvPr>
          <p:cNvSpPr txBox="1"/>
          <p:nvPr/>
        </p:nvSpPr>
        <p:spPr>
          <a:xfrm>
            <a:off x="1835696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336819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780E-ACDA-DF68-09E1-D91B4AA87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91195A7-1F99-C726-9B7E-EA9B4AE30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Inner Join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89F861D-25E1-FEC1-C7EE-18ACF17CE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175360"/>
              </p:ext>
            </p:extLst>
          </p:nvPr>
        </p:nvGraphicFramePr>
        <p:xfrm>
          <a:off x="2465766" y="839353"/>
          <a:ext cx="4212468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992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3C5C1-26A1-7EE2-33F7-0F246F4F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066F032-3375-DD44-A8C1-6D36323A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Left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D41FD0D4-32F0-3192-11B8-981F57B2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97404"/>
              </p:ext>
            </p:extLst>
          </p:nvPr>
        </p:nvGraphicFramePr>
        <p:xfrm>
          <a:off x="2465766" y="839353"/>
          <a:ext cx="4212468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i="0" dirty="0"/>
                        <a:t>NULL</a:t>
                      </a:r>
                      <a:endParaRPr lang="ko-KR" altLang="en-US" sz="1000" b="1" i="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219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812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BCFAE-A63F-6E71-669D-57147A899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ACD8534-6CB5-2EBE-B30E-B87D589D3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Right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B864039-FC06-AF5A-3FF3-5CA8C75269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596394"/>
              </p:ext>
            </p:extLst>
          </p:nvPr>
        </p:nvGraphicFramePr>
        <p:xfrm>
          <a:off x="2465766" y="839353"/>
          <a:ext cx="4212468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0090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9CD72-C763-B8CA-C2A7-03004B29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E3B80D7A-21A6-1657-80CA-9F4683DFC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Outer Join / Full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A0C9894-5D06-1191-B349-798B513503BE}"/>
              </a:ext>
            </a:extLst>
          </p:cNvPr>
          <p:cNvGraphicFramePr>
            <a:graphicFrameLocks noGrp="1"/>
          </p:cNvGraphicFramePr>
          <p:nvPr/>
        </p:nvGraphicFramePr>
        <p:xfrm>
          <a:off x="2465766" y="839353"/>
          <a:ext cx="4212468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44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503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667B-E970-672D-87E2-A24DD066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1D2A70A-A1E4-9BB2-C361-AEB6DB7D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Cross Join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B8128ACF-1778-ED7D-C06B-F5D8949527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806419"/>
              </p:ext>
            </p:extLst>
          </p:nvPr>
        </p:nvGraphicFramePr>
        <p:xfrm>
          <a:off x="179512" y="839353"/>
          <a:ext cx="4212468" cy="3169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3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3445695178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e.dept_id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10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678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90731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06263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3689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20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5940185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3D759C4-D9B3-8203-6EFC-C7C4AC007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579451"/>
              </p:ext>
            </p:extLst>
          </p:nvPr>
        </p:nvGraphicFramePr>
        <p:xfrm>
          <a:off x="4605244" y="839353"/>
          <a:ext cx="4212468" cy="3169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8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3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117">
                  <a:extLst>
                    <a:ext uri="{9D8B030D-6E8A-4147-A177-3AD203B41FA5}">
                      <a16:colId xmlns:a16="http://schemas.microsoft.com/office/drawing/2014/main" val="3445695178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d.id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e.dept_id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48803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3494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3678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990731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406263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6936899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/>
                        <a:t>40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/>
                        <a:t>Ssup</a:t>
                      </a:r>
                      <a:endParaRPr lang="ko-KR" altLang="en-US" sz="10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5940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944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132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F595C-3134-5552-6682-50F427063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9CCB41F-C083-ED31-3B88-1A3F6142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Dataset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F929B98-E9B3-761C-ADD5-2F62263CE2BC}"/>
              </a:ext>
            </a:extLst>
          </p:cNvPr>
          <p:cNvGraphicFramePr>
            <a:graphicFrameLocks noGrp="1"/>
          </p:cNvGraphicFramePr>
          <p:nvPr/>
        </p:nvGraphicFramePr>
        <p:xfrm>
          <a:off x="1907704" y="1596390"/>
          <a:ext cx="1944216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1823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79BD6F0-2C58-EA2E-417F-C16992B51819}"/>
              </a:ext>
            </a:extLst>
          </p:cNvPr>
          <p:cNvGraphicFramePr>
            <a:graphicFrameLocks noGrp="1"/>
          </p:cNvGraphicFramePr>
          <p:nvPr/>
        </p:nvGraphicFramePr>
        <p:xfrm>
          <a:off x="4572000" y="1596390"/>
          <a:ext cx="2952327" cy="1706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Ssup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/>
                        <a:t>NULL</a:t>
                      </a:r>
                      <a:endParaRPr lang="ko-KR" altLang="en-US" sz="1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22897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4C54B3-662B-7B55-49E7-F26BCE6474AA}"/>
              </a:ext>
            </a:extLst>
          </p:cNvPr>
          <p:cNvSpPr txBox="1"/>
          <p:nvPr/>
        </p:nvSpPr>
        <p:spPr>
          <a:xfrm>
            <a:off x="4572000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32FFA-1BBA-3256-4CC8-269DB51753A8}"/>
              </a:ext>
            </a:extLst>
          </p:cNvPr>
          <p:cNvSpPr txBox="1"/>
          <p:nvPr/>
        </p:nvSpPr>
        <p:spPr>
          <a:xfrm>
            <a:off x="1835696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817938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0171-5944-068C-A00F-9497B59A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D086F6-D4D9-BDF0-9EF0-D2DECDBD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F0DEFC8-4DEF-F05D-9DD2-5C9C31869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709273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F3CA63F-C88D-F73C-EEE6-47D6F7662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171437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B51FCC2-55CB-2CB0-762F-9F0DD896F6F0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FBBF9-F89D-9670-ED15-A35122C6C1E6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411728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8AA1-AB45-EE4B-F166-278289B9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D97BF23-BDB9-F905-E623-CC9EC4311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7EEE-B373-451A-5FF3-7820DC5FA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519609"/>
              </p:ext>
            </p:extLst>
          </p:nvPr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E8F1235-3DB8-2CDB-79BA-7CE3B0AE29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5950"/>
              </p:ext>
            </p:extLst>
          </p:nvPr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FA175E3-E9F8-220F-2C70-073F4366396C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DBE98B-DA20-986C-8FBA-ED828C99A5B0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80111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0D64-D25F-2768-844F-63D742C21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3378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C41DE-7376-50F7-140F-9FE0FF7B2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0147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72218-10B0-79E7-DB09-F1F21B2D0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5C471B2-3B9E-FCAF-BD5E-BE4E44EA3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415770F-ABBA-0DF7-5034-AEC47DE9A506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7A38F49-C9DE-E9E5-2625-090F5377B64C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68E908-1E8D-BB9E-862E-71A42B6B6228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BF6A79-5C75-9530-2907-D59BE52A6A6F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256626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E8A31-CD2C-47C6-7861-BDD30C4CD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77F57BA-72E1-F4A9-4316-623A3DB68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C525383-37D3-A4C0-FDCB-0EA26B33C2FA}"/>
              </a:ext>
            </a:extLst>
          </p:cNvPr>
          <p:cNvGraphicFramePr>
            <a:graphicFrameLocks noGrp="1"/>
          </p:cNvGraphicFramePr>
          <p:nvPr/>
        </p:nvGraphicFramePr>
        <p:xfrm>
          <a:off x="5364088" y="1596390"/>
          <a:ext cx="1944216" cy="975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dept_name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Engineering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Marketing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HR</a:t>
                      </a:r>
                      <a:endParaRPr lang="ko-KR" altLang="en-US" sz="10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71B9B104-8B79-7461-9B79-06E0767D249A}"/>
              </a:ext>
            </a:extLst>
          </p:cNvPr>
          <p:cNvGraphicFramePr>
            <a:graphicFrameLocks noGrp="1"/>
          </p:cNvGraphicFramePr>
          <p:nvPr/>
        </p:nvGraphicFramePr>
        <p:xfrm>
          <a:off x="1459868" y="1596390"/>
          <a:ext cx="2952327" cy="1463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name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dept_id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Alice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Bob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Coral</a:t>
                      </a:r>
                      <a:endParaRPr lang="ko-KR" alt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Eve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Dave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30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016C5E-40CD-7F8A-2302-742CF9C68214}"/>
              </a:ext>
            </a:extLst>
          </p:cNvPr>
          <p:cNvSpPr txBox="1"/>
          <p:nvPr/>
        </p:nvSpPr>
        <p:spPr>
          <a:xfrm>
            <a:off x="1459868" y="1286639"/>
            <a:ext cx="29523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Employees (Outer Table)</a:t>
            </a:r>
            <a:endParaRPr lang="ko-KR" altLang="en-US" sz="12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C4DEF8-2960-B921-6D78-77F1C89BC105}"/>
              </a:ext>
            </a:extLst>
          </p:cNvPr>
          <p:cNvSpPr txBox="1"/>
          <p:nvPr/>
        </p:nvSpPr>
        <p:spPr>
          <a:xfrm>
            <a:off x="5292080" y="1286639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Departments (Inner Table)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93042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950130"/>
              </p:ext>
            </p:extLst>
          </p:nvPr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296451"/>
              </p:ext>
            </p:extLst>
          </p:nvPr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Fruit 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Cherry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03598"/>
            <a:ext cx="13997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/>
              <a:t>State Index</a:t>
            </a:r>
            <a:endParaRPr lang="ko-KR" altLang="en-US" sz="16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03598"/>
            <a:ext cx="19126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err="1"/>
              <a:t>Fruit_Info</a:t>
            </a:r>
            <a:r>
              <a:rPr lang="en-US" altLang="ko-KR" sz="1600" dirty="0"/>
              <a:t> Table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699234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607795"/>
              </p:ext>
            </p:extLst>
          </p:nvPr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063177"/>
              </p:ext>
            </p:extLst>
          </p:nvPr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54986"/>
              </p:ext>
            </p:extLst>
          </p:nvPr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8366"/>
              </p:ext>
            </p:extLst>
          </p:nvPr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919537"/>
              </p:ext>
            </p:extLst>
          </p:nvPr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52436"/>
              </p:ext>
            </p:extLst>
          </p:nvPr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13332"/>
              </p:ext>
            </p:extLst>
          </p:nvPr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046433"/>
              </p:ext>
            </p:extLst>
          </p:nvPr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타원 41">
            <a:extLst>
              <a:ext uri="{FF2B5EF4-FFF2-40B4-BE49-F238E27FC236}">
                <a16:creationId xmlns:a16="http://schemas.microsoft.com/office/drawing/2014/main" id="{FF8BC6DC-6EBF-439B-A57C-1F9DDE7386D3}"/>
              </a:ext>
            </a:extLst>
          </p:cNvPr>
          <p:cNvSpPr/>
          <p:nvPr/>
        </p:nvSpPr>
        <p:spPr>
          <a:xfrm>
            <a:off x="3047220" y="3274839"/>
            <a:ext cx="970719" cy="208952"/>
          </a:xfrm>
          <a:prstGeom prst="ellips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EF77FCF-E600-4A32-871A-393E48BFB894}"/>
              </a:ext>
            </a:extLst>
          </p:cNvPr>
          <p:cNvCxnSpPr>
            <a:cxnSpLocks/>
          </p:cNvCxnSpPr>
          <p:nvPr/>
        </p:nvCxnSpPr>
        <p:spPr>
          <a:xfrm>
            <a:off x="2627784" y="3167766"/>
            <a:ext cx="414461" cy="21994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C37B632-ABB2-46B7-B7A1-B4EDA590C1F3}"/>
              </a:ext>
            </a:extLst>
          </p:cNvPr>
          <p:cNvCxnSpPr>
            <a:cxnSpLocks/>
            <a:stCxn id="42" idx="6"/>
            <a:endCxn id="14" idx="0"/>
          </p:cNvCxnSpPr>
          <p:nvPr/>
        </p:nvCxnSpPr>
        <p:spPr>
          <a:xfrm flipH="1">
            <a:off x="3533055" y="3379315"/>
            <a:ext cx="484884" cy="54993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8F33FDF-6619-4645-9CB7-6DCE4AC82028}"/>
              </a:ext>
            </a:extLst>
          </p:cNvPr>
          <p:cNvSpPr txBox="1"/>
          <p:nvPr/>
        </p:nvSpPr>
        <p:spPr>
          <a:xfrm>
            <a:off x="1122203" y="715171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chemeClr val="tx2"/>
                </a:solidFill>
              </a:rPr>
              <a:t>Record access through Non-clustered Index </a:t>
            </a:r>
            <a:endParaRPr lang="ko-KR" altLang="en-US" sz="1100" dirty="0">
              <a:solidFill>
                <a:schemeClr val="tx2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E5D54C-F29C-438F-A12F-E02BEFE7B27B}"/>
              </a:ext>
            </a:extLst>
          </p:cNvPr>
          <p:cNvSpPr txBox="1"/>
          <p:nvPr/>
        </p:nvSpPr>
        <p:spPr>
          <a:xfrm>
            <a:off x="1122203" y="2837340"/>
            <a:ext cx="16564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>
                <a:solidFill>
                  <a:srgbClr val="C00000"/>
                </a:solidFill>
              </a:rPr>
              <a:t>Record access through Clustered Index 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49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117846" y="3929247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/>
        </p:nvGraphicFramePr>
        <p:xfrm>
          <a:off x="2627784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/>
        </p:nvGraphicFramePr>
        <p:xfrm>
          <a:off x="5137722" y="3929247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2849127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78268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569327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02567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02567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1565157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/>
        </p:nvGraphicFramePr>
        <p:xfrm>
          <a:off x="419603" y="1563421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/>
        </p:nvGraphicFramePr>
        <p:xfrm>
          <a:off x="5439479" y="1565638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/>
        </p:nvGraphicFramePr>
        <p:xfrm>
          <a:off x="2929541" y="483519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336959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336959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336959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08213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1686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03501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15767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749227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11510"/>
            <a:ext cx="288032" cy="226807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2320" y="141474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A120AA52-03CE-4829-A76B-9833AB9B149F}"/>
              </a:ext>
            </a:extLst>
          </p:cNvPr>
          <p:cNvCxnSpPr>
            <a:cxnSpLocks/>
            <a:endCxn id="106" idx="2"/>
          </p:cNvCxnSpPr>
          <p:nvPr/>
        </p:nvCxnSpPr>
        <p:spPr>
          <a:xfrm>
            <a:off x="2627784" y="1010754"/>
            <a:ext cx="414461" cy="219942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51EA37D-E181-4DAF-AF98-A7050FA68902}"/>
              </a:ext>
            </a:extLst>
          </p:cNvPr>
          <p:cNvCxnSpPr>
            <a:cxnSpLocks/>
            <a:stCxn id="106" idx="6"/>
            <a:endCxn id="88" idx="2"/>
          </p:cNvCxnSpPr>
          <p:nvPr/>
        </p:nvCxnSpPr>
        <p:spPr>
          <a:xfrm>
            <a:off x="4012964" y="1230696"/>
            <a:ext cx="1522865" cy="65211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타원 87">
            <a:extLst>
              <a:ext uri="{FF2B5EF4-FFF2-40B4-BE49-F238E27FC236}">
                <a16:creationId xmlns:a16="http://schemas.microsoft.com/office/drawing/2014/main" id="{CC2A25C7-0DAE-4501-BB42-B5C7E8C9D49E}"/>
              </a:ext>
            </a:extLst>
          </p:cNvPr>
          <p:cNvSpPr/>
          <p:nvPr/>
        </p:nvSpPr>
        <p:spPr>
          <a:xfrm>
            <a:off x="5535829" y="1778334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9692EC2-7699-4D81-97CB-C477B362209C}"/>
              </a:ext>
            </a:extLst>
          </p:cNvPr>
          <p:cNvSpPr/>
          <p:nvPr/>
        </p:nvSpPr>
        <p:spPr>
          <a:xfrm>
            <a:off x="5535829" y="199324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457FC7A-B5EC-4C60-8402-38C4C5BCA0C8}"/>
              </a:ext>
            </a:extLst>
          </p:cNvPr>
          <p:cNvSpPr/>
          <p:nvPr/>
        </p:nvSpPr>
        <p:spPr>
          <a:xfrm>
            <a:off x="3042245" y="1126220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48EDA09-B547-4AD6-9FA6-314A1FCDA42F}"/>
              </a:ext>
            </a:extLst>
          </p:cNvPr>
          <p:cNvCxnSpPr>
            <a:cxnSpLocks/>
            <a:stCxn id="106" idx="6"/>
            <a:endCxn id="104" idx="2"/>
          </p:cNvCxnSpPr>
          <p:nvPr/>
        </p:nvCxnSpPr>
        <p:spPr>
          <a:xfrm>
            <a:off x="4012964" y="1230696"/>
            <a:ext cx="1522865" cy="867027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타원 122">
            <a:extLst>
              <a:ext uri="{FF2B5EF4-FFF2-40B4-BE49-F238E27FC236}">
                <a16:creationId xmlns:a16="http://schemas.microsoft.com/office/drawing/2014/main" id="{85F56CCA-376F-4AFB-9F77-39725490B0BC}"/>
              </a:ext>
            </a:extLst>
          </p:cNvPr>
          <p:cNvSpPr/>
          <p:nvPr/>
        </p:nvSpPr>
        <p:spPr>
          <a:xfrm>
            <a:off x="3047220" y="3059275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타원 123">
            <a:extLst>
              <a:ext uri="{FF2B5EF4-FFF2-40B4-BE49-F238E27FC236}">
                <a16:creationId xmlns:a16="http://schemas.microsoft.com/office/drawing/2014/main" id="{BB942323-C4ED-4977-A688-F4FDF8937626}"/>
              </a:ext>
            </a:extLst>
          </p:cNvPr>
          <p:cNvSpPr/>
          <p:nvPr/>
        </p:nvSpPr>
        <p:spPr>
          <a:xfrm>
            <a:off x="3047220" y="3494907"/>
            <a:ext cx="970719" cy="2089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7A9EE24-36E4-4528-8198-FF97E555FDE2}"/>
              </a:ext>
            </a:extLst>
          </p:cNvPr>
          <p:cNvCxnSpPr>
            <a:cxnSpLocks/>
            <a:stCxn id="88" idx="2"/>
            <a:endCxn id="123" idx="6"/>
          </p:cNvCxnSpPr>
          <p:nvPr/>
        </p:nvCxnSpPr>
        <p:spPr>
          <a:xfrm flipH="1">
            <a:off x="4017939" y="1882810"/>
            <a:ext cx="1517890" cy="1280941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95F0C77-0A1D-47A4-90F2-AD6602B293C9}"/>
              </a:ext>
            </a:extLst>
          </p:cNvPr>
          <p:cNvCxnSpPr>
            <a:cxnSpLocks/>
            <a:endCxn id="124" idx="6"/>
          </p:cNvCxnSpPr>
          <p:nvPr/>
        </p:nvCxnSpPr>
        <p:spPr>
          <a:xfrm flipH="1">
            <a:off x="4017939" y="2103973"/>
            <a:ext cx="1517890" cy="1495410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AABB6DF-BC5F-4475-9F6F-579B090BF408}"/>
              </a:ext>
            </a:extLst>
          </p:cNvPr>
          <p:cNvCxnSpPr>
            <a:cxnSpLocks/>
            <a:stCxn id="123" idx="2"/>
            <a:endCxn id="24" idx="0"/>
          </p:cNvCxnSpPr>
          <p:nvPr/>
        </p:nvCxnSpPr>
        <p:spPr>
          <a:xfrm flipH="1">
            <a:off x="1023117" y="3163751"/>
            <a:ext cx="2024103" cy="765496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1D9AF08-8437-4847-B61F-F40D570240F1}"/>
              </a:ext>
            </a:extLst>
          </p:cNvPr>
          <p:cNvCxnSpPr>
            <a:cxnSpLocks/>
            <a:stCxn id="124" idx="6"/>
            <a:endCxn id="15" idx="0"/>
          </p:cNvCxnSpPr>
          <p:nvPr/>
        </p:nvCxnSpPr>
        <p:spPr>
          <a:xfrm>
            <a:off x="4017939" y="3599383"/>
            <a:ext cx="2025054" cy="329864"/>
          </a:xfrm>
          <a:prstGeom prst="straightConnector1">
            <a:avLst/>
          </a:prstGeom>
          <a:ln w="19050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4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524594"/>
            <a:ext cx="8229600" cy="857250"/>
          </a:xfrm>
        </p:spPr>
        <p:txBody>
          <a:bodyPr>
            <a:noAutofit/>
          </a:bodyPr>
          <a:lstStyle/>
          <a:p>
            <a:r>
              <a:rPr lang="en-US" altLang="ko-KR" sz="3600"/>
              <a:t>Clustered Index, Non-clustered Index</a:t>
            </a:r>
            <a:endParaRPr lang="ko-KR" altLang="en-US" sz="3600" dirty="0"/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602298"/>
              </p:ext>
            </p:extLst>
          </p:nvPr>
        </p:nvGraphicFramePr>
        <p:xfrm>
          <a:off x="117846" y="4001254"/>
          <a:ext cx="1810542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Apple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Peach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9BC6D908-75E2-4B4F-923F-095E050B4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922952"/>
              </p:ext>
            </p:extLst>
          </p:nvPr>
        </p:nvGraphicFramePr>
        <p:xfrm>
          <a:off x="2627784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Grape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Lemon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FL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9075518D-1AFA-4D44-BEA7-C7A78007D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9516985"/>
              </p:ext>
            </p:extLst>
          </p:nvPr>
        </p:nvGraphicFramePr>
        <p:xfrm>
          <a:off x="5137722" y="4001254"/>
          <a:ext cx="1810542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Fruit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Cherry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Orange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BFEAF8F-2F2A-4804-98BE-47FB8D7528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913311"/>
              </p:ext>
            </p:extLst>
          </p:nvPr>
        </p:nvGraphicFramePr>
        <p:xfrm>
          <a:off x="2929541" y="2921134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74323429-660F-422E-B663-F232922592EC}"/>
              </a:ext>
            </a:extLst>
          </p:cNvPr>
          <p:cNvSpPr txBox="1"/>
          <p:nvPr/>
        </p:nvSpPr>
        <p:spPr>
          <a:xfrm>
            <a:off x="323253" y="485469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11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8BE3-D682-4EFA-B1A2-C15C7A654A2C}"/>
              </a:ext>
            </a:extLst>
          </p:cNvPr>
          <p:cNvSpPr txBox="1"/>
          <p:nvPr/>
        </p:nvSpPr>
        <p:spPr>
          <a:xfrm>
            <a:off x="2833191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12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BDEED7-A43A-4576-B57A-154DEEE85752}"/>
              </a:ext>
            </a:extLst>
          </p:cNvPr>
          <p:cNvSpPr txBox="1"/>
          <p:nvPr/>
        </p:nvSpPr>
        <p:spPr>
          <a:xfrm>
            <a:off x="5343129" y="4641334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13</a:t>
            </a:r>
            <a:endParaRPr lang="ko-KR" altLang="en-US" sz="11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58B1D5C-2AC6-450D-A076-3DF2E427DDF2}"/>
              </a:ext>
            </a:extLst>
          </p:cNvPr>
          <p:cNvCxnSpPr>
            <a:cxnSpLocks/>
            <a:stCxn id="16" idx="2"/>
            <a:endCxn id="24" idx="0"/>
          </p:cNvCxnSpPr>
          <p:nvPr/>
        </p:nvCxnSpPr>
        <p:spPr>
          <a:xfrm flipH="1">
            <a:off x="1023117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A21491E-BBFD-4DA4-9315-A8D0556FA761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3533055" y="3774574"/>
            <a:ext cx="0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A287F4F-BF9E-4A17-82BE-08F4F48E1AF9}"/>
              </a:ext>
            </a:extLst>
          </p:cNvPr>
          <p:cNvCxnSpPr>
            <a:cxnSpLocks/>
            <a:stCxn id="16" idx="2"/>
            <a:endCxn id="15" idx="0"/>
          </p:cNvCxnSpPr>
          <p:nvPr/>
        </p:nvCxnSpPr>
        <p:spPr>
          <a:xfrm>
            <a:off x="3533055" y="3774574"/>
            <a:ext cx="2509938" cy="22668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D0A8735A-21F4-4EC2-ACDE-00F94ED86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39688"/>
              </p:ext>
            </p:extLst>
          </p:nvPr>
        </p:nvGraphicFramePr>
        <p:xfrm>
          <a:off x="2929541" y="1637164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3CF01C31-95AF-4E9B-8D58-BD2996D9F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04264"/>
              </p:ext>
            </p:extLst>
          </p:nvPr>
        </p:nvGraphicFramePr>
        <p:xfrm>
          <a:off x="419603" y="1635428"/>
          <a:ext cx="1207028" cy="640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44EEB92E-536A-4C48-A783-30D7464F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217948"/>
              </p:ext>
            </p:extLst>
          </p:nvPr>
        </p:nvGraphicFramePr>
        <p:xfrm>
          <a:off x="5439479" y="1637645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Fruit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6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B40296A2-3DAE-41E3-A20E-B7E2D5D3A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666437"/>
              </p:ext>
            </p:extLst>
          </p:nvPr>
        </p:nvGraphicFramePr>
        <p:xfrm>
          <a:off x="2929541" y="555526"/>
          <a:ext cx="1207028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3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State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Page ID</a:t>
                      </a:r>
                      <a:endParaRPr lang="ko-KR" altLang="en-US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CA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FL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3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NC</a:t>
                      </a:r>
                      <a:endParaRPr lang="ko-KR" altLang="en-US" sz="8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968552"/>
                  </a:ext>
                </a:extLst>
              </a:tr>
            </a:tbl>
          </a:graphicData>
        </a:graphic>
      </p:graphicFrame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5C47709-6FB6-4161-A588-19C0604BB169}"/>
              </a:ext>
            </a:extLst>
          </p:cNvPr>
          <p:cNvCxnSpPr>
            <a:cxnSpLocks/>
            <a:stCxn id="43" idx="2"/>
            <a:endCxn id="37" idx="0"/>
          </p:cNvCxnSpPr>
          <p:nvPr/>
        </p:nvCxnSpPr>
        <p:spPr>
          <a:xfrm>
            <a:off x="3533055" y="1408966"/>
            <a:ext cx="0" cy="22819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44B02A6-EF49-49CA-82AD-4F6312D206C0}"/>
              </a:ext>
            </a:extLst>
          </p:cNvPr>
          <p:cNvCxnSpPr>
            <a:cxnSpLocks/>
            <a:stCxn id="43" idx="2"/>
            <a:endCxn id="39" idx="0"/>
          </p:cNvCxnSpPr>
          <p:nvPr/>
        </p:nvCxnSpPr>
        <p:spPr>
          <a:xfrm flipH="1">
            <a:off x="1023117" y="1408966"/>
            <a:ext cx="2509938" cy="22646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DBB8C6D-330D-4CC3-9ABA-B41919A27B9B}"/>
              </a:ext>
            </a:extLst>
          </p:cNvPr>
          <p:cNvCxnSpPr>
            <a:cxnSpLocks/>
            <a:stCxn id="43" idx="2"/>
            <a:endCxn id="40" idx="0"/>
          </p:cNvCxnSpPr>
          <p:nvPr/>
        </p:nvCxnSpPr>
        <p:spPr>
          <a:xfrm>
            <a:off x="3533055" y="1408966"/>
            <a:ext cx="2509938" cy="228679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0E6467B-F017-40E5-812F-07264648895E}"/>
              </a:ext>
            </a:extLst>
          </p:cNvPr>
          <p:cNvSpPr txBox="1"/>
          <p:nvPr/>
        </p:nvSpPr>
        <p:spPr>
          <a:xfrm>
            <a:off x="323253" y="2280220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1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321219F-2616-441A-9030-13DFBCCAE1D0}"/>
              </a:ext>
            </a:extLst>
          </p:cNvPr>
          <p:cNvSpPr txBox="1"/>
          <p:nvPr/>
        </p:nvSpPr>
        <p:spPr>
          <a:xfrm>
            <a:off x="5343129" y="248886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3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050834A-598E-4C21-AA52-23EA6FAA4E53}"/>
              </a:ext>
            </a:extLst>
          </p:cNvPr>
          <p:cNvSpPr txBox="1"/>
          <p:nvPr/>
        </p:nvSpPr>
        <p:spPr>
          <a:xfrm>
            <a:off x="2833191" y="2275508"/>
            <a:ext cx="13997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Page ID 2</a:t>
            </a:r>
            <a:endParaRPr lang="ko-KR" altLang="en-US" sz="1100" dirty="0"/>
          </a:p>
        </p:txBody>
      </p:sp>
      <p:sp>
        <p:nvSpPr>
          <p:cNvPr id="61" name="오른쪽 중괄호 60">
            <a:extLst>
              <a:ext uri="{FF2B5EF4-FFF2-40B4-BE49-F238E27FC236}">
                <a16:creationId xmlns:a16="http://schemas.microsoft.com/office/drawing/2014/main" id="{4FE64452-4A11-48A1-A60B-694B166EA6D0}"/>
              </a:ext>
            </a:extLst>
          </p:cNvPr>
          <p:cNvSpPr/>
          <p:nvPr/>
        </p:nvSpPr>
        <p:spPr>
          <a:xfrm>
            <a:off x="7236296" y="2787774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00BECAB-1C6F-432C-8EAC-8868A9ABA238}"/>
              </a:ext>
            </a:extLst>
          </p:cNvPr>
          <p:cNvSpPr txBox="1"/>
          <p:nvPr/>
        </p:nvSpPr>
        <p:spPr>
          <a:xfrm>
            <a:off x="7308304" y="3821234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Clustered Index</a:t>
            </a:r>
            <a:endParaRPr lang="ko-KR" altLang="en-US" sz="1100" dirty="0"/>
          </a:p>
        </p:txBody>
      </p:sp>
      <p:sp>
        <p:nvSpPr>
          <p:cNvPr id="65" name="오른쪽 중괄호 64">
            <a:extLst>
              <a:ext uri="{FF2B5EF4-FFF2-40B4-BE49-F238E27FC236}">
                <a16:creationId xmlns:a16="http://schemas.microsoft.com/office/drawing/2014/main" id="{6F48D161-EBCD-4E0C-839A-6921BC9DF282}"/>
              </a:ext>
            </a:extLst>
          </p:cNvPr>
          <p:cNvSpPr/>
          <p:nvPr/>
        </p:nvSpPr>
        <p:spPr>
          <a:xfrm>
            <a:off x="7236296" y="423061"/>
            <a:ext cx="288032" cy="232853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00A459-42D7-4CE7-AFA2-B7432A55E53F}"/>
              </a:ext>
            </a:extLst>
          </p:cNvPr>
          <p:cNvSpPr txBox="1"/>
          <p:nvPr/>
        </p:nvSpPr>
        <p:spPr>
          <a:xfrm>
            <a:off x="7457970" y="1456521"/>
            <a:ext cx="15434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/>
              <a:t>Non-clustered Index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65860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457200" y="-20538"/>
            <a:ext cx="8229600" cy="857250"/>
          </a:xfrm>
        </p:spPr>
        <p:txBody>
          <a:bodyPr>
            <a:normAutofit/>
          </a:bodyPr>
          <a:lstStyle/>
          <a:p>
            <a:r>
              <a:rPr lang="en-US" altLang="ko-KR" dirty="0"/>
              <a:t>Database Indexing</a:t>
            </a:r>
            <a:endParaRPr lang="ko-KR" altLang="en-US" dirty="0"/>
          </a:p>
        </p:txBody>
      </p:sp>
      <p:graphicFrame>
        <p:nvGraphicFramePr>
          <p:cNvPr id="2" name="표 1"/>
          <p:cNvGraphicFramePr>
            <a:graphicFrameLocks noGrp="1"/>
          </p:cNvGraphicFramePr>
          <p:nvPr/>
        </p:nvGraphicFramePr>
        <p:xfrm>
          <a:off x="1691680" y="1563638"/>
          <a:ext cx="1944216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7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4" name="표 23"/>
          <p:cNvGraphicFramePr>
            <a:graphicFrameLocks noGrp="1"/>
          </p:cNvGraphicFramePr>
          <p:nvPr/>
        </p:nvGraphicFramePr>
        <p:xfrm>
          <a:off x="4644009" y="1563638"/>
          <a:ext cx="2952327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4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4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/>
                        <a:t>ID (PK)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Fruit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State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1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Orange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2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3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Peach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SC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4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Grape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5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Lemon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FL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6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Apple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NC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7</a:t>
                      </a:r>
                      <a:endParaRPr lang="ko-KR" altLang="en-US" sz="14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Oragne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CA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5" name="직선 화살표 연결선 4"/>
          <p:cNvCxnSpPr/>
          <p:nvPr/>
        </p:nvCxnSpPr>
        <p:spPr>
          <a:xfrm>
            <a:off x="3635896" y="1995686"/>
            <a:ext cx="1008112" cy="93610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>
            <a:off x="3637533" y="2317750"/>
            <a:ext cx="1006475" cy="1550144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 flipV="1">
            <a:off x="3637533" y="1995686"/>
            <a:ext cx="1006475" cy="6480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/>
          <p:nvPr/>
        </p:nvCxnSpPr>
        <p:spPr>
          <a:xfrm>
            <a:off x="3637533" y="2931790"/>
            <a:ext cx="1006475" cy="3162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/>
          <p:nvPr/>
        </p:nvCxnSpPr>
        <p:spPr>
          <a:xfrm flipV="1">
            <a:off x="3635896" y="2319722"/>
            <a:ext cx="1008112" cy="92830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/>
          <p:nvPr/>
        </p:nvCxnSpPr>
        <p:spPr>
          <a:xfrm flipV="1">
            <a:off x="3635896" y="3555484"/>
            <a:ext cx="1008112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/>
          <p:nvPr/>
        </p:nvCxnSpPr>
        <p:spPr>
          <a:xfrm flipV="1">
            <a:off x="3635896" y="2643758"/>
            <a:ext cx="1008112" cy="121727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948136" y="1255861"/>
            <a:ext cx="1399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/>
              <a:t>State Index</a:t>
            </a:r>
            <a:endParaRPr lang="ko-KR" alt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79640" y="1255861"/>
            <a:ext cx="1912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/>
              <a:t>Fruit_Info</a:t>
            </a:r>
            <a:r>
              <a:rPr lang="en-US" altLang="ko-KR" sz="1400" dirty="0"/>
              <a:t> Table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63630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44514</TotalTime>
  <Words>973</Words>
  <Application>Microsoft Macintosh PowerPoint</Application>
  <PresentationFormat>화면 슬라이드 쇼(16:9)</PresentationFormat>
  <Paragraphs>722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Dataset</vt:lpstr>
      <vt:lpstr>Inner Join</vt:lpstr>
      <vt:lpstr>Outer Join / Left</vt:lpstr>
      <vt:lpstr>Outer Join / Right</vt:lpstr>
      <vt:lpstr>Outer Join / Full</vt:lpstr>
      <vt:lpstr>Cross Join</vt:lpstr>
      <vt:lpstr>PowerPoint 프레젠테이션</vt:lpstr>
      <vt:lpstr>Dataset</vt:lpstr>
      <vt:lpstr>Algorithm</vt:lpstr>
      <vt:lpstr>Algorithm</vt:lpstr>
      <vt:lpstr>PowerPoint 프레젠테이션</vt:lpstr>
      <vt:lpstr>PowerPoint 프레젠테이션</vt:lpstr>
      <vt:lpstr>Algorithm</vt:lpstr>
      <vt:lpstr>Algorithm</vt:lpstr>
      <vt:lpstr>Database Indexing</vt:lpstr>
      <vt:lpstr>Clustered Index, Non-clustered Index</vt:lpstr>
      <vt:lpstr>Clustered Index, Non-clustered Index</vt:lpstr>
      <vt:lpstr>Clustered Index, Non-clustered Index</vt:lpstr>
      <vt:lpstr>Database Indexing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5757</cp:revision>
  <dcterms:created xsi:type="dcterms:W3CDTF">2006-10-05T04:04:58Z</dcterms:created>
  <dcterms:modified xsi:type="dcterms:W3CDTF">2026-05-31T13:55:45Z</dcterms:modified>
</cp:coreProperties>
</file>