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402" r:id="rId2"/>
    <p:sldId id="387" r:id="rId3"/>
    <p:sldId id="401" r:id="rId4"/>
    <p:sldId id="400" r:id="rId5"/>
    <p:sldId id="396" r:id="rId6"/>
    <p:sldId id="399" r:id="rId7"/>
    <p:sldId id="398" r:id="rId8"/>
    <p:sldId id="397" r:id="rId9"/>
    <p:sldId id="395" r:id="rId10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87" autoAdjust="0"/>
    <p:restoredTop sz="81275" autoAdjust="0"/>
  </p:normalViewPr>
  <p:slideViewPr>
    <p:cSldViewPr>
      <p:cViewPr>
        <p:scale>
          <a:sx n="200" d="100"/>
          <a:sy n="200" d="100"/>
        </p:scale>
        <p:origin x="776" y="176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2026. 8. 15.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2026. 8. 15.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2026. 8. 15.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2026. 8. 15.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2026. 8. 15.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2026. 8. 15.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2026. 8. 15.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2026. 8. 15.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2026. 8. 15.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2026. 8. 15.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2026. 8. 15.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2026. 8. 15.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2026. 8. 15.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5E556-1C04-1D38-BBA3-FF68C9BE4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5BA72D85-D5E0-B011-8F5E-431D1423645D}"/>
              </a:ext>
            </a:extLst>
          </p:cNvPr>
          <p:cNvSpPr/>
          <p:nvPr/>
        </p:nvSpPr>
        <p:spPr>
          <a:xfrm>
            <a:off x="5016111" y="4796344"/>
            <a:ext cx="1187710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kubelet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ECF34187-8F68-4240-A940-4B96BA49C861}"/>
              </a:ext>
            </a:extLst>
          </p:cNvPr>
          <p:cNvSpPr/>
          <p:nvPr/>
        </p:nvSpPr>
        <p:spPr>
          <a:xfrm>
            <a:off x="909979" y="744556"/>
            <a:ext cx="5863887" cy="3859606"/>
          </a:xfrm>
          <a:prstGeom prst="roundRect">
            <a:avLst>
              <a:gd name="adj" fmla="val 1803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App</a:t>
            </a:r>
            <a:r>
              <a:rPr kumimoji="1" lang="en-US" altLang="ko-KR" sz="800">
                <a:solidFill>
                  <a:schemeClr val="tx1"/>
                </a:solidFill>
              </a:rPr>
              <a:t> Pod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CF55B89-F42C-82B2-0167-8E4A3272881B}"/>
              </a:ext>
            </a:extLst>
          </p:cNvPr>
          <p:cNvSpPr/>
          <p:nvPr/>
        </p:nvSpPr>
        <p:spPr>
          <a:xfrm>
            <a:off x="981987" y="982470"/>
            <a:ext cx="1188132" cy="1721782"/>
          </a:xfrm>
          <a:prstGeom prst="roundRect">
            <a:avLst>
              <a:gd name="adj" fmla="val 6355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App</a:t>
            </a:r>
            <a:r>
              <a:rPr kumimoji="1" lang="en-US" altLang="ko-KR" sz="800">
                <a:solidFill>
                  <a:schemeClr val="tx1"/>
                </a:solidFill>
              </a:rPr>
              <a:t> Container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9EFADAC8-A271-E5CE-F95E-A4B8A6A0DF0A}"/>
              </a:ext>
            </a:extLst>
          </p:cNvPr>
          <p:cNvSpPr/>
          <p:nvPr/>
        </p:nvSpPr>
        <p:spPr>
          <a:xfrm>
            <a:off x="2566162" y="816259"/>
            <a:ext cx="4140012" cy="3704026"/>
          </a:xfrm>
          <a:prstGeom prst="roundRect">
            <a:avLst>
              <a:gd name="adj" fmla="val 1768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800" b="1">
                <a:solidFill>
                  <a:schemeClr val="tx1"/>
                </a:solidFill>
              </a:rPr>
              <a:t>istio-proxy</a:t>
            </a:r>
            <a:r>
              <a:rPr kumimoji="1" lang="en-US" altLang="ko-KR" sz="800">
                <a:solidFill>
                  <a:schemeClr val="tx1"/>
                </a:solidFill>
              </a:rPr>
              <a:t> Container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917BF33F-E8B0-5A6A-B831-5646CE1FD134}"/>
              </a:ext>
            </a:extLst>
          </p:cNvPr>
          <p:cNvSpPr/>
          <p:nvPr/>
        </p:nvSpPr>
        <p:spPr>
          <a:xfrm>
            <a:off x="2638170" y="1082843"/>
            <a:ext cx="3995995" cy="1622670"/>
          </a:xfrm>
          <a:prstGeom prst="roundRect">
            <a:avLst>
              <a:gd name="adj" fmla="val 3705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800" b="1">
                <a:solidFill>
                  <a:schemeClr val="tx1"/>
                </a:solidFill>
              </a:rPr>
              <a:t>pilot-agent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016EC41A-6112-9F0A-6910-78B7941E4F5E}"/>
              </a:ext>
            </a:extLst>
          </p:cNvPr>
          <p:cNvSpPr/>
          <p:nvPr/>
        </p:nvSpPr>
        <p:spPr>
          <a:xfrm>
            <a:off x="2710176" y="1517827"/>
            <a:ext cx="1866204" cy="250727"/>
          </a:xfrm>
          <a:prstGeom prst="roundRect">
            <a:avLst>
              <a:gd name="adj" fmla="val 177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:15053</a:t>
            </a:r>
            <a:r>
              <a:rPr kumimoji="1" lang="en-US" altLang="ko-KR" sz="800">
                <a:solidFill>
                  <a:schemeClr val="tx1"/>
                </a:solidFill>
              </a:rPr>
              <a:t> DNS (DNS Capture)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D5ECFD04-598A-A5AB-4539-D5453EA0C868}"/>
              </a:ext>
            </a:extLst>
          </p:cNvPr>
          <p:cNvSpPr/>
          <p:nvPr/>
        </p:nvSpPr>
        <p:spPr>
          <a:xfrm>
            <a:off x="2710178" y="2212368"/>
            <a:ext cx="1869694" cy="414468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unix:///etc/istio/proxy/XDS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Listener, Router, Cluster, Endpoint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Configs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5D5D4A66-66A3-8C36-1B21-F8C7786D00EF}"/>
              </a:ext>
            </a:extLst>
          </p:cNvPr>
          <p:cNvSpPr/>
          <p:nvPr/>
        </p:nvSpPr>
        <p:spPr>
          <a:xfrm>
            <a:off x="2638170" y="3003798"/>
            <a:ext cx="3995995" cy="1434313"/>
          </a:xfrm>
          <a:prstGeom prst="roundRect">
            <a:avLst>
              <a:gd name="adj" fmla="val 5484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Envoy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0E3E3A2C-98B2-CDE5-4EA4-400E508313FD}"/>
              </a:ext>
            </a:extLst>
          </p:cNvPr>
          <p:cNvSpPr/>
          <p:nvPr/>
        </p:nvSpPr>
        <p:spPr>
          <a:xfrm>
            <a:off x="4595279" y="51904"/>
            <a:ext cx="1704914" cy="369432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istiod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01CB773F-7470-ADB1-073E-C6261FCCD0F9}"/>
              </a:ext>
            </a:extLst>
          </p:cNvPr>
          <p:cNvSpPr/>
          <p:nvPr/>
        </p:nvSpPr>
        <p:spPr>
          <a:xfrm>
            <a:off x="1053995" y="1238769"/>
            <a:ext cx="104411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:8080 /metrics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A1D989A8-3798-8608-B3CE-F5B83137BF09}"/>
              </a:ext>
            </a:extLst>
          </p:cNvPr>
          <p:cNvSpPr/>
          <p:nvPr/>
        </p:nvSpPr>
        <p:spPr>
          <a:xfrm>
            <a:off x="1053995" y="1562665"/>
            <a:ext cx="104411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:8080 /livez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05B0C56D-80AA-1D2A-1148-7B5666E37263}"/>
              </a:ext>
            </a:extLst>
          </p:cNvPr>
          <p:cNvSpPr/>
          <p:nvPr/>
        </p:nvSpPr>
        <p:spPr>
          <a:xfrm>
            <a:off x="2710177" y="1871811"/>
            <a:ext cx="1866203" cy="250727"/>
          </a:xfrm>
          <a:prstGeom prst="roundRect">
            <a:avLst>
              <a:gd name="adj" fmla="val 177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:15020 </a:t>
            </a:r>
            <a:r>
              <a:rPr kumimoji="1" lang="en-US" altLang="ko-KR" sz="800">
                <a:solidFill>
                  <a:schemeClr val="tx1"/>
                </a:solidFill>
              </a:rPr>
              <a:t>/healthz/ready 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E02BE28E-D9BF-4BB7-5888-FC4AE13DECBD}"/>
              </a:ext>
            </a:extLst>
          </p:cNvPr>
          <p:cNvSpPr/>
          <p:nvPr/>
        </p:nvSpPr>
        <p:spPr>
          <a:xfrm>
            <a:off x="2710176" y="1168225"/>
            <a:ext cx="1866204" cy="250727"/>
          </a:xfrm>
          <a:prstGeom prst="roundRect">
            <a:avLst>
              <a:gd name="adj" fmla="val 177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:15020</a:t>
            </a:r>
            <a:r>
              <a:rPr kumimoji="1" lang="en-US" altLang="ko-KR" sz="800">
                <a:solidFill>
                  <a:schemeClr val="tx1"/>
                </a:solidFill>
              </a:rPr>
              <a:t> /stats/prometheus</a:t>
            </a: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694041D5-E29B-1EF9-1E4E-57BE445C6E50}"/>
              </a:ext>
            </a:extLst>
          </p:cNvPr>
          <p:cNvSpPr/>
          <p:nvPr/>
        </p:nvSpPr>
        <p:spPr>
          <a:xfrm>
            <a:off x="5093824" y="108160"/>
            <a:ext cx="1134360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:15012 </a:t>
            </a:r>
            <a:r>
              <a:rPr kumimoji="1" lang="en-US" altLang="ko-KR" sz="800">
                <a:solidFill>
                  <a:schemeClr val="tx1"/>
                </a:solidFill>
              </a:rPr>
              <a:t>xDS Server</a:t>
            </a: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ED0B46F1-635E-4BC9-8721-0E36161938AA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5447736" y="421336"/>
            <a:ext cx="0" cy="661507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496B9A9A-4864-C740-508A-7AADCCF8E729}"/>
              </a:ext>
            </a:extLst>
          </p:cNvPr>
          <p:cNvSpPr/>
          <p:nvPr/>
        </p:nvSpPr>
        <p:spPr>
          <a:xfrm>
            <a:off x="4675121" y="2212368"/>
            <a:ext cx="1869694" cy="414468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unix:///var/run/secrets/workload-spiffe-uds/socket</a:t>
            </a:r>
            <a:r>
              <a:rPr kumimoji="1" lang="en-US" altLang="ko-KR" sz="800">
                <a:solidFill>
                  <a:schemeClr val="tx1"/>
                </a:solidFill>
              </a:rPr>
              <a:t> 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Certificates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70911EB5-25F5-3E1D-B1A5-E81C344964C3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>
            <a:off x="4636168" y="2705513"/>
            <a:ext cx="0" cy="29828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모서리가 둥근 직사각형 69">
            <a:extLst>
              <a:ext uri="{FF2B5EF4-FFF2-40B4-BE49-F238E27FC236}">
                <a16:creationId xmlns:a16="http://schemas.microsoft.com/office/drawing/2014/main" id="{685A9093-8046-EBB9-EF3D-7CF3600E0FC7}"/>
              </a:ext>
            </a:extLst>
          </p:cNvPr>
          <p:cNvSpPr/>
          <p:nvPr/>
        </p:nvSpPr>
        <p:spPr>
          <a:xfrm>
            <a:off x="4636168" y="2756716"/>
            <a:ext cx="863630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tx1"/>
                </a:solidFill>
              </a:rPr>
              <a:t>Exec Envoy</a:t>
            </a:r>
            <a:endParaRPr kumimoji="1" lang="ko-KR" altLang="en-US" sz="800" i="1">
              <a:solidFill>
                <a:schemeClr val="tx1"/>
              </a:solidFill>
            </a:endParaRPr>
          </a:p>
        </p:txBody>
      </p:sp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9DEAFBF3-72C2-DF50-F8C5-3123162BA0E1}"/>
              </a:ext>
            </a:extLst>
          </p:cNvPr>
          <p:cNvSpPr/>
          <p:nvPr/>
        </p:nvSpPr>
        <p:spPr>
          <a:xfrm>
            <a:off x="2710178" y="3276761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:15001</a:t>
            </a:r>
            <a:r>
              <a:rPr kumimoji="1" lang="en-US" altLang="ko-KR" sz="800">
                <a:solidFill>
                  <a:schemeClr val="tx1"/>
                </a:solidFill>
              </a:rPr>
              <a:t> Outbound Traffic</a:t>
            </a:r>
          </a:p>
        </p:txBody>
      </p:sp>
      <p:sp>
        <p:nvSpPr>
          <p:cNvPr id="80" name="모서리가 둥근 직사각형 79">
            <a:extLst>
              <a:ext uri="{FF2B5EF4-FFF2-40B4-BE49-F238E27FC236}">
                <a16:creationId xmlns:a16="http://schemas.microsoft.com/office/drawing/2014/main" id="{EAE68768-D067-53C1-1365-E392BD3921BF}"/>
              </a:ext>
            </a:extLst>
          </p:cNvPr>
          <p:cNvSpPr/>
          <p:nvPr/>
        </p:nvSpPr>
        <p:spPr>
          <a:xfrm>
            <a:off x="2710178" y="3679260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:15006</a:t>
            </a:r>
            <a:r>
              <a:rPr kumimoji="1" lang="en-US" altLang="ko-KR" sz="800">
                <a:solidFill>
                  <a:schemeClr val="tx1"/>
                </a:solidFill>
              </a:rPr>
              <a:t> Inbound Traffic</a:t>
            </a:r>
          </a:p>
        </p:txBody>
      </p:sp>
      <p:sp>
        <p:nvSpPr>
          <p:cNvPr id="88" name="모서리가 둥근 직사각형 87">
            <a:extLst>
              <a:ext uri="{FF2B5EF4-FFF2-40B4-BE49-F238E27FC236}">
                <a16:creationId xmlns:a16="http://schemas.microsoft.com/office/drawing/2014/main" id="{A2895A6D-700E-F3D9-59B1-87572AD9C5A6}"/>
              </a:ext>
            </a:extLst>
          </p:cNvPr>
          <p:cNvSpPr/>
          <p:nvPr/>
        </p:nvSpPr>
        <p:spPr>
          <a:xfrm>
            <a:off x="4675121" y="3276761"/>
            <a:ext cx="1869692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:15090</a:t>
            </a:r>
            <a:r>
              <a:rPr kumimoji="1" lang="en-US" altLang="ko-KR" sz="800">
                <a:solidFill>
                  <a:schemeClr val="tx1"/>
                </a:solidFill>
              </a:rPr>
              <a:t> /stats/prometheus</a:t>
            </a:r>
          </a:p>
        </p:txBody>
      </p:sp>
      <p:sp>
        <p:nvSpPr>
          <p:cNvPr id="90" name="모서리가 둥근 직사각형 89">
            <a:extLst>
              <a:ext uri="{FF2B5EF4-FFF2-40B4-BE49-F238E27FC236}">
                <a16:creationId xmlns:a16="http://schemas.microsoft.com/office/drawing/2014/main" id="{7CA88AF8-2840-124B-C65E-C235973F1DF3}"/>
              </a:ext>
            </a:extLst>
          </p:cNvPr>
          <p:cNvSpPr/>
          <p:nvPr/>
        </p:nvSpPr>
        <p:spPr>
          <a:xfrm>
            <a:off x="4675120" y="3679260"/>
            <a:ext cx="1869693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:15021</a:t>
            </a:r>
            <a:r>
              <a:rPr kumimoji="1" lang="en-US" altLang="ko-KR" sz="800">
                <a:solidFill>
                  <a:schemeClr val="tx1"/>
                </a:solidFill>
              </a:rPr>
              <a:t> /healthz/ready</a:t>
            </a:r>
          </a:p>
        </p:txBody>
      </p:sp>
      <p:sp>
        <p:nvSpPr>
          <p:cNvPr id="101" name="모서리가 둥근 직사각형 100">
            <a:extLst>
              <a:ext uri="{FF2B5EF4-FFF2-40B4-BE49-F238E27FC236}">
                <a16:creationId xmlns:a16="http://schemas.microsoft.com/office/drawing/2014/main" id="{7F47BA31-26A5-4A0D-2C91-B5533CAAB15E}"/>
              </a:ext>
            </a:extLst>
          </p:cNvPr>
          <p:cNvSpPr/>
          <p:nvPr/>
        </p:nvSpPr>
        <p:spPr>
          <a:xfrm>
            <a:off x="2710178" y="4080927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:15000</a:t>
            </a:r>
            <a:r>
              <a:rPr kumimoji="1" lang="en-US" altLang="ko-KR" sz="800">
                <a:solidFill>
                  <a:schemeClr val="tx1"/>
                </a:solidFill>
              </a:rPr>
              <a:t> Admin</a:t>
            </a:r>
          </a:p>
        </p:txBody>
      </p:sp>
      <p:sp>
        <p:nvSpPr>
          <p:cNvPr id="154" name="모서리가 둥근 직사각형 153">
            <a:extLst>
              <a:ext uri="{FF2B5EF4-FFF2-40B4-BE49-F238E27FC236}">
                <a16:creationId xmlns:a16="http://schemas.microsoft.com/office/drawing/2014/main" id="{B60D1B73-3929-BCF2-E616-CDB73A03EC9F}"/>
              </a:ext>
            </a:extLst>
          </p:cNvPr>
          <p:cNvSpPr/>
          <p:nvPr/>
        </p:nvSpPr>
        <p:spPr>
          <a:xfrm>
            <a:off x="4018844" y="515689"/>
            <a:ext cx="1149807" cy="129999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rgbClr val="002060"/>
                </a:solidFill>
              </a:rPr>
              <a:t>Scrape</a:t>
            </a:r>
          </a:p>
          <a:p>
            <a:r>
              <a:rPr kumimoji="1" lang="en-US" altLang="ko-KR" sz="800" i="1">
                <a:solidFill>
                  <a:srgbClr val="002060"/>
                </a:solidFill>
              </a:rPr>
              <a:t>Envoy</a:t>
            </a:r>
            <a:r>
              <a:rPr kumimoji="1" lang="en-US" altLang="ko-KR" sz="800" i="1">
                <a:solidFill>
                  <a:schemeClr val="accent1"/>
                </a:solidFill>
              </a:rPr>
              <a:t>&amp;App</a:t>
            </a:r>
            <a:r>
              <a:rPr kumimoji="1" lang="en-US" altLang="ko-KR" sz="800" i="1">
                <a:solidFill>
                  <a:srgbClr val="002060"/>
                </a:solidFill>
              </a:rPr>
              <a:t> Metrics</a:t>
            </a:r>
            <a:endParaRPr kumimoji="1" lang="ko-KR" altLang="en-US" sz="800" i="1">
              <a:solidFill>
                <a:srgbClr val="002060"/>
              </a:solidFill>
            </a:endParaRPr>
          </a:p>
        </p:txBody>
      </p: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C2B825A3-DAB6-A576-3A8F-B2244351689D}"/>
              </a:ext>
            </a:extLst>
          </p:cNvPr>
          <p:cNvCxnSpPr>
            <a:cxnSpLocks/>
          </p:cNvCxnSpPr>
          <p:nvPr/>
        </p:nvCxnSpPr>
        <p:spPr>
          <a:xfrm flipV="1">
            <a:off x="5227525" y="3929987"/>
            <a:ext cx="1" cy="86635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모서리가 둥근 직사각형 163">
            <a:extLst>
              <a:ext uri="{FF2B5EF4-FFF2-40B4-BE49-F238E27FC236}">
                <a16:creationId xmlns:a16="http://schemas.microsoft.com/office/drawing/2014/main" id="{D62889DD-0E40-6C07-0811-6DA7B261BFB7}"/>
              </a:ext>
            </a:extLst>
          </p:cNvPr>
          <p:cNvSpPr/>
          <p:nvPr/>
        </p:nvSpPr>
        <p:spPr>
          <a:xfrm>
            <a:off x="5168653" y="4596705"/>
            <a:ext cx="863630" cy="190936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rgbClr val="C00000"/>
                </a:solidFill>
              </a:rPr>
              <a:t>Envoy Probe</a:t>
            </a:r>
            <a:endParaRPr kumimoji="1" lang="ko-KR" altLang="en-US" sz="800" i="1">
              <a:solidFill>
                <a:srgbClr val="C00000"/>
              </a:solidFill>
            </a:endParaRPr>
          </a:p>
        </p:txBody>
      </p:sp>
      <p:sp>
        <p:nvSpPr>
          <p:cNvPr id="167" name="모서리가 둥근 직사각형 166">
            <a:extLst>
              <a:ext uri="{FF2B5EF4-FFF2-40B4-BE49-F238E27FC236}">
                <a16:creationId xmlns:a16="http://schemas.microsoft.com/office/drawing/2014/main" id="{ADFF7D77-FDDB-8744-F19B-AE10A441331A}"/>
              </a:ext>
            </a:extLst>
          </p:cNvPr>
          <p:cNvSpPr/>
          <p:nvPr/>
        </p:nvSpPr>
        <p:spPr>
          <a:xfrm>
            <a:off x="5421482" y="479663"/>
            <a:ext cx="2425365" cy="195598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5"/>
                </a:solidFill>
              </a:rPr>
              <a:t>LDS, RDS, CDS, EDS, SDS,</a:t>
            </a:r>
            <a:br>
              <a:rPr kumimoji="1" lang="en-US" altLang="ko-KR" sz="800" i="1">
                <a:solidFill>
                  <a:schemeClr val="accent5"/>
                </a:solidFill>
              </a:rPr>
            </a:br>
            <a:r>
              <a:rPr kumimoji="1" lang="en-US" altLang="ko-KR" sz="800" i="1">
                <a:solidFill>
                  <a:schemeClr val="accent5"/>
                </a:solidFill>
              </a:rPr>
              <a:t>NDS, ECDS via ADS</a:t>
            </a:r>
            <a:endParaRPr kumimoji="1" lang="ko-KR" altLang="en-US" sz="800" i="1">
              <a:solidFill>
                <a:schemeClr val="accent5"/>
              </a:solidFill>
            </a:endParaRPr>
          </a:p>
        </p:txBody>
      </p: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56C695DD-68E7-D917-038B-83853E9C78E2}"/>
              </a:ext>
            </a:extLst>
          </p:cNvPr>
          <p:cNvCxnSpPr>
            <a:cxnSpLocks/>
          </p:cNvCxnSpPr>
          <p:nvPr/>
        </p:nvCxnSpPr>
        <p:spPr>
          <a:xfrm>
            <a:off x="2982410" y="2626836"/>
            <a:ext cx="0" cy="376962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모서리가 둥근 직사각형 170">
            <a:extLst>
              <a:ext uri="{FF2B5EF4-FFF2-40B4-BE49-F238E27FC236}">
                <a16:creationId xmlns:a16="http://schemas.microsoft.com/office/drawing/2014/main" id="{0B6D578D-D822-277D-B672-482E174D33A5}"/>
              </a:ext>
            </a:extLst>
          </p:cNvPr>
          <p:cNvSpPr/>
          <p:nvPr/>
        </p:nvSpPr>
        <p:spPr>
          <a:xfrm>
            <a:off x="2953929" y="2756326"/>
            <a:ext cx="1222480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5"/>
                </a:solidFill>
              </a:rPr>
              <a:t>LDS, RDS, CDS, </a:t>
            </a:r>
            <a:br>
              <a:rPr kumimoji="1" lang="en-US" altLang="ko-KR" sz="800" i="1">
                <a:solidFill>
                  <a:schemeClr val="accent5"/>
                </a:solidFill>
              </a:rPr>
            </a:br>
            <a:r>
              <a:rPr kumimoji="1" lang="en-US" altLang="ko-KR" sz="800" i="1">
                <a:solidFill>
                  <a:schemeClr val="accent5"/>
                </a:solidFill>
              </a:rPr>
              <a:t>EDS, ECDS via ADS</a:t>
            </a:r>
            <a:endParaRPr kumimoji="1" lang="ko-KR" altLang="en-US" sz="800" i="1">
              <a:solidFill>
                <a:schemeClr val="accent5"/>
              </a:solidFill>
            </a:endParaRPr>
          </a:p>
        </p:txBody>
      </p:sp>
      <p:sp>
        <p:nvSpPr>
          <p:cNvPr id="187" name="모서리가 둥근 직사각형 186">
            <a:extLst>
              <a:ext uri="{FF2B5EF4-FFF2-40B4-BE49-F238E27FC236}">
                <a16:creationId xmlns:a16="http://schemas.microsoft.com/office/drawing/2014/main" id="{0A343F97-8929-530C-BFD5-5333635E04A0}"/>
              </a:ext>
            </a:extLst>
          </p:cNvPr>
          <p:cNvSpPr/>
          <p:nvPr/>
        </p:nvSpPr>
        <p:spPr>
          <a:xfrm>
            <a:off x="2988685" y="135905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Prometheus Server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35CFE7F7-376A-97B4-C2FE-83BBBAE3388D}"/>
              </a:ext>
            </a:extLst>
          </p:cNvPr>
          <p:cNvCxnSpPr>
            <a:cxnSpLocks/>
          </p:cNvCxnSpPr>
          <p:nvPr/>
        </p:nvCxnSpPr>
        <p:spPr>
          <a:xfrm>
            <a:off x="4063439" y="421335"/>
            <a:ext cx="0" cy="74689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화살표 연결선 258">
            <a:extLst>
              <a:ext uri="{FF2B5EF4-FFF2-40B4-BE49-F238E27FC236}">
                <a16:creationId xmlns:a16="http://schemas.microsoft.com/office/drawing/2014/main" id="{1CE1F1D4-D9D9-AD3F-55C3-207C35805BD6}"/>
              </a:ext>
            </a:extLst>
          </p:cNvPr>
          <p:cNvCxnSpPr>
            <a:cxnSpLocks/>
            <a:stCxn id="51" idx="2"/>
          </p:cNvCxnSpPr>
          <p:nvPr/>
        </p:nvCxnSpPr>
        <p:spPr>
          <a:xfrm flipH="1">
            <a:off x="5609966" y="2626836"/>
            <a:ext cx="2" cy="376962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모서리가 둥근 직사각형 260">
            <a:extLst>
              <a:ext uri="{FF2B5EF4-FFF2-40B4-BE49-F238E27FC236}">
                <a16:creationId xmlns:a16="http://schemas.microsoft.com/office/drawing/2014/main" id="{79C0B911-B00D-4AB8-5191-4657091AF808}"/>
              </a:ext>
            </a:extLst>
          </p:cNvPr>
          <p:cNvSpPr/>
          <p:nvPr/>
        </p:nvSpPr>
        <p:spPr>
          <a:xfrm>
            <a:off x="5586023" y="2756716"/>
            <a:ext cx="446260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5"/>
                </a:solidFill>
              </a:rPr>
              <a:t>SDS</a:t>
            </a:r>
            <a:endParaRPr kumimoji="1" lang="ko-KR" altLang="en-US" sz="800" i="1">
              <a:solidFill>
                <a:schemeClr val="accent5"/>
              </a:solidFill>
            </a:endParaRPr>
          </a:p>
        </p:txBody>
      </p:sp>
      <p:sp>
        <p:nvSpPr>
          <p:cNvPr id="264" name="모서리가 둥근 직사각형 263">
            <a:extLst>
              <a:ext uri="{FF2B5EF4-FFF2-40B4-BE49-F238E27FC236}">
                <a16:creationId xmlns:a16="http://schemas.microsoft.com/office/drawing/2014/main" id="{D5D5460F-DF33-5133-611E-232C2192BA0C}"/>
              </a:ext>
            </a:extLst>
          </p:cNvPr>
          <p:cNvSpPr/>
          <p:nvPr/>
        </p:nvSpPr>
        <p:spPr>
          <a:xfrm>
            <a:off x="986188" y="3274839"/>
            <a:ext cx="1183931" cy="655143"/>
          </a:xfrm>
          <a:prstGeom prst="roundRect">
            <a:avLst>
              <a:gd name="adj" fmla="val 5720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iptables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40679617-E747-0B8D-88D5-6E641C551242}"/>
              </a:ext>
            </a:extLst>
          </p:cNvPr>
          <p:cNvCxnSpPr>
            <a:cxnSpLocks/>
          </p:cNvCxnSpPr>
          <p:nvPr/>
        </p:nvCxnSpPr>
        <p:spPr>
          <a:xfrm>
            <a:off x="1195865" y="2704251"/>
            <a:ext cx="0" cy="570588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화살표 연결선 272">
            <a:extLst>
              <a:ext uri="{FF2B5EF4-FFF2-40B4-BE49-F238E27FC236}">
                <a16:creationId xmlns:a16="http://schemas.microsoft.com/office/drawing/2014/main" id="{48D27B7E-9251-5299-2994-385B4593BCB5}"/>
              </a:ext>
            </a:extLst>
          </p:cNvPr>
          <p:cNvCxnSpPr>
            <a:cxnSpLocks/>
            <a:endCxn id="75" idx="1"/>
          </p:cNvCxnSpPr>
          <p:nvPr/>
        </p:nvCxnSpPr>
        <p:spPr>
          <a:xfrm>
            <a:off x="2169697" y="3402125"/>
            <a:ext cx="540481" cy="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화살표 연결선 276">
            <a:extLst>
              <a:ext uri="{FF2B5EF4-FFF2-40B4-BE49-F238E27FC236}">
                <a16:creationId xmlns:a16="http://schemas.microsoft.com/office/drawing/2014/main" id="{C79D413B-A05A-C11F-2CA4-73C9C86DBABD}"/>
              </a:ext>
            </a:extLst>
          </p:cNvPr>
          <p:cNvCxnSpPr>
            <a:cxnSpLocks/>
          </p:cNvCxnSpPr>
          <p:nvPr/>
        </p:nvCxnSpPr>
        <p:spPr>
          <a:xfrm flipH="1">
            <a:off x="2169697" y="3509457"/>
            <a:ext cx="468473" cy="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모서리가 둥근 직사각형 280">
            <a:extLst>
              <a:ext uri="{FF2B5EF4-FFF2-40B4-BE49-F238E27FC236}">
                <a16:creationId xmlns:a16="http://schemas.microsoft.com/office/drawing/2014/main" id="{0D3330B7-DD07-EA3D-81C7-D716CDA7AB0D}"/>
              </a:ext>
            </a:extLst>
          </p:cNvPr>
          <p:cNvSpPr/>
          <p:nvPr/>
        </p:nvSpPr>
        <p:spPr>
          <a:xfrm>
            <a:off x="3044888" y="4805988"/>
            <a:ext cx="1187710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istioctl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cxnSp>
        <p:nvCxnSpPr>
          <p:cNvPr id="283" name="직선 화살표 연결선 282">
            <a:extLst>
              <a:ext uri="{FF2B5EF4-FFF2-40B4-BE49-F238E27FC236}">
                <a16:creationId xmlns:a16="http://schemas.microsoft.com/office/drawing/2014/main" id="{C03619B6-3122-A8A1-69D2-223C616FC0C1}"/>
              </a:ext>
            </a:extLst>
          </p:cNvPr>
          <p:cNvCxnSpPr>
            <a:cxnSpLocks/>
            <a:stCxn id="281" idx="0"/>
            <a:endCxn id="101" idx="2"/>
          </p:cNvCxnSpPr>
          <p:nvPr/>
        </p:nvCxnSpPr>
        <p:spPr>
          <a:xfrm flipV="1">
            <a:off x="3638743" y="4331654"/>
            <a:ext cx="1" cy="47433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모서리가 둥근 직사각형 288">
            <a:extLst>
              <a:ext uri="{FF2B5EF4-FFF2-40B4-BE49-F238E27FC236}">
                <a16:creationId xmlns:a16="http://schemas.microsoft.com/office/drawing/2014/main" id="{4B4CAB66-C2B3-02DC-56BF-1AD31EC3713E}"/>
              </a:ext>
            </a:extLst>
          </p:cNvPr>
          <p:cNvSpPr/>
          <p:nvPr/>
        </p:nvSpPr>
        <p:spPr>
          <a:xfrm>
            <a:off x="981987" y="4796344"/>
            <a:ext cx="1187710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App </a:t>
            </a:r>
            <a:r>
              <a:rPr kumimoji="1" lang="en-US" altLang="ko-KR" sz="800">
                <a:solidFill>
                  <a:schemeClr val="tx1"/>
                </a:solidFill>
              </a:rPr>
              <a:t>Pod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92" name="직선 화살표 연결선 291">
            <a:extLst>
              <a:ext uri="{FF2B5EF4-FFF2-40B4-BE49-F238E27FC236}">
                <a16:creationId xmlns:a16="http://schemas.microsoft.com/office/drawing/2014/main" id="{B2CC7CA7-31C8-13EC-AABE-B1B6DD324561}"/>
              </a:ext>
            </a:extLst>
          </p:cNvPr>
          <p:cNvCxnSpPr>
            <a:cxnSpLocks/>
          </p:cNvCxnSpPr>
          <p:nvPr/>
        </p:nvCxnSpPr>
        <p:spPr>
          <a:xfrm>
            <a:off x="1111966" y="3929982"/>
            <a:ext cx="0" cy="865505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화살표 연결선 377">
            <a:extLst>
              <a:ext uri="{FF2B5EF4-FFF2-40B4-BE49-F238E27FC236}">
                <a16:creationId xmlns:a16="http://schemas.microsoft.com/office/drawing/2014/main" id="{7357640E-A420-5D36-DB3D-62D5C0F18A66}"/>
              </a:ext>
            </a:extLst>
          </p:cNvPr>
          <p:cNvCxnSpPr>
            <a:cxnSpLocks/>
          </p:cNvCxnSpPr>
          <p:nvPr/>
        </p:nvCxnSpPr>
        <p:spPr>
          <a:xfrm flipV="1">
            <a:off x="1195865" y="3929982"/>
            <a:ext cx="0" cy="865505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화살표 연결선 382">
            <a:extLst>
              <a:ext uri="{FF2B5EF4-FFF2-40B4-BE49-F238E27FC236}">
                <a16:creationId xmlns:a16="http://schemas.microsoft.com/office/drawing/2014/main" id="{C62D6F5F-0EB9-875C-34A4-C3F79FA914CE}"/>
              </a:ext>
            </a:extLst>
          </p:cNvPr>
          <p:cNvCxnSpPr>
            <a:cxnSpLocks/>
            <a:endCxn id="80" idx="1"/>
          </p:cNvCxnSpPr>
          <p:nvPr/>
        </p:nvCxnSpPr>
        <p:spPr>
          <a:xfrm>
            <a:off x="2165512" y="3804624"/>
            <a:ext cx="544666" cy="0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화살표 연결선 387">
            <a:extLst>
              <a:ext uri="{FF2B5EF4-FFF2-40B4-BE49-F238E27FC236}">
                <a16:creationId xmlns:a16="http://schemas.microsoft.com/office/drawing/2014/main" id="{9512027B-87A7-716D-27C6-23387FC62A68}"/>
              </a:ext>
            </a:extLst>
          </p:cNvPr>
          <p:cNvCxnSpPr>
            <a:cxnSpLocks/>
          </p:cNvCxnSpPr>
          <p:nvPr/>
        </p:nvCxnSpPr>
        <p:spPr>
          <a:xfrm flipH="1">
            <a:off x="2165512" y="3695796"/>
            <a:ext cx="472658" cy="1496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모서리가 둥근 직사각형 393">
            <a:extLst>
              <a:ext uri="{FF2B5EF4-FFF2-40B4-BE49-F238E27FC236}">
                <a16:creationId xmlns:a16="http://schemas.microsoft.com/office/drawing/2014/main" id="{F3D3AB22-C699-F2E7-A2CF-174EED7B98CA}"/>
              </a:ext>
            </a:extLst>
          </p:cNvPr>
          <p:cNvSpPr/>
          <p:nvPr/>
        </p:nvSpPr>
        <p:spPr>
          <a:xfrm>
            <a:off x="3598684" y="4599210"/>
            <a:ext cx="1284681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tx1"/>
                </a:solidFill>
              </a:rPr>
              <a:t>Access to Envoy Admin</a:t>
            </a:r>
            <a:endParaRPr kumimoji="1" lang="ko-KR" altLang="en-US" sz="800" i="1">
              <a:solidFill>
                <a:schemeClr val="tx1"/>
              </a:solidFill>
            </a:endParaRPr>
          </a:p>
        </p:txBody>
      </p:sp>
      <p:sp>
        <p:nvSpPr>
          <p:cNvPr id="397" name="모서리가 둥근 직사각형 396">
            <a:extLst>
              <a:ext uri="{FF2B5EF4-FFF2-40B4-BE49-F238E27FC236}">
                <a16:creationId xmlns:a16="http://schemas.microsoft.com/office/drawing/2014/main" id="{00322B8C-185F-4BD7-D2B1-ECE1E8F70A5E}"/>
              </a:ext>
            </a:extLst>
          </p:cNvPr>
          <p:cNvSpPr/>
          <p:nvPr/>
        </p:nvSpPr>
        <p:spPr>
          <a:xfrm>
            <a:off x="1503236" y="4233206"/>
            <a:ext cx="898605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istio-init</a:t>
            </a:r>
            <a:r>
              <a:rPr kumimoji="1" lang="en-US" altLang="ko-KR" sz="800">
                <a:solidFill>
                  <a:schemeClr val="tx1"/>
                </a:solidFill>
              </a:rPr>
              <a:t> Container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98" name="직선 화살표 연결선 397">
            <a:extLst>
              <a:ext uri="{FF2B5EF4-FFF2-40B4-BE49-F238E27FC236}">
                <a16:creationId xmlns:a16="http://schemas.microsoft.com/office/drawing/2014/main" id="{246D38FD-FEB8-B1CE-59E4-7938178C0663}"/>
              </a:ext>
            </a:extLst>
          </p:cNvPr>
          <p:cNvCxnSpPr>
            <a:cxnSpLocks/>
            <a:stCxn id="397" idx="0"/>
          </p:cNvCxnSpPr>
          <p:nvPr/>
        </p:nvCxnSpPr>
        <p:spPr>
          <a:xfrm flipV="1">
            <a:off x="1952539" y="3929982"/>
            <a:ext cx="0" cy="30322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3" name="모서리가 둥근 직사각형 402">
            <a:extLst>
              <a:ext uri="{FF2B5EF4-FFF2-40B4-BE49-F238E27FC236}">
                <a16:creationId xmlns:a16="http://schemas.microsoft.com/office/drawing/2014/main" id="{1777E8DF-3332-9D01-AA57-C6F08D8E3E55}"/>
              </a:ext>
            </a:extLst>
          </p:cNvPr>
          <p:cNvSpPr/>
          <p:nvPr/>
        </p:nvSpPr>
        <p:spPr>
          <a:xfrm>
            <a:off x="1902589" y="3996087"/>
            <a:ext cx="863630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tx1"/>
                </a:solidFill>
              </a:rPr>
              <a:t>Init iptables</a:t>
            </a:r>
            <a:endParaRPr kumimoji="1" lang="ko-KR" altLang="en-US" sz="800" i="1">
              <a:solidFill>
                <a:schemeClr val="tx1"/>
              </a:solidFill>
            </a:endParaRPr>
          </a:p>
        </p:txBody>
      </p:sp>
      <p:sp>
        <p:nvSpPr>
          <p:cNvPr id="404" name="모서리가 둥근 직사각형 403">
            <a:extLst>
              <a:ext uri="{FF2B5EF4-FFF2-40B4-BE49-F238E27FC236}">
                <a16:creationId xmlns:a16="http://schemas.microsoft.com/office/drawing/2014/main" id="{6439A78F-EDA2-4A46-A830-7EC29BE82A8A}"/>
              </a:ext>
            </a:extLst>
          </p:cNvPr>
          <p:cNvSpPr/>
          <p:nvPr/>
        </p:nvSpPr>
        <p:spPr>
          <a:xfrm>
            <a:off x="1149972" y="4596705"/>
            <a:ext cx="1012364" cy="190936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rgbClr val="FFC000"/>
                </a:solidFill>
              </a:rPr>
              <a:t>Inbound Traffic</a:t>
            </a:r>
            <a:endParaRPr kumimoji="1" lang="ko-KR" altLang="en-US" sz="800" i="1">
              <a:solidFill>
                <a:srgbClr val="FFC000"/>
              </a:solidFill>
            </a:endParaRPr>
          </a:p>
        </p:txBody>
      </p:sp>
      <p:sp>
        <p:nvSpPr>
          <p:cNvPr id="409" name="모서리가 둥근 직사각형 408">
            <a:extLst>
              <a:ext uri="{FF2B5EF4-FFF2-40B4-BE49-F238E27FC236}">
                <a16:creationId xmlns:a16="http://schemas.microsoft.com/office/drawing/2014/main" id="{6F724B23-B1F3-950D-7C73-A1CC17075186}"/>
              </a:ext>
            </a:extLst>
          </p:cNvPr>
          <p:cNvSpPr/>
          <p:nvPr/>
        </p:nvSpPr>
        <p:spPr>
          <a:xfrm>
            <a:off x="1144789" y="2863324"/>
            <a:ext cx="1012364" cy="246668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6"/>
                </a:solidFill>
              </a:rPr>
              <a:t>Outbound</a:t>
            </a:r>
          </a:p>
          <a:p>
            <a:r>
              <a:rPr kumimoji="1" lang="en-US" altLang="ko-KR" sz="800" i="1">
                <a:solidFill>
                  <a:schemeClr val="accent6"/>
                </a:solidFill>
              </a:rPr>
              <a:t>Traffic</a:t>
            </a:r>
            <a:endParaRPr kumimoji="1" lang="ko-KR" altLang="en-US" sz="800" i="1">
              <a:solidFill>
                <a:schemeClr val="accent6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0C379554-8DF5-656F-47B4-35BA3451D3FE}"/>
              </a:ext>
            </a:extLst>
          </p:cNvPr>
          <p:cNvSpPr/>
          <p:nvPr/>
        </p:nvSpPr>
        <p:spPr>
          <a:xfrm>
            <a:off x="1053995" y="1812555"/>
            <a:ext cx="104411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:8080 /readyz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F69CA918-7138-B846-2807-9FE83CE3ECA8}"/>
              </a:ext>
            </a:extLst>
          </p:cNvPr>
          <p:cNvSpPr/>
          <p:nvPr/>
        </p:nvSpPr>
        <p:spPr>
          <a:xfrm>
            <a:off x="1053995" y="2063153"/>
            <a:ext cx="104411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:8080 /startupz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F69060AE-23E6-5AAC-DF4D-E03A486A87B1}"/>
              </a:ext>
            </a:extLst>
          </p:cNvPr>
          <p:cNvSpPr/>
          <p:nvPr/>
        </p:nvSpPr>
        <p:spPr>
          <a:xfrm>
            <a:off x="1053995" y="2383702"/>
            <a:ext cx="104411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:8080 /api</a:t>
            </a: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01540FD4-11B0-53EE-07A6-0D0B7B2B1295}"/>
              </a:ext>
            </a:extLst>
          </p:cNvPr>
          <p:cNvSpPr/>
          <p:nvPr/>
        </p:nvSpPr>
        <p:spPr>
          <a:xfrm>
            <a:off x="4670217" y="1372942"/>
            <a:ext cx="1866205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:15020 </a:t>
            </a:r>
            <a:r>
              <a:rPr kumimoji="1" lang="en-US" altLang="ko-KR" sz="800">
                <a:solidFill>
                  <a:schemeClr val="tx1"/>
                </a:solidFill>
              </a:rPr>
              <a:t>/app-health/app/livez</a:t>
            </a: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8374EDF8-883E-6178-FCCC-3792046679B1}"/>
              </a:ext>
            </a:extLst>
          </p:cNvPr>
          <p:cNvSpPr/>
          <p:nvPr/>
        </p:nvSpPr>
        <p:spPr>
          <a:xfrm>
            <a:off x="4670218" y="1623668"/>
            <a:ext cx="186620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:15020 </a:t>
            </a:r>
            <a:r>
              <a:rPr kumimoji="1" lang="en-US" altLang="ko-KR" sz="800">
                <a:solidFill>
                  <a:schemeClr val="tx1"/>
                </a:solidFill>
              </a:rPr>
              <a:t>/app-health/app/readys</a:t>
            </a: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950FAEFE-D1B4-B9AA-30E0-904BEA92FDFA}"/>
              </a:ext>
            </a:extLst>
          </p:cNvPr>
          <p:cNvSpPr/>
          <p:nvPr/>
        </p:nvSpPr>
        <p:spPr>
          <a:xfrm>
            <a:off x="4670217" y="1870086"/>
            <a:ext cx="1866207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:15020 </a:t>
            </a:r>
            <a:r>
              <a:rPr kumimoji="1" lang="en-US" altLang="ko-KR" sz="800">
                <a:solidFill>
                  <a:schemeClr val="tx1"/>
                </a:solidFill>
              </a:rPr>
              <a:t>/app-health/app/startupz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C2E25306-BC8F-9827-5A3F-C549DD77D586}"/>
              </a:ext>
            </a:extLst>
          </p:cNvPr>
          <p:cNvSpPr/>
          <p:nvPr/>
        </p:nvSpPr>
        <p:spPr>
          <a:xfrm>
            <a:off x="981986" y="141313"/>
            <a:ext cx="1183525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CoreDNS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7CEB3CF-42CF-3D7A-AED4-7AD550303E2D}"/>
              </a:ext>
            </a:extLst>
          </p:cNvPr>
          <p:cNvCxnSpPr>
            <a:cxnSpLocks/>
            <a:stCxn id="9" idx="0"/>
            <a:endCxn id="43" idx="2"/>
          </p:cNvCxnSpPr>
          <p:nvPr/>
        </p:nvCxnSpPr>
        <p:spPr>
          <a:xfrm flipH="1" flipV="1">
            <a:off x="1573749" y="426743"/>
            <a:ext cx="2304" cy="555727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4F099141-BD57-46D1-D359-84E04503F99A}"/>
              </a:ext>
            </a:extLst>
          </p:cNvPr>
          <p:cNvSpPr/>
          <p:nvPr/>
        </p:nvSpPr>
        <p:spPr>
          <a:xfrm>
            <a:off x="1542019" y="490268"/>
            <a:ext cx="1425891" cy="174389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3"/>
                </a:solidFill>
              </a:rPr>
              <a:t>DNS Lookup</a:t>
            </a:r>
          </a:p>
          <a:p>
            <a:r>
              <a:rPr kumimoji="1" lang="en-US" altLang="ko-KR" sz="800" i="1">
                <a:solidFill>
                  <a:schemeClr val="accent3"/>
                </a:solidFill>
              </a:rPr>
              <a:t>without </a:t>
            </a:r>
            <a:r>
              <a:rPr kumimoji="1" lang="en" altLang="ko-KR" sz="800" i="1">
                <a:solidFill>
                  <a:schemeClr val="accent3"/>
                </a:solidFill>
              </a:rPr>
              <a:t>DNS Capture</a:t>
            </a:r>
            <a:endParaRPr kumimoji="1" lang="ko-KR" altLang="en-US" sz="800" i="1">
              <a:solidFill>
                <a:schemeClr val="accent3"/>
              </a:solidFill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6EB2C93E-7813-5580-FB71-8C98D4303E08}"/>
              </a:ext>
            </a:extLst>
          </p:cNvPr>
          <p:cNvCxnSpPr>
            <a:cxnSpLocks/>
          </p:cNvCxnSpPr>
          <p:nvPr/>
        </p:nvCxnSpPr>
        <p:spPr>
          <a:xfrm>
            <a:off x="1797951" y="2704251"/>
            <a:ext cx="0" cy="570588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모서리가 둥근 직사각형 56">
            <a:extLst>
              <a:ext uri="{FF2B5EF4-FFF2-40B4-BE49-F238E27FC236}">
                <a16:creationId xmlns:a16="http://schemas.microsoft.com/office/drawing/2014/main" id="{1A516E4E-4C05-FC0D-4087-94585C9C5E40}"/>
              </a:ext>
            </a:extLst>
          </p:cNvPr>
          <p:cNvSpPr/>
          <p:nvPr/>
        </p:nvSpPr>
        <p:spPr>
          <a:xfrm>
            <a:off x="1746617" y="2851850"/>
            <a:ext cx="1067216" cy="250727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rgbClr val="00B050"/>
                </a:solidFill>
              </a:rPr>
              <a:t>DNS Lookup </a:t>
            </a:r>
          </a:p>
          <a:p>
            <a:r>
              <a:rPr kumimoji="1" lang="en-US" altLang="ko-KR" sz="800" i="1">
                <a:solidFill>
                  <a:srgbClr val="00B050"/>
                </a:solidFill>
              </a:rPr>
              <a:t>with </a:t>
            </a:r>
          </a:p>
          <a:p>
            <a:r>
              <a:rPr kumimoji="1" lang="en-US" altLang="ko-KR" sz="800" i="1">
                <a:solidFill>
                  <a:srgbClr val="00B050"/>
                </a:solidFill>
              </a:rPr>
              <a:t>DNS Capture</a:t>
            </a:r>
            <a:endParaRPr kumimoji="1" lang="ko-KR" altLang="en-US" sz="800" b="1" i="1" u="sng">
              <a:solidFill>
                <a:srgbClr val="00B050"/>
              </a:solidFill>
            </a:endParaRP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57DAE280-1682-287F-FEB0-7E8E2B48BD23}"/>
              </a:ext>
            </a:extLst>
          </p:cNvPr>
          <p:cNvCxnSpPr>
            <a:cxnSpLocks/>
          </p:cNvCxnSpPr>
          <p:nvPr/>
        </p:nvCxnSpPr>
        <p:spPr>
          <a:xfrm flipV="1">
            <a:off x="1115616" y="2634429"/>
            <a:ext cx="0" cy="640410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[E] 66">
            <a:extLst>
              <a:ext uri="{FF2B5EF4-FFF2-40B4-BE49-F238E27FC236}">
                <a16:creationId xmlns:a16="http://schemas.microsoft.com/office/drawing/2014/main" id="{E60F9EBD-891F-E74C-8F97-808EA1E1E7E8}"/>
              </a:ext>
            </a:extLst>
          </p:cNvPr>
          <p:cNvCxnSpPr>
            <a:cxnSpLocks/>
            <a:endCxn id="88" idx="1"/>
          </p:cNvCxnSpPr>
          <p:nvPr/>
        </p:nvCxnSpPr>
        <p:spPr>
          <a:xfrm rot="16200000" flipH="1">
            <a:off x="3594467" y="2321470"/>
            <a:ext cx="1983173" cy="178135"/>
          </a:xfrm>
          <a:prstGeom prst="bentConnector2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꺾인 연결선[E] 91">
            <a:extLst>
              <a:ext uri="{FF2B5EF4-FFF2-40B4-BE49-F238E27FC236}">
                <a16:creationId xmlns:a16="http://schemas.microsoft.com/office/drawing/2014/main" id="{ACFDA866-EBC7-A267-A94F-362A26CAC85C}"/>
              </a:ext>
            </a:extLst>
          </p:cNvPr>
          <p:cNvCxnSpPr>
            <a:cxnSpLocks/>
            <a:stCxn id="264" idx="3"/>
            <a:endCxn id="21" idx="1"/>
          </p:cNvCxnSpPr>
          <p:nvPr/>
        </p:nvCxnSpPr>
        <p:spPr>
          <a:xfrm flipV="1">
            <a:off x="2170119" y="1643191"/>
            <a:ext cx="540057" cy="1959220"/>
          </a:xfrm>
          <a:prstGeom prst="bentConnector3">
            <a:avLst>
              <a:gd name="adj1" fmla="val 59960"/>
            </a:avLst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꺾인 연결선[E] 136">
            <a:extLst>
              <a:ext uri="{FF2B5EF4-FFF2-40B4-BE49-F238E27FC236}">
                <a16:creationId xmlns:a16="http://schemas.microsoft.com/office/drawing/2014/main" id="{11970A7A-57F4-A30A-0016-30744AF7F4BC}"/>
              </a:ext>
            </a:extLst>
          </p:cNvPr>
          <p:cNvCxnSpPr>
            <a:cxnSpLocks/>
            <a:stCxn id="28" idx="1"/>
            <a:endCxn id="25" idx="3"/>
          </p:cNvCxnSpPr>
          <p:nvPr/>
        </p:nvCxnSpPr>
        <p:spPr>
          <a:xfrm rot="10800000" flipV="1">
            <a:off x="2098112" y="1293589"/>
            <a:ext cx="612065" cy="70544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꺾인 연결선[E] 154">
            <a:extLst>
              <a:ext uri="{FF2B5EF4-FFF2-40B4-BE49-F238E27FC236}">
                <a16:creationId xmlns:a16="http://schemas.microsoft.com/office/drawing/2014/main" id="{A7C16089-A71B-F6D0-7E6A-230D43DAC6A4}"/>
              </a:ext>
            </a:extLst>
          </p:cNvPr>
          <p:cNvCxnSpPr>
            <a:cxnSpLocks/>
            <a:stCxn id="90" idx="1"/>
          </p:cNvCxnSpPr>
          <p:nvPr/>
        </p:nvCxnSpPr>
        <p:spPr>
          <a:xfrm rot="10800000">
            <a:off x="4433388" y="2117670"/>
            <a:ext cx="241732" cy="1686955"/>
          </a:xfrm>
          <a:prstGeom prst="bentConnector2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C2157762-8C2D-44CB-8B76-C693DF9C6865}"/>
              </a:ext>
            </a:extLst>
          </p:cNvPr>
          <p:cNvSpPr txBox="1"/>
          <p:nvPr/>
        </p:nvSpPr>
        <p:spPr>
          <a:xfrm>
            <a:off x="6750050" y="6311900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ko-KR"/>
          </a:p>
          <a:p>
            <a:endParaRPr kumimoji="1" lang="en-US" altLang="ko-KR"/>
          </a:p>
          <a:p>
            <a:endParaRPr kumimoji="1" lang="en-US" altLang="ko-KR"/>
          </a:p>
          <a:p>
            <a:endParaRPr kumimoji="1" lang="ko-KR" altLang="en-US"/>
          </a:p>
        </p:txBody>
      </p: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E073AD70-9278-84B6-F2B0-008C55BCCDEE}"/>
              </a:ext>
            </a:extLst>
          </p:cNvPr>
          <p:cNvCxnSpPr>
            <a:cxnSpLocks/>
          </p:cNvCxnSpPr>
          <p:nvPr/>
        </p:nvCxnSpPr>
        <p:spPr>
          <a:xfrm flipV="1">
            <a:off x="6003656" y="3925635"/>
            <a:ext cx="1" cy="866357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모서리가 둥근 직사각형 179">
            <a:extLst>
              <a:ext uri="{FF2B5EF4-FFF2-40B4-BE49-F238E27FC236}">
                <a16:creationId xmlns:a16="http://schemas.microsoft.com/office/drawing/2014/main" id="{9FF30552-3EEB-DF72-E307-61E200810FEC}"/>
              </a:ext>
            </a:extLst>
          </p:cNvPr>
          <p:cNvSpPr/>
          <p:nvPr/>
        </p:nvSpPr>
        <p:spPr>
          <a:xfrm>
            <a:off x="5955946" y="4596705"/>
            <a:ext cx="863630" cy="190936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4"/>
                </a:solidFill>
              </a:rPr>
              <a:t>App Probe</a:t>
            </a:r>
            <a:endParaRPr kumimoji="1" lang="ko-KR" altLang="en-US" sz="800" i="1">
              <a:solidFill>
                <a:schemeClr val="accent4"/>
              </a:solidFill>
            </a:endParaRPr>
          </a:p>
        </p:txBody>
      </p: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BA6AEA12-B804-765D-6DB4-4DFB869911B1}"/>
              </a:ext>
            </a:extLst>
          </p:cNvPr>
          <p:cNvCxnSpPr>
            <a:cxnSpLocks/>
          </p:cNvCxnSpPr>
          <p:nvPr/>
        </p:nvCxnSpPr>
        <p:spPr>
          <a:xfrm flipV="1">
            <a:off x="6444208" y="2117670"/>
            <a:ext cx="0" cy="1555435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F2C88C07-376C-CFDC-04C0-87D1D4BCFBEE}"/>
              </a:ext>
            </a:extLst>
          </p:cNvPr>
          <p:cNvCxnSpPr>
            <a:cxnSpLocks/>
          </p:cNvCxnSpPr>
          <p:nvPr/>
        </p:nvCxnSpPr>
        <p:spPr>
          <a:xfrm flipH="1">
            <a:off x="2098111" y="1822042"/>
            <a:ext cx="2572106" cy="0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[E] 73">
            <a:extLst>
              <a:ext uri="{FF2B5EF4-FFF2-40B4-BE49-F238E27FC236}">
                <a16:creationId xmlns:a16="http://schemas.microsoft.com/office/drawing/2014/main" id="{C5B12BF6-EEAC-FB6B-EEEA-A33134285CBD}"/>
              </a:ext>
            </a:extLst>
          </p:cNvPr>
          <p:cNvCxnSpPr>
            <a:cxnSpLocks/>
            <a:stCxn id="5" idx="4"/>
            <a:endCxn id="94" idx="0"/>
          </p:cNvCxnSpPr>
          <p:nvPr/>
        </p:nvCxnSpPr>
        <p:spPr>
          <a:xfrm rot="5400000">
            <a:off x="2180562" y="206730"/>
            <a:ext cx="822096" cy="1239026"/>
          </a:xfrm>
          <a:prstGeom prst="bentConnector3">
            <a:avLst>
              <a:gd name="adj1" fmla="val 57786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타원 93">
            <a:extLst>
              <a:ext uri="{FF2B5EF4-FFF2-40B4-BE49-F238E27FC236}">
                <a16:creationId xmlns:a16="http://schemas.microsoft.com/office/drawing/2014/main" id="{BB9D7429-1395-FFF3-B183-B49370527CBE}"/>
              </a:ext>
            </a:extLst>
          </p:cNvPr>
          <p:cNvSpPr/>
          <p:nvPr/>
        </p:nvSpPr>
        <p:spPr>
          <a:xfrm>
            <a:off x="1700388" y="1237291"/>
            <a:ext cx="543417" cy="54341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5" name="모서리가 둥근 직사각형 104">
            <a:extLst>
              <a:ext uri="{FF2B5EF4-FFF2-40B4-BE49-F238E27FC236}">
                <a16:creationId xmlns:a16="http://schemas.microsoft.com/office/drawing/2014/main" id="{D718428F-3A6D-B33A-325F-17F4FAB89FA3}"/>
              </a:ext>
            </a:extLst>
          </p:cNvPr>
          <p:cNvSpPr/>
          <p:nvPr/>
        </p:nvSpPr>
        <p:spPr>
          <a:xfrm>
            <a:off x="2078897" y="1325645"/>
            <a:ext cx="1389510" cy="190936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1"/>
                </a:solidFill>
              </a:rPr>
              <a:t>with</a:t>
            </a:r>
          </a:p>
          <a:p>
            <a:r>
              <a:rPr kumimoji="1" lang="en-US" altLang="ko-KR" sz="800" i="1">
                <a:solidFill>
                  <a:schemeClr val="accent1"/>
                </a:solidFill>
              </a:rPr>
              <a:t>Merged</a:t>
            </a:r>
          </a:p>
          <a:p>
            <a:r>
              <a:rPr kumimoji="1" lang="en-US" altLang="ko-KR" sz="800" i="1">
                <a:solidFill>
                  <a:schemeClr val="accent1"/>
                </a:solidFill>
              </a:rPr>
              <a:t>Metrics</a:t>
            </a:r>
            <a:endParaRPr kumimoji="1" lang="ko-KR" altLang="en-US" sz="800" i="1">
              <a:solidFill>
                <a:schemeClr val="accent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202C9966-3366-AF4A-7B03-CBA924BE6C46}"/>
              </a:ext>
            </a:extLst>
          </p:cNvPr>
          <p:cNvSpPr/>
          <p:nvPr/>
        </p:nvSpPr>
        <p:spPr>
          <a:xfrm>
            <a:off x="3169970" y="483518"/>
            <a:ext cx="835748" cy="190936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1"/>
                </a:solidFill>
              </a:rPr>
              <a:t>Scrape</a:t>
            </a:r>
          </a:p>
          <a:p>
            <a:r>
              <a:rPr kumimoji="1" lang="en-US" altLang="ko-KR" sz="800" i="1">
                <a:solidFill>
                  <a:schemeClr val="accent1"/>
                </a:solidFill>
              </a:rPr>
              <a:t>App Metrics</a:t>
            </a:r>
            <a:endParaRPr kumimoji="1" lang="ko-KR" altLang="en-US" sz="800" i="1">
              <a:solidFill>
                <a:schemeClr val="accent1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1AED53A-F96D-C10C-1155-733D03A15E38}"/>
              </a:ext>
            </a:extLst>
          </p:cNvPr>
          <p:cNvSpPr/>
          <p:nvPr/>
        </p:nvSpPr>
        <p:spPr>
          <a:xfrm>
            <a:off x="2939414" y="-128222"/>
            <a:ext cx="543417" cy="54341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1811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798B2-BEF3-EBF2-A9DE-81B629C34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8964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2D598-ED93-6568-6D8F-5F896D76C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673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F7116-0874-893C-D3CD-881BDC130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75CB0F30-7AFA-B2DB-DF8A-6F3A9A07426A}"/>
              </a:ext>
            </a:extLst>
          </p:cNvPr>
          <p:cNvSpPr/>
          <p:nvPr/>
        </p:nvSpPr>
        <p:spPr>
          <a:xfrm>
            <a:off x="5016111" y="4796344"/>
            <a:ext cx="1187710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kubelet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5E56AFE8-015C-3609-A6C5-C23AD314DE0D}"/>
              </a:ext>
            </a:extLst>
          </p:cNvPr>
          <p:cNvSpPr/>
          <p:nvPr/>
        </p:nvSpPr>
        <p:spPr>
          <a:xfrm>
            <a:off x="909979" y="744556"/>
            <a:ext cx="5863887" cy="3859606"/>
          </a:xfrm>
          <a:prstGeom prst="roundRect">
            <a:avLst>
              <a:gd name="adj" fmla="val 1803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App Pod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B1A6B848-9B6F-BD75-DC84-65BD83FB3155}"/>
              </a:ext>
            </a:extLst>
          </p:cNvPr>
          <p:cNvSpPr/>
          <p:nvPr/>
        </p:nvSpPr>
        <p:spPr>
          <a:xfrm>
            <a:off x="981987" y="1125713"/>
            <a:ext cx="1188132" cy="1658437"/>
          </a:xfrm>
          <a:prstGeom prst="roundRect">
            <a:avLst>
              <a:gd name="adj" fmla="val 6355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App</a:t>
            </a:r>
            <a:r>
              <a:rPr kumimoji="1" lang="en-US" altLang="ko-KR" sz="800">
                <a:solidFill>
                  <a:schemeClr val="tx1"/>
                </a:solidFill>
              </a:rPr>
              <a:t> Container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81098DB2-94E3-109A-D86D-EFB7A1809941}"/>
              </a:ext>
            </a:extLst>
          </p:cNvPr>
          <p:cNvSpPr/>
          <p:nvPr/>
        </p:nvSpPr>
        <p:spPr>
          <a:xfrm>
            <a:off x="2566162" y="816259"/>
            <a:ext cx="4140012" cy="3704026"/>
          </a:xfrm>
          <a:prstGeom prst="roundRect">
            <a:avLst>
              <a:gd name="adj" fmla="val 1768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800" b="1">
                <a:solidFill>
                  <a:schemeClr val="tx1"/>
                </a:solidFill>
              </a:rPr>
              <a:t>istio-proxy</a:t>
            </a:r>
            <a:r>
              <a:rPr kumimoji="1" lang="en-US" altLang="ko-KR" sz="800">
                <a:solidFill>
                  <a:schemeClr val="tx1"/>
                </a:solidFill>
              </a:rPr>
              <a:t> Container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71EB327D-0E77-C311-4F13-BB23F3441038}"/>
              </a:ext>
            </a:extLst>
          </p:cNvPr>
          <p:cNvSpPr/>
          <p:nvPr/>
        </p:nvSpPr>
        <p:spPr>
          <a:xfrm>
            <a:off x="2638170" y="1082843"/>
            <a:ext cx="3995995" cy="1622670"/>
          </a:xfrm>
          <a:prstGeom prst="roundRect">
            <a:avLst>
              <a:gd name="adj" fmla="val 3705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kumimoji="1" lang="en-US" altLang="ko-KR" sz="800" b="1">
                <a:solidFill>
                  <a:schemeClr val="tx1"/>
                </a:solidFill>
              </a:rPr>
              <a:t>pilot-agent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A69F6C3B-B2A8-DF96-6B24-AB7143B17DA8}"/>
              </a:ext>
            </a:extLst>
          </p:cNvPr>
          <p:cNvSpPr/>
          <p:nvPr/>
        </p:nvSpPr>
        <p:spPr>
          <a:xfrm>
            <a:off x="2710176" y="1772635"/>
            <a:ext cx="1866204" cy="250727"/>
          </a:xfrm>
          <a:prstGeom prst="roundRect">
            <a:avLst>
              <a:gd name="adj" fmla="val 177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:15053</a:t>
            </a:r>
            <a:r>
              <a:rPr kumimoji="1" lang="en-US" altLang="ko-KR" sz="800">
                <a:solidFill>
                  <a:schemeClr val="tx1"/>
                </a:solidFill>
              </a:rPr>
              <a:t> DNS (DNS Capture)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7C352050-8123-8E16-67D1-383E5C445F81}"/>
              </a:ext>
            </a:extLst>
          </p:cNvPr>
          <p:cNvSpPr/>
          <p:nvPr/>
        </p:nvSpPr>
        <p:spPr>
          <a:xfrm>
            <a:off x="2710178" y="2212368"/>
            <a:ext cx="1869694" cy="414468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unix:///etc/istio/proxy/XDS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Listener, Router, Cluster, Endpoint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Configs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EB7526D7-244F-E7B3-920F-36B0D34E47CF}"/>
              </a:ext>
            </a:extLst>
          </p:cNvPr>
          <p:cNvSpPr/>
          <p:nvPr/>
        </p:nvSpPr>
        <p:spPr>
          <a:xfrm>
            <a:off x="2638170" y="3003798"/>
            <a:ext cx="3995995" cy="1434313"/>
          </a:xfrm>
          <a:prstGeom prst="roundRect">
            <a:avLst>
              <a:gd name="adj" fmla="val 5484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Envoy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369330EF-C5C8-1E46-1A50-8180ECA1663E}"/>
              </a:ext>
            </a:extLst>
          </p:cNvPr>
          <p:cNvSpPr/>
          <p:nvPr/>
        </p:nvSpPr>
        <p:spPr>
          <a:xfrm>
            <a:off x="4595279" y="51904"/>
            <a:ext cx="1704914" cy="369432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istiod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5C189D8F-4868-AB4D-F092-C00A7679BA0D}"/>
              </a:ext>
            </a:extLst>
          </p:cNvPr>
          <p:cNvSpPr/>
          <p:nvPr/>
        </p:nvSpPr>
        <p:spPr>
          <a:xfrm>
            <a:off x="1053995" y="1461082"/>
            <a:ext cx="104411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:8080 /metrics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8A080907-E690-EACE-4206-88DA47FE2DD5}"/>
              </a:ext>
            </a:extLst>
          </p:cNvPr>
          <p:cNvSpPr/>
          <p:nvPr/>
        </p:nvSpPr>
        <p:spPr>
          <a:xfrm>
            <a:off x="1053995" y="1711386"/>
            <a:ext cx="104411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:8080 /livez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FE3F895C-E3C7-4D3E-E92C-1DBC4327ABBB}"/>
              </a:ext>
            </a:extLst>
          </p:cNvPr>
          <p:cNvSpPr/>
          <p:nvPr/>
        </p:nvSpPr>
        <p:spPr>
          <a:xfrm>
            <a:off x="2710177" y="1417457"/>
            <a:ext cx="1866203" cy="250727"/>
          </a:xfrm>
          <a:prstGeom prst="roundRect">
            <a:avLst>
              <a:gd name="adj" fmla="val 177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:15020 </a:t>
            </a:r>
            <a:r>
              <a:rPr kumimoji="1" lang="en-US" altLang="ko-KR" sz="800">
                <a:solidFill>
                  <a:schemeClr val="tx1"/>
                </a:solidFill>
              </a:rPr>
              <a:t>/healthz/ready 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BB3F773C-AF6F-E179-899B-91FCBACC4453}"/>
              </a:ext>
            </a:extLst>
          </p:cNvPr>
          <p:cNvSpPr/>
          <p:nvPr/>
        </p:nvSpPr>
        <p:spPr>
          <a:xfrm>
            <a:off x="2710176" y="1168225"/>
            <a:ext cx="1866204" cy="250727"/>
          </a:xfrm>
          <a:prstGeom prst="roundRect">
            <a:avLst>
              <a:gd name="adj" fmla="val 177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:15020</a:t>
            </a:r>
            <a:r>
              <a:rPr kumimoji="1" lang="en-US" altLang="ko-KR" sz="800">
                <a:solidFill>
                  <a:schemeClr val="tx1"/>
                </a:solidFill>
              </a:rPr>
              <a:t> /stats/prometheus</a:t>
            </a: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8F7C5184-76CD-62DB-9DFA-58DBF0DE0FAE}"/>
              </a:ext>
            </a:extLst>
          </p:cNvPr>
          <p:cNvSpPr/>
          <p:nvPr/>
        </p:nvSpPr>
        <p:spPr>
          <a:xfrm>
            <a:off x="5093824" y="108160"/>
            <a:ext cx="1134360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:15012 </a:t>
            </a:r>
            <a:r>
              <a:rPr kumimoji="1" lang="en-US" altLang="ko-KR" sz="800">
                <a:solidFill>
                  <a:schemeClr val="tx1"/>
                </a:solidFill>
              </a:rPr>
              <a:t>xDS Server</a:t>
            </a: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BE1DD86B-E6A3-D119-77ED-C088CD8A5CFE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5447736" y="421336"/>
            <a:ext cx="0" cy="661507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5B4E0054-698C-AB1E-2EBE-5BC6CF74291E}"/>
              </a:ext>
            </a:extLst>
          </p:cNvPr>
          <p:cNvSpPr/>
          <p:nvPr/>
        </p:nvSpPr>
        <p:spPr>
          <a:xfrm>
            <a:off x="4675121" y="2212368"/>
            <a:ext cx="1869694" cy="414468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unix:///var/run/secrets/workload-spiffe-uds/socket</a:t>
            </a:r>
            <a:r>
              <a:rPr kumimoji="1" lang="en-US" altLang="ko-KR" sz="800">
                <a:solidFill>
                  <a:schemeClr val="tx1"/>
                </a:solidFill>
              </a:rPr>
              <a:t> 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Certificates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69AF291E-CD49-D04B-5548-C22201E2FA53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>
            <a:off x="4636168" y="2705513"/>
            <a:ext cx="0" cy="29828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모서리가 둥근 직사각형 69">
            <a:extLst>
              <a:ext uri="{FF2B5EF4-FFF2-40B4-BE49-F238E27FC236}">
                <a16:creationId xmlns:a16="http://schemas.microsoft.com/office/drawing/2014/main" id="{02C96950-C13F-CB34-C406-97716C2BEA44}"/>
              </a:ext>
            </a:extLst>
          </p:cNvPr>
          <p:cNvSpPr/>
          <p:nvPr/>
        </p:nvSpPr>
        <p:spPr>
          <a:xfrm>
            <a:off x="4636168" y="2756716"/>
            <a:ext cx="863630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tx1"/>
                </a:solidFill>
              </a:rPr>
              <a:t>Exec Envoy</a:t>
            </a:r>
            <a:endParaRPr kumimoji="1" lang="ko-KR" altLang="en-US" sz="800" i="1">
              <a:solidFill>
                <a:schemeClr val="tx1"/>
              </a:solidFill>
            </a:endParaRPr>
          </a:p>
        </p:txBody>
      </p:sp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FAB29164-4A76-64CF-6379-8A2C338F5FEB}"/>
              </a:ext>
            </a:extLst>
          </p:cNvPr>
          <p:cNvSpPr/>
          <p:nvPr/>
        </p:nvSpPr>
        <p:spPr>
          <a:xfrm>
            <a:off x="2710178" y="3276761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:15001</a:t>
            </a:r>
            <a:r>
              <a:rPr kumimoji="1" lang="en-US" altLang="ko-KR" sz="800">
                <a:solidFill>
                  <a:schemeClr val="tx1"/>
                </a:solidFill>
              </a:rPr>
              <a:t> Outbound Traffic</a:t>
            </a:r>
          </a:p>
        </p:txBody>
      </p:sp>
      <p:sp>
        <p:nvSpPr>
          <p:cNvPr id="80" name="모서리가 둥근 직사각형 79">
            <a:extLst>
              <a:ext uri="{FF2B5EF4-FFF2-40B4-BE49-F238E27FC236}">
                <a16:creationId xmlns:a16="http://schemas.microsoft.com/office/drawing/2014/main" id="{F2557B43-759D-620D-6B7E-2B1051BE60B8}"/>
              </a:ext>
            </a:extLst>
          </p:cNvPr>
          <p:cNvSpPr/>
          <p:nvPr/>
        </p:nvSpPr>
        <p:spPr>
          <a:xfrm>
            <a:off x="2710178" y="3679260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:15006</a:t>
            </a:r>
            <a:r>
              <a:rPr kumimoji="1" lang="en-US" altLang="ko-KR" sz="800">
                <a:solidFill>
                  <a:schemeClr val="tx1"/>
                </a:solidFill>
              </a:rPr>
              <a:t> Inbound Traffic</a:t>
            </a:r>
          </a:p>
        </p:txBody>
      </p:sp>
      <p:sp>
        <p:nvSpPr>
          <p:cNvPr id="88" name="모서리가 둥근 직사각형 87">
            <a:extLst>
              <a:ext uri="{FF2B5EF4-FFF2-40B4-BE49-F238E27FC236}">
                <a16:creationId xmlns:a16="http://schemas.microsoft.com/office/drawing/2014/main" id="{F8DC26B6-C1A8-AFBB-5D0B-E725CFA58ADE}"/>
              </a:ext>
            </a:extLst>
          </p:cNvPr>
          <p:cNvSpPr/>
          <p:nvPr/>
        </p:nvSpPr>
        <p:spPr>
          <a:xfrm>
            <a:off x="4675121" y="3276761"/>
            <a:ext cx="1869692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:15090</a:t>
            </a:r>
            <a:r>
              <a:rPr kumimoji="1" lang="en-US" altLang="ko-KR" sz="800">
                <a:solidFill>
                  <a:schemeClr val="tx1"/>
                </a:solidFill>
              </a:rPr>
              <a:t> /stats/prometheus</a:t>
            </a:r>
          </a:p>
        </p:txBody>
      </p:sp>
      <p:sp>
        <p:nvSpPr>
          <p:cNvPr id="90" name="모서리가 둥근 직사각형 89">
            <a:extLst>
              <a:ext uri="{FF2B5EF4-FFF2-40B4-BE49-F238E27FC236}">
                <a16:creationId xmlns:a16="http://schemas.microsoft.com/office/drawing/2014/main" id="{2976035F-21C5-8C58-21B9-04A7208A1A9D}"/>
              </a:ext>
            </a:extLst>
          </p:cNvPr>
          <p:cNvSpPr/>
          <p:nvPr/>
        </p:nvSpPr>
        <p:spPr>
          <a:xfrm>
            <a:off x="4675120" y="3679260"/>
            <a:ext cx="1869693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:15021</a:t>
            </a:r>
            <a:r>
              <a:rPr kumimoji="1" lang="en-US" altLang="ko-KR" sz="800">
                <a:solidFill>
                  <a:schemeClr val="tx1"/>
                </a:solidFill>
              </a:rPr>
              <a:t> /healthz/ready</a:t>
            </a:r>
          </a:p>
        </p:txBody>
      </p:sp>
      <p:sp>
        <p:nvSpPr>
          <p:cNvPr id="101" name="모서리가 둥근 직사각형 100">
            <a:extLst>
              <a:ext uri="{FF2B5EF4-FFF2-40B4-BE49-F238E27FC236}">
                <a16:creationId xmlns:a16="http://schemas.microsoft.com/office/drawing/2014/main" id="{3972172B-BBDF-0F9B-3387-03A52512B366}"/>
              </a:ext>
            </a:extLst>
          </p:cNvPr>
          <p:cNvSpPr/>
          <p:nvPr/>
        </p:nvSpPr>
        <p:spPr>
          <a:xfrm>
            <a:off x="2710178" y="4080927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:15000</a:t>
            </a:r>
            <a:r>
              <a:rPr kumimoji="1" lang="en-US" altLang="ko-KR" sz="800">
                <a:solidFill>
                  <a:schemeClr val="tx1"/>
                </a:solidFill>
              </a:rPr>
              <a:t> Admin</a:t>
            </a:r>
          </a:p>
        </p:txBody>
      </p:sp>
      <p:sp>
        <p:nvSpPr>
          <p:cNvPr id="154" name="모서리가 둥근 직사각형 153">
            <a:extLst>
              <a:ext uri="{FF2B5EF4-FFF2-40B4-BE49-F238E27FC236}">
                <a16:creationId xmlns:a16="http://schemas.microsoft.com/office/drawing/2014/main" id="{2DE53008-92CA-8B05-81A5-E842F24C25A8}"/>
              </a:ext>
            </a:extLst>
          </p:cNvPr>
          <p:cNvSpPr/>
          <p:nvPr/>
        </p:nvSpPr>
        <p:spPr>
          <a:xfrm>
            <a:off x="3598684" y="483518"/>
            <a:ext cx="1389510" cy="190936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1"/>
                </a:solidFill>
              </a:rPr>
              <a:t>Scrape Metrics</a:t>
            </a:r>
            <a:endParaRPr kumimoji="1" lang="ko-KR" altLang="en-US" sz="800" i="1">
              <a:solidFill>
                <a:schemeClr val="accent1"/>
              </a:solidFill>
            </a:endParaRPr>
          </a:p>
        </p:txBody>
      </p: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8F1D8866-AD70-0989-7CDB-D646A5CF746A}"/>
              </a:ext>
            </a:extLst>
          </p:cNvPr>
          <p:cNvCxnSpPr>
            <a:cxnSpLocks/>
          </p:cNvCxnSpPr>
          <p:nvPr/>
        </p:nvCxnSpPr>
        <p:spPr>
          <a:xfrm flipV="1">
            <a:off x="5227525" y="3929987"/>
            <a:ext cx="1" cy="86635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모서리가 둥근 직사각형 163">
            <a:extLst>
              <a:ext uri="{FF2B5EF4-FFF2-40B4-BE49-F238E27FC236}">
                <a16:creationId xmlns:a16="http://schemas.microsoft.com/office/drawing/2014/main" id="{2BC85D03-6A4E-D427-07DB-2995CAEFB28B}"/>
              </a:ext>
            </a:extLst>
          </p:cNvPr>
          <p:cNvSpPr/>
          <p:nvPr/>
        </p:nvSpPr>
        <p:spPr>
          <a:xfrm>
            <a:off x="5168653" y="4596705"/>
            <a:ext cx="863630" cy="190936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rgbClr val="C00000"/>
                </a:solidFill>
              </a:rPr>
              <a:t>Envoy Probe</a:t>
            </a:r>
            <a:endParaRPr kumimoji="1" lang="ko-KR" altLang="en-US" sz="800" i="1">
              <a:solidFill>
                <a:srgbClr val="C00000"/>
              </a:solidFill>
            </a:endParaRPr>
          </a:p>
        </p:txBody>
      </p:sp>
      <p:sp>
        <p:nvSpPr>
          <p:cNvPr id="167" name="모서리가 둥근 직사각형 166">
            <a:extLst>
              <a:ext uri="{FF2B5EF4-FFF2-40B4-BE49-F238E27FC236}">
                <a16:creationId xmlns:a16="http://schemas.microsoft.com/office/drawing/2014/main" id="{3C3E49B4-32F7-3E6A-29BA-65D2A2DFEC65}"/>
              </a:ext>
            </a:extLst>
          </p:cNvPr>
          <p:cNvSpPr/>
          <p:nvPr/>
        </p:nvSpPr>
        <p:spPr>
          <a:xfrm>
            <a:off x="5421482" y="479663"/>
            <a:ext cx="2425365" cy="195598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5"/>
                </a:solidFill>
              </a:rPr>
              <a:t>LDS, RDS, CDS, EDS, SDS,</a:t>
            </a:r>
            <a:br>
              <a:rPr kumimoji="1" lang="en-US" altLang="ko-KR" sz="800" i="1">
                <a:solidFill>
                  <a:schemeClr val="accent5"/>
                </a:solidFill>
              </a:rPr>
            </a:br>
            <a:r>
              <a:rPr kumimoji="1" lang="en-US" altLang="ko-KR" sz="800" i="1">
                <a:solidFill>
                  <a:schemeClr val="accent5"/>
                </a:solidFill>
              </a:rPr>
              <a:t>NDS, ECDS via ADS</a:t>
            </a:r>
            <a:endParaRPr kumimoji="1" lang="ko-KR" altLang="en-US" sz="800" i="1">
              <a:solidFill>
                <a:schemeClr val="accent5"/>
              </a:solidFill>
            </a:endParaRPr>
          </a:p>
        </p:txBody>
      </p: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980E9E40-A300-DD4D-617E-0C6EDB45FCD9}"/>
              </a:ext>
            </a:extLst>
          </p:cNvPr>
          <p:cNvCxnSpPr>
            <a:cxnSpLocks/>
          </p:cNvCxnSpPr>
          <p:nvPr/>
        </p:nvCxnSpPr>
        <p:spPr>
          <a:xfrm>
            <a:off x="2982410" y="2626836"/>
            <a:ext cx="0" cy="376962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모서리가 둥근 직사각형 170">
            <a:extLst>
              <a:ext uri="{FF2B5EF4-FFF2-40B4-BE49-F238E27FC236}">
                <a16:creationId xmlns:a16="http://schemas.microsoft.com/office/drawing/2014/main" id="{7DF4A4FD-F4EC-0766-DE78-15FD8E0F3E5B}"/>
              </a:ext>
            </a:extLst>
          </p:cNvPr>
          <p:cNvSpPr/>
          <p:nvPr/>
        </p:nvSpPr>
        <p:spPr>
          <a:xfrm>
            <a:off x="2953929" y="2756326"/>
            <a:ext cx="1222480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5"/>
                </a:solidFill>
              </a:rPr>
              <a:t>LDS, RDS, CDS, </a:t>
            </a:r>
            <a:br>
              <a:rPr kumimoji="1" lang="en-US" altLang="ko-KR" sz="800" i="1">
                <a:solidFill>
                  <a:schemeClr val="accent5"/>
                </a:solidFill>
              </a:rPr>
            </a:br>
            <a:r>
              <a:rPr kumimoji="1" lang="en-US" altLang="ko-KR" sz="800" i="1">
                <a:solidFill>
                  <a:schemeClr val="accent5"/>
                </a:solidFill>
              </a:rPr>
              <a:t>EDS, ECDS via ADS</a:t>
            </a:r>
            <a:endParaRPr kumimoji="1" lang="ko-KR" altLang="en-US" sz="800" i="1">
              <a:solidFill>
                <a:schemeClr val="accent5"/>
              </a:solidFill>
            </a:endParaRPr>
          </a:p>
        </p:txBody>
      </p:sp>
      <p:sp>
        <p:nvSpPr>
          <p:cNvPr id="187" name="모서리가 둥근 직사각형 186">
            <a:extLst>
              <a:ext uri="{FF2B5EF4-FFF2-40B4-BE49-F238E27FC236}">
                <a16:creationId xmlns:a16="http://schemas.microsoft.com/office/drawing/2014/main" id="{7E5E0DB6-9B29-FC4A-8057-8D98FE3A83AC}"/>
              </a:ext>
            </a:extLst>
          </p:cNvPr>
          <p:cNvSpPr/>
          <p:nvPr/>
        </p:nvSpPr>
        <p:spPr>
          <a:xfrm>
            <a:off x="2988685" y="135905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Prometheus Server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0ECA7529-9797-7B1E-A504-DF48C93DFA30}"/>
              </a:ext>
            </a:extLst>
          </p:cNvPr>
          <p:cNvCxnSpPr>
            <a:cxnSpLocks/>
            <a:stCxn id="187" idx="2"/>
            <a:endCxn id="28" idx="0"/>
          </p:cNvCxnSpPr>
          <p:nvPr/>
        </p:nvCxnSpPr>
        <p:spPr>
          <a:xfrm>
            <a:off x="3643278" y="421335"/>
            <a:ext cx="0" cy="74689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화살표 연결선 258">
            <a:extLst>
              <a:ext uri="{FF2B5EF4-FFF2-40B4-BE49-F238E27FC236}">
                <a16:creationId xmlns:a16="http://schemas.microsoft.com/office/drawing/2014/main" id="{14F34AA5-E308-5A5F-BF22-E6E1854F29E7}"/>
              </a:ext>
            </a:extLst>
          </p:cNvPr>
          <p:cNvCxnSpPr>
            <a:cxnSpLocks/>
            <a:stCxn id="51" idx="2"/>
          </p:cNvCxnSpPr>
          <p:nvPr/>
        </p:nvCxnSpPr>
        <p:spPr>
          <a:xfrm flipH="1">
            <a:off x="5609966" y="2626836"/>
            <a:ext cx="2" cy="376962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모서리가 둥근 직사각형 260">
            <a:extLst>
              <a:ext uri="{FF2B5EF4-FFF2-40B4-BE49-F238E27FC236}">
                <a16:creationId xmlns:a16="http://schemas.microsoft.com/office/drawing/2014/main" id="{66EACE0D-DCD0-8CB5-BD47-9E23B6B4D85F}"/>
              </a:ext>
            </a:extLst>
          </p:cNvPr>
          <p:cNvSpPr/>
          <p:nvPr/>
        </p:nvSpPr>
        <p:spPr>
          <a:xfrm>
            <a:off x="5586023" y="2756716"/>
            <a:ext cx="446260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5"/>
                </a:solidFill>
              </a:rPr>
              <a:t>SDS</a:t>
            </a:r>
            <a:endParaRPr kumimoji="1" lang="ko-KR" altLang="en-US" sz="800" i="1">
              <a:solidFill>
                <a:schemeClr val="accent5"/>
              </a:solidFill>
            </a:endParaRPr>
          </a:p>
        </p:txBody>
      </p:sp>
      <p:sp>
        <p:nvSpPr>
          <p:cNvPr id="264" name="모서리가 둥근 직사각형 263">
            <a:extLst>
              <a:ext uri="{FF2B5EF4-FFF2-40B4-BE49-F238E27FC236}">
                <a16:creationId xmlns:a16="http://schemas.microsoft.com/office/drawing/2014/main" id="{599D664F-DE32-ED00-3A69-42AE22C2C778}"/>
              </a:ext>
            </a:extLst>
          </p:cNvPr>
          <p:cNvSpPr/>
          <p:nvPr/>
        </p:nvSpPr>
        <p:spPr>
          <a:xfrm>
            <a:off x="986188" y="3274839"/>
            <a:ext cx="1183931" cy="655143"/>
          </a:xfrm>
          <a:prstGeom prst="roundRect">
            <a:avLst>
              <a:gd name="adj" fmla="val 5720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iptables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62C78195-93D4-A2D5-05DC-9F88CF2F1C37}"/>
              </a:ext>
            </a:extLst>
          </p:cNvPr>
          <p:cNvCxnSpPr>
            <a:cxnSpLocks/>
          </p:cNvCxnSpPr>
          <p:nvPr/>
        </p:nvCxnSpPr>
        <p:spPr>
          <a:xfrm>
            <a:off x="1195865" y="2784150"/>
            <a:ext cx="0" cy="490689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화살표 연결선 272">
            <a:extLst>
              <a:ext uri="{FF2B5EF4-FFF2-40B4-BE49-F238E27FC236}">
                <a16:creationId xmlns:a16="http://schemas.microsoft.com/office/drawing/2014/main" id="{B7411430-4D80-6C9B-FD63-0486B2830D7A}"/>
              </a:ext>
            </a:extLst>
          </p:cNvPr>
          <p:cNvCxnSpPr>
            <a:cxnSpLocks/>
            <a:endCxn id="75" idx="1"/>
          </p:cNvCxnSpPr>
          <p:nvPr/>
        </p:nvCxnSpPr>
        <p:spPr>
          <a:xfrm>
            <a:off x="2169697" y="3402125"/>
            <a:ext cx="540481" cy="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화살표 연결선 276">
            <a:extLst>
              <a:ext uri="{FF2B5EF4-FFF2-40B4-BE49-F238E27FC236}">
                <a16:creationId xmlns:a16="http://schemas.microsoft.com/office/drawing/2014/main" id="{5C6DA717-DEEF-231A-33FC-7F870C19D3A2}"/>
              </a:ext>
            </a:extLst>
          </p:cNvPr>
          <p:cNvCxnSpPr>
            <a:cxnSpLocks/>
          </p:cNvCxnSpPr>
          <p:nvPr/>
        </p:nvCxnSpPr>
        <p:spPr>
          <a:xfrm flipH="1">
            <a:off x="2169697" y="3509457"/>
            <a:ext cx="468473" cy="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모서리가 둥근 직사각형 280">
            <a:extLst>
              <a:ext uri="{FF2B5EF4-FFF2-40B4-BE49-F238E27FC236}">
                <a16:creationId xmlns:a16="http://schemas.microsoft.com/office/drawing/2014/main" id="{A8A3B453-9F7A-BAD9-24B3-FCB8B550BDA6}"/>
              </a:ext>
            </a:extLst>
          </p:cNvPr>
          <p:cNvSpPr/>
          <p:nvPr/>
        </p:nvSpPr>
        <p:spPr>
          <a:xfrm>
            <a:off x="3044888" y="4805988"/>
            <a:ext cx="1187710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istioctl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cxnSp>
        <p:nvCxnSpPr>
          <p:cNvPr id="283" name="직선 화살표 연결선 282">
            <a:extLst>
              <a:ext uri="{FF2B5EF4-FFF2-40B4-BE49-F238E27FC236}">
                <a16:creationId xmlns:a16="http://schemas.microsoft.com/office/drawing/2014/main" id="{3822FD02-3FDA-B054-53EB-46570F4A8C8F}"/>
              </a:ext>
            </a:extLst>
          </p:cNvPr>
          <p:cNvCxnSpPr>
            <a:cxnSpLocks/>
            <a:stCxn id="281" idx="0"/>
            <a:endCxn id="101" idx="2"/>
          </p:cNvCxnSpPr>
          <p:nvPr/>
        </p:nvCxnSpPr>
        <p:spPr>
          <a:xfrm flipV="1">
            <a:off x="3638743" y="4331654"/>
            <a:ext cx="1" cy="47433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모서리가 둥근 직사각형 288">
            <a:extLst>
              <a:ext uri="{FF2B5EF4-FFF2-40B4-BE49-F238E27FC236}">
                <a16:creationId xmlns:a16="http://schemas.microsoft.com/office/drawing/2014/main" id="{6DDD542D-76FB-3C34-4B20-8553C7BAB308}"/>
              </a:ext>
            </a:extLst>
          </p:cNvPr>
          <p:cNvSpPr/>
          <p:nvPr/>
        </p:nvSpPr>
        <p:spPr>
          <a:xfrm>
            <a:off x="981987" y="4796344"/>
            <a:ext cx="1187710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App </a:t>
            </a:r>
            <a:r>
              <a:rPr kumimoji="1" lang="en-US" altLang="ko-KR" sz="800">
                <a:solidFill>
                  <a:schemeClr val="tx1"/>
                </a:solidFill>
              </a:rPr>
              <a:t>Pod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92" name="직선 화살표 연결선 291">
            <a:extLst>
              <a:ext uri="{FF2B5EF4-FFF2-40B4-BE49-F238E27FC236}">
                <a16:creationId xmlns:a16="http://schemas.microsoft.com/office/drawing/2014/main" id="{D27C536E-6697-AB0E-B8EB-7B6C42412D9C}"/>
              </a:ext>
            </a:extLst>
          </p:cNvPr>
          <p:cNvCxnSpPr>
            <a:cxnSpLocks/>
          </p:cNvCxnSpPr>
          <p:nvPr/>
        </p:nvCxnSpPr>
        <p:spPr>
          <a:xfrm>
            <a:off x="1111966" y="3929982"/>
            <a:ext cx="0" cy="865505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화살표 연결선 377">
            <a:extLst>
              <a:ext uri="{FF2B5EF4-FFF2-40B4-BE49-F238E27FC236}">
                <a16:creationId xmlns:a16="http://schemas.microsoft.com/office/drawing/2014/main" id="{8DE2A10B-C3BE-A357-49EF-B08E5280CE4D}"/>
              </a:ext>
            </a:extLst>
          </p:cNvPr>
          <p:cNvCxnSpPr>
            <a:cxnSpLocks/>
          </p:cNvCxnSpPr>
          <p:nvPr/>
        </p:nvCxnSpPr>
        <p:spPr>
          <a:xfrm flipV="1">
            <a:off x="1195865" y="3929982"/>
            <a:ext cx="0" cy="865505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화살표 연결선 382">
            <a:extLst>
              <a:ext uri="{FF2B5EF4-FFF2-40B4-BE49-F238E27FC236}">
                <a16:creationId xmlns:a16="http://schemas.microsoft.com/office/drawing/2014/main" id="{6F6C0B08-6096-A287-BEE8-26FE31CC102C}"/>
              </a:ext>
            </a:extLst>
          </p:cNvPr>
          <p:cNvCxnSpPr>
            <a:cxnSpLocks/>
            <a:endCxn id="80" idx="1"/>
          </p:cNvCxnSpPr>
          <p:nvPr/>
        </p:nvCxnSpPr>
        <p:spPr>
          <a:xfrm>
            <a:off x="2165512" y="3804624"/>
            <a:ext cx="544666" cy="0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화살표 연결선 387">
            <a:extLst>
              <a:ext uri="{FF2B5EF4-FFF2-40B4-BE49-F238E27FC236}">
                <a16:creationId xmlns:a16="http://schemas.microsoft.com/office/drawing/2014/main" id="{CFE5489A-E240-5D43-759C-871091F2DFB3}"/>
              </a:ext>
            </a:extLst>
          </p:cNvPr>
          <p:cNvCxnSpPr>
            <a:cxnSpLocks/>
          </p:cNvCxnSpPr>
          <p:nvPr/>
        </p:nvCxnSpPr>
        <p:spPr>
          <a:xfrm flipH="1">
            <a:off x="2165512" y="3695796"/>
            <a:ext cx="472658" cy="1496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모서리가 둥근 직사각형 393">
            <a:extLst>
              <a:ext uri="{FF2B5EF4-FFF2-40B4-BE49-F238E27FC236}">
                <a16:creationId xmlns:a16="http://schemas.microsoft.com/office/drawing/2014/main" id="{A2615B21-C7A8-DA96-C16B-0393AC476EEB}"/>
              </a:ext>
            </a:extLst>
          </p:cNvPr>
          <p:cNvSpPr/>
          <p:nvPr/>
        </p:nvSpPr>
        <p:spPr>
          <a:xfrm>
            <a:off x="3598684" y="4599210"/>
            <a:ext cx="1284681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tx1"/>
                </a:solidFill>
              </a:rPr>
              <a:t>Access to Envoy Admin</a:t>
            </a:r>
            <a:endParaRPr kumimoji="1" lang="ko-KR" altLang="en-US" sz="800" i="1">
              <a:solidFill>
                <a:schemeClr val="tx1"/>
              </a:solidFill>
            </a:endParaRPr>
          </a:p>
        </p:txBody>
      </p:sp>
      <p:sp>
        <p:nvSpPr>
          <p:cNvPr id="397" name="모서리가 둥근 직사각형 396">
            <a:extLst>
              <a:ext uri="{FF2B5EF4-FFF2-40B4-BE49-F238E27FC236}">
                <a16:creationId xmlns:a16="http://schemas.microsoft.com/office/drawing/2014/main" id="{E3E13587-DA58-9D57-96D6-1FBCCDBFE39F}"/>
              </a:ext>
            </a:extLst>
          </p:cNvPr>
          <p:cNvSpPr/>
          <p:nvPr/>
        </p:nvSpPr>
        <p:spPr>
          <a:xfrm>
            <a:off x="1503236" y="4233206"/>
            <a:ext cx="898605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istio-init</a:t>
            </a:r>
            <a:r>
              <a:rPr kumimoji="1" lang="en-US" altLang="ko-KR" sz="800">
                <a:solidFill>
                  <a:schemeClr val="tx1"/>
                </a:solidFill>
              </a:rPr>
              <a:t> Container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98" name="직선 화살표 연결선 397">
            <a:extLst>
              <a:ext uri="{FF2B5EF4-FFF2-40B4-BE49-F238E27FC236}">
                <a16:creationId xmlns:a16="http://schemas.microsoft.com/office/drawing/2014/main" id="{9A829259-30CE-AF4F-96ED-BB5C7567A3E3}"/>
              </a:ext>
            </a:extLst>
          </p:cNvPr>
          <p:cNvCxnSpPr>
            <a:cxnSpLocks/>
            <a:stCxn id="397" idx="0"/>
          </p:cNvCxnSpPr>
          <p:nvPr/>
        </p:nvCxnSpPr>
        <p:spPr>
          <a:xfrm flipV="1">
            <a:off x="1952539" y="3929982"/>
            <a:ext cx="0" cy="30322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3" name="모서리가 둥근 직사각형 402">
            <a:extLst>
              <a:ext uri="{FF2B5EF4-FFF2-40B4-BE49-F238E27FC236}">
                <a16:creationId xmlns:a16="http://schemas.microsoft.com/office/drawing/2014/main" id="{778EBB44-7FEB-049F-37A8-27B25EEB26F6}"/>
              </a:ext>
            </a:extLst>
          </p:cNvPr>
          <p:cNvSpPr/>
          <p:nvPr/>
        </p:nvSpPr>
        <p:spPr>
          <a:xfrm>
            <a:off x="1902589" y="3996087"/>
            <a:ext cx="863630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tx1"/>
                </a:solidFill>
              </a:rPr>
              <a:t>Init iptables</a:t>
            </a:r>
            <a:endParaRPr kumimoji="1" lang="ko-KR" altLang="en-US" sz="800" i="1">
              <a:solidFill>
                <a:schemeClr val="tx1"/>
              </a:solidFill>
            </a:endParaRPr>
          </a:p>
        </p:txBody>
      </p:sp>
      <p:sp>
        <p:nvSpPr>
          <p:cNvPr id="404" name="모서리가 둥근 직사각형 403">
            <a:extLst>
              <a:ext uri="{FF2B5EF4-FFF2-40B4-BE49-F238E27FC236}">
                <a16:creationId xmlns:a16="http://schemas.microsoft.com/office/drawing/2014/main" id="{0399EA3D-42FC-7C3A-2D00-0A0022EF0C8A}"/>
              </a:ext>
            </a:extLst>
          </p:cNvPr>
          <p:cNvSpPr/>
          <p:nvPr/>
        </p:nvSpPr>
        <p:spPr>
          <a:xfrm>
            <a:off x="1149972" y="4596705"/>
            <a:ext cx="1012364" cy="190936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rgbClr val="FFC000"/>
                </a:solidFill>
              </a:rPr>
              <a:t>Inbound Traffic</a:t>
            </a:r>
            <a:endParaRPr kumimoji="1" lang="ko-KR" altLang="en-US" sz="800" i="1">
              <a:solidFill>
                <a:srgbClr val="FFC000"/>
              </a:solidFill>
            </a:endParaRPr>
          </a:p>
        </p:txBody>
      </p:sp>
      <p:sp>
        <p:nvSpPr>
          <p:cNvPr id="409" name="모서리가 둥근 직사각형 408">
            <a:extLst>
              <a:ext uri="{FF2B5EF4-FFF2-40B4-BE49-F238E27FC236}">
                <a16:creationId xmlns:a16="http://schemas.microsoft.com/office/drawing/2014/main" id="{5CC8C72C-964E-2CCA-3E93-66CA77972FDE}"/>
              </a:ext>
            </a:extLst>
          </p:cNvPr>
          <p:cNvSpPr/>
          <p:nvPr/>
        </p:nvSpPr>
        <p:spPr>
          <a:xfrm>
            <a:off x="1144789" y="2880464"/>
            <a:ext cx="1012364" cy="246668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6"/>
                </a:solidFill>
              </a:rPr>
              <a:t>Outbound</a:t>
            </a:r>
          </a:p>
          <a:p>
            <a:r>
              <a:rPr kumimoji="1" lang="en-US" altLang="ko-KR" sz="800" i="1">
                <a:solidFill>
                  <a:schemeClr val="accent6"/>
                </a:solidFill>
              </a:rPr>
              <a:t>Traffic</a:t>
            </a:r>
            <a:endParaRPr kumimoji="1" lang="ko-KR" altLang="en-US" sz="800" i="1">
              <a:solidFill>
                <a:schemeClr val="accent6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A352434C-FB37-4E54-8AA5-B6E0DF3D01CB}"/>
              </a:ext>
            </a:extLst>
          </p:cNvPr>
          <p:cNvSpPr/>
          <p:nvPr/>
        </p:nvSpPr>
        <p:spPr>
          <a:xfrm>
            <a:off x="1053995" y="1961276"/>
            <a:ext cx="104411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:8080 /readyz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F276824C-59CA-F97B-0383-4364405B878C}"/>
              </a:ext>
            </a:extLst>
          </p:cNvPr>
          <p:cNvSpPr/>
          <p:nvPr/>
        </p:nvSpPr>
        <p:spPr>
          <a:xfrm>
            <a:off x="1053995" y="2211874"/>
            <a:ext cx="104411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:8080 /startupz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BA77C76B-AE4F-150F-89D0-096CEDAECE91}"/>
              </a:ext>
            </a:extLst>
          </p:cNvPr>
          <p:cNvSpPr/>
          <p:nvPr/>
        </p:nvSpPr>
        <p:spPr>
          <a:xfrm>
            <a:off x="1053995" y="2463601"/>
            <a:ext cx="104411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:8080 /api</a:t>
            </a: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13A4C5DD-0A5F-61C0-AA49-AA4DED4F4970}"/>
              </a:ext>
            </a:extLst>
          </p:cNvPr>
          <p:cNvSpPr/>
          <p:nvPr/>
        </p:nvSpPr>
        <p:spPr>
          <a:xfrm>
            <a:off x="4670217" y="1372942"/>
            <a:ext cx="1866205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:15020 </a:t>
            </a:r>
            <a:r>
              <a:rPr kumimoji="1" lang="en-US" altLang="ko-KR" sz="800">
                <a:solidFill>
                  <a:schemeClr val="tx1"/>
                </a:solidFill>
              </a:rPr>
              <a:t>/app-health/app/livez</a:t>
            </a: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9A109E7E-2B73-1D0B-1220-8C45EA1B26E7}"/>
              </a:ext>
            </a:extLst>
          </p:cNvPr>
          <p:cNvSpPr/>
          <p:nvPr/>
        </p:nvSpPr>
        <p:spPr>
          <a:xfrm>
            <a:off x="4670218" y="1623668"/>
            <a:ext cx="186620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:15020 </a:t>
            </a:r>
            <a:r>
              <a:rPr kumimoji="1" lang="en-US" altLang="ko-KR" sz="800">
                <a:solidFill>
                  <a:schemeClr val="tx1"/>
                </a:solidFill>
              </a:rPr>
              <a:t>/app-health/app/readys</a:t>
            </a: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CDA5164F-3AED-899F-E753-30459804BBC3}"/>
              </a:ext>
            </a:extLst>
          </p:cNvPr>
          <p:cNvSpPr/>
          <p:nvPr/>
        </p:nvSpPr>
        <p:spPr>
          <a:xfrm>
            <a:off x="4670217" y="1870086"/>
            <a:ext cx="1866207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:15020 </a:t>
            </a:r>
            <a:r>
              <a:rPr kumimoji="1" lang="en-US" altLang="ko-KR" sz="800">
                <a:solidFill>
                  <a:schemeClr val="tx1"/>
                </a:solidFill>
              </a:rPr>
              <a:t>/app-health/app/startupz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57E252AA-A720-98ED-F263-C34986A3F165}"/>
              </a:ext>
            </a:extLst>
          </p:cNvPr>
          <p:cNvSpPr/>
          <p:nvPr/>
        </p:nvSpPr>
        <p:spPr>
          <a:xfrm>
            <a:off x="981986" y="141313"/>
            <a:ext cx="1183525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CoreDNS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22E4CCFC-5992-9321-42B0-AF321BB905D3}"/>
              </a:ext>
            </a:extLst>
          </p:cNvPr>
          <p:cNvCxnSpPr>
            <a:cxnSpLocks/>
            <a:stCxn id="9" idx="0"/>
            <a:endCxn id="43" idx="2"/>
          </p:cNvCxnSpPr>
          <p:nvPr/>
        </p:nvCxnSpPr>
        <p:spPr>
          <a:xfrm flipH="1" flipV="1">
            <a:off x="1573749" y="426743"/>
            <a:ext cx="2304" cy="69897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2949F6EA-2A41-181E-DEE7-604E91CBF18B}"/>
              </a:ext>
            </a:extLst>
          </p:cNvPr>
          <p:cNvSpPr/>
          <p:nvPr/>
        </p:nvSpPr>
        <p:spPr>
          <a:xfrm>
            <a:off x="1542019" y="490268"/>
            <a:ext cx="1425891" cy="174389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3"/>
                </a:solidFill>
              </a:rPr>
              <a:t>DNS Lookup</a:t>
            </a:r>
          </a:p>
          <a:p>
            <a:r>
              <a:rPr kumimoji="1" lang="en-US" altLang="ko-KR" sz="800" i="1">
                <a:solidFill>
                  <a:schemeClr val="accent3"/>
                </a:solidFill>
              </a:rPr>
              <a:t>without </a:t>
            </a:r>
            <a:r>
              <a:rPr kumimoji="1" lang="en" altLang="ko-KR" sz="800" i="1">
                <a:solidFill>
                  <a:schemeClr val="accent3"/>
                </a:solidFill>
              </a:rPr>
              <a:t>DNS Capture</a:t>
            </a:r>
            <a:endParaRPr kumimoji="1" lang="ko-KR" altLang="en-US" sz="800" i="1">
              <a:solidFill>
                <a:schemeClr val="accent3"/>
              </a:solidFill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4E849626-3753-15B6-550C-5041F36AC737}"/>
              </a:ext>
            </a:extLst>
          </p:cNvPr>
          <p:cNvCxnSpPr>
            <a:cxnSpLocks/>
          </p:cNvCxnSpPr>
          <p:nvPr/>
        </p:nvCxnSpPr>
        <p:spPr>
          <a:xfrm>
            <a:off x="1797951" y="2784150"/>
            <a:ext cx="0" cy="490689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모서리가 둥근 직사각형 56">
            <a:extLst>
              <a:ext uri="{FF2B5EF4-FFF2-40B4-BE49-F238E27FC236}">
                <a16:creationId xmlns:a16="http://schemas.microsoft.com/office/drawing/2014/main" id="{E48B3A8E-102E-6D5E-C00E-A269F29B76F4}"/>
              </a:ext>
            </a:extLst>
          </p:cNvPr>
          <p:cNvSpPr/>
          <p:nvPr/>
        </p:nvSpPr>
        <p:spPr>
          <a:xfrm>
            <a:off x="1746617" y="2868990"/>
            <a:ext cx="1067216" cy="250727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rgbClr val="00B050"/>
                </a:solidFill>
              </a:rPr>
              <a:t>DNS Lookup </a:t>
            </a:r>
          </a:p>
          <a:p>
            <a:r>
              <a:rPr kumimoji="1" lang="en-US" altLang="ko-KR" sz="800" i="1">
                <a:solidFill>
                  <a:srgbClr val="00B050"/>
                </a:solidFill>
              </a:rPr>
              <a:t>with </a:t>
            </a:r>
          </a:p>
          <a:p>
            <a:r>
              <a:rPr kumimoji="1" lang="en-US" altLang="ko-KR" sz="800" i="1">
                <a:solidFill>
                  <a:srgbClr val="00B050"/>
                </a:solidFill>
              </a:rPr>
              <a:t>DNS Capture</a:t>
            </a:r>
            <a:endParaRPr kumimoji="1" lang="ko-KR" altLang="en-US" sz="800" b="1" i="1" u="sng">
              <a:solidFill>
                <a:srgbClr val="00B050"/>
              </a:solidFill>
            </a:endParaRP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30318B24-BDD2-4676-FD8C-442C4FD50A5F}"/>
              </a:ext>
            </a:extLst>
          </p:cNvPr>
          <p:cNvCxnSpPr>
            <a:cxnSpLocks/>
          </p:cNvCxnSpPr>
          <p:nvPr/>
        </p:nvCxnSpPr>
        <p:spPr>
          <a:xfrm flipV="1">
            <a:off x="1115616" y="2714328"/>
            <a:ext cx="0" cy="560511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[E] 66">
            <a:extLst>
              <a:ext uri="{FF2B5EF4-FFF2-40B4-BE49-F238E27FC236}">
                <a16:creationId xmlns:a16="http://schemas.microsoft.com/office/drawing/2014/main" id="{C60E6EE3-17CC-434D-EADF-155B354056AA}"/>
              </a:ext>
            </a:extLst>
          </p:cNvPr>
          <p:cNvCxnSpPr>
            <a:cxnSpLocks/>
            <a:endCxn id="88" idx="1"/>
          </p:cNvCxnSpPr>
          <p:nvPr/>
        </p:nvCxnSpPr>
        <p:spPr>
          <a:xfrm rot="16200000" flipH="1">
            <a:off x="3594467" y="2321470"/>
            <a:ext cx="1983173" cy="178135"/>
          </a:xfrm>
          <a:prstGeom prst="bentConnector2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꺾인 연결선[E] 91">
            <a:extLst>
              <a:ext uri="{FF2B5EF4-FFF2-40B4-BE49-F238E27FC236}">
                <a16:creationId xmlns:a16="http://schemas.microsoft.com/office/drawing/2014/main" id="{63D0E774-A375-2CDC-0436-8B9DD6191CD0}"/>
              </a:ext>
            </a:extLst>
          </p:cNvPr>
          <p:cNvCxnSpPr>
            <a:cxnSpLocks/>
            <a:stCxn id="264" idx="3"/>
            <a:endCxn id="21" idx="1"/>
          </p:cNvCxnSpPr>
          <p:nvPr/>
        </p:nvCxnSpPr>
        <p:spPr>
          <a:xfrm flipV="1">
            <a:off x="2170119" y="1897999"/>
            <a:ext cx="540057" cy="1704412"/>
          </a:xfrm>
          <a:prstGeom prst="bentConnector3">
            <a:avLst>
              <a:gd name="adj1" fmla="val 62620"/>
            </a:avLst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꺾인 연결선[E] 136">
            <a:extLst>
              <a:ext uri="{FF2B5EF4-FFF2-40B4-BE49-F238E27FC236}">
                <a16:creationId xmlns:a16="http://schemas.microsoft.com/office/drawing/2014/main" id="{F2C9A199-7328-E441-D8D5-FA6E52045D7C}"/>
              </a:ext>
            </a:extLst>
          </p:cNvPr>
          <p:cNvCxnSpPr>
            <a:cxnSpLocks/>
            <a:stCxn id="28" idx="1"/>
            <a:endCxn id="25" idx="3"/>
          </p:cNvCxnSpPr>
          <p:nvPr/>
        </p:nvCxnSpPr>
        <p:spPr>
          <a:xfrm rot="10800000" flipV="1">
            <a:off x="2098112" y="1293588"/>
            <a:ext cx="612065" cy="292857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꺾인 연결선[E] 154">
            <a:extLst>
              <a:ext uri="{FF2B5EF4-FFF2-40B4-BE49-F238E27FC236}">
                <a16:creationId xmlns:a16="http://schemas.microsoft.com/office/drawing/2014/main" id="{E76D6272-C9DA-79BB-92AB-7775B25CD4BD}"/>
              </a:ext>
            </a:extLst>
          </p:cNvPr>
          <p:cNvCxnSpPr>
            <a:cxnSpLocks/>
            <a:stCxn id="90" idx="1"/>
          </p:cNvCxnSpPr>
          <p:nvPr/>
        </p:nvCxnSpPr>
        <p:spPr>
          <a:xfrm rot="10800000">
            <a:off x="4410762" y="1672612"/>
            <a:ext cx="264359" cy="2132013"/>
          </a:xfrm>
          <a:prstGeom prst="bentConnector2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BBE80F35-AF07-84D5-F31C-70A0C73E94C0}"/>
              </a:ext>
            </a:extLst>
          </p:cNvPr>
          <p:cNvSpPr txBox="1"/>
          <p:nvPr/>
        </p:nvSpPr>
        <p:spPr>
          <a:xfrm>
            <a:off x="6750050" y="6311900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ko-KR"/>
          </a:p>
          <a:p>
            <a:endParaRPr kumimoji="1" lang="en-US" altLang="ko-KR"/>
          </a:p>
          <a:p>
            <a:endParaRPr kumimoji="1" lang="en-US" altLang="ko-KR"/>
          </a:p>
          <a:p>
            <a:endParaRPr kumimoji="1" lang="ko-KR" altLang="en-US"/>
          </a:p>
        </p:txBody>
      </p: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9B6B40C5-5F84-D228-0A88-CDF0ACFE33ED}"/>
              </a:ext>
            </a:extLst>
          </p:cNvPr>
          <p:cNvCxnSpPr>
            <a:cxnSpLocks/>
          </p:cNvCxnSpPr>
          <p:nvPr/>
        </p:nvCxnSpPr>
        <p:spPr>
          <a:xfrm flipV="1">
            <a:off x="6003656" y="3925635"/>
            <a:ext cx="1" cy="866357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모서리가 둥근 직사각형 179">
            <a:extLst>
              <a:ext uri="{FF2B5EF4-FFF2-40B4-BE49-F238E27FC236}">
                <a16:creationId xmlns:a16="http://schemas.microsoft.com/office/drawing/2014/main" id="{50CC63EE-66BB-9FC3-DD0D-36C97F98314C}"/>
              </a:ext>
            </a:extLst>
          </p:cNvPr>
          <p:cNvSpPr/>
          <p:nvPr/>
        </p:nvSpPr>
        <p:spPr>
          <a:xfrm>
            <a:off x="5955946" y="4596705"/>
            <a:ext cx="863630" cy="190936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4"/>
                </a:solidFill>
              </a:rPr>
              <a:t>App Probe</a:t>
            </a:r>
            <a:endParaRPr kumimoji="1" lang="ko-KR" altLang="en-US" sz="800" i="1">
              <a:solidFill>
                <a:schemeClr val="accent4"/>
              </a:solidFill>
            </a:endParaRPr>
          </a:p>
        </p:txBody>
      </p:sp>
      <p:cxnSp>
        <p:nvCxnSpPr>
          <p:cNvPr id="182" name="꺾인 연결선[E] 181">
            <a:extLst>
              <a:ext uri="{FF2B5EF4-FFF2-40B4-BE49-F238E27FC236}">
                <a16:creationId xmlns:a16="http://schemas.microsoft.com/office/drawing/2014/main" id="{09A35D93-F342-7985-C6EA-23E79E527C61}"/>
              </a:ext>
            </a:extLst>
          </p:cNvPr>
          <p:cNvCxnSpPr>
            <a:cxnSpLocks/>
            <a:stCxn id="37" idx="1"/>
            <a:endCxn id="10" idx="3"/>
          </p:cNvCxnSpPr>
          <p:nvPr/>
        </p:nvCxnSpPr>
        <p:spPr>
          <a:xfrm rot="10800000" flipV="1">
            <a:off x="2098112" y="1749032"/>
            <a:ext cx="2572107" cy="337608"/>
          </a:xfrm>
          <a:prstGeom prst="bentConnector3">
            <a:avLst>
              <a:gd name="adj1" fmla="val 1642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6DE4A309-094A-C6F7-0FBF-23C2A045365C}"/>
              </a:ext>
            </a:extLst>
          </p:cNvPr>
          <p:cNvCxnSpPr>
            <a:cxnSpLocks/>
          </p:cNvCxnSpPr>
          <p:nvPr/>
        </p:nvCxnSpPr>
        <p:spPr>
          <a:xfrm flipV="1">
            <a:off x="6428325" y="2117670"/>
            <a:ext cx="0" cy="1555435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643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DD573-88C9-364C-AEC5-9B99ABD0A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10F8ABF3-67F5-90FC-F847-7E0D22B82D69}"/>
              </a:ext>
            </a:extLst>
          </p:cNvPr>
          <p:cNvSpPr/>
          <p:nvPr/>
        </p:nvSpPr>
        <p:spPr>
          <a:xfrm>
            <a:off x="5016111" y="4724948"/>
            <a:ext cx="1187710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kubelet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51822AE3-68DF-83AF-1E73-47472EB24D98}"/>
              </a:ext>
            </a:extLst>
          </p:cNvPr>
          <p:cNvSpPr/>
          <p:nvPr/>
        </p:nvSpPr>
        <p:spPr>
          <a:xfrm>
            <a:off x="909979" y="845092"/>
            <a:ext cx="5863887" cy="3687673"/>
          </a:xfrm>
          <a:prstGeom prst="roundRect">
            <a:avLst>
              <a:gd name="adj" fmla="val 1803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App Pod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9EDAE8A6-C821-BA1A-AF7A-A58E98E70C95}"/>
              </a:ext>
            </a:extLst>
          </p:cNvPr>
          <p:cNvSpPr/>
          <p:nvPr/>
        </p:nvSpPr>
        <p:spPr>
          <a:xfrm>
            <a:off x="981987" y="1157432"/>
            <a:ext cx="1188132" cy="911534"/>
          </a:xfrm>
          <a:prstGeom prst="roundRect">
            <a:avLst>
              <a:gd name="adj" fmla="val 890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App</a:t>
            </a:r>
            <a:r>
              <a:rPr kumimoji="1" lang="en-US" altLang="ko-KR" sz="800">
                <a:solidFill>
                  <a:schemeClr val="tx1"/>
                </a:solidFill>
              </a:rPr>
              <a:t> Container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FCCCE913-ECFB-6468-20F6-2B3F0C8270E9}"/>
              </a:ext>
            </a:extLst>
          </p:cNvPr>
          <p:cNvSpPr/>
          <p:nvPr/>
        </p:nvSpPr>
        <p:spPr>
          <a:xfrm>
            <a:off x="2566162" y="914373"/>
            <a:ext cx="4140012" cy="3534515"/>
          </a:xfrm>
          <a:prstGeom prst="roundRect">
            <a:avLst>
              <a:gd name="adj" fmla="val 1768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istio-proxy</a:t>
            </a:r>
            <a:r>
              <a:rPr kumimoji="1" lang="en-US" altLang="ko-KR" sz="800">
                <a:solidFill>
                  <a:schemeClr val="tx1"/>
                </a:solidFill>
              </a:rPr>
              <a:t> Container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99998CDC-8886-8332-B131-FC5FFB1F0D23}"/>
              </a:ext>
            </a:extLst>
          </p:cNvPr>
          <p:cNvSpPr/>
          <p:nvPr/>
        </p:nvSpPr>
        <p:spPr>
          <a:xfrm>
            <a:off x="2638170" y="1199803"/>
            <a:ext cx="3995995" cy="1434313"/>
          </a:xfrm>
          <a:prstGeom prst="roundRect">
            <a:avLst>
              <a:gd name="adj" fmla="val 3705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pilot-agent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CA2CA83F-A4BF-2672-0BCF-A4BF61B31CCC}"/>
              </a:ext>
            </a:extLst>
          </p:cNvPr>
          <p:cNvSpPr/>
          <p:nvPr/>
        </p:nvSpPr>
        <p:spPr>
          <a:xfrm>
            <a:off x="2710178" y="1487835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:15053</a:t>
            </a:r>
            <a:r>
              <a:rPr kumimoji="1" lang="en-US" altLang="ko-KR" sz="800">
                <a:solidFill>
                  <a:schemeClr val="tx1"/>
                </a:solidFill>
              </a:rPr>
              <a:t> DNS (DNS Capture)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5D14139D-D06C-2C24-6F47-236C406FACA1}"/>
              </a:ext>
            </a:extLst>
          </p:cNvPr>
          <p:cNvSpPr/>
          <p:nvPr/>
        </p:nvSpPr>
        <p:spPr>
          <a:xfrm>
            <a:off x="2710178" y="2140972"/>
            <a:ext cx="1869694" cy="414468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unix:///etc/istio/proxy/XDS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Listener, Router, Cluster, Endpoint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Configs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25782B61-FCA9-C51D-9B94-E33DC260B3E7}"/>
              </a:ext>
            </a:extLst>
          </p:cNvPr>
          <p:cNvSpPr/>
          <p:nvPr/>
        </p:nvSpPr>
        <p:spPr>
          <a:xfrm>
            <a:off x="2638170" y="2932402"/>
            <a:ext cx="3995995" cy="1434313"/>
          </a:xfrm>
          <a:prstGeom prst="roundRect">
            <a:avLst>
              <a:gd name="adj" fmla="val 5484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Envoy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D420A395-08A4-9A90-892A-26FECF4BEA17}"/>
              </a:ext>
            </a:extLst>
          </p:cNvPr>
          <p:cNvSpPr/>
          <p:nvPr/>
        </p:nvSpPr>
        <p:spPr>
          <a:xfrm>
            <a:off x="2555776" y="88199"/>
            <a:ext cx="1659552" cy="565567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istiod</a:t>
            </a:r>
          </a:p>
          <a:p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C6FA26B9-D662-9E52-3021-D698D1364B3C}"/>
              </a:ext>
            </a:extLst>
          </p:cNvPr>
          <p:cNvSpPr/>
          <p:nvPr/>
        </p:nvSpPr>
        <p:spPr>
          <a:xfrm>
            <a:off x="1053995" y="1486489"/>
            <a:ext cx="104411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:8080 /api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C9946732-7AFE-C998-2705-746E20658268}"/>
              </a:ext>
            </a:extLst>
          </p:cNvPr>
          <p:cNvSpPr/>
          <p:nvPr/>
        </p:nvSpPr>
        <p:spPr>
          <a:xfrm>
            <a:off x="1053995" y="1737216"/>
            <a:ext cx="104411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:8080 /metrics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7F6EA8C9-BDD7-1CBF-87FF-78BFC6B20FFC}"/>
              </a:ext>
            </a:extLst>
          </p:cNvPr>
          <p:cNvSpPr/>
          <p:nvPr/>
        </p:nvSpPr>
        <p:spPr>
          <a:xfrm>
            <a:off x="4675121" y="1486489"/>
            <a:ext cx="1869692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:15020 </a:t>
            </a:r>
            <a:r>
              <a:rPr kumimoji="1" lang="en-US" altLang="ko-KR" sz="800">
                <a:solidFill>
                  <a:schemeClr val="tx1"/>
                </a:solidFill>
              </a:rPr>
              <a:t>/healthz/ready 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E92919E0-C22E-A504-B395-231C235B367C}"/>
              </a:ext>
            </a:extLst>
          </p:cNvPr>
          <p:cNvSpPr/>
          <p:nvPr/>
        </p:nvSpPr>
        <p:spPr>
          <a:xfrm>
            <a:off x="4675121" y="1737216"/>
            <a:ext cx="1869692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:15020</a:t>
            </a:r>
            <a:r>
              <a:rPr kumimoji="1" lang="en-US" altLang="ko-KR" sz="800">
                <a:solidFill>
                  <a:schemeClr val="tx1"/>
                </a:solidFill>
              </a:rPr>
              <a:t> /stats/prometheus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B0A968F-24BD-679E-42FF-80E81C0077F6}"/>
              </a:ext>
            </a:extLst>
          </p:cNvPr>
          <p:cNvCxnSpPr>
            <a:cxnSpLocks/>
            <a:stCxn id="9" idx="3"/>
            <a:endCxn id="21" idx="1"/>
          </p:cNvCxnSpPr>
          <p:nvPr/>
        </p:nvCxnSpPr>
        <p:spPr>
          <a:xfrm>
            <a:off x="2170119" y="1613199"/>
            <a:ext cx="540059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B3B4C121-81F2-C399-D7F4-6517B7A2D4C8}"/>
              </a:ext>
            </a:extLst>
          </p:cNvPr>
          <p:cNvSpPr/>
          <p:nvPr/>
        </p:nvSpPr>
        <p:spPr>
          <a:xfrm>
            <a:off x="1968738" y="1331332"/>
            <a:ext cx="779370" cy="250727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i="1">
                <a:solidFill>
                  <a:schemeClr val="accent3"/>
                </a:solidFill>
              </a:rPr>
              <a:t>DNS</a:t>
            </a:r>
          </a:p>
          <a:p>
            <a:pPr algn="ctr"/>
            <a:r>
              <a:rPr kumimoji="1" lang="en-US" altLang="ko-KR" sz="800" i="1">
                <a:solidFill>
                  <a:schemeClr val="accent3"/>
                </a:solidFill>
              </a:rPr>
              <a:t>Lookup</a:t>
            </a:r>
            <a:endParaRPr kumimoji="1" lang="ko-KR" altLang="en-US" sz="800" b="1" i="1" u="sng">
              <a:solidFill>
                <a:schemeClr val="accent3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B7DE6783-8241-CC17-4A65-5401BA4A6ABD}"/>
              </a:ext>
            </a:extLst>
          </p:cNvPr>
          <p:cNvSpPr/>
          <p:nvPr/>
        </p:nvSpPr>
        <p:spPr>
          <a:xfrm>
            <a:off x="2629467" y="333759"/>
            <a:ext cx="1512168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:15012 </a:t>
            </a:r>
            <a:r>
              <a:rPr kumimoji="1" lang="en-US" altLang="ko-KR" sz="800">
                <a:solidFill>
                  <a:schemeClr val="tx1"/>
                </a:solidFill>
              </a:rPr>
              <a:t>xDS Server</a:t>
            </a: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83D28801-5AE0-A68A-67DA-9EB3E191D249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3385552" y="653766"/>
            <a:ext cx="0" cy="544904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61E05F34-3089-DA5A-E3DF-A81BD2DD1284}"/>
              </a:ext>
            </a:extLst>
          </p:cNvPr>
          <p:cNvSpPr/>
          <p:nvPr/>
        </p:nvSpPr>
        <p:spPr>
          <a:xfrm>
            <a:off x="4675121" y="2140972"/>
            <a:ext cx="1869694" cy="414468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unix:///var/run/secrets/workload-spiffe-uds/socket</a:t>
            </a:r>
            <a:r>
              <a:rPr kumimoji="1" lang="en-US" altLang="ko-KR" sz="800">
                <a:solidFill>
                  <a:schemeClr val="tx1"/>
                </a:solidFill>
              </a:rPr>
              <a:t> 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Certificates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B9171C9E-E59D-A5DB-3A38-AD632CA82A9F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>
            <a:off x="4636168" y="2634116"/>
            <a:ext cx="0" cy="29828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98F441A0-AED0-B484-EE6B-2B9F8AD38EE6}"/>
              </a:ext>
            </a:extLst>
          </p:cNvPr>
          <p:cNvCxnSpPr>
            <a:cxnSpLocks/>
            <a:stCxn id="28" idx="1"/>
            <a:endCxn id="26" idx="3"/>
          </p:cNvCxnSpPr>
          <p:nvPr/>
        </p:nvCxnSpPr>
        <p:spPr>
          <a:xfrm flipH="1">
            <a:off x="2098111" y="1862580"/>
            <a:ext cx="257701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모서리가 둥근 직사각형 69">
            <a:extLst>
              <a:ext uri="{FF2B5EF4-FFF2-40B4-BE49-F238E27FC236}">
                <a16:creationId xmlns:a16="http://schemas.microsoft.com/office/drawing/2014/main" id="{DEDC31A3-4512-02F3-38A0-CBE38758E843}"/>
              </a:ext>
            </a:extLst>
          </p:cNvPr>
          <p:cNvSpPr/>
          <p:nvPr/>
        </p:nvSpPr>
        <p:spPr>
          <a:xfrm>
            <a:off x="4636168" y="2685320"/>
            <a:ext cx="863630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tx1"/>
                </a:solidFill>
              </a:rPr>
              <a:t>Exec Envoy</a:t>
            </a:r>
            <a:endParaRPr kumimoji="1" lang="ko-KR" altLang="en-US" sz="800" i="1">
              <a:solidFill>
                <a:schemeClr val="tx1"/>
              </a:solidFill>
            </a:endParaRPr>
          </a:p>
        </p:txBody>
      </p:sp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73349957-DFCA-1468-9FE2-BAF6E99BAA5B}"/>
              </a:ext>
            </a:extLst>
          </p:cNvPr>
          <p:cNvSpPr/>
          <p:nvPr/>
        </p:nvSpPr>
        <p:spPr>
          <a:xfrm>
            <a:off x="2710178" y="3205365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:15001</a:t>
            </a:r>
            <a:r>
              <a:rPr kumimoji="1" lang="en-US" altLang="ko-KR" sz="800">
                <a:solidFill>
                  <a:schemeClr val="tx1"/>
                </a:solidFill>
              </a:rPr>
              <a:t> Outbound Traffic</a:t>
            </a:r>
          </a:p>
        </p:txBody>
      </p:sp>
      <p:sp>
        <p:nvSpPr>
          <p:cNvPr id="80" name="모서리가 둥근 직사각형 79">
            <a:extLst>
              <a:ext uri="{FF2B5EF4-FFF2-40B4-BE49-F238E27FC236}">
                <a16:creationId xmlns:a16="http://schemas.microsoft.com/office/drawing/2014/main" id="{35D4BF1A-562B-B3E3-E411-E4BE29FF911A}"/>
              </a:ext>
            </a:extLst>
          </p:cNvPr>
          <p:cNvSpPr/>
          <p:nvPr/>
        </p:nvSpPr>
        <p:spPr>
          <a:xfrm>
            <a:off x="2710178" y="3607864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:15006</a:t>
            </a:r>
            <a:r>
              <a:rPr kumimoji="1" lang="en-US" altLang="ko-KR" sz="800">
                <a:solidFill>
                  <a:schemeClr val="tx1"/>
                </a:solidFill>
              </a:rPr>
              <a:t> Inbound Traffic</a:t>
            </a:r>
          </a:p>
        </p:txBody>
      </p:sp>
      <p:sp>
        <p:nvSpPr>
          <p:cNvPr id="88" name="모서리가 둥근 직사각형 87">
            <a:extLst>
              <a:ext uri="{FF2B5EF4-FFF2-40B4-BE49-F238E27FC236}">
                <a16:creationId xmlns:a16="http://schemas.microsoft.com/office/drawing/2014/main" id="{533BB024-F581-3F80-DA15-DC19CD167A9B}"/>
              </a:ext>
            </a:extLst>
          </p:cNvPr>
          <p:cNvSpPr/>
          <p:nvPr/>
        </p:nvSpPr>
        <p:spPr>
          <a:xfrm>
            <a:off x="4675121" y="3205365"/>
            <a:ext cx="1869692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:15090</a:t>
            </a:r>
            <a:r>
              <a:rPr kumimoji="1" lang="en-US" altLang="ko-KR" sz="800">
                <a:solidFill>
                  <a:schemeClr val="tx1"/>
                </a:solidFill>
              </a:rPr>
              <a:t> /stats/prometheus</a:t>
            </a:r>
          </a:p>
        </p:txBody>
      </p:sp>
      <p:sp>
        <p:nvSpPr>
          <p:cNvPr id="90" name="모서리가 둥근 직사각형 89">
            <a:extLst>
              <a:ext uri="{FF2B5EF4-FFF2-40B4-BE49-F238E27FC236}">
                <a16:creationId xmlns:a16="http://schemas.microsoft.com/office/drawing/2014/main" id="{B7E2AF36-BBD9-F82B-F507-0514C547884D}"/>
              </a:ext>
            </a:extLst>
          </p:cNvPr>
          <p:cNvSpPr/>
          <p:nvPr/>
        </p:nvSpPr>
        <p:spPr>
          <a:xfrm>
            <a:off x="4675120" y="3607864"/>
            <a:ext cx="1869693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:15021</a:t>
            </a:r>
            <a:r>
              <a:rPr kumimoji="1" lang="en-US" altLang="ko-KR" sz="800">
                <a:solidFill>
                  <a:schemeClr val="tx1"/>
                </a:solidFill>
              </a:rPr>
              <a:t> /healthz/ready</a:t>
            </a:r>
          </a:p>
        </p:txBody>
      </p:sp>
      <p:sp>
        <p:nvSpPr>
          <p:cNvPr id="101" name="모서리가 둥근 직사각형 100">
            <a:extLst>
              <a:ext uri="{FF2B5EF4-FFF2-40B4-BE49-F238E27FC236}">
                <a16:creationId xmlns:a16="http://schemas.microsoft.com/office/drawing/2014/main" id="{E0E5DBDB-3752-FAD2-778E-B488F46DF57E}"/>
              </a:ext>
            </a:extLst>
          </p:cNvPr>
          <p:cNvSpPr/>
          <p:nvPr/>
        </p:nvSpPr>
        <p:spPr>
          <a:xfrm>
            <a:off x="2710178" y="4009531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:15000</a:t>
            </a:r>
            <a:r>
              <a:rPr kumimoji="1" lang="en-US" altLang="ko-KR" sz="800">
                <a:solidFill>
                  <a:schemeClr val="tx1"/>
                </a:solidFill>
              </a:rPr>
              <a:t> Admin</a:t>
            </a:r>
          </a:p>
        </p:txBody>
      </p:sp>
      <p:cxnSp>
        <p:nvCxnSpPr>
          <p:cNvPr id="151" name="꺾인 연결선[E] 150">
            <a:extLst>
              <a:ext uri="{FF2B5EF4-FFF2-40B4-BE49-F238E27FC236}">
                <a16:creationId xmlns:a16="http://schemas.microsoft.com/office/drawing/2014/main" id="{2B4C8E85-15FC-4751-E6AA-18126F6F704A}"/>
              </a:ext>
            </a:extLst>
          </p:cNvPr>
          <p:cNvCxnSpPr>
            <a:cxnSpLocks/>
            <a:stCxn id="28" idx="1"/>
            <a:endCxn id="88" idx="1"/>
          </p:cNvCxnSpPr>
          <p:nvPr/>
        </p:nvCxnSpPr>
        <p:spPr>
          <a:xfrm rot="10800000" flipV="1">
            <a:off x="4675121" y="1862579"/>
            <a:ext cx="12700" cy="1468149"/>
          </a:xfrm>
          <a:prstGeom prst="bentConnector3">
            <a:avLst>
              <a:gd name="adj1" fmla="val 180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모서리가 둥근 직사각형 153">
            <a:extLst>
              <a:ext uri="{FF2B5EF4-FFF2-40B4-BE49-F238E27FC236}">
                <a16:creationId xmlns:a16="http://schemas.microsoft.com/office/drawing/2014/main" id="{BDB68A43-EC42-5304-A0CC-BEE8CF2BD367}"/>
              </a:ext>
            </a:extLst>
          </p:cNvPr>
          <p:cNvSpPr/>
          <p:nvPr/>
        </p:nvSpPr>
        <p:spPr>
          <a:xfrm>
            <a:off x="5023942" y="650729"/>
            <a:ext cx="1389510" cy="190936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i="1">
                <a:solidFill>
                  <a:schemeClr val="accent1"/>
                </a:solidFill>
              </a:rPr>
              <a:t>Scrape Metrics</a:t>
            </a:r>
            <a:endParaRPr kumimoji="1" lang="ko-KR" altLang="en-US" sz="800" i="1">
              <a:solidFill>
                <a:schemeClr val="accent1"/>
              </a:solidFill>
            </a:endParaRPr>
          </a:p>
        </p:txBody>
      </p: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57AF8112-39C9-F28F-4A0C-A1CFB1F00C2F}"/>
              </a:ext>
            </a:extLst>
          </p:cNvPr>
          <p:cNvCxnSpPr>
            <a:cxnSpLocks/>
            <a:stCxn id="6" idx="0"/>
            <a:endCxn id="90" idx="2"/>
          </p:cNvCxnSpPr>
          <p:nvPr/>
        </p:nvCxnSpPr>
        <p:spPr>
          <a:xfrm flipV="1">
            <a:off x="5609966" y="3858591"/>
            <a:ext cx="1" cy="86635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모서리가 둥근 직사각형 163">
            <a:extLst>
              <a:ext uri="{FF2B5EF4-FFF2-40B4-BE49-F238E27FC236}">
                <a16:creationId xmlns:a16="http://schemas.microsoft.com/office/drawing/2014/main" id="{F46CAFF0-6F67-3B58-D8BF-9B8599F46E8B}"/>
              </a:ext>
            </a:extLst>
          </p:cNvPr>
          <p:cNvSpPr/>
          <p:nvPr/>
        </p:nvSpPr>
        <p:spPr>
          <a:xfrm>
            <a:off x="5579194" y="4525309"/>
            <a:ext cx="863630" cy="190936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rgbClr val="C00000"/>
                </a:solidFill>
              </a:rPr>
              <a:t>Health Check</a:t>
            </a:r>
            <a:endParaRPr kumimoji="1" lang="ko-KR" altLang="en-US" sz="800" i="1">
              <a:solidFill>
                <a:srgbClr val="C00000"/>
              </a:solidFill>
            </a:endParaRPr>
          </a:p>
        </p:txBody>
      </p:sp>
      <p:sp>
        <p:nvSpPr>
          <p:cNvPr id="167" name="모서리가 둥근 직사각형 166">
            <a:extLst>
              <a:ext uri="{FF2B5EF4-FFF2-40B4-BE49-F238E27FC236}">
                <a16:creationId xmlns:a16="http://schemas.microsoft.com/office/drawing/2014/main" id="{7BBF1D60-F920-2530-0ECB-C826DE8FB756}"/>
              </a:ext>
            </a:extLst>
          </p:cNvPr>
          <p:cNvSpPr/>
          <p:nvPr/>
        </p:nvSpPr>
        <p:spPr>
          <a:xfrm>
            <a:off x="1411040" y="652531"/>
            <a:ext cx="2129944" cy="195598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5"/>
                </a:solidFill>
              </a:rPr>
              <a:t>LDS, RDS, CDS, EDS, SDS, NDS via ADS</a:t>
            </a:r>
            <a:endParaRPr kumimoji="1" lang="ko-KR" altLang="en-US" sz="800" i="1">
              <a:solidFill>
                <a:schemeClr val="accent5"/>
              </a:solidFill>
            </a:endParaRPr>
          </a:p>
        </p:txBody>
      </p: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6C8FD3C9-3A70-8FBE-5C12-4C560EB29368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645025" y="2555440"/>
            <a:ext cx="0" cy="376962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모서리가 둥근 직사각형 170">
            <a:extLst>
              <a:ext uri="{FF2B5EF4-FFF2-40B4-BE49-F238E27FC236}">
                <a16:creationId xmlns:a16="http://schemas.microsoft.com/office/drawing/2014/main" id="{8FEAA2D0-C12E-6E6F-BFED-839411F3A038}"/>
              </a:ext>
            </a:extLst>
          </p:cNvPr>
          <p:cNvSpPr/>
          <p:nvPr/>
        </p:nvSpPr>
        <p:spPr>
          <a:xfrm>
            <a:off x="2555776" y="2685320"/>
            <a:ext cx="1841911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5"/>
                </a:solidFill>
              </a:rPr>
              <a:t>LDS, RDS, CDS, EDS </a:t>
            </a:r>
          </a:p>
          <a:p>
            <a:r>
              <a:rPr kumimoji="1" lang="en-US" altLang="ko-KR" sz="800" i="1">
                <a:solidFill>
                  <a:schemeClr val="accent5"/>
                </a:solidFill>
              </a:rPr>
              <a:t>via ADS</a:t>
            </a:r>
            <a:endParaRPr kumimoji="1" lang="ko-KR" altLang="en-US" sz="800" i="1">
              <a:solidFill>
                <a:schemeClr val="accent5"/>
              </a:solidFill>
            </a:endParaRPr>
          </a:p>
        </p:txBody>
      </p:sp>
      <p:sp>
        <p:nvSpPr>
          <p:cNvPr id="187" name="모서리가 둥근 직사각형 186">
            <a:extLst>
              <a:ext uri="{FF2B5EF4-FFF2-40B4-BE49-F238E27FC236}">
                <a16:creationId xmlns:a16="http://schemas.microsoft.com/office/drawing/2014/main" id="{C2530E88-8BCB-021E-2EB7-FBD19733DAC8}"/>
              </a:ext>
            </a:extLst>
          </p:cNvPr>
          <p:cNvSpPr/>
          <p:nvPr/>
        </p:nvSpPr>
        <p:spPr>
          <a:xfrm>
            <a:off x="5461554" y="365299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Prometheus Server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2892618D-F4ED-199D-C4C1-60C609BD7950}"/>
              </a:ext>
            </a:extLst>
          </p:cNvPr>
          <p:cNvCxnSpPr>
            <a:cxnSpLocks/>
            <a:stCxn id="187" idx="2"/>
          </p:cNvCxnSpPr>
          <p:nvPr/>
        </p:nvCxnSpPr>
        <p:spPr>
          <a:xfrm>
            <a:off x="6116147" y="650729"/>
            <a:ext cx="0" cy="1095882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BC6E3950-D310-CC30-25A2-236A724D1CE4}"/>
              </a:ext>
            </a:extLst>
          </p:cNvPr>
          <p:cNvCxnSpPr>
            <a:cxnSpLocks/>
          </p:cNvCxnSpPr>
          <p:nvPr/>
        </p:nvCxnSpPr>
        <p:spPr>
          <a:xfrm flipV="1">
            <a:off x="6454598" y="1746611"/>
            <a:ext cx="0" cy="1861253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화살표 연결선 258">
            <a:extLst>
              <a:ext uri="{FF2B5EF4-FFF2-40B4-BE49-F238E27FC236}">
                <a16:creationId xmlns:a16="http://schemas.microsoft.com/office/drawing/2014/main" id="{41B0BB69-DDE6-7BA3-7A48-0A2975AA9C4D}"/>
              </a:ext>
            </a:extLst>
          </p:cNvPr>
          <p:cNvCxnSpPr>
            <a:cxnSpLocks/>
            <a:stCxn id="51" idx="2"/>
          </p:cNvCxnSpPr>
          <p:nvPr/>
        </p:nvCxnSpPr>
        <p:spPr>
          <a:xfrm flipH="1">
            <a:off x="5609966" y="2555440"/>
            <a:ext cx="2" cy="376962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모서리가 둥근 직사각형 260">
            <a:extLst>
              <a:ext uri="{FF2B5EF4-FFF2-40B4-BE49-F238E27FC236}">
                <a16:creationId xmlns:a16="http://schemas.microsoft.com/office/drawing/2014/main" id="{4C75D58F-6DCE-0384-0EA8-54A7E259DCE1}"/>
              </a:ext>
            </a:extLst>
          </p:cNvPr>
          <p:cNvSpPr/>
          <p:nvPr/>
        </p:nvSpPr>
        <p:spPr>
          <a:xfrm>
            <a:off x="5586023" y="2685320"/>
            <a:ext cx="446260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5"/>
                </a:solidFill>
              </a:rPr>
              <a:t>SDS</a:t>
            </a:r>
            <a:endParaRPr kumimoji="1" lang="ko-KR" altLang="en-US" sz="800" i="1">
              <a:solidFill>
                <a:schemeClr val="accent5"/>
              </a:solidFill>
            </a:endParaRPr>
          </a:p>
        </p:txBody>
      </p:sp>
      <p:sp>
        <p:nvSpPr>
          <p:cNvPr id="264" name="모서리가 둥근 직사각형 263">
            <a:extLst>
              <a:ext uri="{FF2B5EF4-FFF2-40B4-BE49-F238E27FC236}">
                <a16:creationId xmlns:a16="http://schemas.microsoft.com/office/drawing/2014/main" id="{A00BCFA2-7294-1C24-4002-B8170BE71063}"/>
              </a:ext>
            </a:extLst>
          </p:cNvPr>
          <p:cNvSpPr/>
          <p:nvPr/>
        </p:nvSpPr>
        <p:spPr>
          <a:xfrm>
            <a:off x="986188" y="3203443"/>
            <a:ext cx="1183931" cy="655143"/>
          </a:xfrm>
          <a:prstGeom prst="roundRect">
            <a:avLst>
              <a:gd name="adj" fmla="val 5720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iptables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0098E5F3-3CB6-CD23-425B-4ECA6829A5B0}"/>
              </a:ext>
            </a:extLst>
          </p:cNvPr>
          <p:cNvCxnSpPr>
            <a:cxnSpLocks/>
          </p:cNvCxnSpPr>
          <p:nvPr/>
        </p:nvCxnSpPr>
        <p:spPr>
          <a:xfrm>
            <a:off x="1432129" y="2068966"/>
            <a:ext cx="0" cy="1134477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화살표 연결선 272">
            <a:extLst>
              <a:ext uri="{FF2B5EF4-FFF2-40B4-BE49-F238E27FC236}">
                <a16:creationId xmlns:a16="http://schemas.microsoft.com/office/drawing/2014/main" id="{6241F1E3-888D-76F0-C35E-50D18CE3A45F}"/>
              </a:ext>
            </a:extLst>
          </p:cNvPr>
          <p:cNvCxnSpPr>
            <a:cxnSpLocks/>
            <a:endCxn id="75" idx="1"/>
          </p:cNvCxnSpPr>
          <p:nvPr/>
        </p:nvCxnSpPr>
        <p:spPr>
          <a:xfrm>
            <a:off x="2169697" y="3330729"/>
            <a:ext cx="540481" cy="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화살표 연결선 276">
            <a:extLst>
              <a:ext uri="{FF2B5EF4-FFF2-40B4-BE49-F238E27FC236}">
                <a16:creationId xmlns:a16="http://schemas.microsoft.com/office/drawing/2014/main" id="{A21ABE42-291E-7BF8-A97F-3336DC0BA7B0}"/>
              </a:ext>
            </a:extLst>
          </p:cNvPr>
          <p:cNvCxnSpPr>
            <a:cxnSpLocks/>
          </p:cNvCxnSpPr>
          <p:nvPr/>
        </p:nvCxnSpPr>
        <p:spPr>
          <a:xfrm flipH="1">
            <a:off x="2169697" y="3438061"/>
            <a:ext cx="468473" cy="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모서리가 둥근 직사각형 280">
            <a:extLst>
              <a:ext uri="{FF2B5EF4-FFF2-40B4-BE49-F238E27FC236}">
                <a16:creationId xmlns:a16="http://schemas.microsoft.com/office/drawing/2014/main" id="{587E4D22-00E9-A6EB-4224-62FA5C4C6BBD}"/>
              </a:ext>
            </a:extLst>
          </p:cNvPr>
          <p:cNvSpPr/>
          <p:nvPr/>
        </p:nvSpPr>
        <p:spPr>
          <a:xfrm>
            <a:off x="3044888" y="4734592"/>
            <a:ext cx="1187710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istioctl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cxnSp>
        <p:nvCxnSpPr>
          <p:cNvPr id="283" name="직선 화살표 연결선 282">
            <a:extLst>
              <a:ext uri="{FF2B5EF4-FFF2-40B4-BE49-F238E27FC236}">
                <a16:creationId xmlns:a16="http://schemas.microsoft.com/office/drawing/2014/main" id="{E3982DED-C138-B14F-DFC7-7322DCDC5D96}"/>
              </a:ext>
            </a:extLst>
          </p:cNvPr>
          <p:cNvCxnSpPr>
            <a:cxnSpLocks/>
            <a:stCxn id="281" idx="0"/>
            <a:endCxn id="101" idx="2"/>
          </p:cNvCxnSpPr>
          <p:nvPr/>
        </p:nvCxnSpPr>
        <p:spPr>
          <a:xfrm flipV="1">
            <a:off x="3638743" y="4260258"/>
            <a:ext cx="1" cy="47433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모서리가 둥근 직사각형 288">
            <a:extLst>
              <a:ext uri="{FF2B5EF4-FFF2-40B4-BE49-F238E27FC236}">
                <a16:creationId xmlns:a16="http://schemas.microsoft.com/office/drawing/2014/main" id="{F3B3BCFB-B395-BF1A-CAA8-739E015EC4A7}"/>
              </a:ext>
            </a:extLst>
          </p:cNvPr>
          <p:cNvSpPr/>
          <p:nvPr/>
        </p:nvSpPr>
        <p:spPr>
          <a:xfrm>
            <a:off x="981987" y="4724948"/>
            <a:ext cx="1187710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App </a:t>
            </a:r>
            <a:r>
              <a:rPr kumimoji="1" lang="en-US" altLang="ko-KR" sz="800">
                <a:solidFill>
                  <a:schemeClr val="tx1"/>
                </a:solidFill>
              </a:rPr>
              <a:t>Pod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92" name="직선 화살표 연결선 291">
            <a:extLst>
              <a:ext uri="{FF2B5EF4-FFF2-40B4-BE49-F238E27FC236}">
                <a16:creationId xmlns:a16="http://schemas.microsoft.com/office/drawing/2014/main" id="{ED1B416B-E89E-2EDF-3F6A-08C18BDEC5B1}"/>
              </a:ext>
            </a:extLst>
          </p:cNvPr>
          <p:cNvCxnSpPr>
            <a:cxnSpLocks/>
          </p:cNvCxnSpPr>
          <p:nvPr/>
        </p:nvCxnSpPr>
        <p:spPr>
          <a:xfrm>
            <a:off x="1285066" y="3858586"/>
            <a:ext cx="0" cy="865505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화살표 연결선 377">
            <a:extLst>
              <a:ext uri="{FF2B5EF4-FFF2-40B4-BE49-F238E27FC236}">
                <a16:creationId xmlns:a16="http://schemas.microsoft.com/office/drawing/2014/main" id="{766ED5BC-A2A8-5AB3-5B0E-6D375BD941AB}"/>
              </a:ext>
            </a:extLst>
          </p:cNvPr>
          <p:cNvCxnSpPr>
            <a:cxnSpLocks/>
          </p:cNvCxnSpPr>
          <p:nvPr/>
        </p:nvCxnSpPr>
        <p:spPr>
          <a:xfrm flipV="1">
            <a:off x="1420849" y="3858586"/>
            <a:ext cx="0" cy="865505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화살표 연결선 380">
            <a:extLst>
              <a:ext uri="{FF2B5EF4-FFF2-40B4-BE49-F238E27FC236}">
                <a16:creationId xmlns:a16="http://schemas.microsoft.com/office/drawing/2014/main" id="{B142EAE1-FED7-8157-F0A8-359632DF160E}"/>
              </a:ext>
            </a:extLst>
          </p:cNvPr>
          <p:cNvCxnSpPr>
            <a:cxnSpLocks/>
          </p:cNvCxnSpPr>
          <p:nvPr/>
        </p:nvCxnSpPr>
        <p:spPr>
          <a:xfrm flipV="1">
            <a:off x="1285066" y="2071708"/>
            <a:ext cx="0" cy="1131735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화살표 연결선 382">
            <a:extLst>
              <a:ext uri="{FF2B5EF4-FFF2-40B4-BE49-F238E27FC236}">
                <a16:creationId xmlns:a16="http://schemas.microsoft.com/office/drawing/2014/main" id="{D0BA4242-2972-97CC-FB8C-7E67B13DD9D6}"/>
              </a:ext>
            </a:extLst>
          </p:cNvPr>
          <p:cNvCxnSpPr>
            <a:cxnSpLocks/>
            <a:endCxn id="80" idx="1"/>
          </p:cNvCxnSpPr>
          <p:nvPr/>
        </p:nvCxnSpPr>
        <p:spPr>
          <a:xfrm>
            <a:off x="2165512" y="3733228"/>
            <a:ext cx="544666" cy="0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화살표 연결선 387">
            <a:extLst>
              <a:ext uri="{FF2B5EF4-FFF2-40B4-BE49-F238E27FC236}">
                <a16:creationId xmlns:a16="http://schemas.microsoft.com/office/drawing/2014/main" id="{C97011D1-B40B-CB5E-5184-92F99503F20C}"/>
              </a:ext>
            </a:extLst>
          </p:cNvPr>
          <p:cNvCxnSpPr>
            <a:cxnSpLocks/>
          </p:cNvCxnSpPr>
          <p:nvPr/>
        </p:nvCxnSpPr>
        <p:spPr>
          <a:xfrm flipH="1">
            <a:off x="2165512" y="3624400"/>
            <a:ext cx="472658" cy="1496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모서리가 둥근 직사각형 393">
            <a:extLst>
              <a:ext uri="{FF2B5EF4-FFF2-40B4-BE49-F238E27FC236}">
                <a16:creationId xmlns:a16="http://schemas.microsoft.com/office/drawing/2014/main" id="{C05917A6-8B4A-F683-1B34-CFFF82224DF2}"/>
              </a:ext>
            </a:extLst>
          </p:cNvPr>
          <p:cNvSpPr/>
          <p:nvPr/>
        </p:nvSpPr>
        <p:spPr>
          <a:xfrm>
            <a:off x="3598684" y="4527814"/>
            <a:ext cx="1284681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tx1"/>
                </a:solidFill>
              </a:rPr>
              <a:t>Access to Envoy Admin</a:t>
            </a:r>
            <a:endParaRPr kumimoji="1" lang="ko-KR" altLang="en-US" sz="800" i="1">
              <a:solidFill>
                <a:schemeClr val="tx1"/>
              </a:solidFill>
            </a:endParaRPr>
          </a:p>
        </p:txBody>
      </p:sp>
      <p:sp>
        <p:nvSpPr>
          <p:cNvPr id="397" name="모서리가 둥근 직사각형 396">
            <a:extLst>
              <a:ext uri="{FF2B5EF4-FFF2-40B4-BE49-F238E27FC236}">
                <a16:creationId xmlns:a16="http://schemas.microsoft.com/office/drawing/2014/main" id="{38930EBA-3CA3-6FC0-DECD-1495648D8226}"/>
              </a:ext>
            </a:extLst>
          </p:cNvPr>
          <p:cNvSpPr/>
          <p:nvPr/>
        </p:nvSpPr>
        <p:spPr>
          <a:xfrm>
            <a:off x="1503236" y="4161810"/>
            <a:ext cx="898605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istio-init</a:t>
            </a:r>
            <a:r>
              <a:rPr kumimoji="1" lang="en-US" altLang="ko-KR" sz="800">
                <a:solidFill>
                  <a:schemeClr val="tx1"/>
                </a:solidFill>
              </a:rPr>
              <a:t> Container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98" name="직선 화살표 연결선 397">
            <a:extLst>
              <a:ext uri="{FF2B5EF4-FFF2-40B4-BE49-F238E27FC236}">
                <a16:creationId xmlns:a16="http://schemas.microsoft.com/office/drawing/2014/main" id="{9EAD833C-BCAA-82ED-8B9E-8CA3A329C9D1}"/>
              </a:ext>
            </a:extLst>
          </p:cNvPr>
          <p:cNvCxnSpPr>
            <a:cxnSpLocks/>
            <a:stCxn id="397" idx="0"/>
          </p:cNvCxnSpPr>
          <p:nvPr/>
        </p:nvCxnSpPr>
        <p:spPr>
          <a:xfrm flipV="1">
            <a:off x="1952539" y="3858586"/>
            <a:ext cx="0" cy="30322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3" name="모서리가 둥근 직사각형 402">
            <a:extLst>
              <a:ext uri="{FF2B5EF4-FFF2-40B4-BE49-F238E27FC236}">
                <a16:creationId xmlns:a16="http://schemas.microsoft.com/office/drawing/2014/main" id="{4B3B32E6-5A1C-3122-F6C0-DF05E4490C2F}"/>
              </a:ext>
            </a:extLst>
          </p:cNvPr>
          <p:cNvSpPr/>
          <p:nvPr/>
        </p:nvSpPr>
        <p:spPr>
          <a:xfrm>
            <a:off x="1902589" y="3924691"/>
            <a:ext cx="863630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tx1"/>
                </a:solidFill>
              </a:rPr>
              <a:t>Init iptables</a:t>
            </a:r>
            <a:endParaRPr kumimoji="1" lang="ko-KR" altLang="en-US" sz="800" i="1">
              <a:solidFill>
                <a:schemeClr val="tx1"/>
              </a:solidFill>
            </a:endParaRPr>
          </a:p>
        </p:txBody>
      </p:sp>
      <p:sp>
        <p:nvSpPr>
          <p:cNvPr id="404" name="모서리가 둥근 직사각형 403">
            <a:extLst>
              <a:ext uri="{FF2B5EF4-FFF2-40B4-BE49-F238E27FC236}">
                <a16:creationId xmlns:a16="http://schemas.microsoft.com/office/drawing/2014/main" id="{B19B6A40-B023-8B5F-FDB0-6994B422327A}"/>
              </a:ext>
            </a:extLst>
          </p:cNvPr>
          <p:cNvSpPr/>
          <p:nvPr/>
        </p:nvSpPr>
        <p:spPr>
          <a:xfrm>
            <a:off x="1385674" y="4525309"/>
            <a:ext cx="1012364" cy="190936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rgbClr val="FFC000"/>
                </a:solidFill>
              </a:rPr>
              <a:t>Inbound Traffic</a:t>
            </a:r>
            <a:endParaRPr kumimoji="1" lang="ko-KR" altLang="en-US" sz="800" i="1">
              <a:solidFill>
                <a:srgbClr val="FFC000"/>
              </a:solidFill>
            </a:endParaRPr>
          </a:p>
        </p:txBody>
      </p:sp>
      <p:sp>
        <p:nvSpPr>
          <p:cNvPr id="409" name="모서리가 둥근 직사각형 408">
            <a:extLst>
              <a:ext uri="{FF2B5EF4-FFF2-40B4-BE49-F238E27FC236}">
                <a16:creationId xmlns:a16="http://schemas.microsoft.com/office/drawing/2014/main" id="{CF3D4649-68D8-34DA-B534-D7CB585005CF}"/>
              </a:ext>
            </a:extLst>
          </p:cNvPr>
          <p:cNvSpPr/>
          <p:nvPr/>
        </p:nvSpPr>
        <p:spPr>
          <a:xfrm>
            <a:off x="1381053" y="2070337"/>
            <a:ext cx="1012364" cy="190936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6"/>
                </a:solidFill>
              </a:rPr>
              <a:t>Outbound Traffic</a:t>
            </a:r>
            <a:endParaRPr kumimoji="1" lang="ko-KR" altLang="en-US" sz="800" i="1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462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AC95-5D60-D487-36EB-24D39573F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AF975390-9D4C-E906-281D-CF0685FB83FE}"/>
              </a:ext>
            </a:extLst>
          </p:cNvPr>
          <p:cNvSpPr/>
          <p:nvPr/>
        </p:nvSpPr>
        <p:spPr>
          <a:xfrm>
            <a:off x="4932040" y="4731990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kubelet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2EF28AA8-5400-BAAB-61DF-D485BF1CB0A1}"/>
              </a:ext>
            </a:extLst>
          </p:cNvPr>
          <p:cNvSpPr/>
          <p:nvPr/>
        </p:nvSpPr>
        <p:spPr>
          <a:xfrm>
            <a:off x="886646" y="961691"/>
            <a:ext cx="5863887" cy="3687673"/>
          </a:xfrm>
          <a:prstGeom prst="roundRect">
            <a:avLst>
              <a:gd name="adj" fmla="val 1803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App Pod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0A487F92-FC19-14A8-985E-2BAA461EA552}"/>
              </a:ext>
            </a:extLst>
          </p:cNvPr>
          <p:cNvSpPr/>
          <p:nvPr/>
        </p:nvSpPr>
        <p:spPr>
          <a:xfrm>
            <a:off x="958654" y="1274031"/>
            <a:ext cx="1188132" cy="911534"/>
          </a:xfrm>
          <a:prstGeom prst="roundRect">
            <a:avLst>
              <a:gd name="adj" fmla="val 890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App</a:t>
            </a:r>
            <a:r>
              <a:rPr kumimoji="1" lang="en-US" altLang="ko-KR" sz="800">
                <a:solidFill>
                  <a:schemeClr val="tx1"/>
                </a:solidFill>
              </a:rPr>
              <a:t> Container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D33CB336-DE83-026D-11E6-7E97E95DBC7E}"/>
              </a:ext>
            </a:extLst>
          </p:cNvPr>
          <p:cNvSpPr/>
          <p:nvPr/>
        </p:nvSpPr>
        <p:spPr>
          <a:xfrm>
            <a:off x="2542829" y="1030972"/>
            <a:ext cx="4140012" cy="3534515"/>
          </a:xfrm>
          <a:prstGeom prst="roundRect">
            <a:avLst>
              <a:gd name="adj" fmla="val 1768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istio-proxy</a:t>
            </a:r>
            <a:r>
              <a:rPr kumimoji="1" lang="en-US" altLang="ko-KR" sz="800">
                <a:solidFill>
                  <a:schemeClr val="tx1"/>
                </a:solidFill>
              </a:rPr>
              <a:t> Container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362A0C07-6D36-E270-176E-BB5D43AFE889}"/>
              </a:ext>
            </a:extLst>
          </p:cNvPr>
          <p:cNvSpPr/>
          <p:nvPr/>
        </p:nvSpPr>
        <p:spPr>
          <a:xfrm>
            <a:off x="2614837" y="1316402"/>
            <a:ext cx="3995995" cy="1434313"/>
          </a:xfrm>
          <a:prstGeom prst="roundRect">
            <a:avLst>
              <a:gd name="adj" fmla="val 3705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pilot-agent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67DA7710-5BA3-B23B-F762-733CCBEF6E7D}"/>
              </a:ext>
            </a:extLst>
          </p:cNvPr>
          <p:cNvSpPr/>
          <p:nvPr/>
        </p:nvSpPr>
        <p:spPr>
          <a:xfrm>
            <a:off x="2686845" y="1604434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:15053</a:t>
            </a:r>
            <a:r>
              <a:rPr kumimoji="1" lang="en-US" altLang="ko-KR" sz="800">
                <a:solidFill>
                  <a:schemeClr val="tx1"/>
                </a:solidFill>
              </a:rPr>
              <a:t> DNS (DNS Capture)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4EA22BD7-8CB9-1735-73D2-7AF2375C1B44}"/>
              </a:ext>
            </a:extLst>
          </p:cNvPr>
          <p:cNvSpPr/>
          <p:nvPr/>
        </p:nvSpPr>
        <p:spPr>
          <a:xfrm>
            <a:off x="2686845" y="2257571"/>
            <a:ext cx="1869694" cy="414468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unix:///etc/istio/proxy/XDS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Listener, Router, Cluster, Endpoint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Configs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AEB71C71-C22A-1921-9202-A86055B0E4A4}"/>
              </a:ext>
            </a:extLst>
          </p:cNvPr>
          <p:cNvSpPr/>
          <p:nvPr/>
        </p:nvSpPr>
        <p:spPr>
          <a:xfrm>
            <a:off x="2614837" y="3049001"/>
            <a:ext cx="3995995" cy="1434313"/>
          </a:xfrm>
          <a:prstGeom prst="roundRect">
            <a:avLst>
              <a:gd name="adj" fmla="val 5484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Envoy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0D406AA0-9AD8-1973-E74B-10F9CB9AE129}"/>
              </a:ext>
            </a:extLst>
          </p:cNvPr>
          <p:cNvSpPr/>
          <p:nvPr/>
        </p:nvSpPr>
        <p:spPr>
          <a:xfrm>
            <a:off x="2532443" y="170783"/>
            <a:ext cx="1659552" cy="565567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istiod</a:t>
            </a:r>
          </a:p>
          <a:p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79A76674-5FA2-C7BA-40B5-8F4A66E84B3B}"/>
              </a:ext>
            </a:extLst>
          </p:cNvPr>
          <p:cNvSpPr/>
          <p:nvPr/>
        </p:nvSpPr>
        <p:spPr>
          <a:xfrm>
            <a:off x="1030662" y="1603088"/>
            <a:ext cx="104411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:8080 /api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0B14782C-C126-09F2-1D30-592E15C576F0}"/>
              </a:ext>
            </a:extLst>
          </p:cNvPr>
          <p:cNvSpPr/>
          <p:nvPr/>
        </p:nvSpPr>
        <p:spPr>
          <a:xfrm>
            <a:off x="1030662" y="1853815"/>
            <a:ext cx="104411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:8080 /metrics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393D06B9-E21D-3046-2854-60ADAE659477}"/>
              </a:ext>
            </a:extLst>
          </p:cNvPr>
          <p:cNvSpPr/>
          <p:nvPr/>
        </p:nvSpPr>
        <p:spPr>
          <a:xfrm>
            <a:off x="4651788" y="1603088"/>
            <a:ext cx="1869692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:15020 </a:t>
            </a:r>
            <a:r>
              <a:rPr kumimoji="1" lang="en-US" altLang="ko-KR" sz="800">
                <a:solidFill>
                  <a:schemeClr val="tx1"/>
                </a:solidFill>
              </a:rPr>
              <a:t>/healthz/ready 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8271E54E-C376-DFE2-327B-C98C50FA1455}"/>
              </a:ext>
            </a:extLst>
          </p:cNvPr>
          <p:cNvSpPr/>
          <p:nvPr/>
        </p:nvSpPr>
        <p:spPr>
          <a:xfrm>
            <a:off x="4651788" y="1853815"/>
            <a:ext cx="1869692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:15020</a:t>
            </a:r>
            <a:r>
              <a:rPr kumimoji="1" lang="en-US" altLang="ko-KR" sz="800">
                <a:solidFill>
                  <a:schemeClr val="tx1"/>
                </a:solidFill>
              </a:rPr>
              <a:t> /stats/prometheus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7B549B0C-F063-D9D0-A526-8602B2801850}"/>
              </a:ext>
            </a:extLst>
          </p:cNvPr>
          <p:cNvCxnSpPr>
            <a:cxnSpLocks/>
            <a:stCxn id="9" idx="3"/>
            <a:endCxn id="21" idx="1"/>
          </p:cNvCxnSpPr>
          <p:nvPr/>
        </p:nvCxnSpPr>
        <p:spPr>
          <a:xfrm>
            <a:off x="2146786" y="1729798"/>
            <a:ext cx="540059" cy="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D0F9099C-2CE3-BA9A-A8AB-38FDE6499173}"/>
              </a:ext>
            </a:extLst>
          </p:cNvPr>
          <p:cNvSpPr/>
          <p:nvPr/>
        </p:nvSpPr>
        <p:spPr>
          <a:xfrm>
            <a:off x="1945405" y="1447931"/>
            <a:ext cx="779370" cy="250727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i="1">
                <a:solidFill>
                  <a:schemeClr val="accent3"/>
                </a:solidFill>
              </a:rPr>
              <a:t>DNS</a:t>
            </a:r>
          </a:p>
          <a:p>
            <a:pPr algn="ctr"/>
            <a:r>
              <a:rPr kumimoji="1" lang="en-US" altLang="ko-KR" sz="800" i="1">
                <a:solidFill>
                  <a:schemeClr val="accent3"/>
                </a:solidFill>
              </a:rPr>
              <a:t>Lookup</a:t>
            </a:r>
            <a:endParaRPr kumimoji="1" lang="ko-KR" altLang="en-US" sz="800" b="1" i="1" u="sng">
              <a:solidFill>
                <a:schemeClr val="accent3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3D0F07EA-5C63-28C9-8589-8391F51927E4}"/>
              </a:ext>
            </a:extLst>
          </p:cNvPr>
          <p:cNvSpPr/>
          <p:nvPr/>
        </p:nvSpPr>
        <p:spPr>
          <a:xfrm>
            <a:off x="2606134" y="416343"/>
            <a:ext cx="1512168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:15012 </a:t>
            </a:r>
            <a:r>
              <a:rPr kumimoji="1" lang="en-US" altLang="ko-KR" sz="800">
                <a:solidFill>
                  <a:schemeClr val="tx1"/>
                </a:solidFill>
              </a:rPr>
              <a:t>xDS Server</a:t>
            </a: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75D43DD8-4E16-9EFA-A9BE-7680447DDC89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3362219" y="736350"/>
            <a:ext cx="0" cy="580052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7948DE24-0ED2-7ED5-F106-567D0023190A}"/>
              </a:ext>
            </a:extLst>
          </p:cNvPr>
          <p:cNvSpPr/>
          <p:nvPr/>
        </p:nvSpPr>
        <p:spPr>
          <a:xfrm>
            <a:off x="4651788" y="2257571"/>
            <a:ext cx="1869694" cy="414468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unix:///var/run/secrets/workload-spiffe-uds/socket</a:t>
            </a:r>
            <a:r>
              <a:rPr kumimoji="1" lang="en-US" altLang="ko-KR" sz="800">
                <a:solidFill>
                  <a:schemeClr val="tx1"/>
                </a:solidFill>
              </a:rPr>
              <a:t> 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Certificates</a:t>
            </a:r>
            <a:endParaRPr kumimoji="1" lang="en-US" altLang="ko-KR" sz="800" b="1">
              <a:solidFill>
                <a:schemeClr val="tx1"/>
              </a:solidFill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55BBB632-430D-D512-E790-ED20AA235231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>
            <a:off x="4612835" y="2750715"/>
            <a:ext cx="0" cy="29828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6CAFFE34-E223-B188-A413-4356A0F87E5E}"/>
              </a:ext>
            </a:extLst>
          </p:cNvPr>
          <p:cNvCxnSpPr>
            <a:cxnSpLocks/>
            <a:stCxn id="28" idx="1"/>
            <a:endCxn id="26" idx="3"/>
          </p:cNvCxnSpPr>
          <p:nvPr/>
        </p:nvCxnSpPr>
        <p:spPr>
          <a:xfrm flipH="1">
            <a:off x="2074778" y="1979179"/>
            <a:ext cx="257701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모서리가 둥근 직사각형 69">
            <a:extLst>
              <a:ext uri="{FF2B5EF4-FFF2-40B4-BE49-F238E27FC236}">
                <a16:creationId xmlns:a16="http://schemas.microsoft.com/office/drawing/2014/main" id="{FA8EC081-64FD-0600-BCD1-058531CC4028}"/>
              </a:ext>
            </a:extLst>
          </p:cNvPr>
          <p:cNvSpPr/>
          <p:nvPr/>
        </p:nvSpPr>
        <p:spPr>
          <a:xfrm>
            <a:off x="4612835" y="2801919"/>
            <a:ext cx="863630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tx1"/>
                </a:solidFill>
              </a:rPr>
              <a:t>Exec Envoy</a:t>
            </a:r>
            <a:endParaRPr kumimoji="1" lang="ko-KR" altLang="en-US" sz="800" i="1">
              <a:solidFill>
                <a:schemeClr val="tx1"/>
              </a:solidFill>
            </a:endParaRPr>
          </a:p>
        </p:txBody>
      </p:sp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654E0B3C-A6B2-BC36-6F09-B4531449AF79}"/>
              </a:ext>
            </a:extLst>
          </p:cNvPr>
          <p:cNvSpPr/>
          <p:nvPr/>
        </p:nvSpPr>
        <p:spPr>
          <a:xfrm>
            <a:off x="2686845" y="3321964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:15001</a:t>
            </a:r>
            <a:r>
              <a:rPr kumimoji="1" lang="en-US" altLang="ko-KR" sz="800">
                <a:solidFill>
                  <a:schemeClr val="tx1"/>
                </a:solidFill>
              </a:rPr>
              <a:t> Outbound Traffic</a:t>
            </a: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3CAD9731-3F65-27B9-59E7-03887FF1D825}"/>
              </a:ext>
            </a:extLst>
          </p:cNvPr>
          <p:cNvCxnSpPr>
            <a:cxnSpLocks/>
          </p:cNvCxnSpPr>
          <p:nvPr/>
        </p:nvCxnSpPr>
        <p:spPr>
          <a:xfrm>
            <a:off x="6822541" y="2119833"/>
            <a:ext cx="1134125" cy="1261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모서리가 둥근 직사각형 79">
            <a:extLst>
              <a:ext uri="{FF2B5EF4-FFF2-40B4-BE49-F238E27FC236}">
                <a16:creationId xmlns:a16="http://schemas.microsoft.com/office/drawing/2014/main" id="{FA4D99DA-7BBD-8D91-536E-FFF8AE0B3C04}"/>
              </a:ext>
            </a:extLst>
          </p:cNvPr>
          <p:cNvSpPr/>
          <p:nvPr/>
        </p:nvSpPr>
        <p:spPr>
          <a:xfrm>
            <a:off x="2686845" y="3724463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:15006</a:t>
            </a:r>
            <a:r>
              <a:rPr kumimoji="1" lang="en-US" altLang="ko-KR" sz="800">
                <a:solidFill>
                  <a:schemeClr val="tx1"/>
                </a:solidFill>
              </a:rPr>
              <a:t> Inbound Traffic</a:t>
            </a:r>
          </a:p>
        </p:txBody>
      </p:sp>
      <p:sp>
        <p:nvSpPr>
          <p:cNvPr id="88" name="모서리가 둥근 직사각형 87">
            <a:extLst>
              <a:ext uri="{FF2B5EF4-FFF2-40B4-BE49-F238E27FC236}">
                <a16:creationId xmlns:a16="http://schemas.microsoft.com/office/drawing/2014/main" id="{AAA0683F-AA5C-7ECE-06D7-7624E2AC6BA6}"/>
              </a:ext>
            </a:extLst>
          </p:cNvPr>
          <p:cNvSpPr/>
          <p:nvPr/>
        </p:nvSpPr>
        <p:spPr>
          <a:xfrm>
            <a:off x="4651788" y="3321964"/>
            <a:ext cx="1869692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:15090</a:t>
            </a:r>
            <a:r>
              <a:rPr kumimoji="1" lang="en-US" altLang="ko-KR" sz="800">
                <a:solidFill>
                  <a:schemeClr val="tx1"/>
                </a:solidFill>
              </a:rPr>
              <a:t> /stats/prometheus</a:t>
            </a:r>
          </a:p>
        </p:txBody>
      </p:sp>
      <p:sp>
        <p:nvSpPr>
          <p:cNvPr id="90" name="모서리가 둥근 직사각형 89">
            <a:extLst>
              <a:ext uri="{FF2B5EF4-FFF2-40B4-BE49-F238E27FC236}">
                <a16:creationId xmlns:a16="http://schemas.microsoft.com/office/drawing/2014/main" id="{7C892276-472C-6BBD-A68F-9C431647B855}"/>
              </a:ext>
            </a:extLst>
          </p:cNvPr>
          <p:cNvSpPr/>
          <p:nvPr/>
        </p:nvSpPr>
        <p:spPr>
          <a:xfrm>
            <a:off x="4651787" y="3724463"/>
            <a:ext cx="1869693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:15021</a:t>
            </a:r>
            <a:r>
              <a:rPr kumimoji="1" lang="en-US" altLang="ko-KR" sz="800">
                <a:solidFill>
                  <a:schemeClr val="tx1"/>
                </a:solidFill>
              </a:rPr>
              <a:t> /healthz/ready</a:t>
            </a:r>
          </a:p>
        </p:txBody>
      </p:sp>
      <p:sp>
        <p:nvSpPr>
          <p:cNvPr id="101" name="모서리가 둥근 직사각형 100">
            <a:extLst>
              <a:ext uri="{FF2B5EF4-FFF2-40B4-BE49-F238E27FC236}">
                <a16:creationId xmlns:a16="http://schemas.microsoft.com/office/drawing/2014/main" id="{42B1FC1C-3E9A-B8D4-761C-1B75A22B55E4}"/>
              </a:ext>
            </a:extLst>
          </p:cNvPr>
          <p:cNvSpPr/>
          <p:nvPr/>
        </p:nvSpPr>
        <p:spPr>
          <a:xfrm>
            <a:off x="2686845" y="4126130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:15000</a:t>
            </a:r>
            <a:r>
              <a:rPr kumimoji="1" lang="en-US" altLang="ko-KR" sz="800">
                <a:solidFill>
                  <a:schemeClr val="tx1"/>
                </a:solidFill>
              </a:rPr>
              <a:t> admin (istioctl)</a:t>
            </a:r>
          </a:p>
        </p:txBody>
      </p:sp>
      <p:cxnSp>
        <p:nvCxnSpPr>
          <p:cNvPr id="151" name="꺾인 연결선[E] 150">
            <a:extLst>
              <a:ext uri="{FF2B5EF4-FFF2-40B4-BE49-F238E27FC236}">
                <a16:creationId xmlns:a16="http://schemas.microsoft.com/office/drawing/2014/main" id="{59BF4065-4064-EB21-E261-0BEC4C6A9D5E}"/>
              </a:ext>
            </a:extLst>
          </p:cNvPr>
          <p:cNvCxnSpPr>
            <a:cxnSpLocks/>
            <a:stCxn id="28" idx="1"/>
            <a:endCxn id="88" idx="1"/>
          </p:cNvCxnSpPr>
          <p:nvPr/>
        </p:nvCxnSpPr>
        <p:spPr>
          <a:xfrm rot="10800000" flipV="1">
            <a:off x="4651788" y="1979178"/>
            <a:ext cx="12700" cy="1468149"/>
          </a:xfrm>
          <a:prstGeom prst="bentConnector3">
            <a:avLst>
              <a:gd name="adj1" fmla="val 180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모서리가 둥근 직사각형 153">
            <a:extLst>
              <a:ext uri="{FF2B5EF4-FFF2-40B4-BE49-F238E27FC236}">
                <a16:creationId xmlns:a16="http://schemas.microsoft.com/office/drawing/2014/main" id="{8FEF8A04-78CC-5412-A1F1-27C4F32370C9}"/>
              </a:ext>
            </a:extLst>
          </p:cNvPr>
          <p:cNvSpPr/>
          <p:nvPr/>
        </p:nvSpPr>
        <p:spPr>
          <a:xfrm>
            <a:off x="5000609" y="755219"/>
            <a:ext cx="1389510" cy="190164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i="1">
                <a:solidFill>
                  <a:schemeClr val="accent1"/>
                </a:solidFill>
              </a:rPr>
              <a:t>Scrape Metrics</a:t>
            </a:r>
            <a:endParaRPr kumimoji="1" lang="ko-KR" altLang="en-US" sz="800" i="1">
              <a:solidFill>
                <a:schemeClr val="accent1"/>
              </a:solidFill>
            </a:endParaRPr>
          </a:p>
        </p:txBody>
      </p: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BFDF374C-0546-2812-23A6-0F26D5201EA9}"/>
              </a:ext>
            </a:extLst>
          </p:cNvPr>
          <p:cNvCxnSpPr>
            <a:cxnSpLocks/>
            <a:stCxn id="6" idx="0"/>
            <a:endCxn id="90" idx="2"/>
          </p:cNvCxnSpPr>
          <p:nvPr/>
        </p:nvCxnSpPr>
        <p:spPr>
          <a:xfrm flipV="1">
            <a:off x="5586633" y="3975190"/>
            <a:ext cx="1" cy="75680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모서리가 둥근 직사각형 163">
            <a:extLst>
              <a:ext uri="{FF2B5EF4-FFF2-40B4-BE49-F238E27FC236}">
                <a16:creationId xmlns:a16="http://schemas.microsoft.com/office/drawing/2014/main" id="{DE601670-8104-10AD-0AA5-F2B05523B125}"/>
              </a:ext>
            </a:extLst>
          </p:cNvPr>
          <p:cNvSpPr/>
          <p:nvPr/>
        </p:nvSpPr>
        <p:spPr>
          <a:xfrm>
            <a:off x="5526489" y="4291800"/>
            <a:ext cx="863630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rgbClr val="C00000"/>
                </a:solidFill>
              </a:rPr>
              <a:t>Health Check</a:t>
            </a:r>
            <a:endParaRPr kumimoji="1" lang="ko-KR" altLang="en-US" sz="800" i="1">
              <a:solidFill>
                <a:srgbClr val="C00000"/>
              </a:solidFill>
            </a:endParaRPr>
          </a:p>
        </p:txBody>
      </p:sp>
      <p:sp>
        <p:nvSpPr>
          <p:cNvPr id="167" name="모서리가 둥근 직사각형 166">
            <a:extLst>
              <a:ext uri="{FF2B5EF4-FFF2-40B4-BE49-F238E27FC236}">
                <a16:creationId xmlns:a16="http://schemas.microsoft.com/office/drawing/2014/main" id="{7466F4D0-BC71-5C63-759B-1141C8B1133B}"/>
              </a:ext>
            </a:extLst>
          </p:cNvPr>
          <p:cNvSpPr/>
          <p:nvPr/>
        </p:nvSpPr>
        <p:spPr>
          <a:xfrm>
            <a:off x="1387707" y="757506"/>
            <a:ext cx="2129944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5"/>
                </a:solidFill>
              </a:rPr>
              <a:t>LDS, RDS, CDS, EDS, SDS, NDS via ADS</a:t>
            </a:r>
            <a:endParaRPr kumimoji="1" lang="ko-KR" altLang="en-US" sz="800" i="1">
              <a:solidFill>
                <a:schemeClr val="accent5"/>
              </a:solidFill>
            </a:endParaRPr>
          </a:p>
        </p:txBody>
      </p: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DA88BC67-4A51-0854-55F7-11DBE4C4B6D9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621692" y="2672039"/>
            <a:ext cx="0" cy="376962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모서리가 둥근 직사각형 170">
            <a:extLst>
              <a:ext uri="{FF2B5EF4-FFF2-40B4-BE49-F238E27FC236}">
                <a16:creationId xmlns:a16="http://schemas.microsoft.com/office/drawing/2014/main" id="{893AE8C7-F5F2-2697-375D-3520A172D98E}"/>
              </a:ext>
            </a:extLst>
          </p:cNvPr>
          <p:cNvSpPr/>
          <p:nvPr/>
        </p:nvSpPr>
        <p:spPr>
          <a:xfrm>
            <a:off x="2532443" y="2801919"/>
            <a:ext cx="1841911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5"/>
                </a:solidFill>
              </a:rPr>
              <a:t>LDS, RDS, CDS, EDS </a:t>
            </a:r>
          </a:p>
          <a:p>
            <a:r>
              <a:rPr kumimoji="1" lang="en-US" altLang="ko-KR" sz="800" i="1">
                <a:solidFill>
                  <a:schemeClr val="accent5"/>
                </a:solidFill>
              </a:rPr>
              <a:t>via ADS</a:t>
            </a:r>
            <a:endParaRPr kumimoji="1" lang="ko-KR" altLang="en-US" sz="800" i="1">
              <a:solidFill>
                <a:schemeClr val="accent5"/>
              </a:solidFill>
            </a:endParaRPr>
          </a:p>
        </p:txBody>
      </p:sp>
      <p:sp>
        <p:nvSpPr>
          <p:cNvPr id="187" name="모서리가 둥근 직사각형 186">
            <a:extLst>
              <a:ext uri="{FF2B5EF4-FFF2-40B4-BE49-F238E27FC236}">
                <a16:creationId xmlns:a16="http://schemas.microsoft.com/office/drawing/2014/main" id="{8881E3BF-7E43-BACE-EEF1-F5FC1E459AA0}"/>
              </a:ext>
            </a:extLst>
          </p:cNvPr>
          <p:cNvSpPr/>
          <p:nvPr/>
        </p:nvSpPr>
        <p:spPr>
          <a:xfrm>
            <a:off x="5438221" y="447883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Prometheus Server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35A54C03-794E-2B19-0609-8AA948E1DB4D}"/>
              </a:ext>
            </a:extLst>
          </p:cNvPr>
          <p:cNvCxnSpPr>
            <a:cxnSpLocks/>
            <a:stCxn id="187" idx="2"/>
          </p:cNvCxnSpPr>
          <p:nvPr/>
        </p:nvCxnSpPr>
        <p:spPr>
          <a:xfrm>
            <a:off x="6092814" y="733313"/>
            <a:ext cx="1" cy="1120502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7E767FFB-F2BF-1F5D-790C-CE296A3E4295}"/>
              </a:ext>
            </a:extLst>
          </p:cNvPr>
          <p:cNvCxnSpPr>
            <a:cxnSpLocks/>
          </p:cNvCxnSpPr>
          <p:nvPr/>
        </p:nvCxnSpPr>
        <p:spPr>
          <a:xfrm flipV="1">
            <a:off x="6431265" y="1863210"/>
            <a:ext cx="0" cy="1861253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화살표 연결선 258">
            <a:extLst>
              <a:ext uri="{FF2B5EF4-FFF2-40B4-BE49-F238E27FC236}">
                <a16:creationId xmlns:a16="http://schemas.microsoft.com/office/drawing/2014/main" id="{9A64FE15-314E-3BDD-D523-458469A9E202}"/>
              </a:ext>
            </a:extLst>
          </p:cNvPr>
          <p:cNvCxnSpPr>
            <a:cxnSpLocks/>
            <a:stCxn id="51" idx="2"/>
          </p:cNvCxnSpPr>
          <p:nvPr/>
        </p:nvCxnSpPr>
        <p:spPr>
          <a:xfrm flipH="1">
            <a:off x="5586633" y="2672039"/>
            <a:ext cx="2" cy="376962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모서리가 둥근 직사각형 260">
            <a:extLst>
              <a:ext uri="{FF2B5EF4-FFF2-40B4-BE49-F238E27FC236}">
                <a16:creationId xmlns:a16="http://schemas.microsoft.com/office/drawing/2014/main" id="{6364C1B3-886A-C1FF-3F5B-C638E377C288}"/>
              </a:ext>
            </a:extLst>
          </p:cNvPr>
          <p:cNvSpPr/>
          <p:nvPr/>
        </p:nvSpPr>
        <p:spPr>
          <a:xfrm>
            <a:off x="5562690" y="2801919"/>
            <a:ext cx="446260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accent5"/>
                </a:solidFill>
              </a:rPr>
              <a:t>SDS</a:t>
            </a:r>
            <a:endParaRPr kumimoji="1" lang="ko-KR" altLang="en-US" sz="800" i="1">
              <a:solidFill>
                <a:schemeClr val="accent5"/>
              </a:solidFill>
            </a:endParaRPr>
          </a:p>
        </p:txBody>
      </p:sp>
      <p:sp>
        <p:nvSpPr>
          <p:cNvPr id="264" name="모서리가 둥근 직사각형 263">
            <a:extLst>
              <a:ext uri="{FF2B5EF4-FFF2-40B4-BE49-F238E27FC236}">
                <a16:creationId xmlns:a16="http://schemas.microsoft.com/office/drawing/2014/main" id="{8BEE643E-FFBB-598B-E8EC-A21F0A5753DF}"/>
              </a:ext>
            </a:extLst>
          </p:cNvPr>
          <p:cNvSpPr/>
          <p:nvPr/>
        </p:nvSpPr>
        <p:spPr>
          <a:xfrm>
            <a:off x="962855" y="3316036"/>
            <a:ext cx="1183931" cy="659154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iptables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cxnSp>
        <p:nvCxnSpPr>
          <p:cNvPr id="265" name="꺾인 연결선[E] 264">
            <a:extLst>
              <a:ext uri="{FF2B5EF4-FFF2-40B4-BE49-F238E27FC236}">
                <a16:creationId xmlns:a16="http://schemas.microsoft.com/office/drawing/2014/main" id="{40878032-A39D-78EE-1841-81EDF401588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95853" y="2235633"/>
            <a:ext cx="1130471" cy="2101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8FFB3558-D228-ECAE-3DAF-3735A8F267F8}"/>
              </a:ext>
            </a:extLst>
          </p:cNvPr>
          <p:cNvCxnSpPr>
            <a:cxnSpLocks/>
          </p:cNvCxnSpPr>
          <p:nvPr/>
        </p:nvCxnSpPr>
        <p:spPr>
          <a:xfrm>
            <a:off x="1259632" y="2185565"/>
            <a:ext cx="2101" cy="1130471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화살표 연결선 272">
            <a:extLst>
              <a:ext uri="{FF2B5EF4-FFF2-40B4-BE49-F238E27FC236}">
                <a16:creationId xmlns:a16="http://schemas.microsoft.com/office/drawing/2014/main" id="{23397B72-9158-EB1A-9974-014CDAF008F7}"/>
              </a:ext>
            </a:extLst>
          </p:cNvPr>
          <p:cNvCxnSpPr>
            <a:cxnSpLocks/>
          </p:cNvCxnSpPr>
          <p:nvPr/>
        </p:nvCxnSpPr>
        <p:spPr>
          <a:xfrm>
            <a:off x="2146364" y="3447327"/>
            <a:ext cx="288653" cy="277136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084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CD3E4-AA98-4304-C0E0-D1CA12EF4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25E9BB70-1BA0-81C8-D5BC-7F9CACAC3E9C}"/>
              </a:ext>
            </a:extLst>
          </p:cNvPr>
          <p:cNvSpPr/>
          <p:nvPr/>
        </p:nvSpPr>
        <p:spPr>
          <a:xfrm>
            <a:off x="6241911" y="32947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8935505D-84B0-65DE-0198-A9CF9465BF49}"/>
              </a:ext>
            </a:extLst>
          </p:cNvPr>
          <p:cNvSpPr/>
          <p:nvPr/>
        </p:nvSpPr>
        <p:spPr>
          <a:xfrm>
            <a:off x="270213" y="967281"/>
            <a:ext cx="5863887" cy="2705046"/>
          </a:xfrm>
          <a:prstGeom prst="roundRect">
            <a:avLst>
              <a:gd name="adj" fmla="val 2320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App Pod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6F3A55C4-32A2-3E45-7B07-92E69C46A00D}"/>
              </a:ext>
            </a:extLst>
          </p:cNvPr>
          <p:cNvSpPr/>
          <p:nvPr/>
        </p:nvSpPr>
        <p:spPr>
          <a:xfrm>
            <a:off x="342221" y="1469716"/>
            <a:ext cx="1188132" cy="911534"/>
          </a:xfrm>
          <a:prstGeom prst="roundRect">
            <a:avLst>
              <a:gd name="adj" fmla="val 890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App</a:t>
            </a:r>
            <a:r>
              <a:rPr kumimoji="1" lang="en-US" altLang="ko-KR" sz="800">
                <a:solidFill>
                  <a:schemeClr val="tx1"/>
                </a:solidFill>
              </a:rPr>
              <a:t> Container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5CFD2DEB-93BF-9C6E-C20F-E616570C47BD}"/>
              </a:ext>
            </a:extLst>
          </p:cNvPr>
          <p:cNvSpPr/>
          <p:nvPr/>
        </p:nvSpPr>
        <p:spPr>
          <a:xfrm>
            <a:off x="1926396" y="1226656"/>
            <a:ext cx="4140012" cy="3649341"/>
          </a:xfrm>
          <a:prstGeom prst="roundRect">
            <a:avLst>
              <a:gd name="adj" fmla="val 1768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istio-proxy</a:t>
            </a:r>
            <a:r>
              <a:rPr kumimoji="1" lang="en-US" altLang="ko-KR" sz="800">
                <a:solidFill>
                  <a:schemeClr val="tx1"/>
                </a:solidFill>
              </a:rPr>
              <a:t> Container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3B335E67-7AE4-AEE2-F289-2FCED5871DAC}"/>
              </a:ext>
            </a:extLst>
          </p:cNvPr>
          <p:cNvSpPr/>
          <p:nvPr/>
        </p:nvSpPr>
        <p:spPr>
          <a:xfrm>
            <a:off x="1998404" y="1512087"/>
            <a:ext cx="3995995" cy="1434313"/>
          </a:xfrm>
          <a:prstGeom prst="roundRect">
            <a:avLst>
              <a:gd name="adj" fmla="val 3705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pilot-agent</a:t>
            </a:r>
            <a:endParaRPr kumimoji="1" lang="ko-KR" altLang="en-US" sz="800" b="1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62CEF273-7E44-FD02-7280-A3964F1D3649}"/>
              </a:ext>
            </a:extLst>
          </p:cNvPr>
          <p:cNvSpPr/>
          <p:nvPr/>
        </p:nvSpPr>
        <p:spPr>
          <a:xfrm>
            <a:off x="2070412" y="1800119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:15053</a:t>
            </a:r>
            <a:r>
              <a:rPr kumimoji="1" lang="en-US" altLang="ko-KR" sz="800">
                <a:solidFill>
                  <a:schemeClr val="tx1"/>
                </a:solidFill>
              </a:rPr>
              <a:t> DNS via NDS Table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98CA6110-DB72-BFC8-3015-2218CD817215}"/>
              </a:ext>
            </a:extLst>
          </p:cNvPr>
          <p:cNvSpPr/>
          <p:nvPr/>
        </p:nvSpPr>
        <p:spPr>
          <a:xfrm>
            <a:off x="2070412" y="2453256"/>
            <a:ext cx="1869694" cy="414468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unix:///etc/istio/proxy/XDS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DNS via NDS Table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79E9727D-A7A6-AC88-41AE-1A4D166352DB}"/>
              </a:ext>
            </a:extLst>
          </p:cNvPr>
          <p:cNvSpPr/>
          <p:nvPr/>
        </p:nvSpPr>
        <p:spPr>
          <a:xfrm>
            <a:off x="1998404" y="3244686"/>
            <a:ext cx="3995995" cy="1103975"/>
          </a:xfrm>
          <a:prstGeom prst="roundRect">
            <a:avLst>
              <a:gd name="adj" fmla="val 5484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Envoy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1A17F006-CECD-5670-BEF7-0DDE040CA936}"/>
              </a:ext>
            </a:extLst>
          </p:cNvPr>
          <p:cNvSpPr/>
          <p:nvPr/>
        </p:nvSpPr>
        <p:spPr>
          <a:xfrm>
            <a:off x="3719205" y="156154"/>
            <a:ext cx="1659552" cy="565567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 b="1">
                <a:solidFill>
                  <a:schemeClr val="tx1"/>
                </a:solidFill>
              </a:rPr>
              <a:t>istiod</a:t>
            </a:r>
          </a:p>
          <a:p>
            <a:endParaRPr kumimoji="1" lang="en-US" altLang="ko-KR" sz="800">
              <a:solidFill>
                <a:schemeClr val="tx1"/>
              </a:solidFill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11E62A81-A7A8-88B0-8175-AED99C17C744}"/>
              </a:ext>
            </a:extLst>
          </p:cNvPr>
          <p:cNvSpPr/>
          <p:nvPr/>
        </p:nvSpPr>
        <p:spPr>
          <a:xfrm>
            <a:off x="414229" y="1798773"/>
            <a:ext cx="104411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:8080 /api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798CFF2E-14F9-8560-A8DC-FEE400A52CEE}"/>
              </a:ext>
            </a:extLst>
          </p:cNvPr>
          <p:cNvSpPr/>
          <p:nvPr/>
        </p:nvSpPr>
        <p:spPr>
          <a:xfrm>
            <a:off x="414229" y="2049500"/>
            <a:ext cx="1044116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:8080 /metrics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AE22B14F-B31C-1039-B84B-759AA4A06C30}"/>
              </a:ext>
            </a:extLst>
          </p:cNvPr>
          <p:cNvSpPr/>
          <p:nvPr/>
        </p:nvSpPr>
        <p:spPr>
          <a:xfrm>
            <a:off x="4035355" y="1798773"/>
            <a:ext cx="1869693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:15020 </a:t>
            </a:r>
            <a:r>
              <a:rPr kumimoji="1" lang="en-US" altLang="ko-KR" sz="800">
                <a:solidFill>
                  <a:schemeClr val="tx1"/>
                </a:solidFill>
              </a:rPr>
              <a:t>/healthz/ready 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A6B1B551-3DEF-F53E-EAEA-E5C1D41D1D59}"/>
              </a:ext>
            </a:extLst>
          </p:cNvPr>
          <p:cNvSpPr/>
          <p:nvPr/>
        </p:nvSpPr>
        <p:spPr>
          <a:xfrm>
            <a:off x="4035355" y="2049500"/>
            <a:ext cx="1869694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:15020</a:t>
            </a:r>
            <a:r>
              <a:rPr kumimoji="1" lang="en-US" altLang="ko-KR" sz="800">
                <a:solidFill>
                  <a:schemeClr val="tx1"/>
                </a:solidFill>
              </a:rPr>
              <a:t> /stats/prometheus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28FEBEB-9FB1-F4DD-E5A3-7BA34A4C7E0B}"/>
              </a:ext>
            </a:extLst>
          </p:cNvPr>
          <p:cNvCxnSpPr>
            <a:cxnSpLocks/>
            <a:stCxn id="9" idx="3"/>
            <a:endCxn id="21" idx="1"/>
          </p:cNvCxnSpPr>
          <p:nvPr/>
        </p:nvCxnSpPr>
        <p:spPr>
          <a:xfrm>
            <a:off x="1530353" y="1925483"/>
            <a:ext cx="54005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256000B4-9A0F-75BE-F60F-EB064B7312D4}"/>
              </a:ext>
            </a:extLst>
          </p:cNvPr>
          <p:cNvSpPr/>
          <p:nvPr/>
        </p:nvSpPr>
        <p:spPr>
          <a:xfrm>
            <a:off x="1328972" y="1643616"/>
            <a:ext cx="779370" cy="250727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i="1">
                <a:solidFill>
                  <a:schemeClr val="tx1"/>
                </a:solidFill>
              </a:rPr>
              <a:t>DNS</a:t>
            </a:r>
          </a:p>
          <a:p>
            <a:pPr algn="ctr"/>
            <a:r>
              <a:rPr kumimoji="1" lang="en-US" altLang="ko-KR" sz="800" i="1">
                <a:solidFill>
                  <a:schemeClr val="tx1"/>
                </a:solidFill>
              </a:rPr>
              <a:t>Lookup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016DB087-849A-422B-2E26-607788237093}"/>
              </a:ext>
            </a:extLst>
          </p:cNvPr>
          <p:cNvSpPr/>
          <p:nvPr/>
        </p:nvSpPr>
        <p:spPr>
          <a:xfrm>
            <a:off x="3792896" y="401714"/>
            <a:ext cx="1512168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:15012 </a:t>
            </a:r>
            <a:r>
              <a:rPr kumimoji="1" lang="en-US" altLang="ko-KR" sz="800">
                <a:solidFill>
                  <a:schemeClr val="tx1"/>
                </a:solidFill>
              </a:rPr>
              <a:t>xDS Server, CA</a:t>
            </a: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227CC274-8A54-D89B-0D0D-DEAF6091B98A}"/>
              </a:ext>
            </a:extLst>
          </p:cNvPr>
          <p:cNvCxnSpPr>
            <a:cxnSpLocks/>
            <a:endCxn id="41" idx="2"/>
          </p:cNvCxnSpPr>
          <p:nvPr/>
        </p:nvCxnSpPr>
        <p:spPr>
          <a:xfrm flipV="1">
            <a:off x="4548980" y="652441"/>
            <a:ext cx="0" cy="8596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9D5EFC01-7AED-64E0-F578-A2DF92ADE91D}"/>
              </a:ext>
            </a:extLst>
          </p:cNvPr>
          <p:cNvSpPr/>
          <p:nvPr/>
        </p:nvSpPr>
        <p:spPr>
          <a:xfrm>
            <a:off x="4035355" y="2453256"/>
            <a:ext cx="1869694" cy="414468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unix:///var/run/secrets/workload-spiffe-uds/socket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DNS via NDS Table</a:t>
            </a: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CB8F634D-FC6B-71FD-E517-E1DA005E4680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>
            <a:off x="3996402" y="2946400"/>
            <a:ext cx="0" cy="29828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2417AB48-5316-185A-8E48-A23700D2EAFA}"/>
              </a:ext>
            </a:extLst>
          </p:cNvPr>
          <p:cNvCxnSpPr>
            <a:cxnSpLocks/>
            <a:stCxn id="28" idx="1"/>
            <a:endCxn id="26" idx="3"/>
          </p:cNvCxnSpPr>
          <p:nvPr/>
        </p:nvCxnSpPr>
        <p:spPr>
          <a:xfrm flipH="1">
            <a:off x="1458345" y="2174864"/>
            <a:ext cx="257701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모서리가 둥근 직사각형 69">
            <a:extLst>
              <a:ext uri="{FF2B5EF4-FFF2-40B4-BE49-F238E27FC236}">
                <a16:creationId xmlns:a16="http://schemas.microsoft.com/office/drawing/2014/main" id="{2D3F02C6-EB0E-2811-2585-6FA80006CAE6}"/>
              </a:ext>
            </a:extLst>
          </p:cNvPr>
          <p:cNvSpPr/>
          <p:nvPr/>
        </p:nvSpPr>
        <p:spPr>
          <a:xfrm>
            <a:off x="3996402" y="2997604"/>
            <a:ext cx="863630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Exec Envoy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E898E253-D458-1E19-6317-7037FD7DB264}"/>
              </a:ext>
            </a:extLst>
          </p:cNvPr>
          <p:cNvSpPr/>
          <p:nvPr/>
        </p:nvSpPr>
        <p:spPr>
          <a:xfrm>
            <a:off x="2070412" y="3517649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:15001</a:t>
            </a:r>
            <a:r>
              <a:rPr kumimoji="1" lang="en-US" altLang="ko-KR" sz="800">
                <a:solidFill>
                  <a:schemeClr val="tx1"/>
                </a:solidFill>
              </a:rPr>
              <a:t> Outbound Traffic</a:t>
            </a: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80F9135E-D6DF-32D9-147A-BA477500C071}"/>
              </a:ext>
            </a:extLst>
          </p:cNvPr>
          <p:cNvCxnSpPr>
            <a:cxnSpLocks/>
            <a:stCxn id="9" idx="2"/>
            <a:endCxn id="75" idx="1"/>
          </p:cNvCxnSpPr>
          <p:nvPr/>
        </p:nvCxnSpPr>
        <p:spPr>
          <a:xfrm>
            <a:off x="936287" y="2381250"/>
            <a:ext cx="1134125" cy="1261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모서리가 둥근 직사각형 79">
            <a:extLst>
              <a:ext uri="{FF2B5EF4-FFF2-40B4-BE49-F238E27FC236}">
                <a16:creationId xmlns:a16="http://schemas.microsoft.com/office/drawing/2014/main" id="{B5C13326-4C22-4C7B-157D-40F3D0F6BB59}"/>
              </a:ext>
            </a:extLst>
          </p:cNvPr>
          <p:cNvSpPr/>
          <p:nvPr/>
        </p:nvSpPr>
        <p:spPr>
          <a:xfrm>
            <a:off x="2070412" y="3920148"/>
            <a:ext cx="1857131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:15006</a:t>
            </a:r>
            <a:r>
              <a:rPr kumimoji="1" lang="en-US" altLang="ko-KR" sz="800">
                <a:solidFill>
                  <a:schemeClr val="tx1"/>
                </a:solidFill>
              </a:rPr>
              <a:t> Inbound Traffic</a:t>
            </a: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60569264-3F59-CEA1-6CDE-023D281247C9}"/>
              </a:ext>
            </a:extLst>
          </p:cNvPr>
          <p:cNvCxnSpPr>
            <a:cxnSpLocks/>
            <a:stCxn id="80" idx="1"/>
            <a:endCxn id="9" idx="2"/>
          </p:cNvCxnSpPr>
          <p:nvPr/>
        </p:nvCxnSpPr>
        <p:spPr>
          <a:xfrm flipH="1" flipV="1">
            <a:off x="936287" y="2381250"/>
            <a:ext cx="1134125" cy="16642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모서리가 둥근 직사각형 87">
            <a:extLst>
              <a:ext uri="{FF2B5EF4-FFF2-40B4-BE49-F238E27FC236}">
                <a16:creationId xmlns:a16="http://schemas.microsoft.com/office/drawing/2014/main" id="{CF236BAE-D7CD-C759-967C-D524E023A8F6}"/>
              </a:ext>
            </a:extLst>
          </p:cNvPr>
          <p:cNvSpPr/>
          <p:nvPr/>
        </p:nvSpPr>
        <p:spPr>
          <a:xfrm>
            <a:off x="4035354" y="3517649"/>
            <a:ext cx="1869693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:15090</a:t>
            </a:r>
            <a:r>
              <a:rPr kumimoji="1" lang="en-US" altLang="ko-KR" sz="800">
                <a:solidFill>
                  <a:schemeClr val="tx1"/>
                </a:solidFill>
              </a:rPr>
              <a:t> envoy stats</a:t>
            </a:r>
          </a:p>
        </p:txBody>
      </p:sp>
      <p:sp>
        <p:nvSpPr>
          <p:cNvPr id="90" name="모서리가 둥근 직사각형 89">
            <a:extLst>
              <a:ext uri="{FF2B5EF4-FFF2-40B4-BE49-F238E27FC236}">
                <a16:creationId xmlns:a16="http://schemas.microsoft.com/office/drawing/2014/main" id="{C4EE6BA9-1919-3A48-11A5-95382EB4D57F}"/>
              </a:ext>
            </a:extLst>
          </p:cNvPr>
          <p:cNvSpPr/>
          <p:nvPr/>
        </p:nvSpPr>
        <p:spPr>
          <a:xfrm>
            <a:off x="4035354" y="3920148"/>
            <a:ext cx="1869693" cy="250727"/>
          </a:xfrm>
          <a:prstGeom prst="roundRect">
            <a:avLst>
              <a:gd name="adj" fmla="val 1227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>
                <a:solidFill>
                  <a:schemeClr val="tx1"/>
                </a:solidFill>
              </a:rPr>
              <a:t>:15021</a:t>
            </a:r>
            <a:r>
              <a:rPr kumimoji="1" lang="en-US" altLang="ko-KR" sz="800">
                <a:solidFill>
                  <a:schemeClr val="tx1"/>
                </a:solidFill>
              </a:rPr>
              <a:t> /healthz/ready</a:t>
            </a:r>
          </a:p>
        </p:txBody>
      </p:sp>
    </p:spTree>
    <p:extLst>
      <p:ext uri="{BB962C8B-B14F-4D97-AF65-F5344CB8AC3E}">
        <p14:creationId xmlns:p14="http://schemas.microsoft.com/office/powerpoint/2010/main" val="63438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2B867-02CE-660F-42B9-6B0A0F2A3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458C79FD-BB90-B4EF-52C6-268D8604D826}"/>
              </a:ext>
            </a:extLst>
          </p:cNvPr>
          <p:cNvSpPr/>
          <p:nvPr/>
        </p:nvSpPr>
        <p:spPr>
          <a:xfrm>
            <a:off x="1959512" y="531455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xDS Server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(Control Plane)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101E7D33-B5AD-ABE8-7DC0-6F1424ED1552}"/>
              </a:ext>
            </a:extLst>
          </p:cNvPr>
          <p:cNvSpPr/>
          <p:nvPr/>
        </p:nvSpPr>
        <p:spPr>
          <a:xfrm>
            <a:off x="132487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Clients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50CF2F3C-BF40-57B5-6864-10E3B3FB9A84}"/>
              </a:ext>
            </a:extLst>
          </p:cNvPr>
          <p:cNvSpPr/>
          <p:nvPr/>
        </p:nvSpPr>
        <p:spPr>
          <a:xfrm>
            <a:off x="202115" y="1736995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8080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Host: reviews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Path: /api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E1C34AF9-1FD3-7218-90D1-6BBBF5F66647}"/>
              </a:ext>
            </a:extLst>
          </p:cNvPr>
          <p:cNvSpPr/>
          <p:nvPr/>
        </p:nvSpPr>
        <p:spPr>
          <a:xfrm>
            <a:off x="1885371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Listeners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68C1BE8-857D-982E-6908-B32E410CB347}"/>
              </a:ext>
            </a:extLst>
          </p:cNvPr>
          <p:cNvSpPr/>
          <p:nvPr/>
        </p:nvSpPr>
        <p:spPr>
          <a:xfrm>
            <a:off x="1959512" y="1736994"/>
            <a:ext cx="1309186" cy="860591"/>
          </a:xfrm>
          <a:prstGeom prst="roundRect">
            <a:avLst>
              <a:gd name="adj" fmla="val 791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internal-listener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mTLS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Listening Port: 8080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RDS: internal-routes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BDFE9CAE-3C2E-F785-0C00-6E3943CF8BAF}"/>
              </a:ext>
            </a:extLst>
          </p:cNvPr>
          <p:cNvSpPr/>
          <p:nvPr/>
        </p:nvSpPr>
        <p:spPr>
          <a:xfrm>
            <a:off x="5741727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Clusters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8CE83F64-CFCB-EF3C-7182-DA4452355368}"/>
              </a:ext>
            </a:extLst>
          </p:cNvPr>
          <p:cNvSpPr/>
          <p:nvPr/>
        </p:nvSpPr>
        <p:spPr>
          <a:xfrm>
            <a:off x="5815870" y="1736995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reviews-v1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9E86B15B-85F9-0B6B-2DB8-FDD40A86AA21}"/>
              </a:ext>
            </a:extLst>
          </p:cNvPr>
          <p:cNvSpPr/>
          <p:nvPr/>
        </p:nvSpPr>
        <p:spPr>
          <a:xfrm>
            <a:off x="5815870" y="2383766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reviews-v2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3D7E8FD9-0CAD-6313-A18A-287D773C9FF1}"/>
              </a:ext>
            </a:extLst>
          </p:cNvPr>
          <p:cNvSpPr/>
          <p:nvPr/>
        </p:nvSpPr>
        <p:spPr>
          <a:xfrm>
            <a:off x="5815870" y="3030537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ratings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4487752B-2042-3CE1-4348-C710F6C63CD1}"/>
              </a:ext>
            </a:extLst>
          </p:cNvPr>
          <p:cNvSpPr/>
          <p:nvPr/>
        </p:nvSpPr>
        <p:spPr>
          <a:xfrm>
            <a:off x="3638256" y="1459871"/>
            <a:ext cx="1808056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Routes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B26D1A28-8E99-4C30-C8C0-98ABA41FFECF}"/>
              </a:ext>
            </a:extLst>
          </p:cNvPr>
          <p:cNvSpPr/>
          <p:nvPr/>
        </p:nvSpPr>
        <p:spPr>
          <a:xfrm>
            <a:off x="3707668" y="1736144"/>
            <a:ext cx="1663099" cy="1508213"/>
          </a:xfrm>
          <a:prstGeom prst="roundRect">
            <a:avLst>
              <a:gd name="adj" fmla="val 4548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internal-routes</a:t>
            </a: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24AEED21-3311-CD02-6282-3E294C367212}"/>
              </a:ext>
            </a:extLst>
          </p:cNvPr>
          <p:cNvSpPr/>
          <p:nvPr/>
        </p:nvSpPr>
        <p:spPr>
          <a:xfrm>
            <a:off x="7492480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Endpoints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25B27F8E-EB23-90D5-2332-C59F691E647F}"/>
              </a:ext>
            </a:extLst>
          </p:cNvPr>
          <p:cNvSpPr/>
          <p:nvPr/>
        </p:nvSpPr>
        <p:spPr>
          <a:xfrm>
            <a:off x="7566622" y="1736996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10.0.0.11:80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9C11A9FF-CD06-2069-A035-4D4EC67F4F9F}"/>
              </a:ext>
            </a:extLst>
          </p:cNvPr>
          <p:cNvSpPr/>
          <p:nvPr/>
        </p:nvSpPr>
        <p:spPr>
          <a:xfrm>
            <a:off x="7566622" y="2203652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10.0.0.12:80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66605D23-029B-711E-E1B4-DBA65B5A63E7}"/>
              </a:ext>
            </a:extLst>
          </p:cNvPr>
          <p:cNvSpPr/>
          <p:nvPr/>
        </p:nvSpPr>
        <p:spPr>
          <a:xfrm>
            <a:off x="7566621" y="2670308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10.0.0.21:80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A92DFB23-FB10-FD87-42BE-F49B0AEE5981}"/>
              </a:ext>
            </a:extLst>
          </p:cNvPr>
          <p:cNvSpPr/>
          <p:nvPr/>
        </p:nvSpPr>
        <p:spPr>
          <a:xfrm>
            <a:off x="7566620" y="3136964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10.0.0.31:80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FBA8ED4-EDA6-376E-E621-5D7AC6CEE321}"/>
              </a:ext>
            </a:extLst>
          </p:cNvPr>
          <p:cNvCxnSpPr>
            <a:cxnSpLocks/>
            <a:stCxn id="135" idx="3"/>
            <a:endCxn id="16" idx="1"/>
          </p:cNvCxnSpPr>
          <p:nvPr/>
        </p:nvCxnSpPr>
        <p:spPr>
          <a:xfrm>
            <a:off x="5300761" y="3023318"/>
            <a:ext cx="515109" cy="221039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49FF759E-4A3E-F5FA-6B03-1ADFF761BA88}"/>
              </a:ext>
            </a:extLst>
          </p:cNvPr>
          <p:cNvCxnSpPr>
            <a:cxnSpLocks/>
            <a:stCxn id="16" idx="3"/>
            <a:endCxn id="38" idx="1"/>
          </p:cNvCxnSpPr>
          <p:nvPr/>
        </p:nvCxnSpPr>
        <p:spPr>
          <a:xfrm>
            <a:off x="7125056" y="3244357"/>
            <a:ext cx="441564" cy="35322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FC68D6E-8E09-F4BC-9CDB-AEB1B59F4BAD}"/>
              </a:ext>
            </a:extLst>
          </p:cNvPr>
          <p:cNvCxnSpPr>
            <a:cxnSpLocks/>
            <a:stCxn id="15" idx="3"/>
            <a:endCxn id="37" idx="1"/>
          </p:cNvCxnSpPr>
          <p:nvPr/>
        </p:nvCxnSpPr>
        <p:spPr>
          <a:xfrm>
            <a:off x="7125056" y="2597586"/>
            <a:ext cx="441565" cy="2154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557F27F3-11F8-0210-4E68-36F9AF6AA191}"/>
              </a:ext>
            </a:extLst>
          </p:cNvPr>
          <p:cNvCxnSpPr>
            <a:cxnSpLocks/>
            <a:stCxn id="14" idx="3"/>
            <a:endCxn id="36" idx="1"/>
          </p:cNvCxnSpPr>
          <p:nvPr/>
        </p:nvCxnSpPr>
        <p:spPr>
          <a:xfrm>
            <a:off x="7125056" y="1950815"/>
            <a:ext cx="441566" cy="3955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3D5F55F2-C0E5-0085-A756-7ECFE870F96B}"/>
              </a:ext>
            </a:extLst>
          </p:cNvPr>
          <p:cNvCxnSpPr>
            <a:cxnSpLocks/>
            <a:stCxn id="14" idx="3"/>
            <a:endCxn id="33" idx="1"/>
          </p:cNvCxnSpPr>
          <p:nvPr/>
        </p:nvCxnSpPr>
        <p:spPr>
          <a:xfrm flipV="1">
            <a:off x="7125056" y="1879711"/>
            <a:ext cx="441566" cy="711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E16D6F38-7CD4-2E83-4366-C9421C897714}"/>
              </a:ext>
            </a:extLst>
          </p:cNvPr>
          <p:cNvSpPr/>
          <p:nvPr/>
        </p:nvSpPr>
        <p:spPr>
          <a:xfrm>
            <a:off x="202115" y="2383766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8080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Host: ratings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14F15515-1514-64C3-BC10-BAB4CBE8673A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>
            <a:off x="1520329" y="1950815"/>
            <a:ext cx="439183" cy="2164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53E38AFD-A5F0-82DE-2972-3CEEC9C9D047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1520329" y="2167290"/>
            <a:ext cx="439183" cy="430296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0B0DCD39-09D3-6BEC-50AA-096646E4A4C9}"/>
              </a:ext>
            </a:extLst>
          </p:cNvPr>
          <p:cNvSpPr/>
          <p:nvPr/>
        </p:nvSpPr>
        <p:spPr>
          <a:xfrm>
            <a:off x="3779084" y="1991450"/>
            <a:ext cx="1526404" cy="893492"/>
          </a:xfrm>
          <a:prstGeom prst="roundRect">
            <a:avLst>
              <a:gd name="adj" fmla="val 5175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reviews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9" name="모서리가 둥근 직사각형 88">
            <a:extLst>
              <a:ext uri="{FF2B5EF4-FFF2-40B4-BE49-F238E27FC236}">
                <a16:creationId xmlns:a16="http://schemas.microsoft.com/office/drawing/2014/main" id="{D8428FDF-C0E2-EEC3-5B77-1817D1102E6C}"/>
              </a:ext>
            </a:extLst>
          </p:cNvPr>
          <p:cNvSpPr/>
          <p:nvPr/>
        </p:nvSpPr>
        <p:spPr>
          <a:xfrm>
            <a:off x="3857611" y="2242250"/>
            <a:ext cx="1378126" cy="27910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Path: /api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kumimoji="1" lang="en-US" altLang="ko-KR" sz="800">
                <a:solidFill>
                  <a:schemeClr val="tx1"/>
                </a:solidFill>
              </a:rPr>
              <a:t>v1:80, v2:20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00" name="모서리가 둥근 직사각형 99">
            <a:extLst>
              <a:ext uri="{FF2B5EF4-FFF2-40B4-BE49-F238E27FC236}">
                <a16:creationId xmlns:a16="http://schemas.microsoft.com/office/drawing/2014/main" id="{DCCF9100-4229-B346-EE97-C269DE6842AF}"/>
              </a:ext>
            </a:extLst>
          </p:cNvPr>
          <p:cNvSpPr/>
          <p:nvPr/>
        </p:nvSpPr>
        <p:spPr>
          <a:xfrm>
            <a:off x="3848832" y="2520828"/>
            <a:ext cx="1378126" cy="276803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Path: /*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kumimoji="1" lang="en-US" altLang="ko-KR" sz="800">
                <a:solidFill>
                  <a:schemeClr val="tx1"/>
                </a:solidFill>
              </a:rPr>
              <a:t>v1:100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35" name="모서리가 둥근 직사각형 134">
            <a:extLst>
              <a:ext uri="{FF2B5EF4-FFF2-40B4-BE49-F238E27FC236}">
                <a16:creationId xmlns:a16="http://schemas.microsoft.com/office/drawing/2014/main" id="{44833A9E-F345-BD46-B376-BBFE0CD9B4AD}"/>
              </a:ext>
            </a:extLst>
          </p:cNvPr>
          <p:cNvSpPr/>
          <p:nvPr/>
        </p:nvSpPr>
        <p:spPr>
          <a:xfrm>
            <a:off x="3774357" y="2882582"/>
            <a:ext cx="1526404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ratings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ratings:100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CAB7B4C6-6794-91AB-BDBB-7521419C6BBD}"/>
              </a:ext>
            </a:extLst>
          </p:cNvPr>
          <p:cNvCxnSpPr>
            <a:cxnSpLocks/>
            <a:stCxn id="5" idx="3"/>
            <a:endCxn id="89" idx="1"/>
          </p:cNvCxnSpPr>
          <p:nvPr/>
        </p:nvCxnSpPr>
        <p:spPr>
          <a:xfrm>
            <a:off x="3268698" y="2167290"/>
            <a:ext cx="588913" cy="2145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BD4D642C-9275-EE6D-0551-9F454419CB34}"/>
              </a:ext>
            </a:extLst>
          </p:cNvPr>
          <p:cNvCxnSpPr>
            <a:cxnSpLocks/>
            <a:stCxn id="89" idx="3"/>
            <a:endCxn id="14" idx="1"/>
          </p:cNvCxnSpPr>
          <p:nvPr/>
        </p:nvCxnSpPr>
        <p:spPr>
          <a:xfrm flipV="1">
            <a:off x="5235737" y="1950815"/>
            <a:ext cx="580133" cy="4309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1196E73B-6AC3-BC2B-4578-7A884AC93C67}"/>
              </a:ext>
            </a:extLst>
          </p:cNvPr>
          <p:cNvCxnSpPr>
            <a:cxnSpLocks/>
            <a:stCxn id="89" idx="3"/>
            <a:endCxn id="15" idx="1"/>
          </p:cNvCxnSpPr>
          <p:nvPr/>
        </p:nvCxnSpPr>
        <p:spPr>
          <a:xfrm>
            <a:off x="5235737" y="2381805"/>
            <a:ext cx="580133" cy="2157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00B31A9A-33AF-EFF1-9D7C-4BEAC2169A90}"/>
              </a:ext>
            </a:extLst>
          </p:cNvPr>
          <p:cNvCxnSpPr>
            <a:cxnSpLocks/>
            <a:stCxn id="5" idx="3"/>
            <a:endCxn id="135" idx="1"/>
          </p:cNvCxnSpPr>
          <p:nvPr/>
        </p:nvCxnSpPr>
        <p:spPr>
          <a:xfrm>
            <a:off x="3268698" y="2167290"/>
            <a:ext cx="505659" cy="85602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모서리가 둥근 직사각형 198">
            <a:extLst>
              <a:ext uri="{FF2B5EF4-FFF2-40B4-BE49-F238E27FC236}">
                <a16:creationId xmlns:a16="http://schemas.microsoft.com/office/drawing/2014/main" id="{1C02B102-BF43-3EFA-24B2-55AB8F44E833}"/>
              </a:ext>
            </a:extLst>
          </p:cNvPr>
          <p:cNvSpPr/>
          <p:nvPr/>
        </p:nvSpPr>
        <p:spPr>
          <a:xfrm>
            <a:off x="202115" y="3433178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443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SNI: web.com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07" name="모서리가 둥근 직사각형 206">
            <a:extLst>
              <a:ext uri="{FF2B5EF4-FFF2-40B4-BE49-F238E27FC236}">
                <a16:creationId xmlns:a16="http://schemas.microsoft.com/office/drawing/2014/main" id="{9F644A2F-08E9-EEEF-9D42-AD2FF04EFC85}"/>
              </a:ext>
            </a:extLst>
          </p:cNvPr>
          <p:cNvSpPr/>
          <p:nvPr/>
        </p:nvSpPr>
        <p:spPr>
          <a:xfrm>
            <a:off x="1959512" y="3433178"/>
            <a:ext cx="1309186" cy="884204"/>
          </a:xfrm>
          <a:prstGeom prst="roundRect">
            <a:avLst>
              <a:gd name="adj" fmla="val 791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external-listener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mTLS</a:t>
            </a:r>
          </a:p>
        </p:txBody>
      </p:sp>
      <p:sp>
        <p:nvSpPr>
          <p:cNvPr id="208" name="모서리가 둥근 직사각형 207">
            <a:extLst>
              <a:ext uri="{FF2B5EF4-FFF2-40B4-BE49-F238E27FC236}">
                <a16:creationId xmlns:a16="http://schemas.microsoft.com/office/drawing/2014/main" id="{CFF5E169-82EE-308B-0AE8-3870F31811DF}"/>
              </a:ext>
            </a:extLst>
          </p:cNvPr>
          <p:cNvSpPr/>
          <p:nvPr/>
        </p:nvSpPr>
        <p:spPr>
          <a:xfrm>
            <a:off x="3707668" y="3430648"/>
            <a:ext cx="1663099" cy="600689"/>
          </a:xfrm>
          <a:prstGeom prst="roundRect">
            <a:avLst>
              <a:gd name="adj" fmla="val 6914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external-routes</a:t>
            </a:r>
          </a:p>
        </p:txBody>
      </p:sp>
      <p:sp>
        <p:nvSpPr>
          <p:cNvPr id="223" name="모서리가 둥근 직사각형 222">
            <a:extLst>
              <a:ext uri="{FF2B5EF4-FFF2-40B4-BE49-F238E27FC236}">
                <a16:creationId xmlns:a16="http://schemas.microsoft.com/office/drawing/2014/main" id="{89DD3E43-E38A-0A9D-829C-94182A8A1D8B}"/>
              </a:ext>
            </a:extLst>
          </p:cNvPr>
          <p:cNvSpPr/>
          <p:nvPr/>
        </p:nvSpPr>
        <p:spPr>
          <a:xfrm>
            <a:off x="3774357" y="3684995"/>
            <a:ext cx="1526404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example.com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web</a:t>
            </a:r>
          </a:p>
        </p:txBody>
      </p:sp>
      <p:sp>
        <p:nvSpPr>
          <p:cNvPr id="230" name="모서리가 둥근 직사각형 229">
            <a:extLst>
              <a:ext uri="{FF2B5EF4-FFF2-40B4-BE49-F238E27FC236}">
                <a16:creationId xmlns:a16="http://schemas.microsoft.com/office/drawing/2014/main" id="{C404B521-284C-604B-A176-8020AAE70D93}"/>
              </a:ext>
            </a:extLst>
          </p:cNvPr>
          <p:cNvSpPr/>
          <p:nvPr/>
        </p:nvSpPr>
        <p:spPr>
          <a:xfrm>
            <a:off x="5815869" y="3711013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web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31" name="직선 화살표 연결선 230">
            <a:extLst>
              <a:ext uri="{FF2B5EF4-FFF2-40B4-BE49-F238E27FC236}">
                <a16:creationId xmlns:a16="http://schemas.microsoft.com/office/drawing/2014/main" id="{C51BCDBF-BFC8-D1B0-8681-7D803B26E96F}"/>
              </a:ext>
            </a:extLst>
          </p:cNvPr>
          <p:cNvCxnSpPr>
            <a:cxnSpLocks/>
            <a:stCxn id="223" idx="3"/>
            <a:endCxn id="230" idx="1"/>
          </p:cNvCxnSpPr>
          <p:nvPr/>
        </p:nvCxnSpPr>
        <p:spPr>
          <a:xfrm>
            <a:off x="5300761" y="3825731"/>
            <a:ext cx="515108" cy="99102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모서리가 둥근 직사각형 234">
            <a:extLst>
              <a:ext uri="{FF2B5EF4-FFF2-40B4-BE49-F238E27FC236}">
                <a16:creationId xmlns:a16="http://schemas.microsoft.com/office/drawing/2014/main" id="{2F173CC1-BA9E-ECAF-60F6-27FC58067666}"/>
              </a:ext>
            </a:extLst>
          </p:cNvPr>
          <p:cNvSpPr/>
          <p:nvPr/>
        </p:nvSpPr>
        <p:spPr>
          <a:xfrm>
            <a:off x="5815869" y="4363797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kafka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38" name="모서리가 둥근 직사각형 237">
            <a:extLst>
              <a:ext uri="{FF2B5EF4-FFF2-40B4-BE49-F238E27FC236}">
                <a16:creationId xmlns:a16="http://schemas.microsoft.com/office/drawing/2014/main" id="{CA98BD43-7F52-A44A-377D-C86EF15F02E8}"/>
              </a:ext>
            </a:extLst>
          </p:cNvPr>
          <p:cNvSpPr/>
          <p:nvPr/>
        </p:nvSpPr>
        <p:spPr>
          <a:xfrm>
            <a:off x="7566620" y="3607058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10.0.0.41:80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43" name="모서리가 둥근 직사각형 242">
            <a:extLst>
              <a:ext uri="{FF2B5EF4-FFF2-40B4-BE49-F238E27FC236}">
                <a16:creationId xmlns:a16="http://schemas.microsoft.com/office/drawing/2014/main" id="{02A4B383-9CD9-46F6-BBD4-9CBD026CCF0B}"/>
              </a:ext>
            </a:extLst>
          </p:cNvPr>
          <p:cNvSpPr/>
          <p:nvPr/>
        </p:nvSpPr>
        <p:spPr>
          <a:xfrm>
            <a:off x="7566620" y="407836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10.0.0.42:80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44" name="직선 화살표 연결선 243">
            <a:extLst>
              <a:ext uri="{FF2B5EF4-FFF2-40B4-BE49-F238E27FC236}">
                <a16:creationId xmlns:a16="http://schemas.microsoft.com/office/drawing/2014/main" id="{912A7DE6-569C-8934-AC03-4C7C1F558426}"/>
              </a:ext>
            </a:extLst>
          </p:cNvPr>
          <p:cNvCxnSpPr>
            <a:cxnSpLocks/>
            <a:stCxn id="230" idx="3"/>
            <a:endCxn id="238" idx="1"/>
          </p:cNvCxnSpPr>
          <p:nvPr/>
        </p:nvCxnSpPr>
        <p:spPr>
          <a:xfrm flipV="1">
            <a:off x="7125055" y="3749773"/>
            <a:ext cx="441565" cy="17506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>
            <a:extLst>
              <a:ext uri="{FF2B5EF4-FFF2-40B4-BE49-F238E27FC236}">
                <a16:creationId xmlns:a16="http://schemas.microsoft.com/office/drawing/2014/main" id="{326F4435-1D79-89C8-1A02-B399AF3D250E}"/>
              </a:ext>
            </a:extLst>
          </p:cNvPr>
          <p:cNvCxnSpPr>
            <a:cxnSpLocks/>
            <a:stCxn id="230" idx="3"/>
            <a:endCxn id="243" idx="1"/>
          </p:cNvCxnSpPr>
          <p:nvPr/>
        </p:nvCxnSpPr>
        <p:spPr>
          <a:xfrm>
            <a:off x="7125055" y="3924833"/>
            <a:ext cx="441565" cy="296249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모서리가 둥근 직사각형 281">
            <a:extLst>
              <a:ext uri="{FF2B5EF4-FFF2-40B4-BE49-F238E27FC236}">
                <a16:creationId xmlns:a16="http://schemas.microsoft.com/office/drawing/2014/main" id="{2311B763-0971-698B-2420-3B00D118D109}"/>
              </a:ext>
            </a:extLst>
          </p:cNvPr>
          <p:cNvSpPr/>
          <p:nvPr/>
        </p:nvSpPr>
        <p:spPr>
          <a:xfrm>
            <a:off x="7566620" y="4540046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10.0.0.51:9092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90" name="모서리가 둥근 직사각형 289">
            <a:extLst>
              <a:ext uri="{FF2B5EF4-FFF2-40B4-BE49-F238E27FC236}">
                <a16:creationId xmlns:a16="http://schemas.microsoft.com/office/drawing/2014/main" id="{DDD24507-53E6-8A92-AA29-F3F59C6550E0}"/>
              </a:ext>
            </a:extLst>
          </p:cNvPr>
          <p:cNvSpPr/>
          <p:nvPr/>
        </p:nvSpPr>
        <p:spPr>
          <a:xfrm>
            <a:off x="2022541" y="3687819"/>
            <a:ext cx="1170612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SNI: web.com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SDS: web-cert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91" name="모서리가 둥근 직사각형 290">
            <a:extLst>
              <a:ext uri="{FF2B5EF4-FFF2-40B4-BE49-F238E27FC236}">
                <a16:creationId xmlns:a16="http://schemas.microsoft.com/office/drawing/2014/main" id="{1EADCDC1-CCD9-619D-C351-79AC12FD1E0C}"/>
              </a:ext>
            </a:extLst>
          </p:cNvPr>
          <p:cNvSpPr/>
          <p:nvPr/>
        </p:nvSpPr>
        <p:spPr>
          <a:xfrm>
            <a:off x="2022541" y="3966467"/>
            <a:ext cx="1170612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SNI: kafka.com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SDS: kafka-cert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93" name="직선 화살표 연결선 292">
            <a:extLst>
              <a:ext uri="{FF2B5EF4-FFF2-40B4-BE49-F238E27FC236}">
                <a16:creationId xmlns:a16="http://schemas.microsoft.com/office/drawing/2014/main" id="{A8EF032B-3A0A-5A20-59C1-F933DEF5FBB2}"/>
              </a:ext>
            </a:extLst>
          </p:cNvPr>
          <p:cNvCxnSpPr>
            <a:cxnSpLocks/>
            <a:stCxn id="290" idx="3"/>
            <a:endCxn id="223" idx="1"/>
          </p:cNvCxnSpPr>
          <p:nvPr/>
        </p:nvCxnSpPr>
        <p:spPr>
          <a:xfrm flipV="1">
            <a:off x="3193153" y="3825731"/>
            <a:ext cx="581204" cy="282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직선 화살표 연결선 294">
            <a:extLst>
              <a:ext uri="{FF2B5EF4-FFF2-40B4-BE49-F238E27FC236}">
                <a16:creationId xmlns:a16="http://schemas.microsoft.com/office/drawing/2014/main" id="{19ED3F61-F0C2-B194-1E0E-2135CBCB9FF4}"/>
              </a:ext>
            </a:extLst>
          </p:cNvPr>
          <p:cNvCxnSpPr>
            <a:cxnSpLocks/>
            <a:stCxn id="199" idx="3"/>
            <a:endCxn id="290" idx="1"/>
          </p:cNvCxnSpPr>
          <p:nvPr/>
        </p:nvCxnSpPr>
        <p:spPr>
          <a:xfrm>
            <a:off x="1520329" y="3646998"/>
            <a:ext cx="502212" cy="181557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모서리가 둥근 직사각형 299">
            <a:extLst>
              <a:ext uri="{FF2B5EF4-FFF2-40B4-BE49-F238E27FC236}">
                <a16:creationId xmlns:a16="http://schemas.microsoft.com/office/drawing/2014/main" id="{956BD8F5-55CA-ADBB-0908-27007C38F651}"/>
              </a:ext>
            </a:extLst>
          </p:cNvPr>
          <p:cNvSpPr/>
          <p:nvPr/>
        </p:nvSpPr>
        <p:spPr>
          <a:xfrm>
            <a:off x="202115" y="4072957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443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SNI: kafka.com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01" name="직선 화살표 연결선 300">
            <a:extLst>
              <a:ext uri="{FF2B5EF4-FFF2-40B4-BE49-F238E27FC236}">
                <a16:creationId xmlns:a16="http://schemas.microsoft.com/office/drawing/2014/main" id="{65765479-1E8A-C20A-348C-52CBB810DEC6}"/>
              </a:ext>
            </a:extLst>
          </p:cNvPr>
          <p:cNvCxnSpPr>
            <a:cxnSpLocks/>
            <a:stCxn id="300" idx="3"/>
            <a:endCxn id="291" idx="1"/>
          </p:cNvCxnSpPr>
          <p:nvPr/>
        </p:nvCxnSpPr>
        <p:spPr>
          <a:xfrm flipV="1">
            <a:off x="1520329" y="4107203"/>
            <a:ext cx="502212" cy="179574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직선 화살표 연결선 311">
            <a:extLst>
              <a:ext uri="{FF2B5EF4-FFF2-40B4-BE49-F238E27FC236}">
                <a16:creationId xmlns:a16="http://schemas.microsoft.com/office/drawing/2014/main" id="{A0472896-DEAA-0F65-C69B-224605047945}"/>
              </a:ext>
            </a:extLst>
          </p:cNvPr>
          <p:cNvCxnSpPr>
            <a:cxnSpLocks/>
            <a:stCxn id="291" idx="3"/>
            <a:endCxn id="235" idx="1"/>
          </p:cNvCxnSpPr>
          <p:nvPr/>
        </p:nvCxnSpPr>
        <p:spPr>
          <a:xfrm>
            <a:off x="3193153" y="4107203"/>
            <a:ext cx="2622716" cy="470414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직선 화살표 연결선 314">
            <a:extLst>
              <a:ext uri="{FF2B5EF4-FFF2-40B4-BE49-F238E27FC236}">
                <a16:creationId xmlns:a16="http://schemas.microsoft.com/office/drawing/2014/main" id="{3FCA8948-7880-79CE-46DD-6323DF67F352}"/>
              </a:ext>
            </a:extLst>
          </p:cNvPr>
          <p:cNvCxnSpPr>
            <a:cxnSpLocks/>
            <a:stCxn id="235" idx="3"/>
            <a:endCxn id="282" idx="1"/>
          </p:cNvCxnSpPr>
          <p:nvPr/>
        </p:nvCxnSpPr>
        <p:spPr>
          <a:xfrm>
            <a:off x="7125055" y="4577617"/>
            <a:ext cx="441565" cy="105144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모서리가 둥근 직사각형 320">
            <a:extLst>
              <a:ext uri="{FF2B5EF4-FFF2-40B4-BE49-F238E27FC236}">
                <a16:creationId xmlns:a16="http://schemas.microsoft.com/office/drawing/2014/main" id="{B404ADA2-039A-0F38-6838-2D9F33F84B96}"/>
              </a:ext>
            </a:extLst>
          </p:cNvPr>
          <p:cNvSpPr/>
          <p:nvPr/>
        </p:nvSpPr>
        <p:spPr>
          <a:xfrm>
            <a:off x="4427984" y="339502"/>
            <a:ext cx="4521965" cy="636879"/>
          </a:xfrm>
          <a:prstGeom prst="roundRect">
            <a:avLst>
              <a:gd name="adj" fmla="val 7121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Secrets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27" name="모서리가 둥근 직사각형 326">
            <a:extLst>
              <a:ext uri="{FF2B5EF4-FFF2-40B4-BE49-F238E27FC236}">
                <a16:creationId xmlns:a16="http://schemas.microsoft.com/office/drawing/2014/main" id="{49311423-46F6-C0E0-A617-F27B401162CF}"/>
              </a:ext>
            </a:extLst>
          </p:cNvPr>
          <p:cNvSpPr/>
          <p:nvPr/>
        </p:nvSpPr>
        <p:spPr>
          <a:xfrm>
            <a:off x="4506682" y="6124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28" name="모서리가 둥근 직사각형 327">
            <a:extLst>
              <a:ext uri="{FF2B5EF4-FFF2-40B4-BE49-F238E27FC236}">
                <a16:creationId xmlns:a16="http://schemas.microsoft.com/office/drawing/2014/main" id="{18F63372-1EE1-60F5-EB3D-F6D1D42191EA}"/>
              </a:ext>
            </a:extLst>
          </p:cNvPr>
          <p:cNvSpPr/>
          <p:nvPr/>
        </p:nvSpPr>
        <p:spPr>
          <a:xfrm>
            <a:off x="7566620" y="6124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kafka-cert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29" name="모서리가 둥근 직사각형 328">
            <a:extLst>
              <a:ext uri="{FF2B5EF4-FFF2-40B4-BE49-F238E27FC236}">
                <a16:creationId xmlns:a16="http://schemas.microsoft.com/office/drawing/2014/main" id="{68E2246A-4822-F57E-D32E-F9E913C571EF}"/>
              </a:ext>
            </a:extLst>
          </p:cNvPr>
          <p:cNvSpPr/>
          <p:nvPr/>
        </p:nvSpPr>
        <p:spPr>
          <a:xfrm>
            <a:off x="6036651" y="6124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web-cert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33" name="꺾인 연결선[E] 332">
            <a:extLst>
              <a:ext uri="{FF2B5EF4-FFF2-40B4-BE49-F238E27FC236}">
                <a16:creationId xmlns:a16="http://schemas.microsoft.com/office/drawing/2014/main" id="{7F7AD85D-178F-6101-0DC1-FA0A2E03315C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 rot="16200000" flipH="1">
            <a:off x="3327806" y="245392"/>
            <a:ext cx="500777" cy="192817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꺾인 연결선[E] 335">
            <a:extLst>
              <a:ext uri="{FF2B5EF4-FFF2-40B4-BE49-F238E27FC236}">
                <a16:creationId xmlns:a16="http://schemas.microsoft.com/office/drawing/2014/main" id="{ECA51CBA-1A59-67C4-C5F0-ACF97A1AB6D6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16200000" flipH="1">
            <a:off x="4291895" y="-718697"/>
            <a:ext cx="500777" cy="385635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꺾인 연결선[E] 338">
            <a:extLst>
              <a:ext uri="{FF2B5EF4-FFF2-40B4-BE49-F238E27FC236}">
                <a16:creationId xmlns:a16="http://schemas.microsoft.com/office/drawing/2014/main" id="{3C813439-ACE5-9A17-2445-FE3133FA7231}"/>
              </a:ext>
            </a:extLst>
          </p:cNvPr>
          <p:cNvCxnSpPr>
            <a:cxnSpLocks/>
            <a:stCxn id="12" idx="2"/>
            <a:endCxn id="32" idx="0"/>
          </p:cNvCxnSpPr>
          <p:nvPr/>
        </p:nvCxnSpPr>
        <p:spPr>
          <a:xfrm rot="16200000" flipH="1">
            <a:off x="5167272" y="-1594073"/>
            <a:ext cx="500777" cy="560711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직선 화살표 연결선 341">
            <a:extLst>
              <a:ext uri="{FF2B5EF4-FFF2-40B4-BE49-F238E27FC236}">
                <a16:creationId xmlns:a16="http://schemas.microsoft.com/office/drawing/2014/main" id="{E929A037-9740-6FD3-BF9B-3BC4235BD6FE}"/>
              </a:ext>
            </a:extLst>
          </p:cNvPr>
          <p:cNvCxnSpPr>
            <a:cxnSpLocks/>
            <a:stCxn id="12" idx="2"/>
            <a:endCxn id="8" idx="0"/>
          </p:cNvCxnSpPr>
          <p:nvPr/>
        </p:nvCxnSpPr>
        <p:spPr>
          <a:xfrm>
            <a:off x="2614105" y="959094"/>
            <a:ext cx="1" cy="5007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꺾인 연결선[E] 344">
            <a:extLst>
              <a:ext uri="{FF2B5EF4-FFF2-40B4-BE49-F238E27FC236}">
                <a16:creationId xmlns:a16="http://schemas.microsoft.com/office/drawing/2014/main" id="{B9A04EF3-3295-F5B2-DD71-659BD05AAFA2}"/>
              </a:ext>
            </a:extLst>
          </p:cNvPr>
          <p:cNvCxnSpPr>
            <a:cxnSpLocks/>
            <a:stCxn id="12" idx="2"/>
            <a:endCxn id="321" idx="2"/>
          </p:cNvCxnSpPr>
          <p:nvPr/>
        </p:nvCxnSpPr>
        <p:spPr>
          <a:xfrm rot="16200000" flipH="1">
            <a:off x="4642893" y="-1069694"/>
            <a:ext cx="17287" cy="4074862"/>
          </a:xfrm>
          <a:prstGeom prst="bentConnector3">
            <a:avLst>
              <a:gd name="adj1" fmla="val 142238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7" name="모서리가 둥근 직사각형 356">
            <a:extLst>
              <a:ext uri="{FF2B5EF4-FFF2-40B4-BE49-F238E27FC236}">
                <a16:creationId xmlns:a16="http://schemas.microsoft.com/office/drawing/2014/main" id="{F4983A9A-8BE5-7C22-9C5D-DDDDF38B13EB}"/>
              </a:ext>
            </a:extLst>
          </p:cNvPr>
          <p:cNvSpPr/>
          <p:nvPr/>
        </p:nvSpPr>
        <p:spPr>
          <a:xfrm>
            <a:off x="2608929" y="957216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tx1"/>
                </a:solidFill>
              </a:rPr>
              <a:t>1 Stream with </a:t>
            </a:r>
            <a:r>
              <a:rPr kumimoji="1" lang="en-US" altLang="ko-KR" sz="800" b="1" i="1" u="sng">
                <a:solidFill>
                  <a:schemeClr val="tx1"/>
                </a:solidFill>
              </a:rPr>
              <a:t>ADS 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58" name="모서리가 둥근 직사각형 357">
            <a:extLst>
              <a:ext uri="{FF2B5EF4-FFF2-40B4-BE49-F238E27FC236}">
                <a16:creationId xmlns:a16="http://schemas.microsoft.com/office/drawing/2014/main" id="{8A8A062C-4B37-22B4-D64E-34AA94C359F4}"/>
              </a:ext>
            </a:extLst>
          </p:cNvPr>
          <p:cNvSpPr/>
          <p:nvPr/>
        </p:nvSpPr>
        <p:spPr>
          <a:xfrm>
            <a:off x="2608929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LDS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59" name="모서리가 둥근 직사각형 358">
            <a:extLst>
              <a:ext uri="{FF2B5EF4-FFF2-40B4-BE49-F238E27FC236}">
                <a16:creationId xmlns:a16="http://schemas.microsoft.com/office/drawing/2014/main" id="{215FEDEB-CB15-6E47-834B-2CD252B7994E}"/>
              </a:ext>
            </a:extLst>
          </p:cNvPr>
          <p:cNvSpPr/>
          <p:nvPr/>
        </p:nvSpPr>
        <p:spPr>
          <a:xfrm>
            <a:off x="4537559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RDS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60" name="모서리가 둥근 직사각형 359">
            <a:extLst>
              <a:ext uri="{FF2B5EF4-FFF2-40B4-BE49-F238E27FC236}">
                <a16:creationId xmlns:a16="http://schemas.microsoft.com/office/drawing/2014/main" id="{5C6E6412-B020-09E9-5222-47F683968439}"/>
              </a:ext>
            </a:extLst>
          </p:cNvPr>
          <p:cNvSpPr/>
          <p:nvPr/>
        </p:nvSpPr>
        <p:spPr>
          <a:xfrm>
            <a:off x="6467874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CDS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61" name="모서리가 둥근 직사각형 360">
            <a:extLst>
              <a:ext uri="{FF2B5EF4-FFF2-40B4-BE49-F238E27FC236}">
                <a16:creationId xmlns:a16="http://schemas.microsoft.com/office/drawing/2014/main" id="{E40A190F-DED6-3D38-7AB9-E06A7C0E1816}"/>
              </a:ext>
            </a:extLst>
          </p:cNvPr>
          <p:cNvSpPr/>
          <p:nvPr/>
        </p:nvSpPr>
        <p:spPr>
          <a:xfrm>
            <a:off x="8217834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EDS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62" name="모서리가 둥근 직사각형 361">
            <a:extLst>
              <a:ext uri="{FF2B5EF4-FFF2-40B4-BE49-F238E27FC236}">
                <a16:creationId xmlns:a16="http://schemas.microsoft.com/office/drawing/2014/main" id="{0941F7C4-9198-D465-B0D5-4843B93AC834}"/>
              </a:ext>
            </a:extLst>
          </p:cNvPr>
          <p:cNvSpPr/>
          <p:nvPr/>
        </p:nvSpPr>
        <p:spPr>
          <a:xfrm>
            <a:off x="6683791" y="980188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SDS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769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C7530-3B0C-7FE2-8676-179D8E8B0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A9B6CF7-7DEC-20C1-DF13-31EF86AC5C46}"/>
              </a:ext>
            </a:extLst>
          </p:cNvPr>
          <p:cNvSpPr/>
          <p:nvPr/>
        </p:nvSpPr>
        <p:spPr>
          <a:xfrm>
            <a:off x="1959512" y="531455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xDS Server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(Control Plane)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AC951D98-1B7C-0EC4-0A5A-BC4280CFEF58}"/>
              </a:ext>
            </a:extLst>
          </p:cNvPr>
          <p:cNvSpPr/>
          <p:nvPr/>
        </p:nvSpPr>
        <p:spPr>
          <a:xfrm>
            <a:off x="132487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Clients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52581BB8-37F3-B532-E3ED-738FBB1747F3}"/>
              </a:ext>
            </a:extLst>
          </p:cNvPr>
          <p:cNvSpPr/>
          <p:nvPr/>
        </p:nvSpPr>
        <p:spPr>
          <a:xfrm>
            <a:off x="202115" y="1736995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8080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Host: reviews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Path: /api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5321E8DD-65E9-A4E2-D711-3FABB351251C}"/>
              </a:ext>
            </a:extLst>
          </p:cNvPr>
          <p:cNvSpPr/>
          <p:nvPr/>
        </p:nvSpPr>
        <p:spPr>
          <a:xfrm>
            <a:off x="1885371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Listeners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2FCDD04-7464-E705-0959-A819F21D38A1}"/>
              </a:ext>
            </a:extLst>
          </p:cNvPr>
          <p:cNvSpPr/>
          <p:nvPr/>
        </p:nvSpPr>
        <p:spPr>
          <a:xfrm>
            <a:off x="1959512" y="1736994"/>
            <a:ext cx="1309186" cy="860591"/>
          </a:xfrm>
          <a:prstGeom prst="roundRect">
            <a:avLst>
              <a:gd name="adj" fmla="val 791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internal-listener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mTLS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Listening Port: 8080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RDS: internal-routes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A2C9CFF-026C-5254-C3B9-CC03A6D72EE7}"/>
              </a:ext>
            </a:extLst>
          </p:cNvPr>
          <p:cNvSpPr/>
          <p:nvPr/>
        </p:nvSpPr>
        <p:spPr>
          <a:xfrm>
            <a:off x="5741727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Clusters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B0802E94-7C7A-714A-925D-F59899DDEFB5}"/>
              </a:ext>
            </a:extLst>
          </p:cNvPr>
          <p:cNvSpPr/>
          <p:nvPr/>
        </p:nvSpPr>
        <p:spPr>
          <a:xfrm>
            <a:off x="5815870" y="1736995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reviews-v1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9AE5C6E9-C7D0-FE3A-416F-4B8BE952ACD3}"/>
              </a:ext>
            </a:extLst>
          </p:cNvPr>
          <p:cNvSpPr/>
          <p:nvPr/>
        </p:nvSpPr>
        <p:spPr>
          <a:xfrm>
            <a:off x="5815870" y="2383766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reviews-v2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3420C325-2A4A-3EC1-CC69-34BE5FDF78E1}"/>
              </a:ext>
            </a:extLst>
          </p:cNvPr>
          <p:cNvSpPr/>
          <p:nvPr/>
        </p:nvSpPr>
        <p:spPr>
          <a:xfrm>
            <a:off x="5815870" y="3030537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ratings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B70B88EB-5F52-EE0B-E821-1CFD7DE6C427}"/>
              </a:ext>
            </a:extLst>
          </p:cNvPr>
          <p:cNvSpPr/>
          <p:nvPr/>
        </p:nvSpPr>
        <p:spPr>
          <a:xfrm>
            <a:off x="3638256" y="1459871"/>
            <a:ext cx="1808056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Routes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B635D5C4-BF9B-2FCC-8060-309AC79BB3FB}"/>
              </a:ext>
            </a:extLst>
          </p:cNvPr>
          <p:cNvSpPr/>
          <p:nvPr/>
        </p:nvSpPr>
        <p:spPr>
          <a:xfrm>
            <a:off x="3707668" y="1736144"/>
            <a:ext cx="1663099" cy="1508213"/>
          </a:xfrm>
          <a:prstGeom prst="roundRect">
            <a:avLst>
              <a:gd name="adj" fmla="val 4548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internal-routes</a:t>
            </a: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9A0A1995-3137-1FD1-CEC2-EAEDAE8BCB32}"/>
              </a:ext>
            </a:extLst>
          </p:cNvPr>
          <p:cNvSpPr/>
          <p:nvPr/>
        </p:nvSpPr>
        <p:spPr>
          <a:xfrm>
            <a:off x="7492480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Endpoints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355F32C9-7897-7E48-C914-D84BFC2312A7}"/>
              </a:ext>
            </a:extLst>
          </p:cNvPr>
          <p:cNvSpPr/>
          <p:nvPr/>
        </p:nvSpPr>
        <p:spPr>
          <a:xfrm>
            <a:off x="7566622" y="1736996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10.0.0.11:80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FA59AF46-02E5-9D7B-EAEB-4E3B4F7CD207}"/>
              </a:ext>
            </a:extLst>
          </p:cNvPr>
          <p:cNvSpPr/>
          <p:nvPr/>
        </p:nvSpPr>
        <p:spPr>
          <a:xfrm>
            <a:off x="7566622" y="2203652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10.0.0.12:80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F40E2F4A-C3D2-CD5E-BEC9-79322A821B87}"/>
              </a:ext>
            </a:extLst>
          </p:cNvPr>
          <p:cNvSpPr/>
          <p:nvPr/>
        </p:nvSpPr>
        <p:spPr>
          <a:xfrm>
            <a:off x="7566621" y="2670308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10.0.0.21:80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A81CF3E5-8BEB-B301-3281-4E8AA2AF0A15}"/>
              </a:ext>
            </a:extLst>
          </p:cNvPr>
          <p:cNvSpPr/>
          <p:nvPr/>
        </p:nvSpPr>
        <p:spPr>
          <a:xfrm>
            <a:off x="7566620" y="3136964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10.0.0.31:80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E460786E-CE54-826C-4278-2CAAC50CA569}"/>
              </a:ext>
            </a:extLst>
          </p:cNvPr>
          <p:cNvCxnSpPr>
            <a:cxnSpLocks/>
            <a:stCxn id="135" idx="3"/>
            <a:endCxn id="16" idx="1"/>
          </p:cNvCxnSpPr>
          <p:nvPr/>
        </p:nvCxnSpPr>
        <p:spPr>
          <a:xfrm>
            <a:off x="5300761" y="3023318"/>
            <a:ext cx="515109" cy="221039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2B90E4FF-E7E5-EC4B-298F-596B3755637D}"/>
              </a:ext>
            </a:extLst>
          </p:cNvPr>
          <p:cNvCxnSpPr>
            <a:cxnSpLocks/>
            <a:stCxn id="16" idx="3"/>
            <a:endCxn id="38" idx="1"/>
          </p:cNvCxnSpPr>
          <p:nvPr/>
        </p:nvCxnSpPr>
        <p:spPr>
          <a:xfrm>
            <a:off x="7125056" y="3244357"/>
            <a:ext cx="441564" cy="35322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D2D0C14-CCAA-E440-D828-BD7BF3D1A111}"/>
              </a:ext>
            </a:extLst>
          </p:cNvPr>
          <p:cNvCxnSpPr>
            <a:cxnSpLocks/>
            <a:stCxn id="15" idx="3"/>
            <a:endCxn id="37" idx="1"/>
          </p:cNvCxnSpPr>
          <p:nvPr/>
        </p:nvCxnSpPr>
        <p:spPr>
          <a:xfrm>
            <a:off x="7125056" y="2597586"/>
            <a:ext cx="441565" cy="2154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27E77408-5094-C964-D2A3-EC53496B7FDA}"/>
              </a:ext>
            </a:extLst>
          </p:cNvPr>
          <p:cNvCxnSpPr>
            <a:cxnSpLocks/>
            <a:stCxn id="14" idx="3"/>
            <a:endCxn id="36" idx="1"/>
          </p:cNvCxnSpPr>
          <p:nvPr/>
        </p:nvCxnSpPr>
        <p:spPr>
          <a:xfrm>
            <a:off x="7125056" y="1950815"/>
            <a:ext cx="441566" cy="3955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29C7B896-5582-20FA-1822-69AD242E696D}"/>
              </a:ext>
            </a:extLst>
          </p:cNvPr>
          <p:cNvCxnSpPr>
            <a:cxnSpLocks/>
            <a:stCxn id="14" idx="3"/>
            <a:endCxn id="33" idx="1"/>
          </p:cNvCxnSpPr>
          <p:nvPr/>
        </p:nvCxnSpPr>
        <p:spPr>
          <a:xfrm flipV="1">
            <a:off x="7125056" y="1879711"/>
            <a:ext cx="441566" cy="711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78E34F97-D7C2-2354-EDC9-4E694ACE4D4B}"/>
              </a:ext>
            </a:extLst>
          </p:cNvPr>
          <p:cNvSpPr/>
          <p:nvPr/>
        </p:nvSpPr>
        <p:spPr>
          <a:xfrm>
            <a:off x="202115" y="2383766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8080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Host: ratings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AC019542-7437-CB27-5A9F-BA8761E3C9ED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>
            <a:off x="1520329" y="1950815"/>
            <a:ext cx="439183" cy="2164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89A11BA-7389-474D-A193-98F3981D7787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1520329" y="2167290"/>
            <a:ext cx="439183" cy="430296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48E1C17A-FAA6-74E6-D8F5-88838B61F44D}"/>
              </a:ext>
            </a:extLst>
          </p:cNvPr>
          <p:cNvSpPr/>
          <p:nvPr/>
        </p:nvSpPr>
        <p:spPr>
          <a:xfrm>
            <a:off x="3779084" y="1991450"/>
            <a:ext cx="1526404" cy="893492"/>
          </a:xfrm>
          <a:prstGeom prst="roundRect">
            <a:avLst>
              <a:gd name="adj" fmla="val 5175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reviews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9" name="모서리가 둥근 직사각형 88">
            <a:extLst>
              <a:ext uri="{FF2B5EF4-FFF2-40B4-BE49-F238E27FC236}">
                <a16:creationId xmlns:a16="http://schemas.microsoft.com/office/drawing/2014/main" id="{F049CC14-D5E0-BB47-0C71-8A1887CC0D0F}"/>
              </a:ext>
            </a:extLst>
          </p:cNvPr>
          <p:cNvSpPr/>
          <p:nvPr/>
        </p:nvSpPr>
        <p:spPr>
          <a:xfrm>
            <a:off x="3857611" y="2242250"/>
            <a:ext cx="1378126" cy="27910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Path: /api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kumimoji="1" lang="en-US" altLang="ko-KR" sz="800">
                <a:solidFill>
                  <a:schemeClr val="tx1"/>
                </a:solidFill>
              </a:rPr>
              <a:t>v1:80, v2:20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00" name="모서리가 둥근 직사각형 99">
            <a:extLst>
              <a:ext uri="{FF2B5EF4-FFF2-40B4-BE49-F238E27FC236}">
                <a16:creationId xmlns:a16="http://schemas.microsoft.com/office/drawing/2014/main" id="{3EDDA5CF-687D-9AA1-D2CF-60A1018FFF51}"/>
              </a:ext>
            </a:extLst>
          </p:cNvPr>
          <p:cNvSpPr/>
          <p:nvPr/>
        </p:nvSpPr>
        <p:spPr>
          <a:xfrm>
            <a:off x="3848832" y="2520828"/>
            <a:ext cx="1378126" cy="276803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Path: /*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kumimoji="1" lang="en-US" altLang="ko-KR" sz="800">
                <a:solidFill>
                  <a:schemeClr val="tx1"/>
                </a:solidFill>
              </a:rPr>
              <a:t>v1:100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35" name="모서리가 둥근 직사각형 134">
            <a:extLst>
              <a:ext uri="{FF2B5EF4-FFF2-40B4-BE49-F238E27FC236}">
                <a16:creationId xmlns:a16="http://schemas.microsoft.com/office/drawing/2014/main" id="{15EB020F-BBCB-A7C7-1AEB-26489C4A177A}"/>
              </a:ext>
            </a:extLst>
          </p:cNvPr>
          <p:cNvSpPr/>
          <p:nvPr/>
        </p:nvSpPr>
        <p:spPr>
          <a:xfrm>
            <a:off x="3774357" y="2882582"/>
            <a:ext cx="1526404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ratings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ratings:100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B940939F-5C95-5FDC-C6CB-DBB6DE2E7AB1}"/>
              </a:ext>
            </a:extLst>
          </p:cNvPr>
          <p:cNvCxnSpPr>
            <a:cxnSpLocks/>
            <a:stCxn id="5" idx="3"/>
            <a:endCxn id="89" idx="1"/>
          </p:cNvCxnSpPr>
          <p:nvPr/>
        </p:nvCxnSpPr>
        <p:spPr>
          <a:xfrm>
            <a:off x="3268698" y="2167290"/>
            <a:ext cx="588913" cy="2145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01474708-DA05-140B-B12D-ADBDED54638A}"/>
              </a:ext>
            </a:extLst>
          </p:cNvPr>
          <p:cNvCxnSpPr>
            <a:cxnSpLocks/>
            <a:stCxn id="89" idx="3"/>
            <a:endCxn id="14" idx="1"/>
          </p:cNvCxnSpPr>
          <p:nvPr/>
        </p:nvCxnSpPr>
        <p:spPr>
          <a:xfrm flipV="1">
            <a:off x="5235737" y="1950815"/>
            <a:ext cx="580133" cy="4309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A6FB0AD3-92AE-559C-E95F-12312F7BAA4F}"/>
              </a:ext>
            </a:extLst>
          </p:cNvPr>
          <p:cNvCxnSpPr>
            <a:cxnSpLocks/>
            <a:stCxn id="89" idx="3"/>
            <a:endCxn id="15" idx="1"/>
          </p:cNvCxnSpPr>
          <p:nvPr/>
        </p:nvCxnSpPr>
        <p:spPr>
          <a:xfrm>
            <a:off x="5235737" y="2381805"/>
            <a:ext cx="580133" cy="2157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1444C2A5-2BD7-CC13-76CC-C1E3DA0D22B4}"/>
              </a:ext>
            </a:extLst>
          </p:cNvPr>
          <p:cNvCxnSpPr>
            <a:cxnSpLocks/>
            <a:stCxn id="5" idx="3"/>
            <a:endCxn id="135" idx="1"/>
          </p:cNvCxnSpPr>
          <p:nvPr/>
        </p:nvCxnSpPr>
        <p:spPr>
          <a:xfrm>
            <a:off x="3268698" y="2167290"/>
            <a:ext cx="505659" cy="85602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모서리가 둥근 직사각형 198">
            <a:extLst>
              <a:ext uri="{FF2B5EF4-FFF2-40B4-BE49-F238E27FC236}">
                <a16:creationId xmlns:a16="http://schemas.microsoft.com/office/drawing/2014/main" id="{D2A0DD18-2AC5-1817-DB85-8937CBB10221}"/>
              </a:ext>
            </a:extLst>
          </p:cNvPr>
          <p:cNvSpPr/>
          <p:nvPr/>
        </p:nvSpPr>
        <p:spPr>
          <a:xfrm>
            <a:off x="202115" y="3433178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443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SNI: web.com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07" name="모서리가 둥근 직사각형 206">
            <a:extLst>
              <a:ext uri="{FF2B5EF4-FFF2-40B4-BE49-F238E27FC236}">
                <a16:creationId xmlns:a16="http://schemas.microsoft.com/office/drawing/2014/main" id="{E3D8D4FD-6903-C53A-F471-54214B19E49E}"/>
              </a:ext>
            </a:extLst>
          </p:cNvPr>
          <p:cNvSpPr/>
          <p:nvPr/>
        </p:nvSpPr>
        <p:spPr>
          <a:xfrm>
            <a:off x="1959512" y="3433178"/>
            <a:ext cx="1309186" cy="884204"/>
          </a:xfrm>
          <a:prstGeom prst="roundRect">
            <a:avLst>
              <a:gd name="adj" fmla="val 791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external-listener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mTLS</a:t>
            </a:r>
          </a:p>
        </p:txBody>
      </p:sp>
      <p:sp>
        <p:nvSpPr>
          <p:cNvPr id="208" name="모서리가 둥근 직사각형 207">
            <a:extLst>
              <a:ext uri="{FF2B5EF4-FFF2-40B4-BE49-F238E27FC236}">
                <a16:creationId xmlns:a16="http://schemas.microsoft.com/office/drawing/2014/main" id="{3BB58D81-6CC4-AB0F-AD2A-68C7AB05FE03}"/>
              </a:ext>
            </a:extLst>
          </p:cNvPr>
          <p:cNvSpPr/>
          <p:nvPr/>
        </p:nvSpPr>
        <p:spPr>
          <a:xfrm>
            <a:off x="3707668" y="3430648"/>
            <a:ext cx="1663099" cy="600689"/>
          </a:xfrm>
          <a:prstGeom prst="roundRect">
            <a:avLst>
              <a:gd name="adj" fmla="val 6914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external-routes</a:t>
            </a:r>
          </a:p>
        </p:txBody>
      </p:sp>
      <p:sp>
        <p:nvSpPr>
          <p:cNvPr id="223" name="모서리가 둥근 직사각형 222">
            <a:extLst>
              <a:ext uri="{FF2B5EF4-FFF2-40B4-BE49-F238E27FC236}">
                <a16:creationId xmlns:a16="http://schemas.microsoft.com/office/drawing/2014/main" id="{59998048-2BE0-4380-0025-1C08B9198675}"/>
              </a:ext>
            </a:extLst>
          </p:cNvPr>
          <p:cNvSpPr/>
          <p:nvPr/>
        </p:nvSpPr>
        <p:spPr>
          <a:xfrm>
            <a:off x="3774357" y="3684995"/>
            <a:ext cx="1526404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example.com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web</a:t>
            </a:r>
          </a:p>
        </p:txBody>
      </p:sp>
      <p:sp>
        <p:nvSpPr>
          <p:cNvPr id="230" name="모서리가 둥근 직사각형 229">
            <a:extLst>
              <a:ext uri="{FF2B5EF4-FFF2-40B4-BE49-F238E27FC236}">
                <a16:creationId xmlns:a16="http://schemas.microsoft.com/office/drawing/2014/main" id="{DBDFA99B-296B-1B23-4D0F-B54B34D9EAAA}"/>
              </a:ext>
            </a:extLst>
          </p:cNvPr>
          <p:cNvSpPr/>
          <p:nvPr/>
        </p:nvSpPr>
        <p:spPr>
          <a:xfrm>
            <a:off x="5815869" y="3711013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web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31" name="직선 화살표 연결선 230">
            <a:extLst>
              <a:ext uri="{FF2B5EF4-FFF2-40B4-BE49-F238E27FC236}">
                <a16:creationId xmlns:a16="http://schemas.microsoft.com/office/drawing/2014/main" id="{FA998875-95CB-A082-CE04-88B8AE408628}"/>
              </a:ext>
            </a:extLst>
          </p:cNvPr>
          <p:cNvCxnSpPr>
            <a:cxnSpLocks/>
            <a:stCxn id="223" idx="3"/>
            <a:endCxn id="230" idx="1"/>
          </p:cNvCxnSpPr>
          <p:nvPr/>
        </p:nvCxnSpPr>
        <p:spPr>
          <a:xfrm>
            <a:off x="5300761" y="3825731"/>
            <a:ext cx="515108" cy="99102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모서리가 둥근 직사각형 234">
            <a:extLst>
              <a:ext uri="{FF2B5EF4-FFF2-40B4-BE49-F238E27FC236}">
                <a16:creationId xmlns:a16="http://schemas.microsoft.com/office/drawing/2014/main" id="{91F145BE-54B6-E321-DDC3-2903EA1F215B}"/>
              </a:ext>
            </a:extLst>
          </p:cNvPr>
          <p:cNvSpPr/>
          <p:nvPr/>
        </p:nvSpPr>
        <p:spPr>
          <a:xfrm>
            <a:off x="5815869" y="4363797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kafka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38" name="모서리가 둥근 직사각형 237">
            <a:extLst>
              <a:ext uri="{FF2B5EF4-FFF2-40B4-BE49-F238E27FC236}">
                <a16:creationId xmlns:a16="http://schemas.microsoft.com/office/drawing/2014/main" id="{83B4003B-888A-D84E-C9DC-0A887BA4FA68}"/>
              </a:ext>
            </a:extLst>
          </p:cNvPr>
          <p:cNvSpPr/>
          <p:nvPr/>
        </p:nvSpPr>
        <p:spPr>
          <a:xfrm>
            <a:off x="7566620" y="3607058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10.0.0.41:80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43" name="모서리가 둥근 직사각형 242">
            <a:extLst>
              <a:ext uri="{FF2B5EF4-FFF2-40B4-BE49-F238E27FC236}">
                <a16:creationId xmlns:a16="http://schemas.microsoft.com/office/drawing/2014/main" id="{A99916FD-1F6E-FC5D-3839-8B835824D89B}"/>
              </a:ext>
            </a:extLst>
          </p:cNvPr>
          <p:cNvSpPr/>
          <p:nvPr/>
        </p:nvSpPr>
        <p:spPr>
          <a:xfrm>
            <a:off x="7566620" y="407836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10.0.0.42:80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44" name="직선 화살표 연결선 243">
            <a:extLst>
              <a:ext uri="{FF2B5EF4-FFF2-40B4-BE49-F238E27FC236}">
                <a16:creationId xmlns:a16="http://schemas.microsoft.com/office/drawing/2014/main" id="{29B34F26-474A-B881-A3DD-FE1B986EF262}"/>
              </a:ext>
            </a:extLst>
          </p:cNvPr>
          <p:cNvCxnSpPr>
            <a:cxnSpLocks/>
            <a:stCxn id="230" idx="3"/>
            <a:endCxn id="238" idx="1"/>
          </p:cNvCxnSpPr>
          <p:nvPr/>
        </p:nvCxnSpPr>
        <p:spPr>
          <a:xfrm flipV="1">
            <a:off x="7125055" y="3749773"/>
            <a:ext cx="441565" cy="17506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>
            <a:extLst>
              <a:ext uri="{FF2B5EF4-FFF2-40B4-BE49-F238E27FC236}">
                <a16:creationId xmlns:a16="http://schemas.microsoft.com/office/drawing/2014/main" id="{B7714751-A181-5D97-8E0D-522244214796}"/>
              </a:ext>
            </a:extLst>
          </p:cNvPr>
          <p:cNvCxnSpPr>
            <a:cxnSpLocks/>
            <a:stCxn id="230" idx="3"/>
            <a:endCxn id="243" idx="1"/>
          </p:cNvCxnSpPr>
          <p:nvPr/>
        </p:nvCxnSpPr>
        <p:spPr>
          <a:xfrm>
            <a:off x="7125055" y="3924833"/>
            <a:ext cx="441565" cy="296249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모서리가 둥근 직사각형 281">
            <a:extLst>
              <a:ext uri="{FF2B5EF4-FFF2-40B4-BE49-F238E27FC236}">
                <a16:creationId xmlns:a16="http://schemas.microsoft.com/office/drawing/2014/main" id="{458C98A1-7CA6-97E7-DAC0-A067F5B279D5}"/>
              </a:ext>
            </a:extLst>
          </p:cNvPr>
          <p:cNvSpPr/>
          <p:nvPr/>
        </p:nvSpPr>
        <p:spPr>
          <a:xfrm>
            <a:off x="7566620" y="4540046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10.0.0.51:9092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90" name="모서리가 둥근 직사각형 289">
            <a:extLst>
              <a:ext uri="{FF2B5EF4-FFF2-40B4-BE49-F238E27FC236}">
                <a16:creationId xmlns:a16="http://schemas.microsoft.com/office/drawing/2014/main" id="{BA35F08E-4A54-2A76-3DAD-6FFB849059D1}"/>
              </a:ext>
            </a:extLst>
          </p:cNvPr>
          <p:cNvSpPr/>
          <p:nvPr/>
        </p:nvSpPr>
        <p:spPr>
          <a:xfrm>
            <a:off x="2022541" y="3687819"/>
            <a:ext cx="1170612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SNI: web.com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SDS: web-cert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91" name="모서리가 둥근 직사각형 290">
            <a:extLst>
              <a:ext uri="{FF2B5EF4-FFF2-40B4-BE49-F238E27FC236}">
                <a16:creationId xmlns:a16="http://schemas.microsoft.com/office/drawing/2014/main" id="{7AAB0FD7-A862-8A80-73BB-88F9EE1BFDA0}"/>
              </a:ext>
            </a:extLst>
          </p:cNvPr>
          <p:cNvSpPr/>
          <p:nvPr/>
        </p:nvSpPr>
        <p:spPr>
          <a:xfrm>
            <a:off x="2022541" y="3966467"/>
            <a:ext cx="1170612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SNI: kafka.com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SDS: kafka-cert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93" name="직선 화살표 연결선 292">
            <a:extLst>
              <a:ext uri="{FF2B5EF4-FFF2-40B4-BE49-F238E27FC236}">
                <a16:creationId xmlns:a16="http://schemas.microsoft.com/office/drawing/2014/main" id="{0B6E1E59-8172-AE8D-AAE2-6DB233612F14}"/>
              </a:ext>
            </a:extLst>
          </p:cNvPr>
          <p:cNvCxnSpPr>
            <a:cxnSpLocks/>
            <a:stCxn id="290" idx="3"/>
            <a:endCxn id="223" idx="1"/>
          </p:cNvCxnSpPr>
          <p:nvPr/>
        </p:nvCxnSpPr>
        <p:spPr>
          <a:xfrm flipV="1">
            <a:off x="3193153" y="3825731"/>
            <a:ext cx="581204" cy="282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직선 화살표 연결선 294">
            <a:extLst>
              <a:ext uri="{FF2B5EF4-FFF2-40B4-BE49-F238E27FC236}">
                <a16:creationId xmlns:a16="http://schemas.microsoft.com/office/drawing/2014/main" id="{57B300FE-5751-A434-68E3-8A065E835440}"/>
              </a:ext>
            </a:extLst>
          </p:cNvPr>
          <p:cNvCxnSpPr>
            <a:cxnSpLocks/>
            <a:stCxn id="199" idx="3"/>
            <a:endCxn id="290" idx="1"/>
          </p:cNvCxnSpPr>
          <p:nvPr/>
        </p:nvCxnSpPr>
        <p:spPr>
          <a:xfrm>
            <a:off x="1520329" y="3646998"/>
            <a:ext cx="502212" cy="181557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모서리가 둥근 직사각형 299">
            <a:extLst>
              <a:ext uri="{FF2B5EF4-FFF2-40B4-BE49-F238E27FC236}">
                <a16:creationId xmlns:a16="http://schemas.microsoft.com/office/drawing/2014/main" id="{F6563A76-7AF9-A7CA-62CE-464A3FDB37A7}"/>
              </a:ext>
            </a:extLst>
          </p:cNvPr>
          <p:cNvSpPr/>
          <p:nvPr/>
        </p:nvSpPr>
        <p:spPr>
          <a:xfrm>
            <a:off x="202115" y="4072957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443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SNI: kafka.com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01" name="직선 화살표 연결선 300">
            <a:extLst>
              <a:ext uri="{FF2B5EF4-FFF2-40B4-BE49-F238E27FC236}">
                <a16:creationId xmlns:a16="http://schemas.microsoft.com/office/drawing/2014/main" id="{DCF0E829-7132-2EA9-7CB1-C02C90282FBE}"/>
              </a:ext>
            </a:extLst>
          </p:cNvPr>
          <p:cNvCxnSpPr>
            <a:cxnSpLocks/>
            <a:stCxn id="300" idx="3"/>
            <a:endCxn id="291" idx="1"/>
          </p:cNvCxnSpPr>
          <p:nvPr/>
        </p:nvCxnSpPr>
        <p:spPr>
          <a:xfrm flipV="1">
            <a:off x="1520329" y="4107203"/>
            <a:ext cx="502212" cy="179574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직선 화살표 연결선 311">
            <a:extLst>
              <a:ext uri="{FF2B5EF4-FFF2-40B4-BE49-F238E27FC236}">
                <a16:creationId xmlns:a16="http://schemas.microsoft.com/office/drawing/2014/main" id="{B4E209D7-6402-F226-2857-CF7A0C9D276D}"/>
              </a:ext>
            </a:extLst>
          </p:cNvPr>
          <p:cNvCxnSpPr>
            <a:cxnSpLocks/>
            <a:stCxn id="291" idx="3"/>
            <a:endCxn id="235" idx="1"/>
          </p:cNvCxnSpPr>
          <p:nvPr/>
        </p:nvCxnSpPr>
        <p:spPr>
          <a:xfrm>
            <a:off x="3193153" y="4107203"/>
            <a:ext cx="2622716" cy="470414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직선 화살표 연결선 314">
            <a:extLst>
              <a:ext uri="{FF2B5EF4-FFF2-40B4-BE49-F238E27FC236}">
                <a16:creationId xmlns:a16="http://schemas.microsoft.com/office/drawing/2014/main" id="{7E9D171F-DA29-8492-FB6A-AE4AF2471963}"/>
              </a:ext>
            </a:extLst>
          </p:cNvPr>
          <p:cNvCxnSpPr>
            <a:cxnSpLocks/>
            <a:stCxn id="235" idx="3"/>
            <a:endCxn id="282" idx="1"/>
          </p:cNvCxnSpPr>
          <p:nvPr/>
        </p:nvCxnSpPr>
        <p:spPr>
          <a:xfrm>
            <a:off x="7125055" y="4577617"/>
            <a:ext cx="441565" cy="105144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모서리가 둥근 직사각형 320">
            <a:extLst>
              <a:ext uri="{FF2B5EF4-FFF2-40B4-BE49-F238E27FC236}">
                <a16:creationId xmlns:a16="http://schemas.microsoft.com/office/drawing/2014/main" id="{B966CFCE-21C1-7199-E39A-7DBF76325461}"/>
              </a:ext>
            </a:extLst>
          </p:cNvPr>
          <p:cNvSpPr/>
          <p:nvPr/>
        </p:nvSpPr>
        <p:spPr>
          <a:xfrm>
            <a:off x="4427984" y="339502"/>
            <a:ext cx="4521965" cy="636879"/>
          </a:xfrm>
          <a:prstGeom prst="roundRect">
            <a:avLst>
              <a:gd name="adj" fmla="val 7121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Secrets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27" name="모서리가 둥근 직사각형 326">
            <a:extLst>
              <a:ext uri="{FF2B5EF4-FFF2-40B4-BE49-F238E27FC236}">
                <a16:creationId xmlns:a16="http://schemas.microsoft.com/office/drawing/2014/main" id="{9263248C-2705-5C77-6C86-4A8FD78EB748}"/>
              </a:ext>
            </a:extLst>
          </p:cNvPr>
          <p:cNvSpPr/>
          <p:nvPr/>
        </p:nvSpPr>
        <p:spPr>
          <a:xfrm>
            <a:off x="4506682" y="6124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28" name="모서리가 둥근 직사각형 327">
            <a:extLst>
              <a:ext uri="{FF2B5EF4-FFF2-40B4-BE49-F238E27FC236}">
                <a16:creationId xmlns:a16="http://schemas.microsoft.com/office/drawing/2014/main" id="{F1E0F712-C150-6777-458C-E53C35458749}"/>
              </a:ext>
            </a:extLst>
          </p:cNvPr>
          <p:cNvSpPr/>
          <p:nvPr/>
        </p:nvSpPr>
        <p:spPr>
          <a:xfrm>
            <a:off x="7566620" y="6124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kafka-cert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29" name="모서리가 둥근 직사각형 328">
            <a:extLst>
              <a:ext uri="{FF2B5EF4-FFF2-40B4-BE49-F238E27FC236}">
                <a16:creationId xmlns:a16="http://schemas.microsoft.com/office/drawing/2014/main" id="{6110939C-73FB-D9A2-54F2-B08E4E786685}"/>
              </a:ext>
            </a:extLst>
          </p:cNvPr>
          <p:cNvSpPr/>
          <p:nvPr/>
        </p:nvSpPr>
        <p:spPr>
          <a:xfrm>
            <a:off x="6036651" y="6124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web-cert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33" name="꺾인 연결선[E] 332">
            <a:extLst>
              <a:ext uri="{FF2B5EF4-FFF2-40B4-BE49-F238E27FC236}">
                <a16:creationId xmlns:a16="http://schemas.microsoft.com/office/drawing/2014/main" id="{82F744DB-0E75-625C-7344-9C7C17875FD2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 rot="16200000" flipH="1">
            <a:off x="3327806" y="245392"/>
            <a:ext cx="500777" cy="192817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꺾인 연결선[E] 335">
            <a:extLst>
              <a:ext uri="{FF2B5EF4-FFF2-40B4-BE49-F238E27FC236}">
                <a16:creationId xmlns:a16="http://schemas.microsoft.com/office/drawing/2014/main" id="{69669BB8-2DAE-E371-025F-51E22AFA953A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16200000" flipH="1">
            <a:off x="4291895" y="-718697"/>
            <a:ext cx="500777" cy="385635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꺾인 연결선[E] 338">
            <a:extLst>
              <a:ext uri="{FF2B5EF4-FFF2-40B4-BE49-F238E27FC236}">
                <a16:creationId xmlns:a16="http://schemas.microsoft.com/office/drawing/2014/main" id="{120F8C9F-AE47-033B-4B96-0DF24E67B7D7}"/>
              </a:ext>
            </a:extLst>
          </p:cNvPr>
          <p:cNvCxnSpPr>
            <a:cxnSpLocks/>
            <a:stCxn id="12" idx="2"/>
            <a:endCxn id="32" idx="0"/>
          </p:cNvCxnSpPr>
          <p:nvPr/>
        </p:nvCxnSpPr>
        <p:spPr>
          <a:xfrm rot="16200000" flipH="1">
            <a:off x="5167272" y="-1594073"/>
            <a:ext cx="500777" cy="560711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직선 화살표 연결선 341">
            <a:extLst>
              <a:ext uri="{FF2B5EF4-FFF2-40B4-BE49-F238E27FC236}">
                <a16:creationId xmlns:a16="http://schemas.microsoft.com/office/drawing/2014/main" id="{12DF25FD-3B5D-9130-BBFA-55EDB10C5AF6}"/>
              </a:ext>
            </a:extLst>
          </p:cNvPr>
          <p:cNvCxnSpPr>
            <a:cxnSpLocks/>
            <a:stCxn id="12" idx="2"/>
            <a:endCxn id="8" idx="0"/>
          </p:cNvCxnSpPr>
          <p:nvPr/>
        </p:nvCxnSpPr>
        <p:spPr>
          <a:xfrm>
            <a:off x="2614105" y="959094"/>
            <a:ext cx="1" cy="5007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꺾인 연결선[E] 344">
            <a:extLst>
              <a:ext uri="{FF2B5EF4-FFF2-40B4-BE49-F238E27FC236}">
                <a16:creationId xmlns:a16="http://schemas.microsoft.com/office/drawing/2014/main" id="{BE864410-2614-615A-10C1-A896D8626C23}"/>
              </a:ext>
            </a:extLst>
          </p:cNvPr>
          <p:cNvCxnSpPr>
            <a:cxnSpLocks/>
            <a:stCxn id="12" idx="2"/>
            <a:endCxn id="321" idx="2"/>
          </p:cNvCxnSpPr>
          <p:nvPr/>
        </p:nvCxnSpPr>
        <p:spPr>
          <a:xfrm rot="16200000" flipH="1">
            <a:off x="4642893" y="-1069694"/>
            <a:ext cx="17287" cy="4074862"/>
          </a:xfrm>
          <a:prstGeom prst="bentConnector3">
            <a:avLst>
              <a:gd name="adj1" fmla="val 142238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7" name="모서리가 둥근 직사각형 356">
            <a:extLst>
              <a:ext uri="{FF2B5EF4-FFF2-40B4-BE49-F238E27FC236}">
                <a16:creationId xmlns:a16="http://schemas.microsoft.com/office/drawing/2014/main" id="{98B9172A-F9FA-1B03-2E93-451F5EA733A8}"/>
              </a:ext>
            </a:extLst>
          </p:cNvPr>
          <p:cNvSpPr/>
          <p:nvPr/>
        </p:nvSpPr>
        <p:spPr>
          <a:xfrm>
            <a:off x="2608929" y="957216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tx1"/>
                </a:solidFill>
              </a:rPr>
              <a:t>1 Stream with </a:t>
            </a:r>
            <a:r>
              <a:rPr kumimoji="1" lang="en-US" altLang="ko-KR" sz="800" b="1" i="1" u="sng">
                <a:solidFill>
                  <a:schemeClr val="tx1"/>
                </a:solidFill>
              </a:rPr>
              <a:t>ADS 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58" name="모서리가 둥근 직사각형 357">
            <a:extLst>
              <a:ext uri="{FF2B5EF4-FFF2-40B4-BE49-F238E27FC236}">
                <a16:creationId xmlns:a16="http://schemas.microsoft.com/office/drawing/2014/main" id="{EB9408EA-B995-1C5C-656D-49D8F8A4C605}"/>
              </a:ext>
            </a:extLst>
          </p:cNvPr>
          <p:cNvSpPr/>
          <p:nvPr/>
        </p:nvSpPr>
        <p:spPr>
          <a:xfrm>
            <a:off x="2608929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LDS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59" name="모서리가 둥근 직사각형 358">
            <a:extLst>
              <a:ext uri="{FF2B5EF4-FFF2-40B4-BE49-F238E27FC236}">
                <a16:creationId xmlns:a16="http://schemas.microsoft.com/office/drawing/2014/main" id="{FF0423B0-19B3-5AA0-BE1E-DF5FFBDC5025}"/>
              </a:ext>
            </a:extLst>
          </p:cNvPr>
          <p:cNvSpPr/>
          <p:nvPr/>
        </p:nvSpPr>
        <p:spPr>
          <a:xfrm>
            <a:off x="4537559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RDS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60" name="모서리가 둥근 직사각형 359">
            <a:extLst>
              <a:ext uri="{FF2B5EF4-FFF2-40B4-BE49-F238E27FC236}">
                <a16:creationId xmlns:a16="http://schemas.microsoft.com/office/drawing/2014/main" id="{661D18C1-B650-C449-EADD-11E008B59FCC}"/>
              </a:ext>
            </a:extLst>
          </p:cNvPr>
          <p:cNvSpPr/>
          <p:nvPr/>
        </p:nvSpPr>
        <p:spPr>
          <a:xfrm>
            <a:off x="6467874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CDS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61" name="모서리가 둥근 직사각형 360">
            <a:extLst>
              <a:ext uri="{FF2B5EF4-FFF2-40B4-BE49-F238E27FC236}">
                <a16:creationId xmlns:a16="http://schemas.microsoft.com/office/drawing/2014/main" id="{0F07CD2D-FCD0-D83D-E3C3-A41C2C0EE441}"/>
              </a:ext>
            </a:extLst>
          </p:cNvPr>
          <p:cNvSpPr/>
          <p:nvPr/>
        </p:nvSpPr>
        <p:spPr>
          <a:xfrm>
            <a:off x="8217834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EDS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62" name="모서리가 둥근 직사각형 361">
            <a:extLst>
              <a:ext uri="{FF2B5EF4-FFF2-40B4-BE49-F238E27FC236}">
                <a16:creationId xmlns:a16="http://schemas.microsoft.com/office/drawing/2014/main" id="{CACB67CA-B4C4-6894-0E4A-93581DB4AFCF}"/>
              </a:ext>
            </a:extLst>
          </p:cNvPr>
          <p:cNvSpPr/>
          <p:nvPr/>
        </p:nvSpPr>
        <p:spPr>
          <a:xfrm>
            <a:off x="6683791" y="980188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SDS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43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53850</TotalTime>
  <Words>1061</Words>
  <Application>Microsoft Macintosh PowerPoint</Application>
  <PresentationFormat>화면 슬라이드 쇼(16:9)</PresentationFormat>
  <Paragraphs>364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5493</cp:revision>
  <dcterms:created xsi:type="dcterms:W3CDTF">2006-10-05T04:04:58Z</dcterms:created>
  <dcterms:modified xsi:type="dcterms:W3CDTF">2026-08-14T16:39:58Z</dcterms:modified>
</cp:coreProperties>
</file>