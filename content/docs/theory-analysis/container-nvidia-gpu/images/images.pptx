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436" r:id="rId2"/>
    <p:sldId id="435" r:id="rId3"/>
    <p:sldId id="438" r:id="rId4"/>
    <p:sldId id="426" r:id="rId5"/>
    <p:sldId id="434" r:id="rId6"/>
    <p:sldId id="437" r:id="rId7"/>
    <p:sldId id="439" r:id="rId8"/>
    <p:sldId id="440" r:id="rId9"/>
    <p:sldId id="428" r:id="rId10"/>
    <p:sldId id="427" r:id="rId11"/>
    <p:sldId id="422" r:id="rId12"/>
    <p:sldId id="433" r:id="rId13"/>
    <p:sldId id="432" r:id="rId14"/>
    <p:sldId id="429" r:id="rId15"/>
    <p:sldId id="430" r:id="rId16"/>
    <p:sldId id="431" r:id="rId17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79" autoAdjust="0"/>
    <p:restoredTop sz="87440" autoAdjust="0"/>
  </p:normalViewPr>
  <p:slideViewPr>
    <p:cSldViewPr>
      <p:cViewPr>
        <p:scale>
          <a:sx n="200" d="100"/>
          <a:sy n="200" d="100"/>
        </p:scale>
        <p:origin x="432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2A508-FF2A-1DF1-3DD3-78CD3A99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47AFE7-477E-C4FB-922E-A5DB497B1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6F2381-BDD9-A6C4-B2FC-712A1F1B6C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9EAA6B-72CD-38D7-FF10-CEB4B320E9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9561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E55DE9-B62A-E436-B8CA-64FE1DB29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B8E48E-C4BE-1E06-90FA-AF648CAB4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61BB9-2D79-7304-EBB3-9D3D757A5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2E0E28-FD15-6ABE-1326-94643F6413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0296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09103-E672-6E7C-6282-154F936A6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44AB52-7692-CC96-0F1E-7CECA85C90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CA9D0AF-5C11-575B-12A6-BAF068A88C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4F015-0AB9-59DC-BD2C-4AA2C1797A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4204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A0934-F7EE-9604-5F97-9303B9190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E7579C9-5BE1-8221-4693-BCE6637AD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F3B7F8E-81F1-5209-BDDF-7F146D069A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124785-C804-4CE2-7D22-3D227F9C1F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99425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1B288-98C9-A4E5-A2EA-749B9AE03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2548F9-8E43-ED1B-6810-0B30E5B400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F840B6-0AA5-E832-D457-8B89649CF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9C7EDC-DE4A-729D-7509-A9D5EF752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118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415C1-C91D-8593-C5AB-F2EE5B4C4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610EDD-616A-5AFB-49F6-C5FCD3F6D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0D7359-79AD-DD7F-BFAF-6A6BAD59B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EBB86-D2B2-BDCA-4255-625678D1E4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66568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A39EB-907D-2C10-99E8-62F6F3453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C608BC-1880-3729-C952-01F6FF569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D90D7B-729C-EE8B-8BF4-A8835E70E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09C4E8-A85F-E7BD-6705-172A639BE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884797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79644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93759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76C4D-EFC4-3AFC-1CD9-943936783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3C8D6C7-9AA7-D495-22CB-42E3FC3EB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8A1329-14DA-7F21-F73B-DEEEF4F9A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0DCCFE-57A4-D3EB-155D-B47E9FBF8B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460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08DBE-B1B4-7D50-CD13-CEB165117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932A28-C535-04DC-B68D-E086AECAA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04DC1A-50F3-F419-D819-B62C860E0B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E9CA9E-6278-9238-5D9A-93DDFDE20A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1673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79508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47201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172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2026. 3. 1.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E8B20-5CB0-266F-D010-4969008FB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사각형: 둥근 모서리 114">
            <a:extLst>
              <a:ext uri="{FF2B5EF4-FFF2-40B4-BE49-F238E27FC236}">
                <a16:creationId xmlns:a16="http://schemas.microsoft.com/office/drawing/2014/main" id="{715760DB-F35A-5664-E40F-12A0BEDC0B89}"/>
              </a:ext>
            </a:extLst>
          </p:cNvPr>
          <p:cNvSpPr/>
          <p:nvPr/>
        </p:nvSpPr>
        <p:spPr>
          <a:xfrm>
            <a:off x="1547664" y="1930664"/>
            <a:ext cx="6043510" cy="1282172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Filesystem</a:t>
            </a:r>
            <a:endParaRPr lang="en-US" altLang="ko-KR" sz="1000" b="1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C0F9C8F-437F-D0AF-97AA-D56EC0818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73419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13D7B3E7-F783-1EC1-5F29-0874EF0E893E}"/>
              </a:ext>
            </a:extLst>
          </p:cNvPr>
          <p:cNvSpPr/>
          <p:nvPr/>
        </p:nvSpPr>
        <p:spPr>
          <a:xfrm>
            <a:off x="1557988" y="4061207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F56E2D5A-3AEA-BC86-A33B-53D0167D37EC}"/>
              </a:ext>
            </a:extLst>
          </p:cNvPr>
          <p:cNvSpPr/>
          <p:nvPr/>
        </p:nvSpPr>
        <p:spPr>
          <a:xfrm>
            <a:off x="1552826" y="3212363"/>
            <a:ext cx="6043510" cy="855136"/>
          </a:xfrm>
          <a:prstGeom prst="roundRect">
            <a:avLst>
              <a:gd name="adj" fmla="val 7201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33278C70-4E26-832E-F3CF-8888DB9B5A2A}"/>
              </a:ext>
            </a:extLst>
          </p:cNvPr>
          <p:cNvSpPr/>
          <p:nvPr/>
        </p:nvSpPr>
        <p:spPr>
          <a:xfrm>
            <a:off x="2145948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BF9A344D-403F-E740-9878-AAA1304E842D}"/>
              </a:ext>
            </a:extLst>
          </p:cNvPr>
          <p:cNvSpPr/>
          <p:nvPr/>
        </p:nvSpPr>
        <p:spPr>
          <a:xfrm>
            <a:off x="3405927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229628F2-2ACB-D300-083B-933563ACB3DF}"/>
              </a:ext>
            </a:extLst>
          </p:cNvPr>
          <p:cNvSpPr/>
          <p:nvPr/>
        </p:nvSpPr>
        <p:spPr>
          <a:xfrm>
            <a:off x="4665905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C70318E8-718F-3AC5-9B88-74F8F2A5DBB1}"/>
              </a:ext>
            </a:extLst>
          </p:cNvPr>
          <p:cNvSpPr/>
          <p:nvPr/>
        </p:nvSpPr>
        <p:spPr>
          <a:xfrm>
            <a:off x="5925884" y="4173376"/>
            <a:ext cx="1077331" cy="57606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3364FA23-F895-1B5D-699B-3DEDE068BF8C}"/>
              </a:ext>
            </a:extLst>
          </p:cNvPr>
          <p:cNvSpPr/>
          <p:nvPr/>
        </p:nvSpPr>
        <p:spPr>
          <a:xfrm>
            <a:off x="734944" y="111692"/>
            <a:ext cx="2486761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7B735900-90DF-2B9C-D836-265C1EE6844C}"/>
              </a:ext>
            </a:extLst>
          </p:cNvPr>
          <p:cNvSpPr/>
          <p:nvPr/>
        </p:nvSpPr>
        <p:spPr>
          <a:xfrm>
            <a:off x="822678" y="1345650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2E5EDF11-A65E-332B-1623-CD439CC6BDBB}"/>
              </a:ext>
            </a:extLst>
          </p:cNvPr>
          <p:cNvSpPr/>
          <p:nvPr/>
        </p:nvSpPr>
        <p:spPr>
          <a:xfrm>
            <a:off x="2024278" y="1345650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1B1E7317-CD60-5008-9179-9A5631A47234}"/>
              </a:ext>
            </a:extLst>
          </p:cNvPr>
          <p:cNvSpPr/>
          <p:nvPr/>
        </p:nvSpPr>
        <p:spPr>
          <a:xfrm>
            <a:off x="822678" y="859596"/>
            <a:ext cx="2301467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54" name="사각형: 둥근 모서리 114">
            <a:extLst>
              <a:ext uri="{FF2B5EF4-FFF2-40B4-BE49-F238E27FC236}">
                <a16:creationId xmlns:a16="http://schemas.microsoft.com/office/drawing/2014/main" id="{10043FEE-E23C-35BF-1858-6BADDDFA64C5}"/>
              </a:ext>
            </a:extLst>
          </p:cNvPr>
          <p:cNvSpPr/>
          <p:nvPr/>
        </p:nvSpPr>
        <p:spPr>
          <a:xfrm>
            <a:off x="3346476" y="106029"/>
            <a:ext cx="3674596" cy="1717824"/>
          </a:xfrm>
          <a:prstGeom prst="roundRect">
            <a:avLst>
              <a:gd name="adj" fmla="val 4028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사각형: 둥근 모서리 114">
            <a:extLst>
              <a:ext uri="{FF2B5EF4-FFF2-40B4-BE49-F238E27FC236}">
                <a16:creationId xmlns:a16="http://schemas.microsoft.com/office/drawing/2014/main" id="{E13B8AD4-E810-DF4E-C9A7-6A146565EF13}"/>
              </a:ext>
            </a:extLst>
          </p:cNvPr>
          <p:cNvSpPr/>
          <p:nvPr/>
        </p:nvSpPr>
        <p:spPr>
          <a:xfrm>
            <a:off x="3434210" y="1339987"/>
            <a:ext cx="10999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56" name="사각형: 둥근 모서리 114">
            <a:extLst>
              <a:ext uri="{FF2B5EF4-FFF2-40B4-BE49-F238E27FC236}">
                <a16:creationId xmlns:a16="http://schemas.microsoft.com/office/drawing/2014/main" id="{1CB1F2AA-DC81-E2C1-7A13-B84199E7846D}"/>
              </a:ext>
            </a:extLst>
          </p:cNvPr>
          <p:cNvSpPr/>
          <p:nvPr/>
        </p:nvSpPr>
        <p:spPr>
          <a:xfrm>
            <a:off x="4635810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57" name="사각형: 둥근 모서리 114">
            <a:extLst>
              <a:ext uri="{FF2B5EF4-FFF2-40B4-BE49-F238E27FC236}">
                <a16:creationId xmlns:a16="http://schemas.microsoft.com/office/drawing/2014/main" id="{FE234310-EA87-B58A-F8CE-9180E6935EBD}"/>
              </a:ext>
            </a:extLst>
          </p:cNvPr>
          <p:cNvSpPr/>
          <p:nvPr/>
        </p:nvSpPr>
        <p:spPr>
          <a:xfrm>
            <a:off x="3434210" y="853933"/>
            <a:ext cx="3498895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E7C861E8-6B20-F678-A387-14468B64DDD0}"/>
              </a:ext>
            </a:extLst>
          </p:cNvPr>
          <p:cNvSpPr/>
          <p:nvPr/>
        </p:nvSpPr>
        <p:spPr>
          <a:xfrm>
            <a:off x="5833237" y="1339987"/>
            <a:ext cx="1099868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A40CEE21-4126-4EA9-D005-8D6AA05FC3C8}"/>
              </a:ext>
            </a:extLst>
          </p:cNvPr>
          <p:cNvSpPr/>
          <p:nvPr/>
        </p:nvSpPr>
        <p:spPr>
          <a:xfrm>
            <a:off x="7164288" y="106029"/>
            <a:ext cx="1487816" cy="1717824"/>
          </a:xfrm>
          <a:prstGeom prst="roundRect">
            <a:avLst>
              <a:gd name="adj" fmla="val 4159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75050760-962B-EFA9-329D-D87ACB628E2E}"/>
              </a:ext>
            </a:extLst>
          </p:cNvPr>
          <p:cNvSpPr/>
          <p:nvPr/>
        </p:nvSpPr>
        <p:spPr>
          <a:xfrm>
            <a:off x="7244475" y="1339987"/>
            <a:ext cx="1321799" cy="396044"/>
          </a:xfrm>
          <a:prstGeom prst="roundRect">
            <a:avLst>
              <a:gd name="adj" fmla="val 724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C7E78AFF-D068-E06B-33BF-D4132D988816}"/>
              </a:ext>
            </a:extLst>
          </p:cNvPr>
          <p:cNvSpPr/>
          <p:nvPr/>
        </p:nvSpPr>
        <p:spPr>
          <a:xfrm>
            <a:off x="7244475" y="853933"/>
            <a:ext cx="1321798" cy="396044"/>
          </a:xfrm>
          <a:prstGeom prst="roundRect">
            <a:avLst>
              <a:gd name="adj" fmla="val 724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4917971-4A59-EF10-9161-86DDC9778D84}"/>
              </a:ext>
            </a:extLst>
          </p:cNvPr>
          <p:cNvSpPr/>
          <p:nvPr/>
        </p:nvSpPr>
        <p:spPr>
          <a:xfrm>
            <a:off x="1692325" y="3345284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34" name="사각형: 둥근 모서리 114">
            <a:extLst>
              <a:ext uri="{FF2B5EF4-FFF2-40B4-BE49-F238E27FC236}">
                <a16:creationId xmlns:a16="http://schemas.microsoft.com/office/drawing/2014/main" id="{EFF8982B-63D5-E17D-1B32-242B369711D5}"/>
              </a:ext>
            </a:extLst>
          </p:cNvPr>
          <p:cNvSpPr/>
          <p:nvPr/>
        </p:nvSpPr>
        <p:spPr>
          <a:xfrm>
            <a:off x="2141132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6B73B028-701B-7DB2-D934-C4FBFEEEF43E}"/>
              </a:ext>
            </a:extLst>
          </p:cNvPr>
          <p:cNvSpPr/>
          <p:nvPr/>
        </p:nvSpPr>
        <p:spPr>
          <a:xfrm>
            <a:off x="3405927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F44321F7-0BF8-67DA-8623-45B172C3D60B}"/>
              </a:ext>
            </a:extLst>
          </p:cNvPr>
          <p:cNvSpPr/>
          <p:nvPr/>
        </p:nvSpPr>
        <p:spPr>
          <a:xfrm>
            <a:off x="4665905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/dev/nvidia2</a:t>
            </a:r>
            <a:endParaRPr lang="en-US" altLang="ko-KR" sz="1000" dirty="0"/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8C01386A-F5AB-38FF-A04F-2904BDE292F2}"/>
              </a:ext>
            </a:extLst>
          </p:cNvPr>
          <p:cNvSpPr/>
          <p:nvPr/>
        </p:nvSpPr>
        <p:spPr>
          <a:xfrm>
            <a:off x="5925884" y="2495911"/>
            <a:ext cx="1082148" cy="396044"/>
          </a:xfrm>
          <a:prstGeom prst="roundRect">
            <a:avLst>
              <a:gd name="adj" fmla="val 1379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/dev/nvidia3</a:t>
            </a:r>
            <a:endParaRPr lang="en-US" altLang="ko-KR" sz="1000" dirty="0"/>
          </a:p>
        </p:txBody>
      </p:sp>
      <p:cxnSp>
        <p:nvCxnSpPr>
          <p:cNvPr id="52" name="직선 연결선 20">
            <a:extLst>
              <a:ext uri="{FF2B5EF4-FFF2-40B4-BE49-F238E27FC236}">
                <a16:creationId xmlns:a16="http://schemas.microsoft.com/office/drawing/2014/main" id="{F2AA228D-B388-2E7C-D3A6-826D9ABBF7FD}"/>
              </a:ext>
            </a:extLst>
          </p:cNvPr>
          <p:cNvCxnSpPr>
            <a:cxnSpLocks/>
            <a:stCxn id="44" idx="2"/>
            <a:endCxn id="15" idx="0"/>
          </p:cNvCxnSpPr>
          <p:nvPr/>
        </p:nvCxnSpPr>
        <p:spPr>
          <a:xfrm flipH="1">
            <a:off x="3944593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14">
            <a:extLst>
              <a:ext uri="{FF2B5EF4-FFF2-40B4-BE49-F238E27FC236}">
                <a16:creationId xmlns:a16="http://schemas.microsoft.com/office/drawing/2014/main" id="{504E7774-3EBD-0C5F-78E0-CC156021027E}"/>
              </a:ext>
            </a:extLst>
          </p:cNvPr>
          <p:cNvSpPr/>
          <p:nvPr/>
        </p:nvSpPr>
        <p:spPr>
          <a:xfrm>
            <a:off x="2141132" y="2008269"/>
            <a:ext cx="4862083" cy="396044"/>
          </a:xfrm>
          <a:prstGeom prst="roundRect">
            <a:avLst>
              <a:gd name="adj" fmla="val 17067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17" name="직선 연결선 17">
            <a:extLst>
              <a:ext uri="{FF2B5EF4-FFF2-40B4-BE49-F238E27FC236}">
                <a16:creationId xmlns:a16="http://schemas.microsoft.com/office/drawing/2014/main" id="{C42F2A3D-D551-E411-0433-B0F62EB9365D}"/>
              </a:ext>
            </a:extLst>
          </p:cNvPr>
          <p:cNvCxnSpPr>
            <a:cxnSpLocks/>
            <a:stCxn id="34" idx="2"/>
            <a:endCxn id="14" idx="0"/>
          </p:cNvCxnSpPr>
          <p:nvPr/>
        </p:nvCxnSpPr>
        <p:spPr>
          <a:xfrm>
            <a:off x="2682206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7">
            <a:extLst>
              <a:ext uri="{FF2B5EF4-FFF2-40B4-BE49-F238E27FC236}">
                <a16:creationId xmlns:a16="http://schemas.microsoft.com/office/drawing/2014/main" id="{D9F37173-F9DC-2211-8B64-FA5BA36ED2D5}"/>
              </a:ext>
            </a:extLst>
          </p:cNvPr>
          <p:cNvCxnSpPr>
            <a:cxnSpLocks/>
            <a:stCxn id="45" idx="2"/>
            <a:endCxn id="16" idx="0"/>
          </p:cNvCxnSpPr>
          <p:nvPr/>
        </p:nvCxnSpPr>
        <p:spPr>
          <a:xfrm flipH="1">
            <a:off x="5204571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연결선 26">
            <a:extLst>
              <a:ext uri="{FF2B5EF4-FFF2-40B4-BE49-F238E27FC236}">
                <a16:creationId xmlns:a16="http://schemas.microsoft.com/office/drawing/2014/main" id="{72AADCE9-3C6C-060F-E232-3EF5984803DA}"/>
              </a:ext>
            </a:extLst>
          </p:cNvPr>
          <p:cNvCxnSpPr>
            <a:cxnSpLocks/>
            <a:stCxn id="46" idx="2"/>
            <a:endCxn id="17" idx="0"/>
          </p:cNvCxnSpPr>
          <p:nvPr/>
        </p:nvCxnSpPr>
        <p:spPr>
          <a:xfrm flipH="1">
            <a:off x="6464550" y="2891955"/>
            <a:ext cx="2408" cy="1281421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사각형: 둥근 모서리 114">
            <a:extLst>
              <a:ext uri="{FF2B5EF4-FFF2-40B4-BE49-F238E27FC236}">
                <a16:creationId xmlns:a16="http://schemas.microsoft.com/office/drawing/2014/main" id="{5F4C3AF4-DD22-0B60-383F-EC6AD421D8F6}"/>
              </a:ext>
            </a:extLst>
          </p:cNvPr>
          <p:cNvSpPr/>
          <p:nvPr/>
        </p:nvSpPr>
        <p:spPr>
          <a:xfrm>
            <a:off x="822678" y="393358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7" name="사각형: 둥근 모서리 114">
            <a:extLst>
              <a:ext uri="{FF2B5EF4-FFF2-40B4-BE49-F238E27FC236}">
                <a16:creationId xmlns:a16="http://schemas.microsoft.com/office/drawing/2014/main" id="{A16AF2D3-7795-BF33-2382-ADA2298B768A}"/>
              </a:ext>
            </a:extLst>
          </p:cNvPr>
          <p:cNvSpPr/>
          <p:nvPr/>
        </p:nvSpPr>
        <p:spPr>
          <a:xfrm>
            <a:off x="3434211" y="393358"/>
            <a:ext cx="3498894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NVIDIA_VISIBLE_DEVICES Env  </a:t>
            </a:r>
            <a:endParaRPr lang="en-US" altLang="ko-KR" sz="1000" dirty="0"/>
          </a:p>
        </p:txBody>
      </p:sp>
      <p:sp>
        <p:nvSpPr>
          <p:cNvPr id="148" name="사각형: 둥근 모서리 114">
            <a:extLst>
              <a:ext uri="{FF2B5EF4-FFF2-40B4-BE49-F238E27FC236}">
                <a16:creationId xmlns:a16="http://schemas.microsoft.com/office/drawing/2014/main" id="{E564AD90-001F-1131-35AF-1B92219AF4D3}"/>
              </a:ext>
            </a:extLst>
          </p:cNvPr>
          <p:cNvSpPr/>
          <p:nvPr/>
        </p:nvSpPr>
        <p:spPr>
          <a:xfrm>
            <a:off x="7244474" y="393358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App with </a:t>
            </a:r>
          </a:p>
          <a:p>
            <a:pPr algn="ctr"/>
            <a:r>
              <a:rPr lang="en-US" altLang="ko-KR" sz="1000"/>
              <a:t>NVIDIA_VISIBLE_</a:t>
            </a:r>
            <a:br>
              <a:rPr lang="en-US" altLang="ko-KR" sz="1000"/>
            </a:br>
            <a:r>
              <a:rPr lang="en-US" altLang="ko-KR" sz="1000"/>
              <a:t>DEVICES Env  </a:t>
            </a:r>
            <a:endParaRPr lang="en-US" altLang="ko-KR" sz="1000" dirty="0"/>
          </a:p>
        </p:txBody>
      </p:sp>
      <p:cxnSp>
        <p:nvCxnSpPr>
          <p:cNvPr id="150" name="직선 연결선 26">
            <a:extLst>
              <a:ext uri="{FF2B5EF4-FFF2-40B4-BE49-F238E27FC236}">
                <a16:creationId xmlns:a16="http://schemas.microsoft.com/office/drawing/2014/main" id="{656CB95D-962A-D56E-D3C6-D95E7E41C7EE}"/>
              </a:ext>
            </a:extLst>
          </p:cNvPr>
          <p:cNvCxnSpPr>
            <a:cxnSpLocks/>
            <a:stCxn id="74" idx="2"/>
            <a:endCxn id="46" idx="0"/>
          </p:cNvCxnSpPr>
          <p:nvPr/>
        </p:nvCxnSpPr>
        <p:spPr>
          <a:xfrm flipH="1">
            <a:off x="6466958" y="1736031"/>
            <a:ext cx="143841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직선 연결선 26">
            <a:extLst>
              <a:ext uri="{FF2B5EF4-FFF2-40B4-BE49-F238E27FC236}">
                <a16:creationId xmlns:a16="http://schemas.microsoft.com/office/drawing/2014/main" id="{49A64ACA-A8C7-E513-598E-DC51514EFDD4}"/>
              </a:ext>
            </a:extLst>
          </p:cNvPr>
          <p:cNvCxnSpPr>
            <a:cxnSpLocks/>
            <a:stCxn id="85" idx="2"/>
            <a:endCxn id="46" idx="0"/>
          </p:cNvCxnSpPr>
          <p:nvPr/>
        </p:nvCxnSpPr>
        <p:spPr>
          <a:xfrm>
            <a:off x="6383171" y="1736031"/>
            <a:ext cx="83787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연결선 26">
            <a:extLst>
              <a:ext uri="{FF2B5EF4-FFF2-40B4-BE49-F238E27FC236}">
                <a16:creationId xmlns:a16="http://schemas.microsoft.com/office/drawing/2014/main" id="{F77071BF-692D-3793-E85B-C50C86B8ECB3}"/>
              </a:ext>
            </a:extLst>
          </p:cNvPr>
          <p:cNvCxnSpPr>
            <a:cxnSpLocks/>
            <a:stCxn id="56" idx="2"/>
            <a:endCxn id="45" idx="0"/>
          </p:cNvCxnSpPr>
          <p:nvPr/>
        </p:nvCxnSpPr>
        <p:spPr>
          <a:xfrm>
            <a:off x="5185744" y="1736031"/>
            <a:ext cx="21235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20">
            <a:extLst>
              <a:ext uri="{FF2B5EF4-FFF2-40B4-BE49-F238E27FC236}">
                <a16:creationId xmlns:a16="http://schemas.microsoft.com/office/drawing/2014/main" id="{0B8FEDE2-7BBF-D65E-75C1-8B0B3692C055}"/>
              </a:ext>
            </a:extLst>
          </p:cNvPr>
          <p:cNvCxnSpPr>
            <a:cxnSpLocks/>
            <a:stCxn id="55" idx="2"/>
            <a:endCxn id="34" idx="0"/>
          </p:cNvCxnSpPr>
          <p:nvPr/>
        </p:nvCxnSpPr>
        <p:spPr>
          <a:xfrm flipH="1">
            <a:off x="2682206" y="1736031"/>
            <a:ext cx="1302004" cy="7598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직선 연결선 20">
            <a:extLst>
              <a:ext uri="{FF2B5EF4-FFF2-40B4-BE49-F238E27FC236}">
                <a16:creationId xmlns:a16="http://schemas.microsoft.com/office/drawing/2014/main" id="{05A750D1-6E61-A32C-04B7-84DF602A5A3A}"/>
              </a:ext>
            </a:extLst>
          </p:cNvPr>
          <p:cNvCxnSpPr>
            <a:cxnSpLocks/>
            <a:stCxn id="49" idx="2"/>
            <a:endCxn id="44" idx="0"/>
          </p:cNvCxnSpPr>
          <p:nvPr/>
        </p:nvCxnSpPr>
        <p:spPr>
          <a:xfrm>
            <a:off x="2574212" y="1741694"/>
            <a:ext cx="1372789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직선 연결선 17">
            <a:extLst>
              <a:ext uri="{FF2B5EF4-FFF2-40B4-BE49-F238E27FC236}">
                <a16:creationId xmlns:a16="http://schemas.microsoft.com/office/drawing/2014/main" id="{153FBB6B-820B-BA1D-E2F6-A9FD8E258E38}"/>
              </a:ext>
            </a:extLst>
          </p:cNvPr>
          <p:cNvCxnSpPr>
            <a:cxnSpLocks/>
            <a:stCxn id="48" idx="2"/>
            <a:endCxn id="34" idx="0"/>
          </p:cNvCxnSpPr>
          <p:nvPr/>
        </p:nvCxnSpPr>
        <p:spPr>
          <a:xfrm>
            <a:off x="1372678" y="1741694"/>
            <a:ext cx="1309528" cy="75421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직선 연결선 20">
            <a:extLst>
              <a:ext uri="{FF2B5EF4-FFF2-40B4-BE49-F238E27FC236}">
                <a16:creationId xmlns:a16="http://schemas.microsoft.com/office/drawing/2014/main" id="{8D357443-4835-7C24-E92E-753B01DC17EB}"/>
              </a:ext>
            </a:extLst>
          </p:cNvPr>
          <p:cNvCxnSpPr>
            <a:cxnSpLocks/>
            <a:stCxn id="53" idx="2"/>
            <a:endCxn id="104" idx="0"/>
          </p:cNvCxnSpPr>
          <p:nvPr/>
        </p:nvCxnSpPr>
        <p:spPr>
          <a:xfrm>
            <a:off x="1973412" y="1255640"/>
            <a:ext cx="2598762" cy="75262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직선 연결선 20">
            <a:extLst>
              <a:ext uri="{FF2B5EF4-FFF2-40B4-BE49-F238E27FC236}">
                <a16:creationId xmlns:a16="http://schemas.microsoft.com/office/drawing/2014/main" id="{C731D1A3-750E-AA78-FDCE-98249776DC05}"/>
              </a:ext>
            </a:extLst>
          </p:cNvPr>
          <p:cNvCxnSpPr>
            <a:cxnSpLocks/>
            <a:stCxn id="57" idx="2"/>
            <a:endCxn id="104" idx="0"/>
          </p:cNvCxnSpPr>
          <p:nvPr/>
        </p:nvCxnSpPr>
        <p:spPr>
          <a:xfrm flipH="1">
            <a:off x="4572174" y="1249977"/>
            <a:ext cx="611484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연결선 20">
            <a:extLst>
              <a:ext uri="{FF2B5EF4-FFF2-40B4-BE49-F238E27FC236}">
                <a16:creationId xmlns:a16="http://schemas.microsoft.com/office/drawing/2014/main" id="{0BA98BD0-D2BE-D1A3-6910-B0B0FE735DC7}"/>
              </a:ext>
            </a:extLst>
          </p:cNvPr>
          <p:cNvCxnSpPr>
            <a:cxnSpLocks/>
            <a:stCxn id="75" idx="2"/>
            <a:endCxn id="104" idx="0"/>
          </p:cNvCxnSpPr>
          <p:nvPr/>
        </p:nvCxnSpPr>
        <p:spPr>
          <a:xfrm flipH="1">
            <a:off x="4572174" y="1249977"/>
            <a:ext cx="3333200" cy="7582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extBox 178">
            <a:extLst>
              <a:ext uri="{FF2B5EF4-FFF2-40B4-BE49-F238E27FC236}">
                <a16:creationId xmlns:a16="http://schemas.microsoft.com/office/drawing/2014/main" id="{670BFEEC-1A34-44E5-6762-6C7FD7A5A5BA}"/>
              </a:ext>
            </a:extLst>
          </p:cNvPr>
          <p:cNvSpPr txBox="1"/>
          <p:nvPr/>
        </p:nvSpPr>
        <p:spPr>
          <a:xfrm>
            <a:off x="691097" y="1819727"/>
            <a:ext cx="9156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b="1" i="1"/>
              <a:t>Bind Mount</a:t>
            </a:r>
            <a:endParaRPr kumimoji="1" lang="ko-KR" altLang="en-US" sz="1000" b="1" i="1"/>
          </a:p>
        </p:txBody>
      </p:sp>
    </p:spTree>
    <p:extLst>
      <p:ext uri="{BB962C8B-B14F-4D97-AF65-F5344CB8AC3E}">
        <p14:creationId xmlns:p14="http://schemas.microsoft.com/office/powerpoint/2010/main" val="2980991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3B5F2-C1F1-DF54-BADA-3162F5024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CE23F-CE11-46BB-A0C8-2394EF465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DC125187-597D-D7E4-22B6-F6E9A5BCF951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9DCD09D0-7CF7-62AA-6212-D8A16191BFD1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C293FF07-F9A0-E37C-D570-F52BE4CEF7DF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25F13A24-4CFE-DC66-BAAD-F311284845CC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2768AE5D-96A6-514B-44B9-E5839576D647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0BDAABA7-6231-F40E-D0D8-0682E0FA465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23E1409C-800C-19F1-A32A-121432DD0676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C7691656-1E54-1CC9-9965-DAA08FA9268D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307F16B-5FB4-0B62-1BB5-1424EC707C04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BCD6335D-2738-39D5-0B67-C257E27F8366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B601565-B90B-5FE5-DFBC-3D2DCAC467D5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F992FEB5-377F-E6B9-04A5-62CCA42A4856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40C1A72-BA78-3A67-B714-5AB92C658EE3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E7D900D-A52B-0736-4F37-54FDB10F3E3A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7D0C0845-51F7-466E-0204-733230E1FFBB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CF82AE-35D7-E97E-4C29-209F7E56813D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19E61F85-FB57-3576-F53E-BA3510F0620C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E307903-0F07-4315-CEF1-65AEE7C47A2C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03B376A-6D2B-8974-B849-66A97C28BCB9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637EA553-AF3C-3C21-1BDE-976C4699C72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436BB953-83B6-3C7B-567C-EF054C9ABCCE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9B7B380F-85DE-75F3-2114-98EA5913BA9E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3F8151C7-0210-7389-74C3-663996359440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253601B-95A8-779C-C1CE-A00579628604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F9CDD056-89C3-02AF-8CBC-68C411386159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900275D4-D498-8C83-2A30-A8F4247EBF83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A180C887-8D18-037A-9B26-D9E9B93976C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7DBCB36-C6A1-6D31-C35C-E306E2FA81FD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7FA571B-28B0-098A-15CD-D9C7D6F34FE8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00E29E9-EB12-40C5-878B-FC332F0E25FF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E1D19F86-2CA9-2B76-1C34-0EB857963CF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5F09202-E33F-B1E0-E108-46477401D592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2C18F3FE-2E07-4B7A-6C77-91F233DD180E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AC89B874-DDB3-0D83-E883-A97B394C130D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5837222-9715-3269-C97E-203A298E7802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2A7D5D3F-724C-D23B-E207-74021F979E67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48C954F3-7E09-D09E-4D08-9068FF712589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8EF3BD07-C4E9-E570-07DB-4F364ED6102C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59146D3E-FA2A-8AC8-D3DC-003AA2837B98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29FE635E-DBBD-29F7-710A-1B88A3FFE05A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2AA3526-95A7-CAEE-3A28-3F4766AA295B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A81F07F7-4A63-CCDD-A655-5E737E66FBEC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D0CB6F5D-C220-5CEB-DD91-2DF23D55D479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057F0C62-E8F8-9CA2-0D87-B184E67EE533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DFA9FB7D-B0F3-852E-D20C-56BC77DF82CE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6B5F83C-1491-276C-81C3-FB0D6B725777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B4CA8B3A-5421-FB45-365E-1619F4941FFC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F812CCD5-AB2B-6287-3233-E10519F850B1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A76AF592-7A55-83F2-CB1C-D08274D92F93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15243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A8ED9-2C43-A8C3-5F3B-878B22485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3A3E8-F450-DBD0-7566-81E8F27624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4EB5716E-86A0-437A-FCD9-B68EC9DD4B47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57AE67AC-D18A-EB66-5AFF-184289DBC9E0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C7C2E4CB-854E-A709-8761-4A89AE25BDEE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6E21B1AF-6674-F4A2-058C-6CB3DF2B5482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17E342C-685C-7D26-453C-5C5A0B7E3CF3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41FB13E3-F7CE-FDAB-1F86-DBF3B8B5145A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E480179C-03C4-49B4-C70C-1DA34E8661A5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57990544-63CF-0DCC-30E0-BDB617CE252E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5FB10CCC-92E6-FBFA-1C8E-8EED88A10B60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containerd, containerd-shim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2E491C69-6D80-3C26-61C8-D8983D96997D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0E8B30AE-DE2B-14B6-2FAF-10B1554B7B93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16643572-A6BC-9E6D-59E4-B23BE3EBEBB9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1BF1270-AA5E-A47C-6F6E-4C995F1C6684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773FAB8A-5EAD-2987-06EB-58C1E8A944D2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FB282C53-556F-3689-1438-C2195F754E0B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3AFD3988-D88A-CB89-E48F-255D6849B213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50858522-C81B-3825-DC26-A8C4D4A6E534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B65403DB-6B11-F396-426F-5946E3A525FA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A2047645-F1EE-50F7-3CF8-C4CE6E2B22CA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FBD9B1A6-2AD3-C13B-9CD7-71161998A574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E4706976-6EC9-13EC-D119-6EBBB0CDE8C0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7FC02DE-7602-2ED4-5CD2-69A362C74837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1A56BDFC-FAF7-C693-A112-2CEEEA3C4EDA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2FF282B1-636E-A2A3-A672-F7A550F2EDCE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53A93A43-CCAB-8204-E728-535814F16269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D7D79A-9AAE-6488-F0FC-931FA8825A97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46E18517-58DD-1B56-7350-9D34EB5D73E8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DBA462F6-0F67-A528-0AB5-98CA2FC9CCA2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96BBE631-7FCB-7ECC-4623-B9E14AF48A89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11383639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24208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006E3-14BF-55C5-19C7-5F69C3DAA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2503FA-17E5-5AE3-085B-3E0895553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3A9A9FAD-7393-75E5-FB5E-4B6A1277EAD6}"/>
              </a:ext>
            </a:extLst>
          </p:cNvPr>
          <p:cNvSpPr/>
          <p:nvPr/>
        </p:nvSpPr>
        <p:spPr>
          <a:xfrm>
            <a:off x="1691680" y="555526"/>
            <a:ext cx="5904656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ctr run --env NVIDIA_VISIBLE_DEVICES=all</a:t>
            </a:r>
            <a:r>
              <a:rPr lang="ko-KR" altLang="en-US" sz="1100"/>
              <a:t> </a:t>
            </a:r>
            <a:r>
              <a:rPr lang="en-US" altLang="ko-KR" sz="1100"/>
              <a:t>nvidia/cuda:9.0-base test-gpu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6CABFD53-A11C-D694-A1D1-C2B792E873C0}"/>
              </a:ext>
            </a:extLst>
          </p:cNvPr>
          <p:cNvSpPr/>
          <p:nvPr/>
        </p:nvSpPr>
        <p:spPr>
          <a:xfrm>
            <a:off x="899592" y="1211838"/>
            <a:ext cx="7488831" cy="2880320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b="1" kern="0" dirty="0">
                <a:cs typeface="Al Bayan Plain" pitchFamily="2" charset="-78"/>
              </a:rPr>
              <a:t>NVIDIA_VISIBLE_DEVICES</a:t>
            </a:r>
            <a:r>
              <a:rPr lang="en-US" altLang="ko-KR" sz="1100" kern="0" dirty="0">
                <a:cs typeface="Al Bayan Plain" pitchFamily="2" charset="-78"/>
              </a:rPr>
              <a:t>=all",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C29F7C-E831-83D2-6BE9-5A7252F4071B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988967"/>
            <a:ext cx="0" cy="2228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11FE6D81-54D3-433F-201E-86F85E0C5348}"/>
              </a:ext>
            </a:extLst>
          </p:cNvPr>
          <p:cNvSpPr/>
          <p:nvPr/>
        </p:nvSpPr>
        <p:spPr>
          <a:xfrm>
            <a:off x="3278436" y="4098308"/>
            <a:ext cx="2731142" cy="28188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0945244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F27C9-FE9F-B983-E596-7CC42B712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15B928-A8DC-815E-9CFF-56B5FEFA2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0F15E521-42AD-9F16-663B-8C9CF9794EE3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CC2CA0D7-E25A-4E8F-102B-D8277B3DC374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0D675FE4-B9AC-A94B-5B1F-2A97ED4540A7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57F266B6-6534-D114-73C9-2F931E20C5FD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BD0849C0-387C-23D7-6D71-EA7D49BF9086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72A4C5BE-5325-D922-1D47-18D1B1EE3C86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96E2251D-3062-C567-A0D6-9EE0B0C70B79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F310B05C-7347-6005-190A-E59B721CD3A7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7F9E0133-19BF-C998-AB14-9900D88AF886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0AC767D1-D8B6-81B3-CC4D-27EB7E2B3019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012D9227-5823-A226-CF6D-EB6377708E48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341018E0-5C40-7C99-9D12-F4C67D06B651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F56C11F9-0C3F-3604-1093-922DC40ABE7D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71890ADD-A0DB-6261-7F1E-4BE6848BEF81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167DCAC4-F288-0DE5-E901-C12716CE6819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680999CA-FF8F-26AE-D876-22610AACAB44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3053C66E-F46D-498D-DF70-A6C0C0A4C081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BBA54966-6171-893D-E8B5-1EF6B3149383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0C6C204-5487-CB99-48BE-6731085185E4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9A1E5562-3930-E1E7-FD4B-1151CD57A5E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3D96D04A-1709-AC58-9283-0BE7B70A3B55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41C42C19-2FA7-7B47-A69D-655B79B26E9F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3F667F75-900D-ECC0-32EE-59ACAB2EDEBA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0193E1B-53AC-8E3F-7067-53104C419E2E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E69B32E6-A4BB-94A5-3BEA-1B9E2A98902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1D7EEF2-2AB2-F6C6-C4FD-B9BD5A4B5CA7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4218939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1A631-6BE0-5ECA-D545-F4063358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FBEC5A-522C-3230-288D-FE132A704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96103EB9-219B-2185-6C10-BC991A175BCE}"/>
              </a:ext>
            </a:extLst>
          </p:cNvPr>
          <p:cNvSpPr/>
          <p:nvPr/>
        </p:nvSpPr>
        <p:spPr>
          <a:xfrm>
            <a:off x="3707904" y="4171745"/>
            <a:ext cx="2731142" cy="704227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/>
              <a:t>nvidia-container-cli</a:t>
            </a:r>
            <a:endParaRPr lang="en-US" altLang="ko-KR" sz="105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4059B30-C2DA-3334-95F3-22BF492F35D6}"/>
              </a:ext>
            </a:extLst>
          </p:cNvPr>
          <p:cNvSpPr/>
          <p:nvPr/>
        </p:nvSpPr>
        <p:spPr>
          <a:xfrm>
            <a:off x="4103948" y="4475622"/>
            <a:ext cx="1939054" cy="317036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libnvidia-container</a:t>
            </a:r>
            <a:endParaRPr lang="en-US" altLang="ko-KR" sz="105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28FA6901-538D-2B0C-735E-C90C447B6222}"/>
              </a:ext>
            </a:extLst>
          </p:cNvPr>
          <p:cNvSpPr/>
          <p:nvPr/>
        </p:nvSpPr>
        <p:spPr>
          <a:xfrm>
            <a:off x="3703390" y="3094142"/>
            <a:ext cx="2740170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nvidia-container-runtime-hook</a:t>
            </a:r>
            <a:endParaRPr lang="en-US" altLang="ko-KR" sz="1050" dirty="0"/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C7588B33-6122-FBB3-30E5-792C8341A175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821852" y="4181058"/>
            <a:ext cx="1886052" cy="34280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A410915-6157-490B-82FE-BDF48165C2CD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073475" y="3463053"/>
            <a:ext cx="0" cy="70869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1A0289C-27E2-F520-13A1-75273EC69D1C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073470" y="2445239"/>
            <a:ext cx="5" cy="64890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5F86B4C1-0786-7854-7062-B170A7B1762F}"/>
              </a:ext>
            </a:extLst>
          </p:cNvPr>
          <p:cNvSpPr/>
          <p:nvPr/>
        </p:nvSpPr>
        <p:spPr>
          <a:xfrm>
            <a:off x="3707899" y="2076328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EE1AAF5E-9605-04BA-9F0C-EB245622A8EA}"/>
              </a:ext>
            </a:extLst>
          </p:cNvPr>
          <p:cNvSpPr/>
          <p:nvPr/>
        </p:nvSpPr>
        <p:spPr>
          <a:xfrm>
            <a:off x="5201208" y="2444054"/>
            <a:ext cx="1823567" cy="36891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via OCI runtime’s </a:t>
            </a:r>
          </a:p>
          <a:p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124E5AEA-FA7D-54D9-287C-BF84EE7C6625}"/>
              </a:ext>
            </a:extLst>
          </p:cNvPr>
          <p:cNvSpPr/>
          <p:nvPr/>
        </p:nvSpPr>
        <p:spPr>
          <a:xfrm>
            <a:off x="5191852" y="3461569"/>
            <a:ext cx="2381421" cy="558237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  <a:p>
            <a:r>
              <a:rPr lang="en-US" altLang="ko-KR" sz="1000" i="1"/>
              <a:t>in OCI Runtime Config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D87BF561-3A38-FE51-DEC4-BAE3387F19A1}"/>
              </a:ext>
            </a:extLst>
          </p:cNvPr>
          <p:cNvSpPr/>
          <p:nvPr/>
        </p:nvSpPr>
        <p:spPr>
          <a:xfrm>
            <a:off x="861290" y="2724535"/>
            <a:ext cx="1921124" cy="1456523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2D862EAC-B8BE-3B21-DA29-B9BCC4F42E53}"/>
              </a:ext>
            </a:extLst>
          </p:cNvPr>
          <p:cNvSpPr/>
          <p:nvPr/>
        </p:nvSpPr>
        <p:spPr>
          <a:xfrm>
            <a:off x="1904479" y="1783783"/>
            <a:ext cx="1828120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namespace (clone()),</a:t>
            </a:r>
          </a:p>
          <a:p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0E3E0C51-3050-C150-B3B9-BAE6D1368890}"/>
              </a:ext>
            </a:extLst>
          </p:cNvPr>
          <p:cNvSpPr/>
          <p:nvPr/>
        </p:nvSpPr>
        <p:spPr>
          <a:xfrm>
            <a:off x="4934162" y="2357187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8</a:t>
            </a:r>
            <a:endParaRPr lang="ko-KR" altLang="en-US" sz="10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2889948F-EDDC-593A-B61B-EC3AC1B42EFC}"/>
              </a:ext>
            </a:extLst>
          </p:cNvPr>
          <p:cNvSpPr/>
          <p:nvPr/>
        </p:nvSpPr>
        <p:spPr>
          <a:xfrm>
            <a:off x="4934162" y="336984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9</a:t>
            </a:r>
            <a:endParaRPr lang="ko-KR" altLang="en-US" sz="10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F428AFA5-F604-283F-8374-1D39E1880C32}"/>
              </a:ext>
            </a:extLst>
          </p:cNvPr>
          <p:cNvSpPr/>
          <p:nvPr/>
        </p:nvSpPr>
        <p:spPr>
          <a:xfrm>
            <a:off x="3573595" y="4409321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6427ED42-48B1-7B43-F852-5596BF5CA19A}"/>
              </a:ext>
            </a:extLst>
          </p:cNvPr>
          <p:cNvSpPr/>
          <p:nvPr/>
        </p:nvSpPr>
        <p:spPr>
          <a:xfrm>
            <a:off x="1079514" y="3297090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14D9D5F-6F7E-2022-46FA-998AE3F6093A}"/>
              </a:ext>
            </a:extLst>
          </p:cNvPr>
          <p:cNvCxnSpPr>
            <a:cxnSpLocks/>
          </p:cNvCxnSpPr>
          <p:nvPr/>
        </p:nvCxnSpPr>
        <p:spPr>
          <a:xfrm flipH="1">
            <a:off x="1418481" y="2156539"/>
            <a:ext cx="2289418" cy="56799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368AEB3-D28E-49B4-894C-B2FC5D0E2520}"/>
              </a:ext>
            </a:extLst>
          </p:cNvPr>
          <p:cNvSpPr/>
          <p:nvPr/>
        </p:nvSpPr>
        <p:spPr>
          <a:xfrm>
            <a:off x="3573595" y="196083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588CE2CD-2BC5-5EC8-959C-45411F4E1BED}"/>
              </a:ext>
            </a:extLst>
          </p:cNvPr>
          <p:cNvSpPr/>
          <p:nvPr/>
        </p:nvSpPr>
        <p:spPr>
          <a:xfrm>
            <a:off x="755576" y="4239338"/>
            <a:ext cx="3442777" cy="45219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Cgroup,</a:t>
            </a:r>
          </a:p>
          <a:p>
            <a:r>
              <a:rPr lang="en-US" altLang="ko-KR" sz="1000" i="1"/>
              <a:t>- Load GPU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F488925A-8EF5-B5D7-DA12-779B73D2653C}"/>
              </a:ext>
            </a:extLst>
          </p:cNvPr>
          <p:cNvSpPr/>
          <p:nvPr/>
        </p:nvSpPr>
        <p:spPr>
          <a:xfrm>
            <a:off x="7020271" y="2069538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File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0DF6D44-72E0-FB2D-C3C2-4E1072CEEE97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253994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268DB217-731E-2D08-9246-3027EC9BCAF5}"/>
              </a:ext>
            </a:extLst>
          </p:cNvPr>
          <p:cNvCxnSpPr>
            <a:cxnSpLocks/>
            <a:stCxn id="4" idx="1"/>
            <a:endCxn id="44" idx="3"/>
          </p:cNvCxnSpPr>
          <p:nvPr/>
        </p:nvCxnSpPr>
        <p:spPr>
          <a:xfrm flipH="1">
            <a:off x="6443560" y="2253994"/>
            <a:ext cx="576711" cy="102460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1854148E-3029-9B23-AE24-A8582F13D98F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821852" y="2260785"/>
            <a:ext cx="1886047" cy="4637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63596613-355D-F159-3294-481B140608F3}"/>
              </a:ext>
            </a:extLst>
          </p:cNvPr>
          <p:cNvSpPr/>
          <p:nvPr/>
        </p:nvSpPr>
        <p:spPr>
          <a:xfrm>
            <a:off x="552959" y="2786691"/>
            <a:ext cx="1449638" cy="52762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FADF9F99-AC28-6D3F-2177-EB688D8C5A8E}"/>
              </a:ext>
            </a:extLst>
          </p:cNvPr>
          <p:cNvSpPr/>
          <p:nvPr/>
        </p:nvSpPr>
        <p:spPr>
          <a:xfrm>
            <a:off x="1690861" y="2678508"/>
            <a:ext cx="261982" cy="245150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C28D515E-758A-7150-9266-DEF6AED34794}"/>
              </a:ext>
            </a:extLst>
          </p:cNvPr>
          <p:cNvCxnSpPr>
            <a:cxnSpLocks/>
          </p:cNvCxnSpPr>
          <p:nvPr/>
        </p:nvCxnSpPr>
        <p:spPr>
          <a:xfrm flipH="1">
            <a:off x="2238513" y="2358584"/>
            <a:ext cx="1464878" cy="36616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2176B487-D28B-2D5D-B7CE-A5E38524E63E}"/>
              </a:ext>
            </a:extLst>
          </p:cNvPr>
          <p:cNvSpPr/>
          <p:nvPr/>
        </p:nvSpPr>
        <p:spPr>
          <a:xfrm>
            <a:off x="3573595" y="23214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6CFA60CC-4601-463E-9425-25720C6C7F6C}"/>
              </a:ext>
            </a:extLst>
          </p:cNvPr>
          <p:cNvSpPr/>
          <p:nvPr/>
        </p:nvSpPr>
        <p:spPr>
          <a:xfrm>
            <a:off x="2883404" y="2551090"/>
            <a:ext cx="1654066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Response done prestart hook through FIFO</a:t>
            </a: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35508117-1EF8-C1F7-D743-51FC4279A085}"/>
              </a:ext>
            </a:extLst>
          </p:cNvPr>
          <p:cNvSpPr/>
          <p:nvPr/>
        </p:nvSpPr>
        <p:spPr>
          <a:xfrm>
            <a:off x="3707899" y="1063899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04B343F5-FA9E-1EC6-8274-D64664E79134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432810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67AC8B02-EE84-C2BA-0ADC-DA10E126AB43}"/>
              </a:ext>
            </a:extLst>
          </p:cNvPr>
          <p:cNvSpPr/>
          <p:nvPr/>
        </p:nvSpPr>
        <p:spPr>
          <a:xfrm>
            <a:off x="3703390" y="51470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52AFE60-EC5F-9FD0-9F05-160C6FEA9CA7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420381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8A2DCBCF-0AEE-FF82-268C-8BA54DDB6806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235926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5044F92-71B9-0D39-86B8-FA28AB8F0A81}"/>
              </a:ext>
            </a:extLst>
          </p:cNvPr>
          <p:cNvSpPr/>
          <p:nvPr/>
        </p:nvSpPr>
        <p:spPr>
          <a:xfrm>
            <a:off x="861290" y="51470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2FB9A8E2-8591-B43A-1BB2-568EEEFFC97E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235926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4BC60143-F257-A1E1-BFCF-AD2C08A2D906}"/>
              </a:ext>
            </a:extLst>
          </p:cNvPr>
          <p:cNvSpPr/>
          <p:nvPr/>
        </p:nvSpPr>
        <p:spPr>
          <a:xfrm>
            <a:off x="2633884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07C6D7F3-2E91-0B3C-E3F6-F1C7C608D751}"/>
              </a:ext>
            </a:extLst>
          </p:cNvPr>
          <p:cNvSpPr/>
          <p:nvPr/>
        </p:nvSpPr>
        <p:spPr>
          <a:xfrm>
            <a:off x="1519984" y="443714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01669F4D-E883-6F65-4421-8ED5AB0219E2}"/>
              </a:ext>
            </a:extLst>
          </p:cNvPr>
          <p:cNvSpPr/>
          <p:nvPr/>
        </p:nvSpPr>
        <p:spPr>
          <a:xfrm>
            <a:off x="6500171" y="51470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0BAB279-1702-4A89-9B84-BCBC24937157}"/>
              </a:ext>
            </a:extLst>
          </p:cNvPr>
          <p:cNvSpPr/>
          <p:nvPr/>
        </p:nvSpPr>
        <p:spPr>
          <a:xfrm>
            <a:off x="6299032" y="11394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FE2ECEAF-5A64-9C0F-A864-BE7D36877BFE}"/>
              </a:ext>
            </a:extLst>
          </p:cNvPr>
          <p:cNvSpPr/>
          <p:nvPr/>
        </p:nvSpPr>
        <p:spPr>
          <a:xfrm>
            <a:off x="5192770" y="416742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41227F63-2859-A2F0-D377-D344B68BAD02}"/>
              </a:ext>
            </a:extLst>
          </p:cNvPr>
          <p:cNvSpPr/>
          <p:nvPr/>
        </p:nvSpPr>
        <p:spPr>
          <a:xfrm>
            <a:off x="4942479" y="33946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DC0AF25E-64F7-4EA3-99C0-A701876C7B91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248355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4FFB9A82-D545-C76C-5840-661C785007EE}"/>
              </a:ext>
            </a:extLst>
          </p:cNvPr>
          <p:cNvSpPr/>
          <p:nvPr/>
        </p:nvSpPr>
        <p:spPr>
          <a:xfrm>
            <a:off x="6535021" y="107140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to inject </a:t>
            </a:r>
            <a:r>
              <a:rPr lang="en-US" altLang="ko-KR" sz="1000" b="1" i="1"/>
              <a:t>prestart hook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C5F2100E-0C0E-9D66-D223-44345B4F7111}"/>
              </a:ext>
            </a:extLst>
          </p:cNvPr>
          <p:cNvSpPr/>
          <p:nvPr/>
        </p:nvSpPr>
        <p:spPr>
          <a:xfrm>
            <a:off x="6308050" y="112577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C265F7B6-80B8-7CE2-A001-0FA74EFD5D39}"/>
              </a:ext>
            </a:extLst>
          </p:cNvPr>
          <p:cNvSpPr/>
          <p:nvPr/>
        </p:nvSpPr>
        <p:spPr>
          <a:xfrm>
            <a:off x="5205000" y="1426775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9A34A0D5-AEE1-86E4-DDD7-0C4CE254F8FF}"/>
              </a:ext>
            </a:extLst>
          </p:cNvPr>
          <p:cNvSpPr/>
          <p:nvPr/>
        </p:nvSpPr>
        <p:spPr>
          <a:xfrm>
            <a:off x="4942479" y="1349496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08" name="사각형: 둥근 모서리 114">
            <a:extLst>
              <a:ext uri="{FF2B5EF4-FFF2-40B4-BE49-F238E27FC236}">
                <a16:creationId xmlns:a16="http://schemas.microsoft.com/office/drawing/2014/main" id="{B1ADC669-D321-77E7-5733-BE38807FE85A}"/>
              </a:ext>
            </a:extLst>
          </p:cNvPr>
          <p:cNvSpPr/>
          <p:nvPr/>
        </p:nvSpPr>
        <p:spPr>
          <a:xfrm>
            <a:off x="3529044" y="4409322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10</a:t>
            </a:r>
          </a:p>
        </p:txBody>
      </p:sp>
      <p:sp>
        <p:nvSpPr>
          <p:cNvPr id="112" name="사각형: 둥근 모서리 114">
            <a:extLst>
              <a:ext uri="{FF2B5EF4-FFF2-40B4-BE49-F238E27FC236}">
                <a16:creationId xmlns:a16="http://schemas.microsoft.com/office/drawing/2014/main" id="{59B7F225-4DA5-68A7-4B73-72BFBA68843D}"/>
              </a:ext>
            </a:extLst>
          </p:cNvPr>
          <p:cNvSpPr/>
          <p:nvPr/>
        </p:nvSpPr>
        <p:spPr>
          <a:xfrm>
            <a:off x="3529044" y="232581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11</a:t>
            </a:r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9BDC54E2-36E7-4E82-8693-D84C189D8CB8}"/>
              </a:ext>
            </a:extLst>
          </p:cNvPr>
          <p:cNvSpPr/>
          <p:nvPr/>
        </p:nvSpPr>
        <p:spPr>
          <a:xfrm>
            <a:off x="923476" y="33764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 sz="1000"/>
          </a:p>
        </p:txBody>
      </p:sp>
      <p:sp>
        <p:nvSpPr>
          <p:cNvPr id="114" name="사각형: 둥근 모서리 114">
            <a:extLst>
              <a:ext uri="{FF2B5EF4-FFF2-40B4-BE49-F238E27FC236}">
                <a16:creationId xmlns:a16="http://schemas.microsoft.com/office/drawing/2014/main" id="{0EF14D2F-B2B1-1549-B7DB-C675F5C178D9}"/>
              </a:ext>
            </a:extLst>
          </p:cNvPr>
          <p:cNvSpPr/>
          <p:nvPr/>
        </p:nvSpPr>
        <p:spPr>
          <a:xfrm>
            <a:off x="878925" y="3380809"/>
            <a:ext cx="338500" cy="24515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504534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DB281-8266-E01A-F21B-874320326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66D0CC-907D-8D2B-6621-DBB4440F5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028650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07BBBBD6-E00B-3749-AF02-E9406AB32359}"/>
              </a:ext>
            </a:extLst>
          </p:cNvPr>
          <p:cNvSpPr/>
          <p:nvPr/>
        </p:nvSpPr>
        <p:spPr>
          <a:xfrm>
            <a:off x="3707899" y="2280534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runc</a:t>
            </a:r>
            <a:endParaRPr lang="en-US" altLang="ko-KR" sz="1050" dirty="0"/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072C9537-080F-F012-EB06-A9E029C79A73}"/>
              </a:ext>
            </a:extLst>
          </p:cNvPr>
          <p:cNvSpPr/>
          <p:nvPr/>
        </p:nvSpPr>
        <p:spPr>
          <a:xfrm>
            <a:off x="861290" y="2768453"/>
            <a:ext cx="1921124" cy="88341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50" b="1">
                <a:solidFill>
                  <a:schemeClr val="tx1"/>
                </a:solidFill>
              </a:rPr>
              <a:t>Container</a:t>
            </a:r>
            <a:endParaRPr lang="en-US" altLang="ko-KR" sz="1050" b="1" dirty="0">
              <a:solidFill>
                <a:schemeClr val="tx1"/>
              </a:solidFill>
            </a:endParaRPr>
          </a:p>
          <a:p>
            <a:pPr algn="ctr"/>
            <a:r>
              <a:rPr lang="en-US" altLang="ko-KR" sz="1050">
                <a:solidFill>
                  <a:schemeClr val="tx1"/>
                </a:solidFill>
              </a:rPr>
              <a:t>(Namespace, Rootfs)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6C5C0067-677C-CD16-E6D5-95BF99ED89F8}"/>
              </a:ext>
            </a:extLst>
          </p:cNvPr>
          <p:cNvCxnSpPr>
            <a:cxnSpLocks/>
            <a:stCxn id="35" idx="1"/>
            <a:endCxn id="48" idx="0"/>
          </p:cNvCxnSpPr>
          <p:nvPr/>
        </p:nvCxnSpPr>
        <p:spPr>
          <a:xfrm flipH="1">
            <a:off x="1821852" y="2464990"/>
            <a:ext cx="1886047" cy="30346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470F296A-359D-D67D-714C-C8213E5217A6}"/>
              </a:ext>
            </a:extLst>
          </p:cNvPr>
          <p:cNvSpPr/>
          <p:nvPr/>
        </p:nvSpPr>
        <p:spPr>
          <a:xfrm>
            <a:off x="3573595" y="2549283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6</a:t>
            </a:r>
            <a:endParaRPr lang="ko-KR" altLang="en-US" sz="100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C7D818CB-A812-9662-C127-AC080875B93E}"/>
              </a:ext>
            </a:extLst>
          </p:cNvPr>
          <p:cNvSpPr/>
          <p:nvPr/>
        </p:nvSpPr>
        <p:spPr>
          <a:xfrm>
            <a:off x="7020271" y="2273744"/>
            <a:ext cx="1717863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OCI Runtime Config (JSON)</a:t>
            </a:r>
            <a:endParaRPr lang="en-US" altLang="ko-KR" sz="105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C9079530-BEBF-6264-D3C7-7F752423E993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439041" y="2458200"/>
            <a:ext cx="581230" cy="67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BC14B7C7-DC7D-AF1A-C4E1-AB30AE9C184F}"/>
              </a:ext>
            </a:extLst>
          </p:cNvPr>
          <p:cNvSpPr/>
          <p:nvPr/>
        </p:nvSpPr>
        <p:spPr>
          <a:xfrm>
            <a:off x="3707899" y="1268105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nvidia-container-runtime (Shim)</a:t>
            </a:r>
            <a:endParaRPr lang="en-US" altLang="ko-KR" sz="1050" dirty="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1AC225DA-F42B-06FF-9648-6CFD0907B94C}"/>
              </a:ext>
            </a:extLst>
          </p:cNvPr>
          <p:cNvCxnSpPr>
            <a:cxnSpLocks/>
            <a:stCxn id="9" idx="2"/>
            <a:endCxn id="35" idx="0"/>
          </p:cNvCxnSpPr>
          <p:nvPr/>
        </p:nvCxnSpPr>
        <p:spPr>
          <a:xfrm>
            <a:off x="5073470" y="1637016"/>
            <a:ext cx="0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6CA91E0-6726-D19B-6B97-E7825816B22A}"/>
              </a:ext>
            </a:extLst>
          </p:cNvPr>
          <p:cNvSpPr/>
          <p:nvPr/>
        </p:nvSpPr>
        <p:spPr>
          <a:xfrm>
            <a:off x="3703390" y="255676"/>
            <a:ext cx="2731142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containerd</a:t>
            </a:r>
            <a:endParaRPr lang="en-US" altLang="ko-KR" sz="105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9B40FBE-C925-D66C-70B5-B4AB14EE0D6B}"/>
              </a:ext>
            </a:extLst>
          </p:cNvPr>
          <p:cNvCxnSpPr>
            <a:cxnSpLocks/>
            <a:stCxn id="14" idx="2"/>
            <a:endCxn id="9" idx="0"/>
          </p:cNvCxnSpPr>
          <p:nvPr/>
        </p:nvCxnSpPr>
        <p:spPr>
          <a:xfrm>
            <a:off x="5068961" y="624587"/>
            <a:ext cx="4509" cy="64351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12871E8D-AAD6-013A-B5D6-87397D96C7CB}"/>
              </a:ext>
            </a:extLst>
          </p:cNvPr>
          <p:cNvCxnSpPr>
            <a:cxnSpLocks/>
            <a:stCxn id="14" idx="3"/>
            <a:endCxn id="4" idx="0"/>
          </p:cNvCxnSpPr>
          <p:nvPr/>
        </p:nvCxnSpPr>
        <p:spPr>
          <a:xfrm>
            <a:off x="6434532" y="440132"/>
            <a:ext cx="1444671" cy="183361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사각형: 둥근 모서리 114">
            <a:extLst>
              <a:ext uri="{FF2B5EF4-FFF2-40B4-BE49-F238E27FC236}">
                <a16:creationId xmlns:a16="http://schemas.microsoft.com/office/drawing/2014/main" id="{3DD33EA8-CB80-8C62-ACB2-3DB18FB1F8E6}"/>
              </a:ext>
            </a:extLst>
          </p:cNvPr>
          <p:cNvSpPr/>
          <p:nvPr/>
        </p:nvSpPr>
        <p:spPr>
          <a:xfrm>
            <a:off x="861290" y="255676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dirty="0"/>
              <a:t>ctr / dockerd</a:t>
            </a: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541ACBB-399C-4D1C-D19D-D70FBA8326D0}"/>
              </a:ext>
            </a:extLst>
          </p:cNvPr>
          <p:cNvCxnSpPr>
            <a:cxnSpLocks/>
            <a:stCxn id="77" idx="3"/>
            <a:endCxn id="14" idx="1"/>
          </p:cNvCxnSpPr>
          <p:nvPr/>
        </p:nvCxnSpPr>
        <p:spPr>
          <a:xfrm>
            <a:off x="2782414" y="440132"/>
            <a:ext cx="920976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타원 83">
            <a:extLst>
              <a:ext uri="{FF2B5EF4-FFF2-40B4-BE49-F238E27FC236}">
                <a16:creationId xmlns:a16="http://schemas.microsoft.com/office/drawing/2014/main" id="{32DB123A-A0E2-7A1A-3E00-4A30BFF2E3BE}"/>
              </a:ext>
            </a:extLst>
          </p:cNvPr>
          <p:cNvSpPr/>
          <p:nvPr/>
        </p:nvSpPr>
        <p:spPr>
          <a:xfrm>
            <a:off x="2633884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1</a:t>
            </a:r>
            <a:endParaRPr lang="ko-KR" altLang="en-US" sz="1000"/>
          </a:p>
        </p:txBody>
      </p:sp>
      <p:sp>
        <p:nvSpPr>
          <p:cNvPr id="85" name="사각형: 둥근 모서리 114">
            <a:extLst>
              <a:ext uri="{FF2B5EF4-FFF2-40B4-BE49-F238E27FC236}">
                <a16:creationId xmlns:a16="http://schemas.microsoft.com/office/drawing/2014/main" id="{AE8433B8-3742-248D-34A1-D740E304B7F3}"/>
              </a:ext>
            </a:extLst>
          </p:cNvPr>
          <p:cNvSpPr/>
          <p:nvPr/>
        </p:nvSpPr>
        <p:spPr>
          <a:xfrm>
            <a:off x="1519984" y="647920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Request create container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 </a:t>
            </a:r>
            <a:r>
              <a:rPr lang="en-US" altLang="ko-KR" sz="1000" i="1"/>
              <a:t>env</a:t>
            </a:r>
          </a:p>
        </p:txBody>
      </p:sp>
      <p:sp>
        <p:nvSpPr>
          <p:cNvPr id="91" name="사각형: 둥근 모서리 114">
            <a:extLst>
              <a:ext uri="{FF2B5EF4-FFF2-40B4-BE49-F238E27FC236}">
                <a16:creationId xmlns:a16="http://schemas.microsoft.com/office/drawing/2014/main" id="{16BF35AB-4094-BD12-61DC-435463ECCA7A}"/>
              </a:ext>
            </a:extLst>
          </p:cNvPr>
          <p:cNvSpPr/>
          <p:nvPr/>
        </p:nvSpPr>
        <p:spPr>
          <a:xfrm>
            <a:off x="6500171" y="255676"/>
            <a:ext cx="2843808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Create OCI Runtime Config</a:t>
            </a:r>
          </a:p>
          <a:p>
            <a:r>
              <a:rPr lang="en-US" altLang="ko-KR" sz="1000" i="1"/>
              <a:t>with </a:t>
            </a:r>
            <a:r>
              <a:rPr lang="en-US" altLang="ko-KR" sz="1000" b="1" i="1"/>
              <a:t>NVIDIA_VISIBLE_DEVICES</a:t>
            </a:r>
            <a:r>
              <a:rPr lang="en-US" altLang="ko-KR" sz="1000" i="1"/>
              <a:t> env</a:t>
            </a:r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19F0B6B7-CF6C-4E09-97B8-277A69061F6E}"/>
              </a:ext>
            </a:extLst>
          </p:cNvPr>
          <p:cNvSpPr/>
          <p:nvPr/>
        </p:nvSpPr>
        <p:spPr>
          <a:xfrm>
            <a:off x="6299032" y="31814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2</a:t>
            </a:r>
            <a:endParaRPr lang="ko-KR" altLang="en-US" sz="1000"/>
          </a:p>
        </p:txBody>
      </p:sp>
      <p:sp>
        <p:nvSpPr>
          <p:cNvPr id="98" name="사각형: 둥근 모서리 114">
            <a:extLst>
              <a:ext uri="{FF2B5EF4-FFF2-40B4-BE49-F238E27FC236}">
                <a16:creationId xmlns:a16="http://schemas.microsoft.com/office/drawing/2014/main" id="{20450D33-5BA2-A209-95A4-B9073940B922}"/>
              </a:ext>
            </a:extLst>
          </p:cNvPr>
          <p:cNvSpPr/>
          <p:nvPr/>
        </p:nvSpPr>
        <p:spPr>
          <a:xfrm>
            <a:off x="5192770" y="620948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99" name="타원 98">
            <a:extLst>
              <a:ext uri="{FF2B5EF4-FFF2-40B4-BE49-F238E27FC236}">
                <a16:creationId xmlns:a16="http://schemas.microsoft.com/office/drawing/2014/main" id="{0047234E-B6F3-2D8A-3938-3C525EED7173}"/>
              </a:ext>
            </a:extLst>
          </p:cNvPr>
          <p:cNvSpPr/>
          <p:nvPr/>
        </p:nvSpPr>
        <p:spPr>
          <a:xfrm>
            <a:off x="4942479" y="543669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3</a:t>
            </a:r>
            <a:endParaRPr lang="ko-KR" altLang="en-US" sz="1000"/>
          </a:p>
        </p:txBody>
      </p:sp>
      <p:cxnSp>
        <p:nvCxnSpPr>
          <p:cNvPr id="100" name="직선 화살표 연결선 99">
            <a:extLst>
              <a:ext uri="{FF2B5EF4-FFF2-40B4-BE49-F238E27FC236}">
                <a16:creationId xmlns:a16="http://schemas.microsoft.com/office/drawing/2014/main" id="{B8E4D6F8-7F62-4FEC-635D-43874C83B8A6}"/>
              </a:ext>
            </a:extLst>
          </p:cNvPr>
          <p:cNvCxnSpPr>
            <a:cxnSpLocks/>
            <a:stCxn id="9" idx="3"/>
            <a:endCxn id="4" idx="0"/>
          </p:cNvCxnSpPr>
          <p:nvPr/>
        </p:nvCxnSpPr>
        <p:spPr>
          <a:xfrm>
            <a:off x="6439041" y="1452561"/>
            <a:ext cx="1440162" cy="82118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14">
            <a:extLst>
              <a:ext uri="{FF2B5EF4-FFF2-40B4-BE49-F238E27FC236}">
                <a16:creationId xmlns:a16="http://schemas.microsoft.com/office/drawing/2014/main" id="{5E3652E7-F9FE-0245-D4CC-BB86268DD96E}"/>
              </a:ext>
            </a:extLst>
          </p:cNvPr>
          <p:cNvSpPr/>
          <p:nvPr/>
        </p:nvSpPr>
        <p:spPr>
          <a:xfrm>
            <a:off x="6535021" y="1275606"/>
            <a:ext cx="248978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Modify OCI Runtime Config</a:t>
            </a:r>
          </a:p>
          <a:p>
            <a:r>
              <a:rPr lang="en-US" altLang="ko-KR" sz="1000" i="1"/>
              <a:t>for </a:t>
            </a:r>
            <a:r>
              <a:rPr lang="en-US" altLang="ko-KR" sz="1000" b="1" i="1"/>
              <a:t>GPU Settings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2AA629DF-9819-7FF9-6AB6-FE0496F8E8B2}"/>
              </a:ext>
            </a:extLst>
          </p:cNvPr>
          <p:cNvSpPr/>
          <p:nvPr/>
        </p:nvSpPr>
        <p:spPr>
          <a:xfrm>
            <a:off x="6308050" y="1329985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4</a:t>
            </a:r>
            <a:endParaRPr lang="ko-KR" altLang="en-US" sz="1000"/>
          </a:p>
        </p:txBody>
      </p:sp>
      <p:sp>
        <p:nvSpPr>
          <p:cNvPr id="105" name="사각형: 둥근 모서리 114">
            <a:extLst>
              <a:ext uri="{FF2B5EF4-FFF2-40B4-BE49-F238E27FC236}">
                <a16:creationId xmlns:a16="http://schemas.microsoft.com/office/drawing/2014/main" id="{92A548A4-AE56-93C2-600A-F4892E7479C8}"/>
              </a:ext>
            </a:extLst>
          </p:cNvPr>
          <p:cNvSpPr/>
          <p:nvPr/>
        </p:nvSpPr>
        <p:spPr>
          <a:xfrm>
            <a:off x="5205000" y="1630981"/>
            <a:ext cx="1954122" cy="35793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Execute to</a:t>
            </a:r>
          </a:p>
          <a:p>
            <a:r>
              <a:rPr lang="en-US" altLang="ko-KR" sz="1000" i="1"/>
              <a:t>request create container</a:t>
            </a:r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AAB9CE1F-0891-2A9A-F918-5CF1569B5996}"/>
              </a:ext>
            </a:extLst>
          </p:cNvPr>
          <p:cNvSpPr/>
          <p:nvPr/>
        </p:nvSpPr>
        <p:spPr>
          <a:xfrm>
            <a:off x="4942479" y="1553702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5</a:t>
            </a:r>
            <a:endParaRPr lang="ko-KR" altLang="en-US" sz="1000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65DB7392-8EEF-00B9-6623-2918383E17F1}"/>
              </a:ext>
            </a:extLst>
          </p:cNvPr>
          <p:cNvSpPr/>
          <p:nvPr/>
        </p:nvSpPr>
        <p:spPr>
          <a:xfrm>
            <a:off x="923476" y="2881644"/>
            <a:ext cx="261982" cy="24515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7</a:t>
            </a:r>
            <a:endParaRPr lang="ko-KR" altLang="en-US" sz="100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3099BABC-7D42-9CD0-4CAA-C674641341B5}"/>
              </a:ext>
            </a:extLst>
          </p:cNvPr>
          <p:cNvSpPr/>
          <p:nvPr/>
        </p:nvSpPr>
        <p:spPr>
          <a:xfrm>
            <a:off x="861290" y="1268105"/>
            <a:ext cx="1921124" cy="36891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 b="1"/>
              <a:t>CDI (Container Device Interface) Spec File (YAML) </a:t>
            </a:r>
            <a:endParaRPr lang="en-US" altLang="ko-KR" sz="1050" b="1" dirty="0"/>
          </a:p>
        </p:txBody>
      </p:sp>
      <p:cxnSp>
        <p:nvCxnSpPr>
          <p:cNvPr id="12" name="직선 화살표 연결선 17">
            <a:extLst>
              <a:ext uri="{FF2B5EF4-FFF2-40B4-BE49-F238E27FC236}">
                <a16:creationId xmlns:a16="http://schemas.microsoft.com/office/drawing/2014/main" id="{5D159B71-A1C0-CDDF-B7A0-5387BE857E53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2782414" y="1452561"/>
            <a:ext cx="92548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사각형: 둥근 모서리 114">
            <a:extLst>
              <a:ext uri="{FF2B5EF4-FFF2-40B4-BE49-F238E27FC236}">
                <a16:creationId xmlns:a16="http://schemas.microsoft.com/office/drawing/2014/main" id="{3C54920E-D6C0-D2D7-6DB8-EDE69CB77388}"/>
              </a:ext>
            </a:extLst>
          </p:cNvPr>
          <p:cNvSpPr/>
          <p:nvPr/>
        </p:nvSpPr>
        <p:spPr>
          <a:xfrm>
            <a:off x="753313" y="2026286"/>
            <a:ext cx="3595239" cy="69806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- Create namespace (clone()),</a:t>
            </a:r>
          </a:p>
          <a:p>
            <a:r>
              <a:rPr lang="en-US" altLang="ko-KR" sz="1000" i="1"/>
              <a:t>- Set rootfs (overlay FS),</a:t>
            </a:r>
          </a:p>
          <a:p>
            <a:r>
              <a:rPr lang="en-US" altLang="ko-KR" sz="1000" i="1"/>
              <a:t>- Bind mount GPU device file and CUDA libraries/tools,</a:t>
            </a:r>
          </a:p>
          <a:p>
            <a:r>
              <a:rPr lang="en-US" altLang="ko-KR" sz="1000" i="1"/>
              <a:t>- Allow GPU Cgroup</a:t>
            </a:r>
          </a:p>
        </p:txBody>
      </p:sp>
      <p:sp>
        <p:nvSpPr>
          <p:cNvPr id="32" name="사각형: 둥근 모서리 114">
            <a:extLst>
              <a:ext uri="{FF2B5EF4-FFF2-40B4-BE49-F238E27FC236}">
                <a16:creationId xmlns:a16="http://schemas.microsoft.com/office/drawing/2014/main" id="{68E33662-A142-806E-2319-889CB046BF71}"/>
              </a:ext>
            </a:extLst>
          </p:cNvPr>
          <p:cNvSpPr/>
          <p:nvPr/>
        </p:nvSpPr>
        <p:spPr>
          <a:xfrm>
            <a:off x="1079514" y="2803313"/>
            <a:ext cx="1886052" cy="39065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 i="1"/>
              <a:t> - Change root (pivot_root())</a:t>
            </a:r>
            <a:br>
              <a:rPr lang="en-US" altLang="ko-KR" sz="1000" i="1"/>
            </a:br>
            <a:r>
              <a:rPr lang="en-US" altLang="ko-KR" sz="1000" i="1"/>
              <a:t> - Exec app (exec())</a:t>
            </a:r>
          </a:p>
        </p:txBody>
      </p:sp>
    </p:spTree>
    <p:extLst>
      <p:ext uri="{BB962C8B-B14F-4D97-AF65-F5344CB8AC3E}">
        <p14:creationId xmlns:p14="http://schemas.microsoft.com/office/powerpoint/2010/main" val="2871309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627784" y="259255"/>
            <a:ext cx="403244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/>
              <a:t>$ docker run --gpu all nvidia/cuda:9.0-base nvidia-smi</a:t>
            </a:r>
            <a:endParaRPr lang="en-US" altLang="ko-KR" sz="11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100" kern="0" dirty="0">
                <a:cs typeface="Al Bayan Plain" pitchFamily="2" charset="-78"/>
              </a:rPr>
              <a:t>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"hooks":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Poststart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</a:t>
            </a:r>
            <a:r>
              <a:rPr lang="en-US" altLang="ko-KR" sz="1100" kern="0" dirty="0" err="1">
                <a:cs typeface="Al Bayan Plain" pitchFamily="2" charset="-78"/>
              </a:rPr>
              <a:t>Poststop</a:t>
            </a:r>
            <a:r>
              <a:rPr lang="en-US" altLang="ko-KR" sz="1100" kern="0" dirty="0">
                <a:cs typeface="Al Bayan Plain" pitchFamily="2" charset="-78"/>
              </a:rPr>
              <a:t>": [],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"prestart": [{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</a:t>
            </a:r>
            <a:r>
              <a:rPr lang="en-US" altLang="ko-KR" sz="1100" kern="0" dirty="0" err="1">
                <a:cs typeface="Al Bayan Plain" pitchFamily="2" charset="-78"/>
              </a:rPr>
              <a:t>args</a:t>
            </a:r>
            <a:r>
              <a:rPr lang="en-US" altLang="ko-KR" sz="1100" kern="0" dirty="0">
                <a:cs typeface="Al Bayan Plain" pitchFamily="2" charset="-78"/>
              </a:rPr>
              <a:t>": ["/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-container-runtime-hook", "prestart"],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"path": "/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/bin/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-container-runtime-hook”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}]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"process": {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“env”: [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"NVIDIA_VISIBLE_DEVICES=GPU-5a270e58-abc7-d55b-a94f-54d410c1dfe2,GPU-9de66fe4-2a8b-4a2b-36bc-d61c165db7d8",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“NVIDIA_DRIVER_CAPABILITIES=</a:t>
            </a:r>
            <a:r>
              <a:rPr lang="en-US" altLang="ko-KR" sz="1100" kern="0" dirty="0" err="1">
                <a:cs typeface="Al Bayan Plain" pitchFamily="2" charset="-78"/>
              </a:rPr>
              <a:t>compute,utility</a:t>
            </a:r>
            <a:r>
              <a:rPr lang="en-US" altLang="ko-KR" sz="1100" kern="0" dirty="0">
                <a:cs typeface="Al Bayan Plain" pitchFamily="2" charset="-78"/>
              </a:rPr>
              <a:t>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"NV_CUDA_CUDART_VERSION=11.8.89-1",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"CUDA_VERSION=11.8.0”,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"LD_LIBRARY_PATH=/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/lib:/</a:t>
            </a:r>
            <a:r>
              <a:rPr lang="en-US" altLang="ko-KR" sz="1100" kern="0" dirty="0" err="1">
                <a:cs typeface="Al Bayan Plain" pitchFamily="2" charset="-78"/>
              </a:rPr>
              <a:t>usr</a:t>
            </a:r>
            <a:r>
              <a:rPr lang="en-US" altLang="ko-KR" sz="1100" kern="0" dirty="0">
                <a:cs typeface="Al Bayan Plain" pitchFamily="2" charset="-78"/>
              </a:rPr>
              <a:t>/local/</a:t>
            </a:r>
            <a:r>
              <a:rPr lang="en-US" altLang="ko-KR" sz="1100" kern="0" dirty="0" err="1">
                <a:cs typeface="Al Bayan Plain" pitchFamily="2" charset="-78"/>
              </a:rPr>
              <a:t>nvidia</a:t>
            </a:r>
            <a:r>
              <a:rPr lang="en-US" altLang="ko-KR" sz="1100" kern="0" dirty="0">
                <a:cs typeface="Al Bayan Plain" pitchFamily="2" charset="-78"/>
              </a:rPr>
              <a:t>/lib64"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        ...</a:t>
            </a:r>
            <a:br>
              <a:rPr lang="en-US" altLang="ko-KR" sz="1100" kern="0" dirty="0">
                <a:cs typeface="Al Bayan Plain" pitchFamily="2" charset="-78"/>
              </a:rPr>
            </a:br>
            <a:r>
              <a:rPr lang="en-US" altLang="ko-KR" sz="1100" kern="0" dirty="0">
                <a:cs typeface="Al Bayan Plain" pitchFamily="2" charset="-78"/>
              </a:rPr>
              <a:t>        ]</a:t>
            </a:r>
          </a:p>
          <a:p>
            <a:r>
              <a:rPr lang="en-US" altLang="ko-KR" sz="1100" kern="0" dirty="0">
                <a:cs typeface="Al Bayan Plain" pitchFamily="2" charset="-78"/>
              </a:rPr>
              <a:t>    }</a:t>
            </a:r>
          </a:p>
          <a:p>
            <a:r>
              <a:rPr lang="en-US" altLang="ko-KR" sz="1100" kern="0" dirty="0">
                <a:cs typeface="Al Bayan Plain" pitchFamily="2" charset="-78"/>
              </a:rPr>
              <a:t>...</a:t>
            </a:r>
            <a:endParaRPr lang="en-US" altLang="ko-KR" sz="1600" kern="0" dirty="0">
              <a:cs typeface="Al Bayan Plain" pitchFamily="2" charset="-78"/>
            </a:endParaRP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 Spec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3265569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/>
              <a:t>nvidia-container-cli CLI</a:t>
            </a:r>
            <a:endParaRPr lang="en-US" altLang="ko-KR" sz="12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libnvidia-container</a:t>
            </a:r>
            <a:endParaRPr lang="en-US" altLang="ko-KR" sz="12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nvidia-container-runtime-hook CLI</a:t>
            </a:r>
            <a:endParaRPr lang="en-US" altLang="ko-KR" sz="12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Hook Config File</a:t>
            </a:r>
            <a:endParaRPr lang="en-US" altLang="ko-KR" sz="12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850998"/>
            <a:ext cx="1886052" cy="32327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runc CLI</a:t>
            </a:r>
            <a:endParaRPr lang="en-US" altLang="ko-KR" sz="12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4616610" y="1973478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via OCI runtime’s </a:t>
            </a:r>
          </a:p>
          <a:p>
            <a:pPr algn="ctr"/>
            <a:r>
              <a:rPr lang="en-US" altLang="ko-KR" sz="1000" b="1" i="1"/>
              <a:t>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4791471" y="3118132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 i="1"/>
              <a:t>Exec with container, </a:t>
            </a:r>
          </a:p>
          <a:p>
            <a:pPr algn="ctr"/>
            <a:r>
              <a:rPr lang="en-US" altLang="ko-KR" sz="1000" b="1" i="1"/>
              <a:t>GPU, CUDA parameters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139701"/>
            <a:ext cx="1921124" cy="1711297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>
                <a:solidFill>
                  <a:schemeClr val="tx1"/>
                </a:solidFill>
              </a:rPr>
              <a:t>Container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algn="ctr"/>
            <a:r>
              <a:rPr lang="en-US" altLang="ko-KR" sz="12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2037881" y="1034393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Create namespace (clone()),</a:t>
            </a:r>
          </a:p>
          <a:p>
            <a:pPr algn="ctr"/>
            <a:r>
              <a:rPr lang="en-US" altLang="ko-KR" sz="1000" i="1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3</a:t>
            </a:r>
            <a:endParaRPr lang="ko-KR" altLang="en-US" sz="12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4</a:t>
            </a:r>
            <a:endParaRPr lang="ko-KR" altLang="en-US" sz="12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5</a:t>
            </a:r>
            <a:endParaRPr lang="ko-KR" altLang="en-US" sz="12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1177355" y="2831826"/>
            <a:ext cx="1886052" cy="458983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Change root (pivot_root()),</a:t>
            </a:r>
            <a:br>
              <a:rPr lang="en-US" altLang="ko-KR" sz="1000" i="1"/>
            </a:br>
            <a:r>
              <a:rPr lang="en-US" altLang="ko-KR" sz="1000" i="1"/>
              <a:t>Exec app (exec())</a:t>
            </a:r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551883" y="1472351"/>
            <a:ext cx="2289418" cy="6673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93972" y="1242415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1</a:t>
            </a:r>
            <a:endParaRPr lang="ko-KR" altLang="en-US" sz="12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1854525" y="4108151"/>
            <a:ext cx="1859108" cy="39870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Make device node (mknod), </a:t>
            </a:r>
          </a:p>
          <a:p>
            <a:pPr algn="ctr"/>
            <a:r>
              <a:rPr lang="en-US" altLang="ko-KR" sz="1000" i="1"/>
              <a:t>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212B356A-4769-43B0-B4FF-2D32ED66F330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OCI Runtime</a:t>
            </a:r>
          </a:p>
          <a:p>
            <a:pPr algn="ctr"/>
            <a:r>
              <a:rPr lang="en-US" altLang="ko-KR" sz="1200"/>
              <a:t>Config.json</a:t>
            </a:r>
            <a:endParaRPr lang="en-US" altLang="ko-KR" sz="12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FA9F356B-0DF0-1E32-F955-B0DA73E6C3BF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E236BF99-FFC4-2E79-2D88-3A91E95D8732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FE3B8DF-4C56-3CC0-5814-05BBC4932D96}"/>
              </a:ext>
            </a:extLst>
          </p:cNvPr>
          <p:cNvCxnSpPr>
            <a:cxnSpLocks/>
            <a:stCxn id="48" idx="0"/>
            <a:endCxn id="35" idx="1"/>
          </p:cNvCxnSpPr>
          <p:nvPr/>
        </p:nvCxnSpPr>
        <p:spPr>
          <a:xfrm flipV="1">
            <a:off x="1955254" y="1594831"/>
            <a:ext cx="1886047" cy="544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사각형: 둥근 모서리 114">
            <a:extLst>
              <a:ext uri="{FF2B5EF4-FFF2-40B4-BE49-F238E27FC236}">
                <a16:creationId xmlns:a16="http://schemas.microsoft.com/office/drawing/2014/main" id="{DFB5EAB8-13A7-24B3-B600-D994ACA0B37A}"/>
              </a:ext>
            </a:extLst>
          </p:cNvPr>
          <p:cNvSpPr/>
          <p:nvPr/>
        </p:nvSpPr>
        <p:spPr>
          <a:xfrm>
            <a:off x="686361" y="2128125"/>
            <a:ext cx="1449638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Request run </a:t>
            </a:r>
          </a:p>
          <a:p>
            <a:pPr algn="ctr"/>
            <a:r>
              <a:rPr lang="en-US" altLang="ko-KR" sz="1000" i="1"/>
              <a:t>prestart hook through FIFO</a:t>
            </a:r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0DF2A4E-ED70-38F7-A9A8-11E7FD4B3FC8}"/>
              </a:ext>
            </a:extLst>
          </p:cNvPr>
          <p:cNvSpPr/>
          <p:nvPr/>
        </p:nvSpPr>
        <p:spPr>
          <a:xfrm>
            <a:off x="1811238" y="2085622"/>
            <a:ext cx="288032" cy="288032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2</a:t>
            </a:r>
            <a:endParaRPr lang="ko-KR" altLang="en-US" sz="120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E4DBC2F7-3A9E-6976-F9E3-68CB58121E8E}"/>
              </a:ext>
            </a:extLst>
          </p:cNvPr>
          <p:cNvCxnSpPr>
            <a:cxnSpLocks/>
          </p:cNvCxnSpPr>
          <p:nvPr/>
        </p:nvCxnSpPr>
        <p:spPr>
          <a:xfrm flipH="1">
            <a:off x="2371915" y="1709737"/>
            <a:ext cx="1464878" cy="43021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타원 56">
            <a:extLst>
              <a:ext uri="{FF2B5EF4-FFF2-40B4-BE49-F238E27FC236}">
                <a16:creationId xmlns:a16="http://schemas.microsoft.com/office/drawing/2014/main" id="{A8C5CAD4-4925-3C60-8FBF-A486C33C5A6A}"/>
              </a:ext>
            </a:extLst>
          </p:cNvPr>
          <p:cNvSpPr/>
          <p:nvPr/>
        </p:nvSpPr>
        <p:spPr>
          <a:xfrm>
            <a:off x="3693972" y="166614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6</a:t>
            </a:r>
            <a:endParaRPr lang="ko-KR" altLang="en-US" sz="1200"/>
          </a:p>
        </p:txBody>
      </p:sp>
      <p:sp>
        <p:nvSpPr>
          <p:cNvPr id="58" name="사각형: 둥근 모서리 114">
            <a:extLst>
              <a:ext uri="{FF2B5EF4-FFF2-40B4-BE49-F238E27FC236}">
                <a16:creationId xmlns:a16="http://schemas.microsoft.com/office/drawing/2014/main" id="{08F61331-5805-941B-ACD7-FD2DE2B3CF1F}"/>
              </a:ext>
            </a:extLst>
          </p:cNvPr>
          <p:cNvSpPr/>
          <p:nvPr/>
        </p:nvSpPr>
        <p:spPr>
          <a:xfrm>
            <a:off x="2929779" y="1935917"/>
            <a:ext cx="1828120" cy="420540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Response done prestart hook through FIFO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C9ECED67-B786-436A-F2E8-5EAF4D6F013D}"/>
              </a:ext>
            </a:extLst>
          </p:cNvPr>
          <p:cNvSpPr/>
          <p:nvPr/>
        </p:nvSpPr>
        <p:spPr>
          <a:xfrm>
            <a:off x="1036914" y="2917302"/>
            <a:ext cx="288032" cy="28803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7</a:t>
            </a:r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832258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/dev/nvidia1</a:t>
            </a:r>
            <a:endParaRPr lang="en-US" altLang="ko-KR" sz="10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3B0BA-68D1-BD3C-3458-09E9ACE5C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74CC4-DE60-A510-3813-8C0BD405B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726229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D022E7F7-C9AC-F290-1424-37425B5839ED}"/>
              </a:ext>
            </a:extLst>
          </p:cNvPr>
          <p:cNvSpPr/>
          <p:nvPr/>
        </p:nvSpPr>
        <p:spPr>
          <a:xfrm>
            <a:off x="2267744" y="259255"/>
            <a:ext cx="4752528" cy="433441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632F3FB-7B22-D451-5B4D-B7281CE5B4AA}"/>
              </a:ext>
            </a:extLst>
          </p:cNvPr>
          <p:cNvSpPr/>
          <p:nvPr/>
        </p:nvSpPr>
        <p:spPr>
          <a:xfrm>
            <a:off x="899592" y="915566"/>
            <a:ext cx="7488831" cy="3737569"/>
          </a:xfrm>
          <a:prstGeom prst="roundRect">
            <a:avLst>
              <a:gd name="adj" fmla="val 0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"process": {</a:t>
            </a:r>
          </a:p>
          <a:p>
            <a:r>
              <a:rPr lang="en-US" altLang="ko-KR" sz="1400"/>
              <a:t>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“CUDA_PKG_VERSION=9-0=9.0.176-1”,</a:t>
            </a:r>
          </a:p>
          <a:p>
            <a:r>
              <a:rPr lang="en-US" altLang="ko-KR" sz="1400"/>
              <a:t>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“NVIDIA_DRIVER_CAPABILITIES=“compute,utility”,</a:t>
            </a:r>
          </a:p>
          <a:p>
            <a:r>
              <a:rPr lang="en-US" altLang="ko-KR" sz="1400"/>
              <a:t>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}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765C919B-0EDF-3301-DFC5-8C1EF831E09C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692696"/>
            <a:ext cx="0" cy="22287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D7853DE0-49D2-11AD-A222-5CDD76CD3A39}"/>
              </a:ext>
            </a:extLst>
          </p:cNvPr>
          <p:cNvSpPr/>
          <p:nvPr/>
        </p:nvSpPr>
        <p:spPr>
          <a:xfrm>
            <a:off x="3278436" y="4587974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3776656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122ED-3835-3DC0-4352-5EC9D3A5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95984-7EC0-74A8-AF2B-5AF306DDE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AECCCC64-0828-F134-05A2-0B439489904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392D0A0A-B53F-4A90-B311-F8FAD571A8A5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4B2C7BE7-2F5A-24AE-CDFD-798E4A9F25CF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6CB43451-663D-44ED-F26F-A184162A2227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CEC02631-0696-740D-BC41-FDE19399C85F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C38CB59-20C9-6733-FA0E-412AE49E45FB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B3533A58-75CD-7D94-2995-7961486E80BA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2674C97E-6670-D3AD-8F74-BA2D89D7A7FD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811551"/>
            <a:ext cx="5" cy="760200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B08B49E6-412F-DDF1-A72D-9194FA92404B}"/>
              </a:ext>
            </a:extLst>
          </p:cNvPr>
          <p:cNvSpPr/>
          <p:nvPr/>
        </p:nvSpPr>
        <p:spPr>
          <a:xfrm>
            <a:off x="3841301" y="1378110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BCEDCC4-7A90-07A4-91E3-FEF13C5D6553}"/>
              </a:ext>
            </a:extLst>
          </p:cNvPr>
          <p:cNvSpPr/>
          <p:nvPr/>
        </p:nvSpPr>
        <p:spPr>
          <a:xfrm>
            <a:off x="4978365" y="1942417"/>
            <a:ext cx="2731142" cy="433442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via OCI runtime’s prestart hook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C082F7EE-2B3E-ED69-1005-9B90468E3EDB}"/>
              </a:ext>
            </a:extLst>
          </p:cNvPr>
          <p:cNvSpPr/>
          <p:nvPr/>
        </p:nvSpPr>
        <p:spPr>
          <a:xfrm>
            <a:off x="515322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8F2DFD78-2A43-A301-E75E-696F7A31EDDF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E7104B79-1752-9403-35AA-4C63AF9C7839}"/>
              </a:ext>
            </a:extLst>
          </p:cNvPr>
          <p:cNvSpPr/>
          <p:nvPr/>
        </p:nvSpPr>
        <p:spPr>
          <a:xfrm>
            <a:off x="1125242" y="1046349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 (clone()),</a:t>
            </a:r>
          </a:p>
          <a:p>
            <a:pPr algn="ctr"/>
            <a:r>
              <a:rPr lang="en-US" altLang="ko-KR" sz="1400"/>
              <a:t>Set rootfs (overlay FS)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3D06B21E-B4C8-C97E-A8A8-41A024A3AAAD}"/>
              </a:ext>
            </a:extLst>
          </p:cNvPr>
          <p:cNvSpPr/>
          <p:nvPr/>
        </p:nvSpPr>
        <p:spPr>
          <a:xfrm>
            <a:off x="5054539" y="170809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12E84C7F-602E-1394-C058-B812ABB2093C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3712F6E-D101-AE14-5440-4FAFDBCBA76B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81580CDA-A4DC-926E-BF06-49B86D6E308F}"/>
              </a:ext>
            </a:extLst>
          </p:cNvPr>
          <p:cNvSpPr/>
          <p:nvPr/>
        </p:nvSpPr>
        <p:spPr>
          <a:xfrm>
            <a:off x="2548806" y="1902976"/>
            <a:ext cx="260442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Change root (pivot_root()),</a:t>
            </a:r>
            <a:br>
              <a:rPr lang="en-US" altLang="ko-KR" sz="1400"/>
            </a:br>
            <a:r>
              <a:rPr lang="en-US" altLang="ko-KR" sz="1400"/>
              <a:t>Exec app (exec())</a:t>
            </a:r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8FE13-254F-4094-BE66-85495E6FE887}"/>
              </a:ext>
            </a:extLst>
          </p:cNvPr>
          <p:cNvSpPr/>
          <p:nvPr/>
        </p:nvSpPr>
        <p:spPr>
          <a:xfrm>
            <a:off x="3690518" y="1705061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3965EDB-8B72-A906-108E-D38F962AAA8C}"/>
              </a:ext>
            </a:extLst>
          </p:cNvPr>
          <p:cNvCxnSpPr>
            <a:cxnSpLocks/>
            <a:stCxn id="35" idx="1"/>
          </p:cNvCxnSpPr>
          <p:nvPr/>
        </p:nvCxnSpPr>
        <p:spPr>
          <a:xfrm flipH="1">
            <a:off x="1718313" y="1594831"/>
            <a:ext cx="2122988" cy="636953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5D0B6546-3B63-E414-9215-AE042A33EBDC}"/>
              </a:ext>
            </a:extLst>
          </p:cNvPr>
          <p:cNvSpPr/>
          <p:nvPr/>
        </p:nvSpPr>
        <p:spPr>
          <a:xfrm>
            <a:off x="3693972" y="1234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8BD2647E-7F6D-665A-281C-4989E21F06B8}"/>
              </a:ext>
            </a:extLst>
          </p:cNvPr>
          <p:cNvSpPr/>
          <p:nvPr/>
        </p:nvSpPr>
        <p:spPr>
          <a:xfrm>
            <a:off x="921657" y="3734226"/>
            <a:ext cx="2878471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Make device node </a:t>
            </a:r>
            <a:br>
              <a:rPr lang="en-US" altLang="ko-KR" sz="1400"/>
            </a:br>
            <a:r>
              <a:rPr lang="en-US" altLang="ko-KR" sz="1400"/>
              <a:t>(mknod), Load kernel module</a:t>
            </a:r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BFD3FE09-03AF-1987-088E-72EB08CB5B76}"/>
              </a:ext>
            </a:extLst>
          </p:cNvPr>
          <p:cNvSpPr/>
          <p:nvPr/>
        </p:nvSpPr>
        <p:spPr>
          <a:xfrm>
            <a:off x="7153673" y="1370132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</a:t>
            </a:r>
          </a:p>
          <a:p>
            <a:pPr algn="ctr"/>
            <a:r>
              <a:rPr lang="en-US" altLang="ko-KR" sz="1400"/>
              <a:t>Config.json</a:t>
            </a:r>
            <a:endParaRPr lang="en-US" altLang="ko-KR" sz="1400" dirty="0"/>
          </a:p>
        </p:txBody>
      </p:sp>
      <p:cxnSp>
        <p:nvCxnSpPr>
          <p:cNvPr id="5" name="직선 화살표 연결선 17">
            <a:extLst>
              <a:ext uri="{FF2B5EF4-FFF2-40B4-BE49-F238E27FC236}">
                <a16:creationId xmlns:a16="http://schemas.microsoft.com/office/drawing/2014/main" id="{73A68F90-A225-1E6B-0D4B-49050CDFFAFE}"/>
              </a:ext>
            </a:extLst>
          </p:cNvPr>
          <p:cNvCxnSpPr>
            <a:cxnSpLocks/>
            <a:stCxn id="4" idx="1"/>
            <a:endCxn id="35" idx="3"/>
          </p:cNvCxnSpPr>
          <p:nvPr/>
        </p:nvCxnSpPr>
        <p:spPr>
          <a:xfrm flipH="1">
            <a:off x="6572443" y="1586853"/>
            <a:ext cx="581230" cy="7978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17">
            <a:extLst>
              <a:ext uri="{FF2B5EF4-FFF2-40B4-BE49-F238E27FC236}">
                <a16:creationId xmlns:a16="http://schemas.microsoft.com/office/drawing/2014/main" id="{080B94D1-EF6B-8C54-F068-8376FB251754}"/>
              </a:ext>
            </a:extLst>
          </p:cNvPr>
          <p:cNvCxnSpPr>
            <a:cxnSpLocks/>
            <a:stCxn id="4" idx="2"/>
            <a:endCxn id="44" idx="3"/>
          </p:cNvCxnSpPr>
          <p:nvPr/>
        </p:nvCxnSpPr>
        <p:spPr>
          <a:xfrm flipH="1">
            <a:off x="6740060" y="1803573"/>
            <a:ext cx="1272545" cy="984899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8549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 fontScale="90000"/>
          </a:bodyPr>
          <a:lstStyle/>
          <a:p>
            <a:r>
              <a:rPr lang="en-US" altLang="ko-KR"/>
              <a:t>CUDA Container OCI Runtime Spec</a:t>
            </a:r>
            <a:endParaRPr lang="ko-KR" altLang="en-US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E074CAD6-7716-4458-B0D4-1C0318E58F6D}"/>
              </a:ext>
            </a:extLst>
          </p:cNvPr>
          <p:cNvSpPr/>
          <p:nvPr/>
        </p:nvSpPr>
        <p:spPr>
          <a:xfrm>
            <a:off x="2267744" y="698149"/>
            <a:ext cx="4752528" cy="433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# docker run --gpu all nvidia/cuda:9.0-base nvidia-smi</a:t>
            </a:r>
            <a:endParaRPr lang="en-US" altLang="ko-KR" sz="14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E07F06D4-AF1E-486E-8493-362B4DEDC5E3}"/>
              </a:ext>
            </a:extLst>
          </p:cNvPr>
          <p:cNvSpPr/>
          <p:nvPr/>
        </p:nvSpPr>
        <p:spPr>
          <a:xfrm>
            <a:off x="899592" y="1354461"/>
            <a:ext cx="7488831" cy="3367380"/>
          </a:xfrm>
          <a:prstGeom prst="roundRect">
            <a:avLst>
              <a:gd name="adj" fmla="val 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400"/>
              <a:t>"hooks": {</a:t>
            </a:r>
          </a:p>
          <a:p>
            <a:r>
              <a:rPr lang="en-US" altLang="ko-KR" sz="1400"/>
              <a:t>    "prestart": [</a:t>
            </a:r>
          </a:p>
          <a:p>
            <a:r>
              <a:rPr lang="en-US" altLang="ko-KR" sz="1400"/>
              <a:t>         {</a:t>
            </a:r>
          </a:p>
          <a:p>
            <a:r>
              <a:rPr lang="en-US" altLang="ko-KR" sz="1400"/>
              <a:t>             "path": “/usr/bin/nvidia-container-runtime-hook”,</a:t>
            </a:r>
          </a:p>
          <a:p>
            <a:r>
              <a:rPr lang="en-US" altLang="ko-KR" sz="1400"/>
              <a:t>             "args": ["nvidia-container-runtime-hook ", “prestart"],</a:t>
            </a:r>
          </a:p>
          <a:p>
            <a:r>
              <a:rPr lang="en-US" altLang="ko-KR" sz="1400"/>
              <a:t>             "env": [“CUDA_VERSION=9.0.176”,</a:t>
            </a:r>
            <a:br>
              <a:rPr lang="en-US" altLang="ko-KR" sz="1400"/>
            </a:br>
            <a:r>
              <a:rPr lang="en-US" altLang="ko-KR" sz="1400"/>
              <a:t>                       “CUDA_PKG_VERSION=9-0=9.0.176-1”,</a:t>
            </a:r>
          </a:p>
          <a:p>
            <a:r>
              <a:rPr lang="en-US" altLang="ko-KR" sz="1400"/>
              <a:t>                       “NVIDIA_VISIBLE_DEVICES=all“,</a:t>
            </a:r>
            <a:br>
              <a:rPr lang="en-US" altLang="ko-KR" sz="1400"/>
            </a:br>
            <a:r>
              <a:rPr lang="en-US" altLang="ko-KR" sz="1400"/>
              <a:t>                       “NVIDIA_DRIVER_CAPABILITIES=“compute,utility”,</a:t>
            </a:r>
          </a:p>
          <a:p>
            <a:r>
              <a:rPr lang="en-US" altLang="ko-KR" sz="1400"/>
              <a:t>                       "NVIDIA_REQUIRE_CUDA=cuda&gt;=9.0“,</a:t>
            </a:r>
            <a:br>
              <a:rPr lang="en-US" altLang="ko-KR" sz="1400"/>
            </a:br>
            <a:r>
              <a:rPr lang="en-US" altLang="ko-KR" sz="1400"/>
              <a:t>                       "LD_LIBRARY_PATH=/usr/local/nvidia/lib:/usr/local/nvidia/lib64“</a:t>
            </a:r>
          </a:p>
          <a:p>
            <a:r>
              <a:rPr lang="en-US" altLang="ko-KR" sz="1400"/>
              <a:t>             ]</a:t>
            </a:r>
          </a:p>
          <a:p>
            <a:r>
              <a:rPr lang="en-US" altLang="ko-KR" sz="1400"/>
              <a:t>         },</a:t>
            </a:r>
          </a:p>
          <a:p>
            <a:r>
              <a:rPr lang="en-US" altLang="ko-KR" sz="1400"/>
              <a:t>    ],</a:t>
            </a:r>
          </a:p>
          <a:p>
            <a:r>
              <a:rPr lang="en-US" altLang="ko-KR" sz="1400"/>
              <a:t>}</a:t>
            </a:r>
            <a:endParaRPr lang="en-US" altLang="ko-KR" sz="1400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D3447036-464F-4C90-9B09-6E8806442451}"/>
              </a:ext>
            </a:extLst>
          </p:cNvPr>
          <p:cNvCxnSpPr>
            <a:cxnSpLocks/>
            <a:stCxn id="7" idx="2"/>
            <a:endCxn id="11" idx="0"/>
          </p:cNvCxnSpPr>
          <p:nvPr/>
        </p:nvCxnSpPr>
        <p:spPr>
          <a:xfrm>
            <a:off x="4644008" y="1131590"/>
            <a:ext cx="0" cy="22287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사각형: 둥근 모서리 114">
            <a:extLst>
              <a:ext uri="{FF2B5EF4-FFF2-40B4-BE49-F238E27FC236}">
                <a16:creationId xmlns:a16="http://schemas.microsoft.com/office/drawing/2014/main" id="{0B79FB11-EB5E-48B2-9B7D-2CF7A5759856}"/>
              </a:ext>
            </a:extLst>
          </p:cNvPr>
          <p:cNvSpPr/>
          <p:nvPr/>
        </p:nvSpPr>
        <p:spPr>
          <a:xfrm>
            <a:off x="3278436" y="4658589"/>
            <a:ext cx="2731142" cy="433441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OCI Runtime Spec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532445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Init</a:t>
            </a:r>
            <a:endParaRPr lang="ko-KR" altLang="en-US" dirty="0"/>
          </a:p>
        </p:txBody>
      </p:sp>
      <p:sp>
        <p:nvSpPr>
          <p:cNvPr id="42" name="사각형: 둥근 모서리 114">
            <a:extLst>
              <a:ext uri="{FF2B5EF4-FFF2-40B4-BE49-F238E27FC236}">
                <a16:creationId xmlns:a16="http://schemas.microsoft.com/office/drawing/2014/main" id="{5DB7B0D4-5C1C-4C60-BB8B-03D76D721F3B}"/>
              </a:ext>
            </a:extLst>
          </p:cNvPr>
          <p:cNvSpPr/>
          <p:nvPr/>
        </p:nvSpPr>
        <p:spPr>
          <a:xfrm>
            <a:off x="3841306" y="3760564"/>
            <a:ext cx="2731142" cy="827410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/>
              <a:t>nvidia-container-cli CLI</a:t>
            </a:r>
            <a:endParaRPr lang="en-US" altLang="ko-KR" sz="1400" dirty="0"/>
          </a:p>
        </p:txBody>
      </p:sp>
      <p:sp>
        <p:nvSpPr>
          <p:cNvPr id="43" name="사각형: 둥근 모서리 114">
            <a:extLst>
              <a:ext uri="{FF2B5EF4-FFF2-40B4-BE49-F238E27FC236}">
                <a16:creationId xmlns:a16="http://schemas.microsoft.com/office/drawing/2014/main" id="{142E6DCA-FDB6-4119-91C1-FBA4F20C9A10}"/>
              </a:ext>
            </a:extLst>
          </p:cNvPr>
          <p:cNvSpPr/>
          <p:nvPr/>
        </p:nvSpPr>
        <p:spPr>
          <a:xfrm>
            <a:off x="4237350" y="4108151"/>
            <a:ext cx="1939054" cy="372492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libnvidia-container</a:t>
            </a:r>
            <a:endParaRPr lang="en-US" altLang="ko-KR" sz="1400" dirty="0"/>
          </a:p>
        </p:txBody>
      </p:sp>
      <p:sp>
        <p:nvSpPr>
          <p:cNvPr id="44" name="사각형: 둥근 모서리 114">
            <a:extLst>
              <a:ext uri="{FF2B5EF4-FFF2-40B4-BE49-F238E27FC236}">
                <a16:creationId xmlns:a16="http://schemas.microsoft.com/office/drawing/2014/main" id="{082C67D4-7411-4FFA-9DE5-481C92F517B9}"/>
              </a:ext>
            </a:extLst>
          </p:cNvPr>
          <p:cNvSpPr/>
          <p:nvPr/>
        </p:nvSpPr>
        <p:spPr>
          <a:xfrm>
            <a:off x="3673694" y="2571751"/>
            <a:ext cx="3066366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nvidia-container-runtime-hook CLI</a:t>
            </a:r>
            <a:endParaRPr lang="en-US" altLang="ko-KR" sz="1400" dirty="0"/>
          </a:p>
        </p:txBody>
      </p:sp>
      <p:sp>
        <p:nvSpPr>
          <p:cNvPr id="45" name="사각형: 둥근 모서리 114">
            <a:extLst>
              <a:ext uri="{FF2B5EF4-FFF2-40B4-BE49-F238E27FC236}">
                <a16:creationId xmlns:a16="http://schemas.microsoft.com/office/drawing/2014/main" id="{5822C4E5-43ED-4C5D-8B03-6B6C17509CCC}"/>
              </a:ext>
            </a:extLst>
          </p:cNvPr>
          <p:cNvSpPr/>
          <p:nvPr/>
        </p:nvSpPr>
        <p:spPr>
          <a:xfrm>
            <a:off x="7153673" y="2571750"/>
            <a:ext cx="1717863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Hook Config File</a:t>
            </a:r>
            <a:endParaRPr lang="en-US" altLang="ko-KR" sz="1400" dirty="0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5FB5BFF-A0DD-4714-8875-97CD74D2A2E4}"/>
              </a:ext>
            </a:extLst>
          </p:cNvPr>
          <p:cNvCxnSpPr>
            <a:cxnSpLocks/>
            <a:stCxn id="45" idx="1"/>
            <a:endCxn id="44" idx="3"/>
          </p:cNvCxnSpPr>
          <p:nvPr/>
        </p:nvCxnSpPr>
        <p:spPr>
          <a:xfrm flipH="1">
            <a:off x="6740060" y="2788471"/>
            <a:ext cx="413613" cy="1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FE2EADFE-6C93-41E9-A1B9-B5E2ADB880C6}"/>
              </a:ext>
            </a:extLst>
          </p:cNvPr>
          <p:cNvCxnSpPr>
            <a:cxnSpLocks/>
            <a:stCxn id="42" idx="1"/>
            <a:endCxn id="48" idx="2"/>
          </p:cNvCxnSpPr>
          <p:nvPr/>
        </p:nvCxnSpPr>
        <p:spPr>
          <a:xfrm flipH="1" flipV="1">
            <a:off x="1955254" y="3343764"/>
            <a:ext cx="1886052" cy="830505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3DD8BE10-CBA1-42DD-B3C6-FC95FC0FE639}"/>
              </a:ext>
            </a:extLst>
          </p:cNvPr>
          <p:cNvCxnSpPr>
            <a:cxnSpLocks/>
            <a:stCxn id="44" idx="2"/>
            <a:endCxn id="42" idx="0"/>
          </p:cNvCxnSpPr>
          <p:nvPr/>
        </p:nvCxnSpPr>
        <p:spPr>
          <a:xfrm>
            <a:off x="5206877" y="3005192"/>
            <a:ext cx="0" cy="755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CB70320F-7E30-47DB-95E1-D7C348AC5B33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5206872" y="1276999"/>
            <a:ext cx="5" cy="129475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A2B3235F-66A3-43E7-8101-C88D350C6502}"/>
              </a:ext>
            </a:extLst>
          </p:cNvPr>
          <p:cNvSpPr/>
          <p:nvPr/>
        </p:nvSpPr>
        <p:spPr>
          <a:xfrm>
            <a:off x="3841301" y="843558"/>
            <a:ext cx="2731142" cy="433441"/>
          </a:xfrm>
          <a:prstGeom prst="roundRect">
            <a:avLst>
              <a:gd name="adj" fmla="val 1030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runc CLI</a:t>
            </a:r>
            <a:endParaRPr lang="en-US" altLang="ko-KR" sz="1400" dirty="0"/>
          </a:p>
        </p:txBody>
      </p:sp>
      <p:sp>
        <p:nvSpPr>
          <p:cNvPr id="39" name="사각형: 둥근 모서리 114">
            <a:extLst>
              <a:ext uri="{FF2B5EF4-FFF2-40B4-BE49-F238E27FC236}">
                <a16:creationId xmlns:a16="http://schemas.microsoft.com/office/drawing/2014/main" id="{3F164252-2058-435F-8A1E-78F6A6AD1BA3}"/>
              </a:ext>
            </a:extLst>
          </p:cNvPr>
          <p:cNvSpPr/>
          <p:nvPr/>
        </p:nvSpPr>
        <p:spPr>
          <a:xfrm>
            <a:off x="5153226" y="1313747"/>
            <a:ext cx="2731142" cy="1224135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Prestart Hook</a:t>
            </a:r>
          </a:p>
          <a:p>
            <a:pPr algn="ctr"/>
            <a:r>
              <a:rPr lang="en-US" altLang="ko-KR" sz="1400" b="1"/>
              <a:t>STDIN : </a:t>
            </a:r>
            <a:r>
              <a:rPr lang="en-US" altLang="ko-KR" sz="1400"/>
              <a:t>Container Status</a:t>
            </a:r>
          </a:p>
          <a:p>
            <a:pPr algn="ctr"/>
            <a:r>
              <a:rPr lang="en-US" altLang="ko-KR" sz="1400"/>
              <a:t>(Init PID, Rootfs Path)</a:t>
            </a:r>
            <a:endParaRPr lang="en-US" altLang="ko-KR" sz="1400" b="1"/>
          </a:p>
          <a:p>
            <a:pPr algn="ctr"/>
            <a:r>
              <a:rPr lang="en-US" altLang="ko-KR" sz="1400" b="1"/>
              <a:t>ENV : </a:t>
            </a:r>
            <a:r>
              <a:rPr lang="en-US" altLang="ko-KR" sz="1400"/>
              <a:t>GPU, CUDA Config</a:t>
            </a:r>
          </a:p>
          <a:p>
            <a:pPr algn="ctr"/>
            <a:r>
              <a:rPr lang="en-US" altLang="ko-KR" sz="1400"/>
              <a:t>(GPU Device, CUDA Version)</a:t>
            </a:r>
          </a:p>
        </p:txBody>
      </p:sp>
      <p:sp>
        <p:nvSpPr>
          <p:cNvPr id="46" name="사각형: 둥근 모서리 114">
            <a:extLst>
              <a:ext uri="{FF2B5EF4-FFF2-40B4-BE49-F238E27FC236}">
                <a16:creationId xmlns:a16="http://schemas.microsoft.com/office/drawing/2014/main" id="{2A7265A9-1ED0-4509-AADA-EE30D5CF414A}"/>
              </a:ext>
            </a:extLst>
          </p:cNvPr>
          <p:cNvSpPr/>
          <p:nvPr/>
        </p:nvSpPr>
        <p:spPr>
          <a:xfrm>
            <a:off x="5076056" y="3080244"/>
            <a:ext cx="2381421" cy="537288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b="1"/>
              <a:t>Exec with Container, </a:t>
            </a:r>
          </a:p>
          <a:p>
            <a:pPr algn="ctr"/>
            <a:r>
              <a:rPr lang="en-US" altLang="ko-KR" sz="1400" b="1"/>
              <a:t>GPU, CUDA Arguments</a:t>
            </a: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E97AE204-C428-413E-8AD2-E8A0E995527D}"/>
              </a:ext>
            </a:extLst>
          </p:cNvPr>
          <p:cNvSpPr/>
          <p:nvPr/>
        </p:nvSpPr>
        <p:spPr>
          <a:xfrm>
            <a:off x="994692" y="2231784"/>
            <a:ext cx="1921124" cy="1111980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</a:rPr>
              <a:t>Container</a:t>
            </a:r>
            <a:endParaRPr lang="en-US" altLang="ko-KR" sz="1400" dirty="0">
              <a:solidFill>
                <a:schemeClr val="tx1"/>
              </a:solidFill>
            </a:endParaRPr>
          </a:p>
          <a:p>
            <a:pPr algn="ctr"/>
            <a:r>
              <a:rPr lang="en-US" altLang="ko-KR" sz="1400">
                <a:solidFill>
                  <a:schemeClr val="tx1"/>
                </a:solidFill>
              </a:rPr>
              <a:t>(Namespace, Rootfs)</a:t>
            </a:r>
          </a:p>
        </p:txBody>
      </p:sp>
      <p:sp>
        <p:nvSpPr>
          <p:cNvPr id="59" name="사각형: 둥근 모서리 114">
            <a:extLst>
              <a:ext uri="{FF2B5EF4-FFF2-40B4-BE49-F238E27FC236}">
                <a16:creationId xmlns:a16="http://schemas.microsoft.com/office/drawing/2014/main" id="{A425BB29-0B26-467C-B6AC-5AE24F54625E}"/>
              </a:ext>
            </a:extLst>
          </p:cNvPr>
          <p:cNvSpPr/>
          <p:nvPr/>
        </p:nvSpPr>
        <p:spPr>
          <a:xfrm>
            <a:off x="755576" y="987574"/>
            <a:ext cx="2731142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Create Namespace,</a:t>
            </a:r>
          </a:p>
          <a:p>
            <a:pPr algn="ctr"/>
            <a:r>
              <a:rPr lang="en-US" altLang="ko-KR" sz="1400"/>
              <a:t>Set rootfs (clone())</a:t>
            </a:r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13F88F64-DEB9-4E8C-9566-709C0350B858}"/>
              </a:ext>
            </a:extLst>
          </p:cNvPr>
          <p:cNvSpPr/>
          <p:nvPr/>
        </p:nvSpPr>
        <p:spPr>
          <a:xfrm>
            <a:off x="5054539" y="120359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2</a:t>
            </a:r>
            <a:endParaRPr lang="ko-KR" altLang="en-US" sz="1600"/>
          </a:p>
        </p:txBody>
      </p:sp>
      <p:sp>
        <p:nvSpPr>
          <p:cNvPr id="74" name="타원 73">
            <a:extLst>
              <a:ext uri="{FF2B5EF4-FFF2-40B4-BE49-F238E27FC236}">
                <a16:creationId xmlns:a16="http://schemas.microsoft.com/office/drawing/2014/main" id="{48D87559-1E58-4D86-845E-9977F9833F54}"/>
              </a:ext>
            </a:extLst>
          </p:cNvPr>
          <p:cNvSpPr/>
          <p:nvPr/>
        </p:nvSpPr>
        <p:spPr>
          <a:xfrm>
            <a:off x="5054539" y="2886446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3</a:t>
            </a:r>
            <a:endParaRPr lang="ko-KR" altLang="en-US" sz="1600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DD1DCE9A-4B26-4230-8C42-D35177C3EBFF}"/>
              </a:ext>
            </a:extLst>
          </p:cNvPr>
          <p:cNvSpPr/>
          <p:nvPr/>
        </p:nvSpPr>
        <p:spPr>
          <a:xfrm>
            <a:off x="3693972" y="4030253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4</a:t>
            </a:r>
            <a:endParaRPr lang="ko-KR" altLang="en-US" sz="1600"/>
          </a:p>
        </p:txBody>
      </p:sp>
      <p:sp>
        <p:nvSpPr>
          <p:cNvPr id="80" name="사각형: 둥근 모서리 114">
            <a:extLst>
              <a:ext uri="{FF2B5EF4-FFF2-40B4-BE49-F238E27FC236}">
                <a16:creationId xmlns:a16="http://schemas.microsoft.com/office/drawing/2014/main" id="{B3BFAD38-3DFC-464B-B19E-4DB857870917}"/>
              </a:ext>
            </a:extLst>
          </p:cNvPr>
          <p:cNvSpPr/>
          <p:nvPr/>
        </p:nvSpPr>
        <p:spPr>
          <a:xfrm>
            <a:off x="2987824" y="1471897"/>
            <a:ext cx="1002950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Exec App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B82A5C8F-038F-4540-ACBF-D54373AE176E}"/>
              </a:ext>
            </a:extLst>
          </p:cNvPr>
          <p:cNvCxnSpPr>
            <a:cxnSpLocks/>
          </p:cNvCxnSpPr>
          <p:nvPr/>
        </p:nvCxnSpPr>
        <p:spPr>
          <a:xfrm flipH="1">
            <a:off x="2203107" y="1247237"/>
            <a:ext cx="1585056" cy="984547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타원 75">
            <a:extLst>
              <a:ext uri="{FF2B5EF4-FFF2-40B4-BE49-F238E27FC236}">
                <a16:creationId xmlns:a16="http://schemas.microsoft.com/office/drawing/2014/main" id="{ABCCEE66-F353-4557-8BFD-172E27E48A67}"/>
              </a:ext>
            </a:extLst>
          </p:cNvPr>
          <p:cNvSpPr/>
          <p:nvPr/>
        </p:nvSpPr>
        <p:spPr>
          <a:xfrm>
            <a:off x="3673694" y="1112349"/>
            <a:ext cx="288032" cy="288032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5</a:t>
            </a:r>
            <a:endParaRPr lang="ko-KR" altLang="en-US" sz="1600"/>
          </a:p>
        </p:txBody>
      </p: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E49F9148-186C-4D75-9590-4EAFC196FE25}"/>
              </a:ext>
            </a:extLst>
          </p:cNvPr>
          <p:cNvCxnSpPr>
            <a:cxnSpLocks/>
          </p:cNvCxnSpPr>
          <p:nvPr/>
        </p:nvCxnSpPr>
        <p:spPr>
          <a:xfrm flipH="1">
            <a:off x="1718313" y="942412"/>
            <a:ext cx="2075805" cy="1289372"/>
          </a:xfrm>
          <a:prstGeom prst="straightConnector1">
            <a:avLst/>
          </a:prstGeom>
          <a:ln w="1905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타원 69">
            <a:extLst>
              <a:ext uri="{FF2B5EF4-FFF2-40B4-BE49-F238E27FC236}">
                <a16:creationId xmlns:a16="http://schemas.microsoft.com/office/drawing/2014/main" id="{FF8641A9-C507-43AD-A240-C1F7DE339E78}"/>
              </a:ext>
            </a:extLst>
          </p:cNvPr>
          <p:cNvSpPr/>
          <p:nvPr/>
        </p:nvSpPr>
        <p:spPr>
          <a:xfrm>
            <a:off x="3673694" y="766738"/>
            <a:ext cx="288032" cy="288032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600"/>
              <a:t>1</a:t>
            </a:r>
            <a:endParaRPr lang="ko-KR" altLang="en-US" sz="1600"/>
          </a:p>
        </p:txBody>
      </p:sp>
      <p:sp>
        <p:nvSpPr>
          <p:cNvPr id="24" name="사각형: 둥근 모서리 114">
            <a:extLst>
              <a:ext uri="{FF2B5EF4-FFF2-40B4-BE49-F238E27FC236}">
                <a16:creationId xmlns:a16="http://schemas.microsoft.com/office/drawing/2014/main" id="{B9253FE2-2D7A-448F-B4D6-58E5379E0CA6}"/>
              </a:ext>
            </a:extLst>
          </p:cNvPr>
          <p:cNvSpPr/>
          <p:nvPr/>
        </p:nvSpPr>
        <p:spPr>
          <a:xfrm>
            <a:off x="2465045" y="3386563"/>
            <a:ext cx="2043345" cy="619914"/>
          </a:xfrm>
          <a:prstGeom prst="roundRect">
            <a:avLst>
              <a:gd name="adj" fmla="val 10304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/>
              <a:t>Set GPU, </a:t>
            </a:r>
          </a:p>
          <a:p>
            <a:pPr algn="ctr"/>
            <a:r>
              <a:rPr lang="en-US" altLang="ko-KR" sz="140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2051797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2056882" y="3660955"/>
            <a:ext cx="5035398" cy="976265"/>
          </a:xfrm>
          <a:prstGeom prst="roundRect">
            <a:avLst>
              <a:gd name="adj" fmla="val 639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Hardware</a:t>
            </a:r>
            <a:endParaRPr lang="en-US" altLang="ko-KR" sz="14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2056882" y="2292249"/>
            <a:ext cx="5035398" cy="1374998"/>
          </a:xfrm>
          <a:prstGeom prst="roundRect">
            <a:avLst>
              <a:gd name="adj" fmla="val 4167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400" b="1"/>
              <a:t>Host Kernel</a:t>
            </a:r>
            <a:endParaRPr lang="en-US" altLang="ko-KR" sz="1400" b="1" dirty="0"/>
          </a:p>
        </p:txBody>
      </p:sp>
      <p:sp>
        <p:nvSpPr>
          <p:cNvPr id="10" name="사각형: 둥근 모서리 114">
            <a:extLst>
              <a:ext uri="{FF2B5EF4-FFF2-40B4-BE49-F238E27FC236}">
                <a16:creationId xmlns:a16="http://schemas.microsoft.com/office/drawing/2014/main" id="{AD1D8D57-5236-4724-A023-F93F5C3B4961}"/>
              </a:ext>
            </a:extLst>
          </p:cNvPr>
          <p:cNvSpPr/>
          <p:nvPr/>
        </p:nvSpPr>
        <p:spPr>
          <a:xfrm>
            <a:off x="2145948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5058CA32-4D86-4990-8643-039C5C2B7964}"/>
              </a:ext>
            </a:extLst>
          </p:cNvPr>
          <p:cNvSpPr/>
          <p:nvPr/>
        </p:nvSpPr>
        <p:spPr>
          <a:xfrm>
            <a:off x="3405927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/dev/nvdia1</a:t>
            </a:r>
            <a:endParaRPr lang="en-US" altLang="ko-KR" sz="1200" dirty="0"/>
          </a:p>
        </p:txBody>
      </p:sp>
      <p:sp>
        <p:nvSpPr>
          <p:cNvPr id="12" name="사각형: 둥근 모서리 114">
            <a:extLst>
              <a:ext uri="{FF2B5EF4-FFF2-40B4-BE49-F238E27FC236}">
                <a16:creationId xmlns:a16="http://schemas.microsoft.com/office/drawing/2014/main" id="{D81271EB-6029-425A-8D5E-DF1F48C8EE13}"/>
              </a:ext>
            </a:extLst>
          </p:cNvPr>
          <p:cNvSpPr/>
          <p:nvPr/>
        </p:nvSpPr>
        <p:spPr>
          <a:xfrm>
            <a:off x="4665905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/dev/nvdia2</a:t>
            </a:r>
            <a:endParaRPr lang="en-US" altLang="ko-KR" sz="12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D47EB027-0397-479D-9DD6-FD6D321AA3DE}"/>
              </a:ext>
            </a:extLst>
          </p:cNvPr>
          <p:cNvSpPr/>
          <p:nvPr/>
        </p:nvSpPr>
        <p:spPr>
          <a:xfrm>
            <a:off x="5925884" y="2404972"/>
            <a:ext cx="1077331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0</a:t>
            </a:r>
            <a:endParaRPr lang="en-US" altLang="ko-KR" sz="12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1</a:t>
            </a:r>
            <a:endParaRPr lang="en-US" altLang="ko-KR" sz="12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2</a:t>
            </a:r>
            <a:endParaRPr lang="en-US" altLang="ko-KR" sz="120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</a:t>
            </a:r>
          </a:p>
          <a:p>
            <a:pPr algn="ctr"/>
            <a:r>
              <a:rPr lang="en-US" altLang="ko-KR" sz="1200"/>
              <a:t>GPU 3</a:t>
            </a:r>
            <a:endParaRPr lang="en-US" altLang="ko-KR" sz="12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10" idx="2"/>
            <a:endCxn id="14" idx="0"/>
          </p:cNvCxnSpPr>
          <p:nvPr/>
        </p:nvCxnSpPr>
        <p:spPr>
          <a:xfrm>
            <a:off x="2684614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11" idx="2"/>
            <a:endCxn id="15" idx="0"/>
          </p:cNvCxnSpPr>
          <p:nvPr/>
        </p:nvCxnSpPr>
        <p:spPr>
          <a:xfrm>
            <a:off x="3944593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5236BC4D-F64B-4952-94D9-CFADD41ED1DB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5204571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13" idx="2"/>
            <a:endCxn id="17" idx="0"/>
          </p:cNvCxnSpPr>
          <p:nvPr/>
        </p:nvCxnSpPr>
        <p:spPr>
          <a:xfrm>
            <a:off x="6464550" y="2801016"/>
            <a:ext cx="0" cy="9721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2145948" y="2945032"/>
            <a:ext cx="485274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Device Driver</a:t>
            </a:r>
            <a:endParaRPr lang="en-US" altLang="ko-KR" sz="120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849221"/>
            <a:ext cx="2486761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A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1683312"/>
            <a:ext cx="10999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/dev/nvidia0</a:t>
            </a:r>
            <a:endParaRPr lang="en-US" altLang="ko-KR" sz="120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1683312"/>
            <a:ext cx="109986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/dev/nvidia1</a:t>
            </a:r>
            <a:endParaRPr lang="en-US" altLang="ko-KR" sz="120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197258"/>
            <a:ext cx="2301467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843558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400" b="1"/>
                <a:t>Container B</a:t>
              </a:r>
              <a:endParaRPr lang="ko-KR" altLang="en-US" sz="14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/dev/nvdia0</a:t>
              </a:r>
              <a:endParaRPr lang="en-US" altLang="ko-KR" sz="12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/dev/nvdia2</a:t>
              </a:r>
              <a:endParaRPr lang="en-US" altLang="ko-KR" sz="12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NVIDIA CUDA Lib/Toolkit</a:t>
              </a:r>
              <a:endParaRPr lang="en-US" altLang="ko-KR" sz="12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200"/>
                <a:t>/dev/nvdia3</a:t>
              </a:r>
              <a:endParaRPr lang="en-US" altLang="ko-KR" sz="1200" dirty="0"/>
            </a:p>
          </p:txBody>
        </p:sp>
      </p:grp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547E468E-9DCC-4036-95E6-5C64F04EC946}"/>
              </a:ext>
            </a:extLst>
          </p:cNvPr>
          <p:cNvCxnSpPr>
            <a:cxnSpLocks/>
            <a:stCxn id="55" idx="2"/>
            <a:endCxn id="10" idx="0"/>
          </p:cNvCxnSpPr>
          <p:nvPr/>
        </p:nvCxnSpPr>
        <p:spPr>
          <a:xfrm flipH="1">
            <a:off x="2684614" y="2073693"/>
            <a:ext cx="1248220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47EE17D-B86A-4D4C-A28D-677596AEBA4D}"/>
              </a:ext>
            </a:extLst>
          </p:cNvPr>
          <p:cNvCxnSpPr>
            <a:cxnSpLocks/>
            <a:stCxn id="56" idx="2"/>
            <a:endCxn id="12" idx="0"/>
          </p:cNvCxnSpPr>
          <p:nvPr/>
        </p:nvCxnSpPr>
        <p:spPr>
          <a:xfrm>
            <a:off x="5134368" y="2073693"/>
            <a:ext cx="70203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3715AE55-4BDC-44F9-B7A9-7FED7942CF64}"/>
              </a:ext>
            </a:extLst>
          </p:cNvPr>
          <p:cNvCxnSpPr>
            <a:cxnSpLocks/>
            <a:stCxn id="49" idx="2"/>
            <a:endCxn id="11" idx="0"/>
          </p:cNvCxnSpPr>
          <p:nvPr/>
        </p:nvCxnSpPr>
        <p:spPr>
          <a:xfrm>
            <a:off x="2522836" y="2079356"/>
            <a:ext cx="1421757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5167F17F-93BD-481A-878E-2769FFAC5A7D}"/>
              </a:ext>
            </a:extLst>
          </p:cNvPr>
          <p:cNvCxnSpPr>
            <a:cxnSpLocks/>
            <a:stCxn id="48" idx="2"/>
            <a:endCxn id="10" idx="0"/>
          </p:cNvCxnSpPr>
          <p:nvPr/>
        </p:nvCxnSpPr>
        <p:spPr>
          <a:xfrm>
            <a:off x="1321302" y="2079356"/>
            <a:ext cx="1363312" cy="325616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843558"/>
            <a:ext cx="1487816" cy="1317955"/>
          </a:xfrm>
          <a:prstGeom prst="roundRect">
            <a:avLst>
              <a:gd name="adj" fmla="val 6774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400" b="1"/>
              <a:t>Container C</a:t>
            </a:r>
            <a:endParaRPr lang="ko-KR" altLang="en-US" sz="14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1677649"/>
            <a:ext cx="1321799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/dev/nvdia3</a:t>
            </a:r>
            <a:endParaRPr lang="en-US" altLang="ko-KR" sz="12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191595"/>
            <a:ext cx="1321798" cy="396044"/>
          </a:xfrm>
          <a:prstGeom prst="roundRect">
            <a:avLst>
              <a:gd name="adj" fmla="val 7242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NVIDIA CUDA Lib/Toolkit</a:t>
            </a:r>
            <a:endParaRPr lang="en-US" altLang="ko-KR" sz="1200" dirty="0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1C92D62-7A09-4961-898A-F75788A631BC}"/>
              </a:ext>
            </a:extLst>
          </p:cNvPr>
          <p:cNvCxnSpPr>
            <a:cxnSpLocks/>
            <a:stCxn id="85" idx="2"/>
            <a:endCxn id="13" idx="0"/>
          </p:cNvCxnSpPr>
          <p:nvPr/>
        </p:nvCxnSpPr>
        <p:spPr>
          <a:xfrm>
            <a:off x="6331795" y="2073693"/>
            <a:ext cx="132755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8C36D167-0C49-4016-82BB-091D496242C8}"/>
              </a:ext>
            </a:extLst>
          </p:cNvPr>
          <p:cNvCxnSpPr>
            <a:cxnSpLocks/>
            <a:stCxn id="74" idx="2"/>
            <a:endCxn id="13" idx="0"/>
          </p:cNvCxnSpPr>
          <p:nvPr/>
        </p:nvCxnSpPr>
        <p:spPr>
          <a:xfrm flipH="1">
            <a:off x="6464550" y="2073693"/>
            <a:ext cx="1389449" cy="331279"/>
          </a:xfrm>
          <a:prstGeom prst="line">
            <a:avLst/>
          </a:prstGeom>
          <a:ln w="28575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9A139917-E006-40F7-A7B0-817A48830865}"/>
              </a:ext>
            </a:extLst>
          </p:cNvPr>
          <p:cNvGrpSpPr/>
          <p:nvPr/>
        </p:nvGrpSpPr>
        <p:grpSpPr>
          <a:xfrm>
            <a:off x="7237949" y="2295039"/>
            <a:ext cx="1276948" cy="276999"/>
            <a:chOff x="7222397" y="2564780"/>
            <a:chExt cx="1276948" cy="276999"/>
          </a:xfrm>
        </p:grpSpPr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6BB3EA8A-2863-4FD9-B7E4-5FF3305E45EB}"/>
                </a:ext>
              </a:extLst>
            </p:cNvPr>
            <p:cNvCxnSpPr>
              <a:cxnSpLocks/>
              <a:endCxn id="92" idx="1"/>
            </p:cNvCxnSpPr>
            <p:nvPr/>
          </p:nvCxnSpPr>
          <p:spPr>
            <a:xfrm>
              <a:off x="7222397" y="2703280"/>
              <a:ext cx="220248" cy="0"/>
            </a:xfrm>
            <a:prstGeom prst="line">
              <a:avLst/>
            </a:prstGeom>
            <a:ln w="28575"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89540500-3C9D-48AE-AFD4-CCD1A0C2E4DC}"/>
                </a:ext>
              </a:extLst>
            </p:cNvPr>
            <p:cNvSpPr txBox="1"/>
            <p:nvPr/>
          </p:nvSpPr>
          <p:spPr>
            <a:xfrm>
              <a:off x="7442645" y="2564780"/>
              <a:ext cx="105670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b="1"/>
                <a:t>Bind Mount</a:t>
              </a:r>
              <a:endParaRPr lang="ko-KR" altLang="en-US" sz="1200" b="1"/>
            </a:p>
          </p:txBody>
        </p:sp>
      </p:grpSp>
    </p:spTree>
    <p:extLst>
      <p:ext uri="{BB962C8B-B14F-4D97-AF65-F5344CB8AC3E}">
        <p14:creationId xmlns:p14="http://schemas.microsoft.com/office/powerpoint/2010/main" val="262257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47136</TotalTime>
  <Words>1713</Words>
  <Application>Microsoft Macintosh PowerPoint</Application>
  <PresentationFormat>화면 슬라이드 쇼(16:9)</PresentationFormat>
  <Paragraphs>432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맑은 고딕</vt:lpstr>
      <vt:lpstr>Al Bayan Plain</vt:lpstr>
      <vt:lpstr>Arial</vt:lpstr>
      <vt:lpstr>Office 테마</vt:lpstr>
      <vt:lpstr>CUDA Container Stack</vt:lpstr>
      <vt:lpstr>CUDA Container Init</vt:lpstr>
      <vt:lpstr>CUDA Container Init</vt:lpstr>
      <vt:lpstr>PowerPoint 프레젠테이션</vt:lpstr>
      <vt:lpstr>CUDA Container OCI Runtime Spec</vt:lpstr>
      <vt:lpstr>CUDA Container Stack</vt:lpstr>
      <vt:lpstr>CUDA Container Init</vt:lpstr>
      <vt:lpstr>CUDA Container Init</vt:lpstr>
      <vt:lpstr>CUDA Container OCI Runtime Spec</vt:lpstr>
      <vt:lpstr>CUDA Container Init</vt:lpstr>
      <vt:lpstr>CUDA Container Stack</vt:lpstr>
      <vt:lpstr>CUDA Container OCI Runtime Spec</vt:lpstr>
      <vt:lpstr>CUDA Container Init</vt:lpstr>
      <vt:lpstr>CUDA Container OCI Runtime Spec</vt:lpstr>
      <vt:lpstr>CUDA Container Init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6097</cp:revision>
  <dcterms:created xsi:type="dcterms:W3CDTF">2006-10-05T04:04:58Z</dcterms:created>
  <dcterms:modified xsi:type="dcterms:W3CDTF">2026-03-02T10:22:55Z</dcterms:modified>
</cp:coreProperties>
</file>