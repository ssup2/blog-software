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436" r:id="rId2"/>
    <p:sldId id="435" r:id="rId3"/>
    <p:sldId id="438" r:id="rId4"/>
    <p:sldId id="426" r:id="rId5"/>
    <p:sldId id="434" r:id="rId6"/>
    <p:sldId id="437" r:id="rId7"/>
    <p:sldId id="428" r:id="rId8"/>
    <p:sldId id="427" r:id="rId9"/>
    <p:sldId id="422" r:id="rId10"/>
    <p:sldId id="433" r:id="rId11"/>
    <p:sldId id="432" r:id="rId12"/>
    <p:sldId id="429" r:id="rId13"/>
    <p:sldId id="430" r:id="rId14"/>
    <p:sldId id="431" r:id="rId15"/>
  </p:sldIdLst>
  <p:sldSz cx="9144000" cy="5143500" type="screen16x9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6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밝은 스타일 3 - 강조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679" autoAdjust="0"/>
    <p:restoredTop sz="87440" autoAdjust="0"/>
  </p:normalViewPr>
  <p:slideViewPr>
    <p:cSldViewPr>
      <p:cViewPr>
        <p:scale>
          <a:sx n="200" d="100"/>
          <a:sy n="200" d="100"/>
        </p:scale>
        <p:origin x="432" y="1128"/>
      </p:cViewPr>
      <p:guideLst>
        <p:guide orient="horz" pos="2160"/>
        <p:guide pos="2880"/>
        <p:guide orient="horz" pos="16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D5550B-26C4-49A9-A5BA-636EF7BE6CE9}" type="datetimeFigureOut">
              <a:rPr lang="ko-KR" altLang="en-US" smtClean="0"/>
              <a:t>2026. 3. 1.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5DFA43-8D57-47FB-BC46-057616015C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33502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F2A508-FF2A-1DF1-3DD3-78CD3A998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947AFE7-477E-C4FB-922E-A5DB497B17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56F2381-BDD9-A6C4-B2FC-712A1F1B6C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59EAA6B-72CD-38D7-FF10-CEB4B320E9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5DFA43-8D57-47FB-BC46-057616015C3B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95613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E55DE9-B62A-E436-B8CA-64FE1DB29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2B8E48E-C4BE-1E06-90FA-AF648CAB41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E861BB9-2D79-7304-EBB3-9D3D757A5F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72E0E28-FD15-6ABE-1326-94643F6413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5DFA43-8D57-47FB-BC46-057616015C3B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40296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309103-E672-6E7C-6282-154F936A6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644AB52-7692-CC96-0F1E-7CECA85C90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CA9D0AF-5C11-575B-12A6-BAF068A88C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2C4F015-0AB9-59DC-BD2C-4AA2C1797A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5DFA43-8D57-47FB-BC46-057616015C3B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24204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FA0934-F7EE-9604-5F97-9303B91906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E7579C9-5BE1-8221-4693-BCE6637AD2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F3B7F8E-81F1-5209-BDDF-7F146D069A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F124785-C804-4CE2-7D22-3D227F9C1F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5DFA43-8D57-47FB-BC46-057616015C3B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99425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E1B288-98C9-A4E5-A2EA-749B9AE03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B2548F9-8E43-ED1B-6810-0B30E5B400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7F840B6-0AA5-E832-D457-8B89649CFC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49C7EDC-DE4A-729D-7509-A9D5EF7524E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5DFA43-8D57-47FB-BC46-057616015C3B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91118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5DFA43-8D57-47FB-BC46-057616015C3B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79644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5DFA43-8D57-47FB-BC46-057616015C3B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93759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5DFA43-8D57-47FB-BC46-057616015C3B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45543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976C4D-EFC4-3AFC-1CD9-9439367838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3C8D6C7-9AA7-D495-22CB-42E3FC3EB7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88A1329-14DA-7F21-F73B-DEEEF4F9A4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C0DCCFE-57A4-D3EB-155D-B47E9FBF8B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5DFA43-8D57-47FB-BC46-057616015C3B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94603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308DBE-B1B4-7D50-CD13-CEB1651170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8932A28-C535-04DC-B68D-E086AECAAA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B04DC1A-50F3-F419-D819-B62C860E0B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4E9CA9E-6278-9238-5D9A-93DDFDE20A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5DFA43-8D57-47FB-BC46-057616015C3B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1673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5DFA43-8D57-47FB-BC46-057616015C3B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79508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5DFA43-8D57-47FB-BC46-057616015C3B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472012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5DFA43-8D57-47FB-BC46-057616015C3B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51722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2026. 3. 1.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2026. 3. 1.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2026. 3. 1.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2026. 3. 1.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8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8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2026. 3. 1.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2026. 3. 1.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2026. 3. 1.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3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3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2026. 3. 1.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2026. 3. 1.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2026. 3. 1.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2026. 3. 1.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30EDBD-1C2D-4C1E-B459-B60219FAB484}" type="datetimeFigureOut">
              <a:rPr lang="ko-KR" altLang="en-US" smtClean="0"/>
              <a:t>2026. 3. 1.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6E8B20-5CB0-266F-D010-4969008FB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사각형: 둥근 모서리 114">
            <a:extLst>
              <a:ext uri="{FF2B5EF4-FFF2-40B4-BE49-F238E27FC236}">
                <a16:creationId xmlns:a16="http://schemas.microsoft.com/office/drawing/2014/main" id="{715760DB-F35A-5664-E40F-12A0BEDC0B89}"/>
              </a:ext>
            </a:extLst>
          </p:cNvPr>
          <p:cNvSpPr/>
          <p:nvPr/>
        </p:nvSpPr>
        <p:spPr>
          <a:xfrm>
            <a:off x="1547664" y="1930664"/>
            <a:ext cx="6043510" cy="1282172"/>
          </a:xfrm>
          <a:prstGeom prst="roundRect">
            <a:avLst>
              <a:gd name="adj" fmla="val 7201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 b="1"/>
              <a:t>Host Filesystem</a:t>
            </a:r>
            <a:endParaRPr lang="en-US" altLang="ko-KR" sz="1000" b="1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C0F9C8F-437F-D0AF-97AA-D56EC0818C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773419"/>
            <a:ext cx="9144000" cy="857250"/>
          </a:xfrm>
        </p:spPr>
        <p:txBody>
          <a:bodyPr>
            <a:normAutofit/>
          </a:bodyPr>
          <a:lstStyle/>
          <a:p>
            <a:r>
              <a:rPr lang="en-US" altLang="ko-KR"/>
              <a:t>CUDA Container Stack</a:t>
            </a:r>
            <a:endParaRPr lang="ko-KR" altLang="en-US" dirty="0"/>
          </a:p>
        </p:txBody>
      </p:sp>
      <p:sp>
        <p:nvSpPr>
          <p:cNvPr id="37" name="사각형: 둥근 모서리 114">
            <a:extLst>
              <a:ext uri="{FF2B5EF4-FFF2-40B4-BE49-F238E27FC236}">
                <a16:creationId xmlns:a16="http://schemas.microsoft.com/office/drawing/2014/main" id="{13D7B3E7-F783-1EC1-5F29-0874EF0E893E}"/>
              </a:ext>
            </a:extLst>
          </p:cNvPr>
          <p:cNvSpPr/>
          <p:nvPr/>
        </p:nvSpPr>
        <p:spPr>
          <a:xfrm>
            <a:off x="1557988" y="4061207"/>
            <a:ext cx="6033186" cy="976265"/>
          </a:xfrm>
          <a:prstGeom prst="roundRect">
            <a:avLst>
              <a:gd name="adj" fmla="val 6397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 b="1"/>
              <a:t>Host Hardware</a:t>
            </a:r>
            <a:endParaRPr lang="en-US" altLang="ko-KR" sz="1000" b="1" dirty="0"/>
          </a:p>
        </p:txBody>
      </p:sp>
      <p:sp>
        <p:nvSpPr>
          <p:cNvPr id="33" name="사각형: 둥근 모서리 114">
            <a:extLst>
              <a:ext uri="{FF2B5EF4-FFF2-40B4-BE49-F238E27FC236}">
                <a16:creationId xmlns:a16="http://schemas.microsoft.com/office/drawing/2014/main" id="{F56E2D5A-3AEA-BC86-A33B-53D0167D37EC}"/>
              </a:ext>
            </a:extLst>
          </p:cNvPr>
          <p:cNvSpPr/>
          <p:nvPr/>
        </p:nvSpPr>
        <p:spPr>
          <a:xfrm>
            <a:off x="1552826" y="3212363"/>
            <a:ext cx="6043510" cy="855136"/>
          </a:xfrm>
          <a:prstGeom prst="roundRect">
            <a:avLst>
              <a:gd name="adj" fmla="val 7201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 b="1"/>
              <a:t>Host Kernel</a:t>
            </a:r>
            <a:endParaRPr lang="en-US" altLang="ko-KR" sz="1000" b="1" dirty="0"/>
          </a:p>
        </p:txBody>
      </p:sp>
      <p:sp>
        <p:nvSpPr>
          <p:cNvPr id="14" name="사각형: 둥근 모서리 114">
            <a:extLst>
              <a:ext uri="{FF2B5EF4-FFF2-40B4-BE49-F238E27FC236}">
                <a16:creationId xmlns:a16="http://schemas.microsoft.com/office/drawing/2014/main" id="{33278C70-4E26-832E-F3CF-8888DB9B5A2A}"/>
              </a:ext>
            </a:extLst>
          </p:cNvPr>
          <p:cNvSpPr/>
          <p:nvPr/>
        </p:nvSpPr>
        <p:spPr>
          <a:xfrm>
            <a:off x="2145948" y="4173376"/>
            <a:ext cx="1077331" cy="576064"/>
          </a:xfrm>
          <a:prstGeom prst="roundRect">
            <a:avLst>
              <a:gd name="adj" fmla="val 724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NVIDIA</a:t>
            </a:r>
          </a:p>
          <a:p>
            <a:pPr algn="ctr"/>
            <a:r>
              <a:rPr lang="en-US" altLang="ko-KR" sz="1000"/>
              <a:t>GPU 0</a:t>
            </a:r>
            <a:endParaRPr lang="en-US" altLang="ko-KR" sz="1000" dirty="0"/>
          </a:p>
        </p:txBody>
      </p:sp>
      <p:sp>
        <p:nvSpPr>
          <p:cNvPr id="15" name="사각형: 둥근 모서리 114">
            <a:extLst>
              <a:ext uri="{FF2B5EF4-FFF2-40B4-BE49-F238E27FC236}">
                <a16:creationId xmlns:a16="http://schemas.microsoft.com/office/drawing/2014/main" id="{BF9A344D-403F-E740-9878-AAA1304E842D}"/>
              </a:ext>
            </a:extLst>
          </p:cNvPr>
          <p:cNvSpPr/>
          <p:nvPr/>
        </p:nvSpPr>
        <p:spPr>
          <a:xfrm>
            <a:off x="3405927" y="4173376"/>
            <a:ext cx="1077331" cy="576064"/>
          </a:xfrm>
          <a:prstGeom prst="roundRect">
            <a:avLst>
              <a:gd name="adj" fmla="val 724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NVIDIA</a:t>
            </a:r>
          </a:p>
          <a:p>
            <a:pPr algn="ctr"/>
            <a:r>
              <a:rPr lang="en-US" altLang="ko-KR" sz="1000"/>
              <a:t>GPU 1</a:t>
            </a:r>
            <a:endParaRPr lang="en-US" altLang="ko-KR" sz="1000" dirty="0"/>
          </a:p>
        </p:txBody>
      </p:sp>
      <p:sp>
        <p:nvSpPr>
          <p:cNvPr id="16" name="사각형: 둥근 모서리 114">
            <a:extLst>
              <a:ext uri="{FF2B5EF4-FFF2-40B4-BE49-F238E27FC236}">
                <a16:creationId xmlns:a16="http://schemas.microsoft.com/office/drawing/2014/main" id="{229628F2-2ACB-D300-083B-933563ACB3DF}"/>
              </a:ext>
            </a:extLst>
          </p:cNvPr>
          <p:cNvSpPr/>
          <p:nvPr/>
        </p:nvSpPr>
        <p:spPr>
          <a:xfrm>
            <a:off x="4665905" y="4173376"/>
            <a:ext cx="1077331" cy="576064"/>
          </a:xfrm>
          <a:prstGeom prst="roundRect">
            <a:avLst>
              <a:gd name="adj" fmla="val 724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NVIDIA</a:t>
            </a:r>
          </a:p>
          <a:p>
            <a:pPr algn="ctr"/>
            <a:r>
              <a:rPr lang="en-US" altLang="ko-KR" sz="1000"/>
              <a:t>GPU 2</a:t>
            </a:r>
            <a:endParaRPr lang="en-US" altLang="ko-KR" sz="1000" dirty="0"/>
          </a:p>
        </p:txBody>
      </p:sp>
      <p:sp>
        <p:nvSpPr>
          <p:cNvPr id="17" name="사각형: 둥근 모서리 114">
            <a:extLst>
              <a:ext uri="{FF2B5EF4-FFF2-40B4-BE49-F238E27FC236}">
                <a16:creationId xmlns:a16="http://schemas.microsoft.com/office/drawing/2014/main" id="{C70318E8-718F-3AC5-9B88-74F8F2A5DBB1}"/>
              </a:ext>
            </a:extLst>
          </p:cNvPr>
          <p:cNvSpPr/>
          <p:nvPr/>
        </p:nvSpPr>
        <p:spPr>
          <a:xfrm>
            <a:off x="5925884" y="4173376"/>
            <a:ext cx="1077331" cy="576064"/>
          </a:xfrm>
          <a:prstGeom prst="roundRect">
            <a:avLst>
              <a:gd name="adj" fmla="val 724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NVIDIA</a:t>
            </a:r>
          </a:p>
          <a:p>
            <a:pPr algn="ctr"/>
            <a:r>
              <a:rPr lang="en-US" altLang="ko-KR" sz="1000"/>
              <a:t>GPU 3</a:t>
            </a:r>
            <a:endParaRPr lang="en-US" altLang="ko-KR" sz="1000" dirty="0"/>
          </a:p>
        </p:txBody>
      </p:sp>
      <p:sp>
        <p:nvSpPr>
          <p:cNvPr id="36" name="사각형: 둥근 모서리 114">
            <a:extLst>
              <a:ext uri="{FF2B5EF4-FFF2-40B4-BE49-F238E27FC236}">
                <a16:creationId xmlns:a16="http://schemas.microsoft.com/office/drawing/2014/main" id="{3364FA23-F895-1B5D-699B-3DEDE068BF8C}"/>
              </a:ext>
            </a:extLst>
          </p:cNvPr>
          <p:cNvSpPr/>
          <p:nvPr/>
        </p:nvSpPr>
        <p:spPr>
          <a:xfrm>
            <a:off x="734944" y="111692"/>
            <a:ext cx="2486761" cy="1717824"/>
          </a:xfrm>
          <a:prstGeom prst="roundRect">
            <a:avLst>
              <a:gd name="adj" fmla="val 402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b="1"/>
              <a:t>Container A</a:t>
            </a:r>
            <a:endParaRPr lang="ko-KR" altLang="en-US" sz="1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8" name="사각형: 둥근 모서리 114">
            <a:extLst>
              <a:ext uri="{FF2B5EF4-FFF2-40B4-BE49-F238E27FC236}">
                <a16:creationId xmlns:a16="http://schemas.microsoft.com/office/drawing/2014/main" id="{7B735900-90DF-2B9C-D836-265C1EE6844C}"/>
              </a:ext>
            </a:extLst>
          </p:cNvPr>
          <p:cNvSpPr/>
          <p:nvPr/>
        </p:nvSpPr>
        <p:spPr>
          <a:xfrm>
            <a:off x="822678" y="1345650"/>
            <a:ext cx="1099999" cy="396044"/>
          </a:xfrm>
          <a:prstGeom prst="roundRect">
            <a:avLst>
              <a:gd name="adj" fmla="val 724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/dev/nvidia0</a:t>
            </a:r>
            <a:endParaRPr lang="en-US" altLang="ko-KR" sz="1000" dirty="0"/>
          </a:p>
        </p:txBody>
      </p:sp>
      <p:sp>
        <p:nvSpPr>
          <p:cNvPr id="49" name="사각형: 둥근 모서리 114">
            <a:extLst>
              <a:ext uri="{FF2B5EF4-FFF2-40B4-BE49-F238E27FC236}">
                <a16:creationId xmlns:a16="http://schemas.microsoft.com/office/drawing/2014/main" id="{2E5EDF11-A65E-332B-1623-CD439CC6BDBB}"/>
              </a:ext>
            </a:extLst>
          </p:cNvPr>
          <p:cNvSpPr/>
          <p:nvPr/>
        </p:nvSpPr>
        <p:spPr>
          <a:xfrm>
            <a:off x="2024278" y="1345650"/>
            <a:ext cx="1099868" cy="396044"/>
          </a:xfrm>
          <a:prstGeom prst="roundRect">
            <a:avLst>
              <a:gd name="adj" fmla="val 724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/dev/nvidia1</a:t>
            </a:r>
            <a:endParaRPr lang="en-US" altLang="ko-KR" sz="1000" dirty="0"/>
          </a:p>
        </p:txBody>
      </p:sp>
      <p:sp>
        <p:nvSpPr>
          <p:cNvPr id="53" name="사각형: 둥근 모서리 114">
            <a:extLst>
              <a:ext uri="{FF2B5EF4-FFF2-40B4-BE49-F238E27FC236}">
                <a16:creationId xmlns:a16="http://schemas.microsoft.com/office/drawing/2014/main" id="{1B1E7317-CD60-5008-9179-9A5631A47234}"/>
              </a:ext>
            </a:extLst>
          </p:cNvPr>
          <p:cNvSpPr/>
          <p:nvPr/>
        </p:nvSpPr>
        <p:spPr>
          <a:xfrm>
            <a:off x="822678" y="859596"/>
            <a:ext cx="2301467" cy="396044"/>
          </a:xfrm>
          <a:prstGeom prst="roundRect">
            <a:avLst>
              <a:gd name="adj" fmla="val 7242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NVIDIA CUDA Lib/Toolkit</a:t>
            </a:r>
            <a:endParaRPr lang="en-US" altLang="ko-KR" sz="1000" dirty="0"/>
          </a:p>
        </p:txBody>
      </p:sp>
      <p:sp>
        <p:nvSpPr>
          <p:cNvPr id="54" name="사각형: 둥근 모서리 114">
            <a:extLst>
              <a:ext uri="{FF2B5EF4-FFF2-40B4-BE49-F238E27FC236}">
                <a16:creationId xmlns:a16="http://schemas.microsoft.com/office/drawing/2014/main" id="{10043FEE-E23C-35BF-1858-6BADDDFA64C5}"/>
              </a:ext>
            </a:extLst>
          </p:cNvPr>
          <p:cNvSpPr/>
          <p:nvPr/>
        </p:nvSpPr>
        <p:spPr>
          <a:xfrm>
            <a:off x="3346476" y="106029"/>
            <a:ext cx="3674596" cy="1717824"/>
          </a:xfrm>
          <a:prstGeom prst="roundRect">
            <a:avLst>
              <a:gd name="adj" fmla="val 402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b="1"/>
              <a:t>Container B</a:t>
            </a:r>
            <a:endParaRPr lang="ko-KR" altLang="en-US" sz="1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5" name="사각형: 둥근 모서리 114">
            <a:extLst>
              <a:ext uri="{FF2B5EF4-FFF2-40B4-BE49-F238E27FC236}">
                <a16:creationId xmlns:a16="http://schemas.microsoft.com/office/drawing/2014/main" id="{E13B8AD4-E810-DF4E-C9A7-6A146565EF13}"/>
              </a:ext>
            </a:extLst>
          </p:cNvPr>
          <p:cNvSpPr/>
          <p:nvPr/>
        </p:nvSpPr>
        <p:spPr>
          <a:xfrm>
            <a:off x="3434210" y="1339987"/>
            <a:ext cx="1099999" cy="396044"/>
          </a:xfrm>
          <a:prstGeom prst="roundRect">
            <a:avLst>
              <a:gd name="adj" fmla="val 724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/dev/nvidia0</a:t>
            </a:r>
            <a:endParaRPr lang="en-US" altLang="ko-KR" sz="1000" dirty="0"/>
          </a:p>
        </p:txBody>
      </p:sp>
      <p:sp>
        <p:nvSpPr>
          <p:cNvPr id="56" name="사각형: 둥근 모서리 114">
            <a:extLst>
              <a:ext uri="{FF2B5EF4-FFF2-40B4-BE49-F238E27FC236}">
                <a16:creationId xmlns:a16="http://schemas.microsoft.com/office/drawing/2014/main" id="{1CB1F2AA-DC81-E2C1-7A13-B84199E7846D}"/>
              </a:ext>
            </a:extLst>
          </p:cNvPr>
          <p:cNvSpPr/>
          <p:nvPr/>
        </p:nvSpPr>
        <p:spPr>
          <a:xfrm>
            <a:off x="4635810" y="1339987"/>
            <a:ext cx="1099868" cy="396044"/>
          </a:xfrm>
          <a:prstGeom prst="roundRect">
            <a:avLst>
              <a:gd name="adj" fmla="val 724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/dev/nvidia2</a:t>
            </a:r>
            <a:endParaRPr lang="en-US" altLang="ko-KR" sz="1000" dirty="0"/>
          </a:p>
        </p:txBody>
      </p:sp>
      <p:sp>
        <p:nvSpPr>
          <p:cNvPr id="57" name="사각형: 둥근 모서리 114">
            <a:extLst>
              <a:ext uri="{FF2B5EF4-FFF2-40B4-BE49-F238E27FC236}">
                <a16:creationId xmlns:a16="http://schemas.microsoft.com/office/drawing/2014/main" id="{FE234310-EA87-B58A-F8CE-9180E6935EBD}"/>
              </a:ext>
            </a:extLst>
          </p:cNvPr>
          <p:cNvSpPr/>
          <p:nvPr/>
        </p:nvSpPr>
        <p:spPr>
          <a:xfrm>
            <a:off x="3434210" y="853933"/>
            <a:ext cx="3498895" cy="396044"/>
          </a:xfrm>
          <a:prstGeom prst="roundRect">
            <a:avLst>
              <a:gd name="adj" fmla="val 7242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NVIDIA CUDA Lib/Toolkit</a:t>
            </a:r>
            <a:endParaRPr lang="en-US" altLang="ko-KR" sz="1000" dirty="0"/>
          </a:p>
        </p:txBody>
      </p:sp>
      <p:sp>
        <p:nvSpPr>
          <p:cNvPr id="85" name="사각형: 둥근 모서리 114">
            <a:extLst>
              <a:ext uri="{FF2B5EF4-FFF2-40B4-BE49-F238E27FC236}">
                <a16:creationId xmlns:a16="http://schemas.microsoft.com/office/drawing/2014/main" id="{E7C861E8-6B20-F678-A387-14468B64DDD0}"/>
              </a:ext>
            </a:extLst>
          </p:cNvPr>
          <p:cNvSpPr/>
          <p:nvPr/>
        </p:nvSpPr>
        <p:spPr>
          <a:xfrm>
            <a:off x="5833237" y="1339987"/>
            <a:ext cx="1099868" cy="396044"/>
          </a:xfrm>
          <a:prstGeom prst="roundRect">
            <a:avLst>
              <a:gd name="adj" fmla="val 724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/dev/nvidia3</a:t>
            </a:r>
            <a:endParaRPr lang="en-US" altLang="ko-KR" sz="1000" dirty="0"/>
          </a:p>
        </p:txBody>
      </p:sp>
      <p:sp>
        <p:nvSpPr>
          <p:cNvPr id="72" name="사각형: 둥근 모서리 114">
            <a:extLst>
              <a:ext uri="{FF2B5EF4-FFF2-40B4-BE49-F238E27FC236}">
                <a16:creationId xmlns:a16="http://schemas.microsoft.com/office/drawing/2014/main" id="{A40CEE21-4126-4EA9-D005-8D6AA05FC3C8}"/>
              </a:ext>
            </a:extLst>
          </p:cNvPr>
          <p:cNvSpPr/>
          <p:nvPr/>
        </p:nvSpPr>
        <p:spPr>
          <a:xfrm>
            <a:off x="7164288" y="106029"/>
            <a:ext cx="1487816" cy="1717824"/>
          </a:xfrm>
          <a:prstGeom prst="roundRect">
            <a:avLst>
              <a:gd name="adj" fmla="val 4159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b="1"/>
              <a:t>Container C</a:t>
            </a:r>
            <a:endParaRPr lang="ko-KR" altLang="en-US" sz="1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4" name="사각형: 둥근 모서리 114">
            <a:extLst>
              <a:ext uri="{FF2B5EF4-FFF2-40B4-BE49-F238E27FC236}">
                <a16:creationId xmlns:a16="http://schemas.microsoft.com/office/drawing/2014/main" id="{75050760-962B-EFA9-329D-D87ACB628E2E}"/>
              </a:ext>
            </a:extLst>
          </p:cNvPr>
          <p:cNvSpPr/>
          <p:nvPr/>
        </p:nvSpPr>
        <p:spPr>
          <a:xfrm>
            <a:off x="7244475" y="1339987"/>
            <a:ext cx="1321799" cy="396044"/>
          </a:xfrm>
          <a:prstGeom prst="roundRect">
            <a:avLst>
              <a:gd name="adj" fmla="val 724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/dev/nvidia3</a:t>
            </a:r>
            <a:endParaRPr lang="en-US" altLang="ko-KR" sz="1000" dirty="0"/>
          </a:p>
        </p:txBody>
      </p:sp>
      <p:sp>
        <p:nvSpPr>
          <p:cNvPr id="75" name="사각형: 둥근 모서리 114">
            <a:extLst>
              <a:ext uri="{FF2B5EF4-FFF2-40B4-BE49-F238E27FC236}">
                <a16:creationId xmlns:a16="http://schemas.microsoft.com/office/drawing/2014/main" id="{C7E78AFF-D068-E06B-33BF-D4132D988816}"/>
              </a:ext>
            </a:extLst>
          </p:cNvPr>
          <p:cNvSpPr/>
          <p:nvPr/>
        </p:nvSpPr>
        <p:spPr>
          <a:xfrm>
            <a:off x="7244475" y="853933"/>
            <a:ext cx="1321798" cy="396044"/>
          </a:xfrm>
          <a:prstGeom prst="roundRect">
            <a:avLst>
              <a:gd name="adj" fmla="val 7242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NVIDIA CUDA Lib/Toolkit</a:t>
            </a:r>
            <a:endParaRPr lang="en-US" altLang="ko-KR" sz="1000" dirty="0"/>
          </a:p>
        </p:txBody>
      </p:sp>
      <p:sp>
        <p:nvSpPr>
          <p:cNvPr id="35" name="사각형: 둥근 모서리 114">
            <a:extLst>
              <a:ext uri="{FF2B5EF4-FFF2-40B4-BE49-F238E27FC236}">
                <a16:creationId xmlns:a16="http://schemas.microsoft.com/office/drawing/2014/main" id="{B4917971-4A59-EF10-9161-86DDC9778D84}"/>
              </a:ext>
            </a:extLst>
          </p:cNvPr>
          <p:cNvSpPr/>
          <p:nvPr/>
        </p:nvSpPr>
        <p:spPr>
          <a:xfrm>
            <a:off x="1692325" y="3345284"/>
            <a:ext cx="5759996" cy="396044"/>
          </a:xfrm>
          <a:prstGeom prst="roundRect">
            <a:avLst>
              <a:gd name="adj" fmla="val 724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NVIDIA GPU Device Driver</a:t>
            </a:r>
            <a:endParaRPr lang="en-US" altLang="ko-KR" sz="1000" dirty="0"/>
          </a:p>
        </p:txBody>
      </p:sp>
      <p:sp>
        <p:nvSpPr>
          <p:cNvPr id="34" name="사각형: 둥근 모서리 114">
            <a:extLst>
              <a:ext uri="{FF2B5EF4-FFF2-40B4-BE49-F238E27FC236}">
                <a16:creationId xmlns:a16="http://schemas.microsoft.com/office/drawing/2014/main" id="{EFF8982B-63D5-E17D-1B32-242B369711D5}"/>
              </a:ext>
            </a:extLst>
          </p:cNvPr>
          <p:cNvSpPr/>
          <p:nvPr/>
        </p:nvSpPr>
        <p:spPr>
          <a:xfrm>
            <a:off x="2141132" y="2495911"/>
            <a:ext cx="1082148" cy="396044"/>
          </a:xfrm>
          <a:prstGeom prst="roundRect">
            <a:avLst>
              <a:gd name="adj" fmla="val 1379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/dev/nvidia0</a:t>
            </a:r>
            <a:endParaRPr lang="en-US" altLang="ko-KR" sz="1000" dirty="0"/>
          </a:p>
        </p:txBody>
      </p:sp>
      <p:sp>
        <p:nvSpPr>
          <p:cNvPr id="44" name="사각형: 둥근 모서리 114">
            <a:extLst>
              <a:ext uri="{FF2B5EF4-FFF2-40B4-BE49-F238E27FC236}">
                <a16:creationId xmlns:a16="http://schemas.microsoft.com/office/drawing/2014/main" id="{6B73B028-701B-7DB2-D934-C4FBFEEEF43E}"/>
              </a:ext>
            </a:extLst>
          </p:cNvPr>
          <p:cNvSpPr/>
          <p:nvPr/>
        </p:nvSpPr>
        <p:spPr>
          <a:xfrm>
            <a:off x="3405927" y="2495911"/>
            <a:ext cx="1082148" cy="396044"/>
          </a:xfrm>
          <a:prstGeom prst="roundRect">
            <a:avLst>
              <a:gd name="adj" fmla="val 1379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/dev/nvidia1</a:t>
            </a:r>
            <a:endParaRPr lang="en-US" altLang="ko-KR" sz="1000" dirty="0"/>
          </a:p>
        </p:txBody>
      </p:sp>
      <p:sp>
        <p:nvSpPr>
          <p:cNvPr id="45" name="사각형: 둥근 모서리 114">
            <a:extLst>
              <a:ext uri="{FF2B5EF4-FFF2-40B4-BE49-F238E27FC236}">
                <a16:creationId xmlns:a16="http://schemas.microsoft.com/office/drawing/2014/main" id="{F44321F7-0BF8-67DA-8623-45B172C3D60B}"/>
              </a:ext>
            </a:extLst>
          </p:cNvPr>
          <p:cNvSpPr/>
          <p:nvPr/>
        </p:nvSpPr>
        <p:spPr>
          <a:xfrm>
            <a:off x="4665905" y="2495911"/>
            <a:ext cx="1082148" cy="396044"/>
          </a:xfrm>
          <a:prstGeom prst="roundRect">
            <a:avLst>
              <a:gd name="adj" fmla="val 1379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/dev/nvidia2</a:t>
            </a:r>
            <a:endParaRPr lang="en-US" altLang="ko-KR" sz="1000" dirty="0"/>
          </a:p>
        </p:txBody>
      </p:sp>
      <p:sp>
        <p:nvSpPr>
          <p:cNvPr id="46" name="사각형: 둥근 모서리 114">
            <a:extLst>
              <a:ext uri="{FF2B5EF4-FFF2-40B4-BE49-F238E27FC236}">
                <a16:creationId xmlns:a16="http://schemas.microsoft.com/office/drawing/2014/main" id="{8C01386A-F5AB-38FF-A04F-2904BDE292F2}"/>
              </a:ext>
            </a:extLst>
          </p:cNvPr>
          <p:cNvSpPr/>
          <p:nvPr/>
        </p:nvSpPr>
        <p:spPr>
          <a:xfrm>
            <a:off x="5925884" y="2495911"/>
            <a:ext cx="1082148" cy="396044"/>
          </a:xfrm>
          <a:prstGeom prst="roundRect">
            <a:avLst>
              <a:gd name="adj" fmla="val 1379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/dev/nvidia3</a:t>
            </a:r>
            <a:endParaRPr lang="en-US" altLang="ko-KR" sz="1000" dirty="0"/>
          </a:p>
        </p:txBody>
      </p:sp>
      <p:cxnSp>
        <p:nvCxnSpPr>
          <p:cNvPr id="52" name="직선 연결선 20">
            <a:extLst>
              <a:ext uri="{FF2B5EF4-FFF2-40B4-BE49-F238E27FC236}">
                <a16:creationId xmlns:a16="http://schemas.microsoft.com/office/drawing/2014/main" id="{F2AA228D-B388-2E7C-D3A6-826D9ABBF7FD}"/>
              </a:ext>
            </a:extLst>
          </p:cNvPr>
          <p:cNvCxnSpPr>
            <a:cxnSpLocks/>
            <a:stCxn id="44" idx="2"/>
            <a:endCxn id="15" idx="0"/>
          </p:cNvCxnSpPr>
          <p:nvPr/>
        </p:nvCxnSpPr>
        <p:spPr>
          <a:xfrm flipH="1">
            <a:off x="3944593" y="2891955"/>
            <a:ext cx="2408" cy="1281421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사각형: 둥근 모서리 114">
            <a:extLst>
              <a:ext uri="{FF2B5EF4-FFF2-40B4-BE49-F238E27FC236}">
                <a16:creationId xmlns:a16="http://schemas.microsoft.com/office/drawing/2014/main" id="{504E7774-3EBD-0C5F-78E0-CC156021027E}"/>
              </a:ext>
            </a:extLst>
          </p:cNvPr>
          <p:cNvSpPr/>
          <p:nvPr/>
        </p:nvSpPr>
        <p:spPr>
          <a:xfrm>
            <a:off x="2141132" y="2008269"/>
            <a:ext cx="4862083" cy="396044"/>
          </a:xfrm>
          <a:prstGeom prst="roundRect">
            <a:avLst>
              <a:gd name="adj" fmla="val 17067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NVIDIA CUDA Lib/Toolkit</a:t>
            </a:r>
            <a:endParaRPr lang="en-US" altLang="ko-KR" sz="1000" dirty="0"/>
          </a:p>
        </p:txBody>
      </p:sp>
      <p:cxnSp>
        <p:nvCxnSpPr>
          <p:cNvPr id="117" name="직선 연결선 17">
            <a:extLst>
              <a:ext uri="{FF2B5EF4-FFF2-40B4-BE49-F238E27FC236}">
                <a16:creationId xmlns:a16="http://schemas.microsoft.com/office/drawing/2014/main" id="{C42F2A3D-D551-E411-0433-B0F62EB9365D}"/>
              </a:ext>
            </a:extLst>
          </p:cNvPr>
          <p:cNvCxnSpPr>
            <a:cxnSpLocks/>
            <a:stCxn id="34" idx="2"/>
            <a:endCxn id="14" idx="0"/>
          </p:cNvCxnSpPr>
          <p:nvPr/>
        </p:nvCxnSpPr>
        <p:spPr>
          <a:xfrm>
            <a:off x="2682206" y="2891955"/>
            <a:ext cx="2408" cy="1281421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직선 연결선 17">
            <a:extLst>
              <a:ext uri="{FF2B5EF4-FFF2-40B4-BE49-F238E27FC236}">
                <a16:creationId xmlns:a16="http://schemas.microsoft.com/office/drawing/2014/main" id="{D9F37173-F9DC-2211-8B64-FA5BA36ED2D5}"/>
              </a:ext>
            </a:extLst>
          </p:cNvPr>
          <p:cNvCxnSpPr>
            <a:cxnSpLocks/>
            <a:stCxn id="45" idx="2"/>
            <a:endCxn id="16" idx="0"/>
          </p:cNvCxnSpPr>
          <p:nvPr/>
        </p:nvCxnSpPr>
        <p:spPr>
          <a:xfrm flipH="1">
            <a:off x="5204571" y="2891955"/>
            <a:ext cx="2408" cy="1281421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직선 연결선 26">
            <a:extLst>
              <a:ext uri="{FF2B5EF4-FFF2-40B4-BE49-F238E27FC236}">
                <a16:creationId xmlns:a16="http://schemas.microsoft.com/office/drawing/2014/main" id="{72AADCE9-3C6C-060F-E232-3EF5984803DA}"/>
              </a:ext>
            </a:extLst>
          </p:cNvPr>
          <p:cNvCxnSpPr>
            <a:cxnSpLocks/>
            <a:stCxn id="46" idx="2"/>
            <a:endCxn id="17" idx="0"/>
          </p:cNvCxnSpPr>
          <p:nvPr/>
        </p:nvCxnSpPr>
        <p:spPr>
          <a:xfrm flipH="1">
            <a:off x="6464550" y="2891955"/>
            <a:ext cx="2408" cy="1281421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사각형: 둥근 모서리 114">
            <a:extLst>
              <a:ext uri="{FF2B5EF4-FFF2-40B4-BE49-F238E27FC236}">
                <a16:creationId xmlns:a16="http://schemas.microsoft.com/office/drawing/2014/main" id="{5F4C3AF4-DD22-0B60-383F-EC6AD421D8F6}"/>
              </a:ext>
            </a:extLst>
          </p:cNvPr>
          <p:cNvSpPr/>
          <p:nvPr/>
        </p:nvSpPr>
        <p:spPr>
          <a:xfrm>
            <a:off x="822678" y="393358"/>
            <a:ext cx="2301467" cy="396044"/>
          </a:xfrm>
          <a:prstGeom prst="roundRect">
            <a:avLst>
              <a:gd name="adj" fmla="val 724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App with </a:t>
            </a:r>
          </a:p>
          <a:p>
            <a:pPr algn="ctr"/>
            <a:r>
              <a:rPr lang="en-US" altLang="ko-KR" sz="1000"/>
              <a:t>NVIDIA_VISIBLE_DEVICES Env  </a:t>
            </a:r>
            <a:endParaRPr lang="en-US" altLang="ko-KR" sz="1000" dirty="0"/>
          </a:p>
        </p:txBody>
      </p:sp>
      <p:sp>
        <p:nvSpPr>
          <p:cNvPr id="147" name="사각형: 둥근 모서리 114">
            <a:extLst>
              <a:ext uri="{FF2B5EF4-FFF2-40B4-BE49-F238E27FC236}">
                <a16:creationId xmlns:a16="http://schemas.microsoft.com/office/drawing/2014/main" id="{A16AF2D3-7795-BF33-2382-ADA2298B768A}"/>
              </a:ext>
            </a:extLst>
          </p:cNvPr>
          <p:cNvSpPr/>
          <p:nvPr/>
        </p:nvSpPr>
        <p:spPr>
          <a:xfrm>
            <a:off x="3434211" y="393358"/>
            <a:ext cx="3498894" cy="396044"/>
          </a:xfrm>
          <a:prstGeom prst="roundRect">
            <a:avLst>
              <a:gd name="adj" fmla="val 724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App with </a:t>
            </a:r>
          </a:p>
          <a:p>
            <a:pPr algn="ctr"/>
            <a:r>
              <a:rPr lang="en-US" altLang="ko-KR" sz="1000"/>
              <a:t>NVIDIA_VISIBLE_DEVICES Env  </a:t>
            </a:r>
            <a:endParaRPr lang="en-US" altLang="ko-KR" sz="1000" dirty="0"/>
          </a:p>
        </p:txBody>
      </p:sp>
      <p:sp>
        <p:nvSpPr>
          <p:cNvPr id="148" name="사각형: 둥근 모서리 114">
            <a:extLst>
              <a:ext uri="{FF2B5EF4-FFF2-40B4-BE49-F238E27FC236}">
                <a16:creationId xmlns:a16="http://schemas.microsoft.com/office/drawing/2014/main" id="{E564AD90-001F-1131-35AF-1B92219AF4D3}"/>
              </a:ext>
            </a:extLst>
          </p:cNvPr>
          <p:cNvSpPr/>
          <p:nvPr/>
        </p:nvSpPr>
        <p:spPr>
          <a:xfrm>
            <a:off x="7244474" y="393358"/>
            <a:ext cx="1321799" cy="396044"/>
          </a:xfrm>
          <a:prstGeom prst="roundRect">
            <a:avLst>
              <a:gd name="adj" fmla="val 724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App with </a:t>
            </a:r>
          </a:p>
          <a:p>
            <a:pPr algn="ctr"/>
            <a:r>
              <a:rPr lang="en-US" altLang="ko-KR" sz="1000"/>
              <a:t>NVIDIA_VISIBLE_</a:t>
            </a:r>
            <a:br>
              <a:rPr lang="en-US" altLang="ko-KR" sz="1000"/>
            </a:br>
            <a:r>
              <a:rPr lang="en-US" altLang="ko-KR" sz="1000"/>
              <a:t>DEVICES Env  </a:t>
            </a:r>
            <a:endParaRPr lang="en-US" altLang="ko-KR" sz="1000" dirty="0"/>
          </a:p>
        </p:txBody>
      </p:sp>
      <p:cxnSp>
        <p:nvCxnSpPr>
          <p:cNvPr id="150" name="직선 연결선 26">
            <a:extLst>
              <a:ext uri="{FF2B5EF4-FFF2-40B4-BE49-F238E27FC236}">
                <a16:creationId xmlns:a16="http://schemas.microsoft.com/office/drawing/2014/main" id="{656CB95D-962A-D56E-D3C6-D95E7E41C7EE}"/>
              </a:ext>
            </a:extLst>
          </p:cNvPr>
          <p:cNvCxnSpPr>
            <a:cxnSpLocks/>
            <a:stCxn id="74" idx="2"/>
            <a:endCxn id="46" idx="0"/>
          </p:cNvCxnSpPr>
          <p:nvPr/>
        </p:nvCxnSpPr>
        <p:spPr>
          <a:xfrm flipH="1">
            <a:off x="6466958" y="1736031"/>
            <a:ext cx="1438417" cy="75988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직선 연결선 26">
            <a:extLst>
              <a:ext uri="{FF2B5EF4-FFF2-40B4-BE49-F238E27FC236}">
                <a16:creationId xmlns:a16="http://schemas.microsoft.com/office/drawing/2014/main" id="{49A64ACA-A8C7-E513-598E-DC51514EFDD4}"/>
              </a:ext>
            </a:extLst>
          </p:cNvPr>
          <p:cNvCxnSpPr>
            <a:cxnSpLocks/>
            <a:stCxn id="85" idx="2"/>
            <a:endCxn id="46" idx="0"/>
          </p:cNvCxnSpPr>
          <p:nvPr/>
        </p:nvCxnSpPr>
        <p:spPr>
          <a:xfrm>
            <a:off x="6383171" y="1736031"/>
            <a:ext cx="83787" cy="75988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직선 연결선 26">
            <a:extLst>
              <a:ext uri="{FF2B5EF4-FFF2-40B4-BE49-F238E27FC236}">
                <a16:creationId xmlns:a16="http://schemas.microsoft.com/office/drawing/2014/main" id="{F77071BF-692D-3793-E85B-C50C86B8ECB3}"/>
              </a:ext>
            </a:extLst>
          </p:cNvPr>
          <p:cNvCxnSpPr>
            <a:cxnSpLocks/>
            <a:stCxn id="56" idx="2"/>
            <a:endCxn id="45" idx="0"/>
          </p:cNvCxnSpPr>
          <p:nvPr/>
        </p:nvCxnSpPr>
        <p:spPr>
          <a:xfrm>
            <a:off x="5185744" y="1736031"/>
            <a:ext cx="21235" cy="75988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직선 연결선 20">
            <a:extLst>
              <a:ext uri="{FF2B5EF4-FFF2-40B4-BE49-F238E27FC236}">
                <a16:creationId xmlns:a16="http://schemas.microsoft.com/office/drawing/2014/main" id="{0B8FEDE2-7BBF-D65E-75C1-8B0B3692C055}"/>
              </a:ext>
            </a:extLst>
          </p:cNvPr>
          <p:cNvCxnSpPr>
            <a:cxnSpLocks/>
            <a:stCxn id="55" idx="2"/>
            <a:endCxn id="34" idx="0"/>
          </p:cNvCxnSpPr>
          <p:nvPr/>
        </p:nvCxnSpPr>
        <p:spPr>
          <a:xfrm flipH="1">
            <a:off x="2682206" y="1736031"/>
            <a:ext cx="1302004" cy="75988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직선 연결선 20">
            <a:extLst>
              <a:ext uri="{FF2B5EF4-FFF2-40B4-BE49-F238E27FC236}">
                <a16:creationId xmlns:a16="http://schemas.microsoft.com/office/drawing/2014/main" id="{05A750D1-6E61-A32C-04B7-84DF602A5A3A}"/>
              </a:ext>
            </a:extLst>
          </p:cNvPr>
          <p:cNvCxnSpPr>
            <a:cxnSpLocks/>
            <a:stCxn id="49" idx="2"/>
            <a:endCxn id="44" idx="0"/>
          </p:cNvCxnSpPr>
          <p:nvPr/>
        </p:nvCxnSpPr>
        <p:spPr>
          <a:xfrm>
            <a:off x="2574212" y="1741694"/>
            <a:ext cx="1372789" cy="75421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직선 연결선 17">
            <a:extLst>
              <a:ext uri="{FF2B5EF4-FFF2-40B4-BE49-F238E27FC236}">
                <a16:creationId xmlns:a16="http://schemas.microsoft.com/office/drawing/2014/main" id="{153FBB6B-820B-BA1D-E2F6-A9FD8E258E38}"/>
              </a:ext>
            </a:extLst>
          </p:cNvPr>
          <p:cNvCxnSpPr>
            <a:cxnSpLocks/>
            <a:stCxn id="48" idx="2"/>
            <a:endCxn id="34" idx="0"/>
          </p:cNvCxnSpPr>
          <p:nvPr/>
        </p:nvCxnSpPr>
        <p:spPr>
          <a:xfrm>
            <a:off x="1372678" y="1741694"/>
            <a:ext cx="1309528" cy="75421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직선 연결선 20">
            <a:extLst>
              <a:ext uri="{FF2B5EF4-FFF2-40B4-BE49-F238E27FC236}">
                <a16:creationId xmlns:a16="http://schemas.microsoft.com/office/drawing/2014/main" id="{8D357443-4835-7C24-E92E-753B01DC17EB}"/>
              </a:ext>
            </a:extLst>
          </p:cNvPr>
          <p:cNvCxnSpPr>
            <a:cxnSpLocks/>
            <a:stCxn id="53" idx="2"/>
            <a:endCxn id="104" idx="0"/>
          </p:cNvCxnSpPr>
          <p:nvPr/>
        </p:nvCxnSpPr>
        <p:spPr>
          <a:xfrm>
            <a:off x="1973412" y="1255640"/>
            <a:ext cx="2598762" cy="75262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직선 연결선 20">
            <a:extLst>
              <a:ext uri="{FF2B5EF4-FFF2-40B4-BE49-F238E27FC236}">
                <a16:creationId xmlns:a16="http://schemas.microsoft.com/office/drawing/2014/main" id="{C731D1A3-750E-AA78-FDCE-98249776DC05}"/>
              </a:ext>
            </a:extLst>
          </p:cNvPr>
          <p:cNvCxnSpPr>
            <a:cxnSpLocks/>
            <a:stCxn id="57" idx="2"/>
            <a:endCxn id="104" idx="0"/>
          </p:cNvCxnSpPr>
          <p:nvPr/>
        </p:nvCxnSpPr>
        <p:spPr>
          <a:xfrm flipH="1">
            <a:off x="4572174" y="1249977"/>
            <a:ext cx="611484" cy="75829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직선 연결선 20">
            <a:extLst>
              <a:ext uri="{FF2B5EF4-FFF2-40B4-BE49-F238E27FC236}">
                <a16:creationId xmlns:a16="http://schemas.microsoft.com/office/drawing/2014/main" id="{0BA98BD0-D2BE-D1A3-6910-B0B0FE735DC7}"/>
              </a:ext>
            </a:extLst>
          </p:cNvPr>
          <p:cNvCxnSpPr>
            <a:cxnSpLocks/>
            <a:stCxn id="75" idx="2"/>
            <a:endCxn id="104" idx="0"/>
          </p:cNvCxnSpPr>
          <p:nvPr/>
        </p:nvCxnSpPr>
        <p:spPr>
          <a:xfrm flipH="1">
            <a:off x="4572174" y="1249977"/>
            <a:ext cx="3333200" cy="75829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" name="TextBox 178">
            <a:extLst>
              <a:ext uri="{FF2B5EF4-FFF2-40B4-BE49-F238E27FC236}">
                <a16:creationId xmlns:a16="http://schemas.microsoft.com/office/drawing/2014/main" id="{670BFEEC-1A34-44E5-6762-6C7FD7A5A5BA}"/>
              </a:ext>
            </a:extLst>
          </p:cNvPr>
          <p:cNvSpPr txBox="1"/>
          <p:nvPr/>
        </p:nvSpPr>
        <p:spPr>
          <a:xfrm>
            <a:off x="691097" y="1819727"/>
            <a:ext cx="91563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00" b="1" i="1"/>
              <a:t>Bind Mount</a:t>
            </a:r>
            <a:endParaRPr kumimoji="1" lang="ko-KR" altLang="en-US" sz="1000" b="1" i="1"/>
          </a:p>
        </p:txBody>
      </p:sp>
    </p:spTree>
    <p:extLst>
      <p:ext uri="{BB962C8B-B14F-4D97-AF65-F5344CB8AC3E}">
        <p14:creationId xmlns:p14="http://schemas.microsoft.com/office/powerpoint/2010/main" val="29809918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A3B5F2-C1F1-DF54-BADA-3162F50242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7CE23F-CE11-46BB-A0C8-2394EF465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028650"/>
            <a:ext cx="9144000" cy="857250"/>
          </a:xfrm>
        </p:spPr>
        <p:txBody>
          <a:bodyPr>
            <a:normAutofit/>
          </a:bodyPr>
          <a:lstStyle/>
          <a:p>
            <a:r>
              <a:rPr lang="en-US" altLang="ko-KR"/>
              <a:t>CUDA Container Init</a:t>
            </a:r>
            <a:endParaRPr lang="ko-KR" altLang="en-US" dirty="0"/>
          </a:p>
        </p:txBody>
      </p:sp>
      <p:sp>
        <p:nvSpPr>
          <p:cNvPr id="42" name="사각형: 둥근 모서리 114">
            <a:extLst>
              <a:ext uri="{FF2B5EF4-FFF2-40B4-BE49-F238E27FC236}">
                <a16:creationId xmlns:a16="http://schemas.microsoft.com/office/drawing/2014/main" id="{DC125187-597D-D7E4-22B6-F6E9A5BCF951}"/>
              </a:ext>
            </a:extLst>
          </p:cNvPr>
          <p:cNvSpPr/>
          <p:nvPr/>
        </p:nvSpPr>
        <p:spPr>
          <a:xfrm>
            <a:off x="3707904" y="4171745"/>
            <a:ext cx="2731142" cy="704227"/>
          </a:xfrm>
          <a:prstGeom prst="roundRect">
            <a:avLst>
              <a:gd name="adj" fmla="val 6397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50"/>
              <a:t>nvidia-container-cli</a:t>
            </a:r>
            <a:endParaRPr lang="en-US" altLang="ko-KR" sz="1050" dirty="0"/>
          </a:p>
        </p:txBody>
      </p:sp>
      <p:sp>
        <p:nvSpPr>
          <p:cNvPr id="43" name="사각형: 둥근 모서리 114">
            <a:extLst>
              <a:ext uri="{FF2B5EF4-FFF2-40B4-BE49-F238E27FC236}">
                <a16:creationId xmlns:a16="http://schemas.microsoft.com/office/drawing/2014/main" id="{9DCD09D0-7CF7-62AA-6212-D8A16191BFD1}"/>
              </a:ext>
            </a:extLst>
          </p:cNvPr>
          <p:cNvSpPr/>
          <p:nvPr/>
        </p:nvSpPr>
        <p:spPr>
          <a:xfrm>
            <a:off x="4103948" y="4475622"/>
            <a:ext cx="1939054" cy="317036"/>
          </a:xfrm>
          <a:prstGeom prst="roundRect">
            <a:avLst>
              <a:gd name="adj" fmla="val 6397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50"/>
              <a:t>libnvidia-container</a:t>
            </a:r>
            <a:endParaRPr lang="en-US" altLang="ko-KR" sz="1050" dirty="0"/>
          </a:p>
        </p:txBody>
      </p:sp>
      <p:sp>
        <p:nvSpPr>
          <p:cNvPr id="44" name="사각형: 둥근 모서리 114">
            <a:extLst>
              <a:ext uri="{FF2B5EF4-FFF2-40B4-BE49-F238E27FC236}">
                <a16:creationId xmlns:a16="http://schemas.microsoft.com/office/drawing/2014/main" id="{C293FF07-F9A0-E37C-D570-F52BE4CEF7DF}"/>
              </a:ext>
            </a:extLst>
          </p:cNvPr>
          <p:cNvSpPr/>
          <p:nvPr/>
        </p:nvSpPr>
        <p:spPr>
          <a:xfrm>
            <a:off x="3703390" y="3094142"/>
            <a:ext cx="2740170" cy="368911"/>
          </a:xfrm>
          <a:prstGeom prst="roundRect">
            <a:avLst>
              <a:gd name="adj" fmla="val 10304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50"/>
              <a:t>nvidia-container-runtime-hook</a:t>
            </a:r>
            <a:endParaRPr lang="en-US" altLang="ko-KR" sz="1050" dirty="0"/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25F13A24-4CFE-DC66-BAAD-F311284845CC}"/>
              </a:ext>
            </a:extLst>
          </p:cNvPr>
          <p:cNvCxnSpPr>
            <a:cxnSpLocks/>
            <a:stCxn id="42" idx="1"/>
            <a:endCxn id="48" idx="2"/>
          </p:cNvCxnSpPr>
          <p:nvPr/>
        </p:nvCxnSpPr>
        <p:spPr>
          <a:xfrm flipH="1" flipV="1">
            <a:off x="1821852" y="4181058"/>
            <a:ext cx="1886052" cy="342801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2768AE5D-96A6-514B-44B9-E5839576D647}"/>
              </a:ext>
            </a:extLst>
          </p:cNvPr>
          <p:cNvCxnSpPr>
            <a:cxnSpLocks/>
            <a:stCxn id="44" idx="2"/>
            <a:endCxn id="42" idx="0"/>
          </p:cNvCxnSpPr>
          <p:nvPr/>
        </p:nvCxnSpPr>
        <p:spPr>
          <a:xfrm>
            <a:off x="5073475" y="3463053"/>
            <a:ext cx="0" cy="70869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0BDAABA7-6231-F40E-D0D8-0682E0FA465C}"/>
              </a:ext>
            </a:extLst>
          </p:cNvPr>
          <p:cNvCxnSpPr>
            <a:cxnSpLocks/>
            <a:stCxn id="35" idx="2"/>
            <a:endCxn id="44" idx="0"/>
          </p:cNvCxnSpPr>
          <p:nvPr/>
        </p:nvCxnSpPr>
        <p:spPr>
          <a:xfrm>
            <a:off x="5073470" y="2445239"/>
            <a:ext cx="5" cy="648903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사각형: 둥근 모서리 114">
            <a:extLst>
              <a:ext uri="{FF2B5EF4-FFF2-40B4-BE49-F238E27FC236}">
                <a16:creationId xmlns:a16="http://schemas.microsoft.com/office/drawing/2014/main" id="{23E1409C-800C-19F1-A32A-121432DD0676}"/>
              </a:ext>
            </a:extLst>
          </p:cNvPr>
          <p:cNvSpPr/>
          <p:nvPr/>
        </p:nvSpPr>
        <p:spPr>
          <a:xfrm>
            <a:off x="3707899" y="2076328"/>
            <a:ext cx="2731142" cy="368911"/>
          </a:xfrm>
          <a:prstGeom prst="roundRect">
            <a:avLst>
              <a:gd name="adj" fmla="val 10304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50"/>
              <a:t>runc</a:t>
            </a:r>
            <a:endParaRPr lang="en-US" altLang="ko-KR" sz="1050" dirty="0"/>
          </a:p>
        </p:txBody>
      </p:sp>
      <p:sp>
        <p:nvSpPr>
          <p:cNvPr id="39" name="사각형: 둥근 모서리 114">
            <a:extLst>
              <a:ext uri="{FF2B5EF4-FFF2-40B4-BE49-F238E27FC236}">
                <a16:creationId xmlns:a16="http://schemas.microsoft.com/office/drawing/2014/main" id="{C7691656-1E54-1CC9-9965-DAA08FA9268D}"/>
              </a:ext>
            </a:extLst>
          </p:cNvPr>
          <p:cNvSpPr/>
          <p:nvPr/>
        </p:nvSpPr>
        <p:spPr>
          <a:xfrm>
            <a:off x="5201208" y="2444054"/>
            <a:ext cx="1823567" cy="368912"/>
          </a:xfrm>
          <a:prstGeom prst="roundRect">
            <a:avLst>
              <a:gd name="adj" fmla="val 10304"/>
            </a:avLst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000" i="1"/>
              <a:t>Execute via OCI runtime’s </a:t>
            </a:r>
          </a:p>
          <a:p>
            <a:r>
              <a:rPr lang="en-US" altLang="ko-KR" sz="1000" b="1" i="1"/>
              <a:t>prestart hook</a:t>
            </a:r>
          </a:p>
        </p:txBody>
      </p:sp>
      <p:sp>
        <p:nvSpPr>
          <p:cNvPr id="46" name="사각형: 둥근 모서리 114">
            <a:extLst>
              <a:ext uri="{FF2B5EF4-FFF2-40B4-BE49-F238E27FC236}">
                <a16:creationId xmlns:a16="http://schemas.microsoft.com/office/drawing/2014/main" id="{2307F16B-5FB4-0B62-1BB5-1424EC707C04}"/>
              </a:ext>
            </a:extLst>
          </p:cNvPr>
          <p:cNvSpPr/>
          <p:nvPr/>
        </p:nvSpPr>
        <p:spPr>
          <a:xfrm>
            <a:off x="5191852" y="3461569"/>
            <a:ext cx="2381421" cy="558237"/>
          </a:xfrm>
          <a:prstGeom prst="roundRect">
            <a:avLst>
              <a:gd name="adj" fmla="val 10304"/>
            </a:avLst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000" i="1"/>
              <a:t>Execute with </a:t>
            </a:r>
            <a:r>
              <a:rPr lang="en-US" altLang="ko-KR" sz="1000" b="1" i="1"/>
              <a:t>NVIDIA_VISIBLE_DEVICES </a:t>
            </a:r>
            <a:r>
              <a:rPr lang="en-US" altLang="ko-KR" sz="1000" i="1"/>
              <a:t>env</a:t>
            </a:r>
          </a:p>
          <a:p>
            <a:r>
              <a:rPr lang="en-US" altLang="ko-KR" sz="1000" i="1"/>
              <a:t>in OCI Runtime Config</a:t>
            </a:r>
          </a:p>
        </p:txBody>
      </p:sp>
      <p:sp>
        <p:nvSpPr>
          <p:cNvPr id="48" name="사각형: 둥근 모서리 114">
            <a:extLst>
              <a:ext uri="{FF2B5EF4-FFF2-40B4-BE49-F238E27FC236}">
                <a16:creationId xmlns:a16="http://schemas.microsoft.com/office/drawing/2014/main" id="{BCD6335D-2738-39D5-0B67-C257E27F8366}"/>
              </a:ext>
            </a:extLst>
          </p:cNvPr>
          <p:cNvSpPr/>
          <p:nvPr/>
        </p:nvSpPr>
        <p:spPr>
          <a:xfrm>
            <a:off x="861290" y="2724535"/>
            <a:ext cx="1921124" cy="1456523"/>
          </a:xfrm>
          <a:prstGeom prst="roundRect">
            <a:avLst>
              <a:gd name="adj" fmla="val 6774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50" b="1">
                <a:solidFill>
                  <a:schemeClr val="tx1"/>
                </a:solidFill>
              </a:rPr>
              <a:t>Container</a:t>
            </a:r>
            <a:endParaRPr lang="en-US" altLang="ko-KR" sz="1050" b="1" dirty="0">
              <a:solidFill>
                <a:schemeClr val="tx1"/>
              </a:solidFill>
            </a:endParaRPr>
          </a:p>
          <a:p>
            <a:pPr algn="ctr"/>
            <a:r>
              <a:rPr lang="en-US" altLang="ko-KR" sz="1050">
                <a:solidFill>
                  <a:schemeClr val="tx1"/>
                </a:solidFill>
              </a:rPr>
              <a:t>(Namespace, Rootfs)</a:t>
            </a:r>
          </a:p>
        </p:txBody>
      </p:sp>
      <p:sp>
        <p:nvSpPr>
          <p:cNvPr id="59" name="사각형: 둥근 모서리 114">
            <a:extLst>
              <a:ext uri="{FF2B5EF4-FFF2-40B4-BE49-F238E27FC236}">
                <a16:creationId xmlns:a16="http://schemas.microsoft.com/office/drawing/2014/main" id="{EB601565-B90B-5FE5-DFBC-3D2DCAC467D5}"/>
              </a:ext>
            </a:extLst>
          </p:cNvPr>
          <p:cNvSpPr/>
          <p:nvPr/>
        </p:nvSpPr>
        <p:spPr>
          <a:xfrm>
            <a:off x="1904479" y="1783783"/>
            <a:ext cx="1828120" cy="357931"/>
          </a:xfrm>
          <a:prstGeom prst="roundRect">
            <a:avLst>
              <a:gd name="adj" fmla="val 10304"/>
            </a:avLst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000" i="1"/>
              <a:t>Create namespace (clone()),</a:t>
            </a:r>
          </a:p>
          <a:p>
            <a:r>
              <a:rPr lang="en-US" altLang="ko-KR" sz="1000" i="1"/>
              <a:t>Set rootfs (overlay FS)</a:t>
            </a:r>
          </a:p>
        </p:txBody>
      </p:sp>
      <p:sp>
        <p:nvSpPr>
          <p:cNvPr id="73" name="타원 72">
            <a:extLst>
              <a:ext uri="{FF2B5EF4-FFF2-40B4-BE49-F238E27FC236}">
                <a16:creationId xmlns:a16="http://schemas.microsoft.com/office/drawing/2014/main" id="{F992FEB5-377F-E6B9-04A5-62CCA42A4856}"/>
              </a:ext>
            </a:extLst>
          </p:cNvPr>
          <p:cNvSpPr/>
          <p:nvPr/>
        </p:nvSpPr>
        <p:spPr>
          <a:xfrm>
            <a:off x="4934162" y="2357187"/>
            <a:ext cx="261982" cy="245150"/>
          </a:xfrm>
          <a:prstGeom prst="ellipse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8</a:t>
            </a:r>
            <a:endParaRPr lang="ko-KR" altLang="en-US" sz="1000"/>
          </a:p>
        </p:txBody>
      </p:sp>
      <p:sp>
        <p:nvSpPr>
          <p:cNvPr id="74" name="타원 73">
            <a:extLst>
              <a:ext uri="{FF2B5EF4-FFF2-40B4-BE49-F238E27FC236}">
                <a16:creationId xmlns:a16="http://schemas.microsoft.com/office/drawing/2014/main" id="{440C1A72-BA78-3A67-B714-5AB92C658EE3}"/>
              </a:ext>
            </a:extLst>
          </p:cNvPr>
          <p:cNvSpPr/>
          <p:nvPr/>
        </p:nvSpPr>
        <p:spPr>
          <a:xfrm>
            <a:off x="4934162" y="3369841"/>
            <a:ext cx="261982" cy="245150"/>
          </a:xfrm>
          <a:prstGeom prst="ellipse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9</a:t>
            </a:r>
            <a:endParaRPr lang="ko-KR" altLang="en-US" sz="1000"/>
          </a:p>
        </p:txBody>
      </p:sp>
      <p:sp>
        <p:nvSpPr>
          <p:cNvPr id="75" name="타원 74">
            <a:extLst>
              <a:ext uri="{FF2B5EF4-FFF2-40B4-BE49-F238E27FC236}">
                <a16:creationId xmlns:a16="http://schemas.microsoft.com/office/drawing/2014/main" id="{FE7D900D-A52B-0736-4F37-54FDB10F3E3A}"/>
              </a:ext>
            </a:extLst>
          </p:cNvPr>
          <p:cNvSpPr/>
          <p:nvPr/>
        </p:nvSpPr>
        <p:spPr>
          <a:xfrm>
            <a:off x="3573595" y="4409321"/>
            <a:ext cx="261982" cy="245150"/>
          </a:xfrm>
          <a:prstGeom prst="ellipse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000"/>
          </a:p>
        </p:txBody>
      </p:sp>
      <p:sp>
        <p:nvSpPr>
          <p:cNvPr id="80" name="사각형: 둥근 모서리 114">
            <a:extLst>
              <a:ext uri="{FF2B5EF4-FFF2-40B4-BE49-F238E27FC236}">
                <a16:creationId xmlns:a16="http://schemas.microsoft.com/office/drawing/2014/main" id="{7D0C0845-51F7-466E-0204-733230E1FFBB}"/>
              </a:ext>
            </a:extLst>
          </p:cNvPr>
          <p:cNvSpPr/>
          <p:nvPr/>
        </p:nvSpPr>
        <p:spPr>
          <a:xfrm>
            <a:off x="1043953" y="3313618"/>
            <a:ext cx="1886052" cy="390651"/>
          </a:xfrm>
          <a:prstGeom prst="roundRect">
            <a:avLst>
              <a:gd name="adj" fmla="val 10304"/>
            </a:avLst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i="1"/>
              <a:t>Change root (pivot_root()),</a:t>
            </a:r>
            <a:br>
              <a:rPr lang="en-US" altLang="ko-KR" sz="1000" i="1"/>
            </a:br>
            <a:r>
              <a:rPr lang="en-US" altLang="ko-KR" sz="1000" i="1"/>
              <a:t>Exec app (exec())</a:t>
            </a:r>
          </a:p>
        </p:txBody>
      </p:sp>
      <p:cxnSp>
        <p:nvCxnSpPr>
          <p:cNvPr id="97" name="직선 화살표 연결선 96">
            <a:extLst>
              <a:ext uri="{FF2B5EF4-FFF2-40B4-BE49-F238E27FC236}">
                <a16:creationId xmlns:a16="http://schemas.microsoft.com/office/drawing/2014/main" id="{2CCF82AE-35D7-E97E-4C29-209F7E56813D}"/>
              </a:ext>
            </a:extLst>
          </p:cNvPr>
          <p:cNvCxnSpPr>
            <a:cxnSpLocks/>
          </p:cNvCxnSpPr>
          <p:nvPr/>
        </p:nvCxnSpPr>
        <p:spPr>
          <a:xfrm flipH="1">
            <a:off x="1418481" y="2156539"/>
            <a:ext cx="2289418" cy="56799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타원 69">
            <a:extLst>
              <a:ext uri="{FF2B5EF4-FFF2-40B4-BE49-F238E27FC236}">
                <a16:creationId xmlns:a16="http://schemas.microsoft.com/office/drawing/2014/main" id="{19E61F85-FB57-3576-F53E-BA3510F0620C}"/>
              </a:ext>
            </a:extLst>
          </p:cNvPr>
          <p:cNvSpPr/>
          <p:nvPr/>
        </p:nvSpPr>
        <p:spPr>
          <a:xfrm>
            <a:off x="3573595" y="1960835"/>
            <a:ext cx="261982" cy="245150"/>
          </a:xfrm>
          <a:prstGeom prst="ellipse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6</a:t>
            </a:r>
            <a:endParaRPr lang="ko-KR" altLang="en-US" sz="1000"/>
          </a:p>
        </p:txBody>
      </p:sp>
      <p:sp>
        <p:nvSpPr>
          <p:cNvPr id="24" name="사각형: 둥근 모서리 114">
            <a:extLst>
              <a:ext uri="{FF2B5EF4-FFF2-40B4-BE49-F238E27FC236}">
                <a16:creationId xmlns:a16="http://schemas.microsoft.com/office/drawing/2014/main" id="{BE307903-0F07-4315-CEF1-65AEE7C47A2C}"/>
              </a:ext>
            </a:extLst>
          </p:cNvPr>
          <p:cNvSpPr/>
          <p:nvPr/>
        </p:nvSpPr>
        <p:spPr>
          <a:xfrm>
            <a:off x="755576" y="4239338"/>
            <a:ext cx="3442777" cy="452194"/>
          </a:xfrm>
          <a:prstGeom prst="roundRect">
            <a:avLst>
              <a:gd name="adj" fmla="val 10304"/>
            </a:avLst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000" i="1"/>
              <a:t>- Bind mount GPU device file and CUDA libraries/tools,</a:t>
            </a:r>
          </a:p>
          <a:p>
            <a:r>
              <a:rPr lang="en-US" altLang="ko-KR" sz="1000" i="1"/>
              <a:t>- Allow GPU Cgroup,</a:t>
            </a:r>
          </a:p>
          <a:p>
            <a:r>
              <a:rPr lang="en-US" altLang="ko-KR" sz="1000" i="1"/>
              <a:t>- Load GPU kernel module</a:t>
            </a:r>
          </a:p>
        </p:txBody>
      </p:sp>
      <p:sp>
        <p:nvSpPr>
          <p:cNvPr id="4" name="사각형: 둥근 모서리 114">
            <a:extLst>
              <a:ext uri="{FF2B5EF4-FFF2-40B4-BE49-F238E27FC236}">
                <a16:creationId xmlns:a16="http://schemas.microsoft.com/office/drawing/2014/main" id="{B03B376A-6D2B-8974-B849-66A97C28BCB9}"/>
              </a:ext>
            </a:extLst>
          </p:cNvPr>
          <p:cNvSpPr/>
          <p:nvPr/>
        </p:nvSpPr>
        <p:spPr>
          <a:xfrm>
            <a:off x="7020271" y="2069538"/>
            <a:ext cx="1717863" cy="368911"/>
          </a:xfrm>
          <a:prstGeom prst="roundRect">
            <a:avLst>
              <a:gd name="adj" fmla="val 10304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50"/>
              <a:t>OCI Runtime Config File (JSON)</a:t>
            </a:r>
            <a:endParaRPr lang="en-US" altLang="ko-KR" sz="1050" dirty="0"/>
          </a:p>
        </p:txBody>
      </p:sp>
      <p:cxnSp>
        <p:nvCxnSpPr>
          <p:cNvPr id="5" name="직선 화살표 연결선 17">
            <a:extLst>
              <a:ext uri="{FF2B5EF4-FFF2-40B4-BE49-F238E27FC236}">
                <a16:creationId xmlns:a16="http://schemas.microsoft.com/office/drawing/2014/main" id="{637EA553-AF3C-3C21-1BDE-976C4699C72A}"/>
              </a:ext>
            </a:extLst>
          </p:cNvPr>
          <p:cNvCxnSpPr>
            <a:cxnSpLocks/>
            <a:stCxn id="4" idx="1"/>
            <a:endCxn id="35" idx="3"/>
          </p:cNvCxnSpPr>
          <p:nvPr/>
        </p:nvCxnSpPr>
        <p:spPr>
          <a:xfrm flipH="1">
            <a:off x="6439041" y="2253994"/>
            <a:ext cx="581230" cy="679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화살표 연결선 17">
            <a:extLst>
              <a:ext uri="{FF2B5EF4-FFF2-40B4-BE49-F238E27FC236}">
                <a16:creationId xmlns:a16="http://schemas.microsoft.com/office/drawing/2014/main" id="{436BB953-83B6-3C7B-567C-EF054C9ABCCE}"/>
              </a:ext>
            </a:extLst>
          </p:cNvPr>
          <p:cNvCxnSpPr>
            <a:cxnSpLocks/>
            <a:stCxn id="4" idx="1"/>
            <a:endCxn id="44" idx="3"/>
          </p:cNvCxnSpPr>
          <p:nvPr/>
        </p:nvCxnSpPr>
        <p:spPr>
          <a:xfrm flipH="1">
            <a:off x="6443560" y="2253994"/>
            <a:ext cx="576711" cy="1024604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9B7B380F-85DE-75F3-2114-98EA5913BA9E}"/>
              </a:ext>
            </a:extLst>
          </p:cNvPr>
          <p:cNvCxnSpPr>
            <a:cxnSpLocks/>
            <a:stCxn id="48" idx="0"/>
            <a:endCxn id="35" idx="1"/>
          </p:cNvCxnSpPr>
          <p:nvPr/>
        </p:nvCxnSpPr>
        <p:spPr>
          <a:xfrm flipV="1">
            <a:off x="1821852" y="2260785"/>
            <a:ext cx="1886047" cy="463751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사각형: 둥근 모서리 114">
            <a:extLst>
              <a:ext uri="{FF2B5EF4-FFF2-40B4-BE49-F238E27FC236}">
                <a16:creationId xmlns:a16="http://schemas.microsoft.com/office/drawing/2014/main" id="{3F8151C7-0210-7389-74C3-663996359440}"/>
              </a:ext>
            </a:extLst>
          </p:cNvPr>
          <p:cNvSpPr/>
          <p:nvPr/>
        </p:nvSpPr>
        <p:spPr>
          <a:xfrm>
            <a:off x="552959" y="2786691"/>
            <a:ext cx="1449638" cy="527623"/>
          </a:xfrm>
          <a:prstGeom prst="roundRect">
            <a:avLst>
              <a:gd name="adj" fmla="val 10304"/>
            </a:avLst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i="1"/>
              <a:t>Request run </a:t>
            </a:r>
          </a:p>
          <a:p>
            <a:pPr algn="ctr"/>
            <a:r>
              <a:rPr lang="en-US" altLang="ko-KR" sz="1000" i="1"/>
              <a:t>prestart hook through FIFO</a:t>
            </a:r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4253601B-95A8-779C-C1CE-A00579628604}"/>
              </a:ext>
            </a:extLst>
          </p:cNvPr>
          <p:cNvSpPr/>
          <p:nvPr/>
        </p:nvSpPr>
        <p:spPr>
          <a:xfrm>
            <a:off x="1690861" y="2678508"/>
            <a:ext cx="261982" cy="245150"/>
          </a:xfrm>
          <a:prstGeom prst="ellipse">
            <a:avLst/>
          </a:prstGeom>
          <a:solidFill>
            <a:schemeClr val="bg1"/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7</a:t>
            </a:r>
            <a:endParaRPr lang="ko-KR" altLang="en-US" sz="1000"/>
          </a:p>
        </p:txBody>
      </p: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F9CDD056-89C3-02AF-8CBC-68C411386159}"/>
              </a:ext>
            </a:extLst>
          </p:cNvPr>
          <p:cNvCxnSpPr>
            <a:cxnSpLocks/>
          </p:cNvCxnSpPr>
          <p:nvPr/>
        </p:nvCxnSpPr>
        <p:spPr>
          <a:xfrm flipH="1">
            <a:off x="2238513" y="2358584"/>
            <a:ext cx="1464878" cy="366164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타원 56">
            <a:extLst>
              <a:ext uri="{FF2B5EF4-FFF2-40B4-BE49-F238E27FC236}">
                <a16:creationId xmlns:a16="http://schemas.microsoft.com/office/drawing/2014/main" id="{900275D4-D498-8C83-2A30-A8F4247EBF83}"/>
              </a:ext>
            </a:extLst>
          </p:cNvPr>
          <p:cNvSpPr/>
          <p:nvPr/>
        </p:nvSpPr>
        <p:spPr>
          <a:xfrm>
            <a:off x="3573595" y="2321479"/>
            <a:ext cx="261982" cy="245150"/>
          </a:xfrm>
          <a:prstGeom prst="ellipse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000"/>
          </a:p>
        </p:txBody>
      </p:sp>
      <p:sp>
        <p:nvSpPr>
          <p:cNvPr id="58" name="사각형: 둥근 모서리 114">
            <a:extLst>
              <a:ext uri="{FF2B5EF4-FFF2-40B4-BE49-F238E27FC236}">
                <a16:creationId xmlns:a16="http://schemas.microsoft.com/office/drawing/2014/main" id="{A180C887-8D18-037A-9B26-D9E9B93976CC}"/>
              </a:ext>
            </a:extLst>
          </p:cNvPr>
          <p:cNvSpPr/>
          <p:nvPr/>
        </p:nvSpPr>
        <p:spPr>
          <a:xfrm>
            <a:off x="2883404" y="2551090"/>
            <a:ext cx="1654066" cy="357931"/>
          </a:xfrm>
          <a:prstGeom prst="roundRect">
            <a:avLst>
              <a:gd name="adj" fmla="val 10304"/>
            </a:avLst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000" i="1"/>
              <a:t>Response done prestart hook through FIFO</a:t>
            </a:r>
          </a:p>
        </p:txBody>
      </p:sp>
      <p:sp>
        <p:nvSpPr>
          <p:cNvPr id="9" name="사각형: 둥근 모서리 114">
            <a:extLst>
              <a:ext uri="{FF2B5EF4-FFF2-40B4-BE49-F238E27FC236}">
                <a16:creationId xmlns:a16="http://schemas.microsoft.com/office/drawing/2014/main" id="{E7DBCB36-C6A1-6D31-C35C-E306E2FA81FD}"/>
              </a:ext>
            </a:extLst>
          </p:cNvPr>
          <p:cNvSpPr/>
          <p:nvPr/>
        </p:nvSpPr>
        <p:spPr>
          <a:xfrm>
            <a:off x="3707899" y="1063899"/>
            <a:ext cx="2731142" cy="368911"/>
          </a:xfrm>
          <a:prstGeom prst="roundRect">
            <a:avLst>
              <a:gd name="adj" fmla="val 10304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50"/>
              <a:t>nvidia-container-runtime (Shim)</a:t>
            </a:r>
            <a:endParaRPr lang="en-US" altLang="ko-KR" sz="1050" dirty="0"/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C7FA571B-28B0-098A-15CD-D9C7D6F34FE8}"/>
              </a:ext>
            </a:extLst>
          </p:cNvPr>
          <p:cNvCxnSpPr>
            <a:cxnSpLocks/>
            <a:stCxn id="9" idx="2"/>
            <a:endCxn id="35" idx="0"/>
          </p:cNvCxnSpPr>
          <p:nvPr/>
        </p:nvCxnSpPr>
        <p:spPr>
          <a:xfrm>
            <a:off x="5073470" y="1432810"/>
            <a:ext cx="0" cy="643518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사각형: 둥근 모서리 114">
            <a:extLst>
              <a:ext uri="{FF2B5EF4-FFF2-40B4-BE49-F238E27FC236}">
                <a16:creationId xmlns:a16="http://schemas.microsoft.com/office/drawing/2014/main" id="{500E29E9-EB12-40C5-878B-FC332F0E25FF}"/>
              </a:ext>
            </a:extLst>
          </p:cNvPr>
          <p:cNvSpPr/>
          <p:nvPr/>
        </p:nvSpPr>
        <p:spPr>
          <a:xfrm>
            <a:off x="3703390" y="51470"/>
            <a:ext cx="2731142" cy="368911"/>
          </a:xfrm>
          <a:prstGeom prst="roundRect">
            <a:avLst>
              <a:gd name="adj" fmla="val 10304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50"/>
              <a:t>containerd</a:t>
            </a:r>
            <a:endParaRPr lang="en-US" altLang="ko-KR" sz="1050" dirty="0"/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E1D19F86-2CA9-2B76-1C34-0EB857963CFD}"/>
              </a:ext>
            </a:extLst>
          </p:cNvPr>
          <p:cNvCxnSpPr>
            <a:cxnSpLocks/>
            <a:stCxn id="14" idx="2"/>
            <a:endCxn id="9" idx="0"/>
          </p:cNvCxnSpPr>
          <p:nvPr/>
        </p:nvCxnSpPr>
        <p:spPr>
          <a:xfrm>
            <a:off x="5068961" y="420381"/>
            <a:ext cx="4509" cy="643518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화살표 연결선 67">
            <a:extLst>
              <a:ext uri="{FF2B5EF4-FFF2-40B4-BE49-F238E27FC236}">
                <a16:creationId xmlns:a16="http://schemas.microsoft.com/office/drawing/2014/main" id="{A5F09202-E33F-B1E0-E108-46477401D592}"/>
              </a:ext>
            </a:extLst>
          </p:cNvPr>
          <p:cNvCxnSpPr>
            <a:cxnSpLocks/>
            <a:stCxn id="14" idx="3"/>
            <a:endCxn id="4" idx="0"/>
          </p:cNvCxnSpPr>
          <p:nvPr/>
        </p:nvCxnSpPr>
        <p:spPr>
          <a:xfrm>
            <a:off x="6434532" y="235926"/>
            <a:ext cx="1444671" cy="183361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사각형: 둥근 모서리 114">
            <a:extLst>
              <a:ext uri="{FF2B5EF4-FFF2-40B4-BE49-F238E27FC236}">
                <a16:creationId xmlns:a16="http://schemas.microsoft.com/office/drawing/2014/main" id="{2C18F3FE-2E07-4B7A-6C77-91F233DD180E}"/>
              </a:ext>
            </a:extLst>
          </p:cNvPr>
          <p:cNvSpPr/>
          <p:nvPr/>
        </p:nvSpPr>
        <p:spPr>
          <a:xfrm>
            <a:off x="861290" y="51470"/>
            <a:ext cx="1921124" cy="368911"/>
          </a:xfrm>
          <a:prstGeom prst="roundRect">
            <a:avLst>
              <a:gd name="adj" fmla="val 10304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50" dirty="0"/>
              <a:t>ctr / dockerd</a:t>
            </a:r>
          </a:p>
        </p:txBody>
      </p:sp>
      <p:cxnSp>
        <p:nvCxnSpPr>
          <p:cNvPr id="78" name="직선 화살표 연결선 77">
            <a:extLst>
              <a:ext uri="{FF2B5EF4-FFF2-40B4-BE49-F238E27FC236}">
                <a16:creationId xmlns:a16="http://schemas.microsoft.com/office/drawing/2014/main" id="{AC89B874-DDB3-0D83-E883-A97B394C130D}"/>
              </a:ext>
            </a:extLst>
          </p:cNvPr>
          <p:cNvCxnSpPr>
            <a:cxnSpLocks/>
            <a:stCxn id="77" idx="3"/>
            <a:endCxn id="14" idx="1"/>
          </p:cNvCxnSpPr>
          <p:nvPr/>
        </p:nvCxnSpPr>
        <p:spPr>
          <a:xfrm>
            <a:off x="2782414" y="235926"/>
            <a:ext cx="920976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타원 83">
            <a:extLst>
              <a:ext uri="{FF2B5EF4-FFF2-40B4-BE49-F238E27FC236}">
                <a16:creationId xmlns:a16="http://schemas.microsoft.com/office/drawing/2014/main" id="{35837222-9715-3269-C97E-203A298E7802}"/>
              </a:ext>
            </a:extLst>
          </p:cNvPr>
          <p:cNvSpPr/>
          <p:nvPr/>
        </p:nvSpPr>
        <p:spPr>
          <a:xfrm>
            <a:off x="2633884" y="113943"/>
            <a:ext cx="261982" cy="245150"/>
          </a:xfrm>
          <a:prstGeom prst="ellipse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1</a:t>
            </a:r>
            <a:endParaRPr lang="ko-KR" altLang="en-US" sz="1000"/>
          </a:p>
        </p:txBody>
      </p:sp>
      <p:sp>
        <p:nvSpPr>
          <p:cNvPr id="85" name="사각형: 둥근 모서리 114">
            <a:extLst>
              <a:ext uri="{FF2B5EF4-FFF2-40B4-BE49-F238E27FC236}">
                <a16:creationId xmlns:a16="http://schemas.microsoft.com/office/drawing/2014/main" id="{2A7D5D3F-724C-D23B-E207-74021F979E67}"/>
              </a:ext>
            </a:extLst>
          </p:cNvPr>
          <p:cNvSpPr/>
          <p:nvPr/>
        </p:nvSpPr>
        <p:spPr>
          <a:xfrm>
            <a:off x="1519984" y="443714"/>
            <a:ext cx="2489782" cy="357931"/>
          </a:xfrm>
          <a:prstGeom prst="roundRect">
            <a:avLst>
              <a:gd name="adj" fmla="val 10304"/>
            </a:avLst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000" i="1"/>
              <a:t>Request create container</a:t>
            </a:r>
          </a:p>
          <a:p>
            <a:r>
              <a:rPr lang="en-US" altLang="ko-KR" sz="1000" i="1"/>
              <a:t>with </a:t>
            </a:r>
            <a:r>
              <a:rPr lang="en-US" altLang="ko-KR" sz="1000" b="1" i="1"/>
              <a:t>NVIDIA_VISIBLE_DEVICES </a:t>
            </a:r>
            <a:r>
              <a:rPr lang="en-US" altLang="ko-KR" sz="1000" i="1"/>
              <a:t>env</a:t>
            </a:r>
          </a:p>
        </p:txBody>
      </p:sp>
      <p:sp>
        <p:nvSpPr>
          <p:cNvPr id="91" name="사각형: 둥근 모서리 114">
            <a:extLst>
              <a:ext uri="{FF2B5EF4-FFF2-40B4-BE49-F238E27FC236}">
                <a16:creationId xmlns:a16="http://schemas.microsoft.com/office/drawing/2014/main" id="{48C954F3-7E09-D09E-4D08-9068FF712589}"/>
              </a:ext>
            </a:extLst>
          </p:cNvPr>
          <p:cNvSpPr/>
          <p:nvPr/>
        </p:nvSpPr>
        <p:spPr>
          <a:xfrm>
            <a:off x="6500171" y="51470"/>
            <a:ext cx="2843808" cy="357931"/>
          </a:xfrm>
          <a:prstGeom prst="roundRect">
            <a:avLst>
              <a:gd name="adj" fmla="val 10304"/>
            </a:avLst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000" i="1"/>
              <a:t>Create OCI Runtime Config</a:t>
            </a:r>
          </a:p>
          <a:p>
            <a:r>
              <a:rPr lang="en-US" altLang="ko-KR" sz="1000" i="1"/>
              <a:t>with </a:t>
            </a:r>
            <a:r>
              <a:rPr lang="en-US" altLang="ko-KR" sz="1000" b="1" i="1"/>
              <a:t>NVIDIA_VISIBLE_DEVICES</a:t>
            </a:r>
            <a:r>
              <a:rPr lang="en-US" altLang="ko-KR" sz="1000" i="1"/>
              <a:t> env</a:t>
            </a:r>
          </a:p>
        </p:txBody>
      </p:sp>
      <p:sp>
        <p:nvSpPr>
          <p:cNvPr id="92" name="타원 91">
            <a:extLst>
              <a:ext uri="{FF2B5EF4-FFF2-40B4-BE49-F238E27FC236}">
                <a16:creationId xmlns:a16="http://schemas.microsoft.com/office/drawing/2014/main" id="{8EF3BD07-C4E9-E570-07DB-4F364ED6102C}"/>
              </a:ext>
            </a:extLst>
          </p:cNvPr>
          <p:cNvSpPr/>
          <p:nvPr/>
        </p:nvSpPr>
        <p:spPr>
          <a:xfrm>
            <a:off x="6299032" y="113943"/>
            <a:ext cx="261982" cy="245150"/>
          </a:xfrm>
          <a:prstGeom prst="ellipse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2</a:t>
            </a:r>
            <a:endParaRPr lang="ko-KR" altLang="en-US" sz="1000"/>
          </a:p>
        </p:txBody>
      </p:sp>
      <p:sp>
        <p:nvSpPr>
          <p:cNvPr id="98" name="사각형: 둥근 모서리 114">
            <a:extLst>
              <a:ext uri="{FF2B5EF4-FFF2-40B4-BE49-F238E27FC236}">
                <a16:creationId xmlns:a16="http://schemas.microsoft.com/office/drawing/2014/main" id="{59146D3E-FA2A-8AC8-D3DC-003AA2837B98}"/>
              </a:ext>
            </a:extLst>
          </p:cNvPr>
          <p:cNvSpPr/>
          <p:nvPr/>
        </p:nvSpPr>
        <p:spPr>
          <a:xfrm>
            <a:off x="5192770" y="416742"/>
            <a:ext cx="1954122" cy="357931"/>
          </a:xfrm>
          <a:prstGeom prst="roundRect">
            <a:avLst>
              <a:gd name="adj" fmla="val 10304"/>
            </a:avLst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000" i="1"/>
              <a:t>Execute to</a:t>
            </a:r>
          </a:p>
          <a:p>
            <a:r>
              <a:rPr lang="en-US" altLang="ko-KR" sz="1000" i="1"/>
              <a:t>request create container</a:t>
            </a:r>
          </a:p>
        </p:txBody>
      </p:sp>
      <p:sp>
        <p:nvSpPr>
          <p:cNvPr id="99" name="타원 98">
            <a:extLst>
              <a:ext uri="{FF2B5EF4-FFF2-40B4-BE49-F238E27FC236}">
                <a16:creationId xmlns:a16="http://schemas.microsoft.com/office/drawing/2014/main" id="{29FE635E-DBBD-29F7-710A-1B88A3FFE05A}"/>
              </a:ext>
            </a:extLst>
          </p:cNvPr>
          <p:cNvSpPr/>
          <p:nvPr/>
        </p:nvSpPr>
        <p:spPr>
          <a:xfrm>
            <a:off x="4942479" y="339463"/>
            <a:ext cx="261982" cy="245150"/>
          </a:xfrm>
          <a:prstGeom prst="ellipse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3</a:t>
            </a:r>
            <a:endParaRPr lang="ko-KR" altLang="en-US" sz="1000"/>
          </a:p>
        </p:txBody>
      </p:sp>
      <p:cxnSp>
        <p:nvCxnSpPr>
          <p:cNvPr id="100" name="직선 화살표 연결선 99">
            <a:extLst>
              <a:ext uri="{FF2B5EF4-FFF2-40B4-BE49-F238E27FC236}">
                <a16:creationId xmlns:a16="http://schemas.microsoft.com/office/drawing/2014/main" id="{F2AA3526-95A7-CAEE-3A28-3F4766AA295B}"/>
              </a:ext>
            </a:extLst>
          </p:cNvPr>
          <p:cNvCxnSpPr>
            <a:cxnSpLocks/>
            <a:stCxn id="9" idx="3"/>
            <a:endCxn id="4" idx="0"/>
          </p:cNvCxnSpPr>
          <p:nvPr/>
        </p:nvCxnSpPr>
        <p:spPr>
          <a:xfrm>
            <a:off x="6439041" y="1248355"/>
            <a:ext cx="1440162" cy="821183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사각형: 둥근 모서리 114">
            <a:extLst>
              <a:ext uri="{FF2B5EF4-FFF2-40B4-BE49-F238E27FC236}">
                <a16:creationId xmlns:a16="http://schemas.microsoft.com/office/drawing/2014/main" id="{A81F07F7-4A63-CCDD-A655-5E737E66FBEC}"/>
              </a:ext>
            </a:extLst>
          </p:cNvPr>
          <p:cNvSpPr/>
          <p:nvPr/>
        </p:nvSpPr>
        <p:spPr>
          <a:xfrm>
            <a:off x="6535021" y="1071400"/>
            <a:ext cx="2489782" cy="357931"/>
          </a:xfrm>
          <a:prstGeom prst="roundRect">
            <a:avLst>
              <a:gd name="adj" fmla="val 10304"/>
            </a:avLst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000" i="1"/>
              <a:t>Modify OCI Runtime Config</a:t>
            </a:r>
          </a:p>
          <a:p>
            <a:r>
              <a:rPr lang="en-US" altLang="ko-KR" sz="1000" i="1"/>
              <a:t>to inject </a:t>
            </a:r>
            <a:r>
              <a:rPr lang="en-US" altLang="ko-KR" sz="1000" b="1" i="1"/>
              <a:t>prestart hook</a:t>
            </a:r>
          </a:p>
        </p:txBody>
      </p:sp>
      <p:sp>
        <p:nvSpPr>
          <p:cNvPr id="104" name="타원 103">
            <a:extLst>
              <a:ext uri="{FF2B5EF4-FFF2-40B4-BE49-F238E27FC236}">
                <a16:creationId xmlns:a16="http://schemas.microsoft.com/office/drawing/2014/main" id="{D0CB6F5D-C220-5CEB-DD91-2DF23D55D479}"/>
              </a:ext>
            </a:extLst>
          </p:cNvPr>
          <p:cNvSpPr/>
          <p:nvPr/>
        </p:nvSpPr>
        <p:spPr>
          <a:xfrm>
            <a:off x="6308050" y="1125779"/>
            <a:ext cx="261982" cy="245150"/>
          </a:xfrm>
          <a:prstGeom prst="ellipse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4</a:t>
            </a:r>
            <a:endParaRPr lang="ko-KR" altLang="en-US" sz="1000"/>
          </a:p>
        </p:txBody>
      </p:sp>
      <p:sp>
        <p:nvSpPr>
          <p:cNvPr id="105" name="사각형: 둥근 모서리 114">
            <a:extLst>
              <a:ext uri="{FF2B5EF4-FFF2-40B4-BE49-F238E27FC236}">
                <a16:creationId xmlns:a16="http://schemas.microsoft.com/office/drawing/2014/main" id="{057F0C62-E8F8-9CA2-0D87-B184E67EE533}"/>
              </a:ext>
            </a:extLst>
          </p:cNvPr>
          <p:cNvSpPr/>
          <p:nvPr/>
        </p:nvSpPr>
        <p:spPr>
          <a:xfrm>
            <a:off x="5205000" y="1426775"/>
            <a:ext cx="1954122" cy="357931"/>
          </a:xfrm>
          <a:prstGeom prst="roundRect">
            <a:avLst>
              <a:gd name="adj" fmla="val 10304"/>
            </a:avLst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000" i="1"/>
              <a:t>Execute to</a:t>
            </a:r>
          </a:p>
          <a:p>
            <a:r>
              <a:rPr lang="en-US" altLang="ko-KR" sz="1000" i="1"/>
              <a:t>request create container</a:t>
            </a:r>
          </a:p>
        </p:txBody>
      </p:sp>
      <p:sp>
        <p:nvSpPr>
          <p:cNvPr id="106" name="타원 105">
            <a:extLst>
              <a:ext uri="{FF2B5EF4-FFF2-40B4-BE49-F238E27FC236}">
                <a16:creationId xmlns:a16="http://schemas.microsoft.com/office/drawing/2014/main" id="{DFA9FB7D-B0F3-852E-D20C-56BC77DF82CE}"/>
              </a:ext>
            </a:extLst>
          </p:cNvPr>
          <p:cNvSpPr/>
          <p:nvPr/>
        </p:nvSpPr>
        <p:spPr>
          <a:xfrm>
            <a:off x="4942479" y="1349496"/>
            <a:ext cx="261982" cy="245150"/>
          </a:xfrm>
          <a:prstGeom prst="ellipse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5</a:t>
            </a:r>
            <a:endParaRPr lang="ko-KR" altLang="en-US" sz="1000"/>
          </a:p>
        </p:txBody>
      </p:sp>
      <p:sp>
        <p:nvSpPr>
          <p:cNvPr id="108" name="사각형: 둥근 모서리 114">
            <a:extLst>
              <a:ext uri="{FF2B5EF4-FFF2-40B4-BE49-F238E27FC236}">
                <a16:creationId xmlns:a16="http://schemas.microsoft.com/office/drawing/2014/main" id="{B6B5F83C-1491-276C-81C3-FB0D6B725777}"/>
              </a:ext>
            </a:extLst>
          </p:cNvPr>
          <p:cNvSpPr/>
          <p:nvPr/>
        </p:nvSpPr>
        <p:spPr>
          <a:xfrm>
            <a:off x="3529044" y="4409322"/>
            <a:ext cx="338500" cy="245150"/>
          </a:xfrm>
          <a:prstGeom prst="roundRect">
            <a:avLst>
              <a:gd name="adj" fmla="val 10304"/>
            </a:avLst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10</a:t>
            </a:r>
          </a:p>
        </p:txBody>
      </p:sp>
      <p:sp>
        <p:nvSpPr>
          <p:cNvPr id="112" name="사각형: 둥근 모서리 114">
            <a:extLst>
              <a:ext uri="{FF2B5EF4-FFF2-40B4-BE49-F238E27FC236}">
                <a16:creationId xmlns:a16="http://schemas.microsoft.com/office/drawing/2014/main" id="{B4CA8B3A-5421-FB45-365E-1619F4941FFC}"/>
              </a:ext>
            </a:extLst>
          </p:cNvPr>
          <p:cNvSpPr/>
          <p:nvPr/>
        </p:nvSpPr>
        <p:spPr>
          <a:xfrm>
            <a:off x="3529044" y="2325819"/>
            <a:ext cx="338500" cy="245150"/>
          </a:xfrm>
          <a:prstGeom prst="roundRect">
            <a:avLst>
              <a:gd name="adj" fmla="val 10304"/>
            </a:avLst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11</a:t>
            </a:r>
          </a:p>
        </p:txBody>
      </p:sp>
      <p:sp>
        <p:nvSpPr>
          <p:cNvPr id="113" name="타원 112">
            <a:extLst>
              <a:ext uri="{FF2B5EF4-FFF2-40B4-BE49-F238E27FC236}">
                <a16:creationId xmlns:a16="http://schemas.microsoft.com/office/drawing/2014/main" id="{F812CCD5-AB2B-6287-3233-E10519F850B1}"/>
              </a:ext>
            </a:extLst>
          </p:cNvPr>
          <p:cNvSpPr/>
          <p:nvPr/>
        </p:nvSpPr>
        <p:spPr>
          <a:xfrm>
            <a:off x="923476" y="3376469"/>
            <a:ext cx="261982" cy="245150"/>
          </a:xfrm>
          <a:prstGeom prst="ellipse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000"/>
          </a:p>
        </p:txBody>
      </p:sp>
      <p:sp>
        <p:nvSpPr>
          <p:cNvPr id="114" name="사각형: 둥근 모서리 114">
            <a:extLst>
              <a:ext uri="{FF2B5EF4-FFF2-40B4-BE49-F238E27FC236}">
                <a16:creationId xmlns:a16="http://schemas.microsoft.com/office/drawing/2014/main" id="{A76AF592-7A55-83F2-CB1C-D08274D92F93}"/>
              </a:ext>
            </a:extLst>
          </p:cNvPr>
          <p:cNvSpPr/>
          <p:nvPr/>
        </p:nvSpPr>
        <p:spPr>
          <a:xfrm>
            <a:off x="878925" y="3380809"/>
            <a:ext cx="338500" cy="245150"/>
          </a:xfrm>
          <a:prstGeom prst="roundRect">
            <a:avLst>
              <a:gd name="adj" fmla="val 10304"/>
            </a:avLst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1524348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7A8ED9-2C43-A8C3-5F3B-878B224854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E3A3E8-F450-DBD0-7566-81E8F27624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028650"/>
            <a:ext cx="9144000" cy="857250"/>
          </a:xfrm>
        </p:spPr>
        <p:txBody>
          <a:bodyPr>
            <a:normAutofit/>
          </a:bodyPr>
          <a:lstStyle/>
          <a:p>
            <a:r>
              <a:rPr lang="en-US" altLang="ko-KR"/>
              <a:t>CUDA Container Init</a:t>
            </a:r>
            <a:endParaRPr lang="ko-KR" altLang="en-US" dirty="0"/>
          </a:p>
        </p:txBody>
      </p:sp>
      <p:sp>
        <p:nvSpPr>
          <p:cNvPr id="35" name="사각형: 둥근 모서리 114">
            <a:extLst>
              <a:ext uri="{FF2B5EF4-FFF2-40B4-BE49-F238E27FC236}">
                <a16:creationId xmlns:a16="http://schemas.microsoft.com/office/drawing/2014/main" id="{4EB5716E-86A0-437A-FCD9-B68EC9DD4B47}"/>
              </a:ext>
            </a:extLst>
          </p:cNvPr>
          <p:cNvSpPr/>
          <p:nvPr/>
        </p:nvSpPr>
        <p:spPr>
          <a:xfrm>
            <a:off x="3707899" y="2280534"/>
            <a:ext cx="2731142" cy="368911"/>
          </a:xfrm>
          <a:prstGeom prst="roundRect">
            <a:avLst>
              <a:gd name="adj" fmla="val 10304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50"/>
              <a:t>runc</a:t>
            </a:r>
            <a:endParaRPr lang="en-US" altLang="ko-KR" sz="1050" dirty="0"/>
          </a:p>
        </p:txBody>
      </p:sp>
      <p:sp>
        <p:nvSpPr>
          <p:cNvPr id="48" name="사각형: 둥근 모서리 114">
            <a:extLst>
              <a:ext uri="{FF2B5EF4-FFF2-40B4-BE49-F238E27FC236}">
                <a16:creationId xmlns:a16="http://schemas.microsoft.com/office/drawing/2014/main" id="{57AE67AC-D18A-EB66-5AFF-184289DBC9E0}"/>
              </a:ext>
            </a:extLst>
          </p:cNvPr>
          <p:cNvSpPr/>
          <p:nvPr/>
        </p:nvSpPr>
        <p:spPr>
          <a:xfrm>
            <a:off x="861290" y="2768453"/>
            <a:ext cx="1921124" cy="883417"/>
          </a:xfrm>
          <a:prstGeom prst="roundRect">
            <a:avLst>
              <a:gd name="adj" fmla="val 6774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50" b="1">
                <a:solidFill>
                  <a:schemeClr val="tx1"/>
                </a:solidFill>
              </a:rPr>
              <a:t>Container</a:t>
            </a:r>
            <a:endParaRPr lang="en-US" altLang="ko-KR" sz="1050" b="1" dirty="0">
              <a:solidFill>
                <a:schemeClr val="tx1"/>
              </a:solidFill>
            </a:endParaRPr>
          </a:p>
          <a:p>
            <a:pPr algn="ctr"/>
            <a:r>
              <a:rPr lang="en-US" altLang="ko-KR" sz="1050">
                <a:solidFill>
                  <a:schemeClr val="tx1"/>
                </a:solidFill>
              </a:rPr>
              <a:t>(Namespace, Rootfs)</a:t>
            </a:r>
          </a:p>
        </p:txBody>
      </p:sp>
      <p:sp>
        <p:nvSpPr>
          <p:cNvPr id="80" name="사각형: 둥근 모서리 114">
            <a:extLst>
              <a:ext uri="{FF2B5EF4-FFF2-40B4-BE49-F238E27FC236}">
                <a16:creationId xmlns:a16="http://schemas.microsoft.com/office/drawing/2014/main" id="{39728405-1F1D-A18A-A2F5-D12C37051CB4}"/>
              </a:ext>
            </a:extLst>
          </p:cNvPr>
          <p:cNvSpPr/>
          <p:nvPr/>
        </p:nvSpPr>
        <p:spPr>
          <a:xfrm>
            <a:off x="1043953" y="2808893"/>
            <a:ext cx="1886052" cy="390651"/>
          </a:xfrm>
          <a:prstGeom prst="roundRect">
            <a:avLst>
              <a:gd name="adj" fmla="val 10304"/>
            </a:avLst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i="1"/>
              <a:t>Change root (pivot_root()),</a:t>
            </a:r>
            <a:br>
              <a:rPr lang="en-US" altLang="ko-KR" sz="1000" i="1"/>
            </a:br>
            <a:r>
              <a:rPr lang="en-US" altLang="ko-KR" sz="1000" i="1"/>
              <a:t>Exec app (exec())</a:t>
            </a:r>
          </a:p>
        </p:txBody>
      </p:sp>
      <p:cxnSp>
        <p:nvCxnSpPr>
          <p:cNvPr id="97" name="직선 화살표 연결선 96">
            <a:extLst>
              <a:ext uri="{FF2B5EF4-FFF2-40B4-BE49-F238E27FC236}">
                <a16:creationId xmlns:a16="http://schemas.microsoft.com/office/drawing/2014/main" id="{C7C2E4CB-854E-A709-8761-4A89AE25BDEE}"/>
              </a:ext>
            </a:extLst>
          </p:cNvPr>
          <p:cNvCxnSpPr>
            <a:cxnSpLocks/>
            <a:stCxn id="35" idx="1"/>
            <a:endCxn id="48" idx="0"/>
          </p:cNvCxnSpPr>
          <p:nvPr/>
        </p:nvCxnSpPr>
        <p:spPr>
          <a:xfrm flipH="1">
            <a:off x="1821852" y="2464990"/>
            <a:ext cx="1886047" cy="303463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타원 69">
            <a:extLst>
              <a:ext uri="{FF2B5EF4-FFF2-40B4-BE49-F238E27FC236}">
                <a16:creationId xmlns:a16="http://schemas.microsoft.com/office/drawing/2014/main" id="{6E21B1AF-6674-F4A2-058C-6CB3DF2B5482}"/>
              </a:ext>
            </a:extLst>
          </p:cNvPr>
          <p:cNvSpPr/>
          <p:nvPr/>
        </p:nvSpPr>
        <p:spPr>
          <a:xfrm>
            <a:off x="3573595" y="2549283"/>
            <a:ext cx="261982" cy="245150"/>
          </a:xfrm>
          <a:prstGeom prst="ellipse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6</a:t>
            </a:r>
            <a:endParaRPr lang="ko-KR" altLang="en-US" sz="1000"/>
          </a:p>
        </p:txBody>
      </p:sp>
      <p:sp>
        <p:nvSpPr>
          <p:cNvPr id="4" name="사각형: 둥근 모서리 114">
            <a:extLst>
              <a:ext uri="{FF2B5EF4-FFF2-40B4-BE49-F238E27FC236}">
                <a16:creationId xmlns:a16="http://schemas.microsoft.com/office/drawing/2014/main" id="{B17E342C-685C-7D26-453C-5C5A0B7E3CF3}"/>
              </a:ext>
            </a:extLst>
          </p:cNvPr>
          <p:cNvSpPr/>
          <p:nvPr/>
        </p:nvSpPr>
        <p:spPr>
          <a:xfrm>
            <a:off x="7020271" y="2273744"/>
            <a:ext cx="1717863" cy="368911"/>
          </a:xfrm>
          <a:prstGeom prst="roundRect">
            <a:avLst>
              <a:gd name="adj" fmla="val 10304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50"/>
              <a:t>OCI Runtime Config (JSON)</a:t>
            </a:r>
            <a:endParaRPr lang="en-US" altLang="ko-KR" sz="1050" dirty="0"/>
          </a:p>
        </p:txBody>
      </p:sp>
      <p:cxnSp>
        <p:nvCxnSpPr>
          <p:cNvPr id="5" name="직선 화살표 연결선 17">
            <a:extLst>
              <a:ext uri="{FF2B5EF4-FFF2-40B4-BE49-F238E27FC236}">
                <a16:creationId xmlns:a16="http://schemas.microsoft.com/office/drawing/2014/main" id="{41FB13E3-F7CE-FDAB-1F86-DBF3B8B5145A}"/>
              </a:ext>
            </a:extLst>
          </p:cNvPr>
          <p:cNvCxnSpPr>
            <a:cxnSpLocks/>
            <a:stCxn id="4" idx="1"/>
            <a:endCxn id="35" idx="3"/>
          </p:cNvCxnSpPr>
          <p:nvPr/>
        </p:nvCxnSpPr>
        <p:spPr>
          <a:xfrm flipH="1">
            <a:off x="6439041" y="2458200"/>
            <a:ext cx="581230" cy="679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사각형: 둥근 모서리 114">
            <a:extLst>
              <a:ext uri="{FF2B5EF4-FFF2-40B4-BE49-F238E27FC236}">
                <a16:creationId xmlns:a16="http://schemas.microsoft.com/office/drawing/2014/main" id="{E480179C-03C4-49B4-C70C-1DA34E8661A5}"/>
              </a:ext>
            </a:extLst>
          </p:cNvPr>
          <p:cNvSpPr/>
          <p:nvPr/>
        </p:nvSpPr>
        <p:spPr>
          <a:xfrm>
            <a:off x="3707899" y="1268105"/>
            <a:ext cx="2731142" cy="368911"/>
          </a:xfrm>
          <a:prstGeom prst="roundRect">
            <a:avLst>
              <a:gd name="adj" fmla="val 10304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50"/>
              <a:t>nvidia-container-runtime (Shim)</a:t>
            </a:r>
            <a:endParaRPr lang="en-US" altLang="ko-KR" sz="1050" dirty="0"/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57990544-63CF-0DCC-30E0-BDB617CE252E}"/>
              </a:ext>
            </a:extLst>
          </p:cNvPr>
          <p:cNvCxnSpPr>
            <a:cxnSpLocks/>
            <a:stCxn id="9" idx="2"/>
            <a:endCxn id="35" idx="0"/>
          </p:cNvCxnSpPr>
          <p:nvPr/>
        </p:nvCxnSpPr>
        <p:spPr>
          <a:xfrm>
            <a:off x="5073470" y="1637016"/>
            <a:ext cx="0" cy="643518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사각형: 둥근 모서리 114">
            <a:extLst>
              <a:ext uri="{FF2B5EF4-FFF2-40B4-BE49-F238E27FC236}">
                <a16:creationId xmlns:a16="http://schemas.microsoft.com/office/drawing/2014/main" id="{5FB10CCC-92E6-FBFA-1C8E-8EED88A10B60}"/>
              </a:ext>
            </a:extLst>
          </p:cNvPr>
          <p:cNvSpPr/>
          <p:nvPr/>
        </p:nvSpPr>
        <p:spPr>
          <a:xfrm>
            <a:off x="3703390" y="255676"/>
            <a:ext cx="2731142" cy="368911"/>
          </a:xfrm>
          <a:prstGeom prst="roundRect">
            <a:avLst>
              <a:gd name="adj" fmla="val 10304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50"/>
              <a:t>containerd</a:t>
            </a:r>
            <a:endParaRPr lang="en-US" altLang="ko-KR" sz="1050" dirty="0"/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2E491C69-6D80-3C26-61C8-D8983D96997D}"/>
              </a:ext>
            </a:extLst>
          </p:cNvPr>
          <p:cNvCxnSpPr>
            <a:cxnSpLocks/>
            <a:stCxn id="14" idx="2"/>
            <a:endCxn id="9" idx="0"/>
          </p:cNvCxnSpPr>
          <p:nvPr/>
        </p:nvCxnSpPr>
        <p:spPr>
          <a:xfrm>
            <a:off x="5068961" y="624587"/>
            <a:ext cx="4509" cy="643518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화살표 연결선 67">
            <a:extLst>
              <a:ext uri="{FF2B5EF4-FFF2-40B4-BE49-F238E27FC236}">
                <a16:creationId xmlns:a16="http://schemas.microsoft.com/office/drawing/2014/main" id="{0E8B30AE-DE2B-14B6-2FAF-10B1554B7B93}"/>
              </a:ext>
            </a:extLst>
          </p:cNvPr>
          <p:cNvCxnSpPr>
            <a:cxnSpLocks/>
            <a:stCxn id="14" idx="3"/>
            <a:endCxn id="4" idx="0"/>
          </p:cNvCxnSpPr>
          <p:nvPr/>
        </p:nvCxnSpPr>
        <p:spPr>
          <a:xfrm>
            <a:off x="6434532" y="440132"/>
            <a:ext cx="1444671" cy="183361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사각형: 둥근 모서리 114">
            <a:extLst>
              <a:ext uri="{FF2B5EF4-FFF2-40B4-BE49-F238E27FC236}">
                <a16:creationId xmlns:a16="http://schemas.microsoft.com/office/drawing/2014/main" id="{16643572-A6BC-9E6D-59E4-B23BE3EBEBB9}"/>
              </a:ext>
            </a:extLst>
          </p:cNvPr>
          <p:cNvSpPr/>
          <p:nvPr/>
        </p:nvSpPr>
        <p:spPr>
          <a:xfrm>
            <a:off x="861290" y="255676"/>
            <a:ext cx="1921124" cy="368911"/>
          </a:xfrm>
          <a:prstGeom prst="roundRect">
            <a:avLst>
              <a:gd name="adj" fmla="val 10304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50" dirty="0"/>
              <a:t>ctr / dockerd</a:t>
            </a:r>
          </a:p>
        </p:txBody>
      </p:sp>
      <p:cxnSp>
        <p:nvCxnSpPr>
          <p:cNvPr id="78" name="직선 화살표 연결선 77">
            <a:extLst>
              <a:ext uri="{FF2B5EF4-FFF2-40B4-BE49-F238E27FC236}">
                <a16:creationId xmlns:a16="http://schemas.microsoft.com/office/drawing/2014/main" id="{81BF1270-AA5E-A47C-6F6E-4C995F1C6684}"/>
              </a:ext>
            </a:extLst>
          </p:cNvPr>
          <p:cNvCxnSpPr>
            <a:cxnSpLocks/>
            <a:stCxn id="77" idx="3"/>
            <a:endCxn id="14" idx="1"/>
          </p:cNvCxnSpPr>
          <p:nvPr/>
        </p:nvCxnSpPr>
        <p:spPr>
          <a:xfrm>
            <a:off x="2782414" y="440132"/>
            <a:ext cx="920976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타원 83">
            <a:extLst>
              <a:ext uri="{FF2B5EF4-FFF2-40B4-BE49-F238E27FC236}">
                <a16:creationId xmlns:a16="http://schemas.microsoft.com/office/drawing/2014/main" id="{773FAB8A-5EAD-2987-06EB-58C1E8A944D2}"/>
              </a:ext>
            </a:extLst>
          </p:cNvPr>
          <p:cNvSpPr/>
          <p:nvPr/>
        </p:nvSpPr>
        <p:spPr>
          <a:xfrm>
            <a:off x="2633884" y="318149"/>
            <a:ext cx="261982" cy="245150"/>
          </a:xfrm>
          <a:prstGeom prst="ellipse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1</a:t>
            </a:r>
            <a:endParaRPr lang="ko-KR" altLang="en-US" sz="1000"/>
          </a:p>
        </p:txBody>
      </p:sp>
      <p:sp>
        <p:nvSpPr>
          <p:cNvPr id="85" name="사각형: 둥근 모서리 114">
            <a:extLst>
              <a:ext uri="{FF2B5EF4-FFF2-40B4-BE49-F238E27FC236}">
                <a16:creationId xmlns:a16="http://schemas.microsoft.com/office/drawing/2014/main" id="{FB282C53-556F-3689-1438-C2195F754E0B}"/>
              </a:ext>
            </a:extLst>
          </p:cNvPr>
          <p:cNvSpPr/>
          <p:nvPr/>
        </p:nvSpPr>
        <p:spPr>
          <a:xfrm>
            <a:off x="1519984" y="647920"/>
            <a:ext cx="2489782" cy="357931"/>
          </a:xfrm>
          <a:prstGeom prst="roundRect">
            <a:avLst>
              <a:gd name="adj" fmla="val 10304"/>
            </a:avLst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000" i="1"/>
              <a:t>Request create container</a:t>
            </a:r>
          </a:p>
          <a:p>
            <a:r>
              <a:rPr lang="en-US" altLang="ko-KR" sz="1000" i="1"/>
              <a:t>with </a:t>
            </a:r>
            <a:r>
              <a:rPr lang="en-US" altLang="ko-KR" sz="1000" b="1" i="1"/>
              <a:t>NVIDIA_VISIBLE_DEVICES </a:t>
            </a:r>
            <a:r>
              <a:rPr lang="en-US" altLang="ko-KR" sz="1000" i="1"/>
              <a:t>env</a:t>
            </a:r>
          </a:p>
        </p:txBody>
      </p:sp>
      <p:sp>
        <p:nvSpPr>
          <p:cNvPr id="91" name="사각형: 둥근 모서리 114">
            <a:extLst>
              <a:ext uri="{FF2B5EF4-FFF2-40B4-BE49-F238E27FC236}">
                <a16:creationId xmlns:a16="http://schemas.microsoft.com/office/drawing/2014/main" id="{3AFD3988-D88A-CB89-E48F-255D6849B213}"/>
              </a:ext>
            </a:extLst>
          </p:cNvPr>
          <p:cNvSpPr/>
          <p:nvPr/>
        </p:nvSpPr>
        <p:spPr>
          <a:xfrm>
            <a:off x="6500171" y="255676"/>
            <a:ext cx="2843808" cy="357931"/>
          </a:xfrm>
          <a:prstGeom prst="roundRect">
            <a:avLst>
              <a:gd name="adj" fmla="val 10304"/>
            </a:avLst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000" i="1"/>
              <a:t>Create OCI Runtime Config</a:t>
            </a:r>
          </a:p>
          <a:p>
            <a:r>
              <a:rPr lang="en-US" altLang="ko-KR" sz="1000" i="1"/>
              <a:t>with </a:t>
            </a:r>
            <a:r>
              <a:rPr lang="en-US" altLang="ko-KR" sz="1000" b="1" i="1"/>
              <a:t>NVIDIA_VISIBLE_DEVICES</a:t>
            </a:r>
            <a:r>
              <a:rPr lang="en-US" altLang="ko-KR" sz="1000" i="1"/>
              <a:t> env</a:t>
            </a:r>
          </a:p>
        </p:txBody>
      </p:sp>
      <p:sp>
        <p:nvSpPr>
          <p:cNvPr id="92" name="타원 91">
            <a:extLst>
              <a:ext uri="{FF2B5EF4-FFF2-40B4-BE49-F238E27FC236}">
                <a16:creationId xmlns:a16="http://schemas.microsoft.com/office/drawing/2014/main" id="{50858522-C81B-3825-DC26-A8C4D4A6E534}"/>
              </a:ext>
            </a:extLst>
          </p:cNvPr>
          <p:cNvSpPr/>
          <p:nvPr/>
        </p:nvSpPr>
        <p:spPr>
          <a:xfrm>
            <a:off x="6299032" y="318149"/>
            <a:ext cx="261982" cy="245150"/>
          </a:xfrm>
          <a:prstGeom prst="ellipse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2</a:t>
            </a:r>
            <a:endParaRPr lang="ko-KR" altLang="en-US" sz="1000"/>
          </a:p>
        </p:txBody>
      </p:sp>
      <p:sp>
        <p:nvSpPr>
          <p:cNvPr id="98" name="사각형: 둥근 모서리 114">
            <a:extLst>
              <a:ext uri="{FF2B5EF4-FFF2-40B4-BE49-F238E27FC236}">
                <a16:creationId xmlns:a16="http://schemas.microsoft.com/office/drawing/2014/main" id="{B65403DB-6B11-F396-426F-5946E3A525FA}"/>
              </a:ext>
            </a:extLst>
          </p:cNvPr>
          <p:cNvSpPr/>
          <p:nvPr/>
        </p:nvSpPr>
        <p:spPr>
          <a:xfrm>
            <a:off x="5192770" y="620948"/>
            <a:ext cx="1954122" cy="357931"/>
          </a:xfrm>
          <a:prstGeom prst="roundRect">
            <a:avLst>
              <a:gd name="adj" fmla="val 10304"/>
            </a:avLst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000" i="1"/>
              <a:t>Execute to</a:t>
            </a:r>
          </a:p>
          <a:p>
            <a:r>
              <a:rPr lang="en-US" altLang="ko-KR" sz="1000" i="1"/>
              <a:t>request create container</a:t>
            </a:r>
          </a:p>
        </p:txBody>
      </p:sp>
      <p:sp>
        <p:nvSpPr>
          <p:cNvPr id="99" name="타원 98">
            <a:extLst>
              <a:ext uri="{FF2B5EF4-FFF2-40B4-BE49-F238E27FC236}">
                <a16:creationId xmlns:a16="http://schemas.microsoft.com/office/drawing/2014/main" id="{A2047645-F1EE-50F7-3CF8-C4CE6E2B22CA}"/>
              </a:ext>
            </a:extLst>
          </p:cNvPr>
          <p:cNvSpPr/>
          <p:nvPr/>
        </p:nvSpPr>
        <p:spPr>
          <a:xfrm>
            <a:off x="4942479" y="543669"/>
            <a:ext cx="261982" cy="245150"/>
          </a:xfrm>
          <a:prstGeom prst="ellipse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3</a:t>
            </a:r>
            <a:endParaRPr lang="ko-KR" altLang="en-US" sz="1000"/>
          </a:p>
        </p:txBody>
      </p:sp>
      <p:cxnSp>
        <p:nvCxnSpPr>
          <p:cNvPr id="100" name="직선 화살표 연결선 99">
            <a:extLst>
              <a:ext uri="{FF2B5EF4-FFF2-40B4-BE49-F238E27FC236}">
                <a16:creationId xmlns:a16="http://schemas.microsoft.com/office/drawing/2014/main" id="{FBD9B1A6-2AD3-C13B-9CD7-71161998A574}"/>
              </a:ext>
            </a:extLst>
          </p:cNvPr>
          <p:cNvCxnSpPr>
            <a:cxnSpLocks/>
            <a:stCxn id="9" idx="3"/>
            <a:endCxn id="4" idx="0"/>
          </p:cNvCxnSpPr>
          <p:nvPr/>
        </p:nvCxnSpPr>
        <p:spPr>
          <a:xfrm>
            <a:off x="6439041" y="1452561"/>
            <a:ext cx="1440162" cy="821183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사각형: 둥근 모서리 114">
            <a:extLst>
              <a:ext uri="{FF2B5EF4-FFF2-40B4-BE49-F238E27FC236}">
                <a16:creationId xmlns:a16="http://schemas.microsoft.com/office/drawing/2014/main" id="{E4706976-6EC9-13EC-D119-6EBBB0CDE8C0}"/>
              </a:ext>
            </a:extLst>
          </p:cNvPr>
          <p:cNvSpPr/>
          <p:nvPr/>
        </p:nvSpPr>
        <p:spPr>
          <a:xfrm>
            <a:off x="6535021" y="1275606"/>
            <a:ext cx="2489782" cy="357931"/>
          </a:xfrm>
          <a:prstGeom prst="roundRect">
            <a:avLst>
              <a:gd name="adj" fmla="val 10304"/>
            </a:avLst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000" i="1"/>
              <a:t>Modify OCI Runtime Config</a:t>
            </a:r>
          </a:p>
          <a:p>
            <a:r>
              <a:rPr lang="en-US" altLang="ko-KR" sz="1000" i="1"/>
              <a:t>for </a:t>
            </a:r>
            <a:r>
              <a:rPr lang="en-US" altLang="ko-KR" sz="1000" b="1" i="1"/>
              <a:t>GPU Settings</a:t>
            </a:r>
          </a:p>
        </p:txBody>
      </p:sp>
      <p:sp>
        <p:nvSpPr>
          <p:cNvPr id="104" name="타원 103">
            <a:extLst>
              <a:ext uri="{FF2B5EF4-FFF2-40B4-BE49-F238E27FC236}">
                <a16:creationId xmlns:a16="http://schemas.microsoft.com/office/drawing/2014/main" id="{27FC02DE-7602-2ED4-5CD2-69A362C74837}"/>
              </a:ext>
            </a:extLst>
          </p:cNvPr>
          <p:cNvSpPr/>
          <p:nvPr/>
        </p:nvSpPr>
        <p:spPr>
          <a:xfrm>
            <a:off x="6308050" y="1329985"/>
            <a:ext cx="261982" cy="245150"/>
          </a:xfrm>
          <a:prstGeom prst="ellipse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4</a:t>
            </a:r>
            <a:endParaRPr lang="ko-KR" altLang="en-US" sz="1000"/>
          </a:p>
        </p:txBody>
      </p:sp>
      <p:sp>
        <p:nvSpPr>
          <p:cNvPr id="105" name="사각형: 둥근 모서리 114">
            <a:extLst>
              <a:ext uri="{FF2B5EF4-FFF2-40B4-BE49-F238E27FC236}">
                <a16:creationId xmlns:a16="http://schemas.microsoft.com/office/drawing/2014/main" id="{1A56BDFC-FAF7-C693-A112-2CEEEA3C4EDA}"/>
              </a:ext>
            </a:extLst>
          </p:cNvPr>
          <p:cNvSpPr/>
          <p:nvPr/>
        </p:nvSpPr>
        <p:spPr>
          <a:xfrm>
            <a:off x="5205000" y="1630981"/>
            <a:ext cx="1954122" cy="357931"/>
          </a:xfrm>
          <a:prstGeom prst="roundRect">
            <a:avLst>
              <a:gd name="adj" fmla="val 10304"/>
            </a:avLst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000" i="1"/>
              <a:t>Execute to</a:t>
            </a:r>
          </a:p>
          <a:p>
            <a:r>
              <a:rPr lang="en-US" altLang="ko-KR" sz="1000" i="1"/>
              <a:t>request create container</a:t>
            </a:r>
          </a:p>
        </p:txBody>
      </p:sp>
      <p:sp>
        <p:nvSpPr>
          <p:cNvPr id="106" name="타원 105">
            <a:extLst>
              <a:ext uri="{FF2B5EF4-FFF2-40B4-BE49-F238E27FC236}">
                <a16:creationId xmlns:a16="http://schemas.microsoft.com/office/drawing/2014/main" id="{2FF282B1-636E-A2A3-A672-F7A550F2EDCE}"/>
              </a:ext>
            </a:extLst>
          </p:cNvPr>
          <p:cNvSpPr/>
          <p:nvPr/>
        </p:nvSpPr>
        <p:spPr>
          <a:xfrm>
            <a:off x="4942479" y="1553702"/>
            <a:ext cx="261982" cy="245150"/>
          </a:xfrm>
          <a:prstGeom prst="ellipse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5</a:t>
            </a:r>
            <a:endParaRPr lang="ko-KR" altLang="en-US" sz="1000"/>
          </a:p>
        </p:txBody>
      </p:sp>
      <p:sp>
        <p:nvSpPr>
          <p:cNvPr id="113" name="타원 112">
            <a:extLst>
              <a:ext uri="{FF2B5EF4-FFF2-40B4-BE49-F238E27FC236}">
                <a16:creationId xmlns:a16="http://schemas.microsoft.com/office/drawing/2014/main" id="{53A93A43-CCAB-8204-E728-535814F16269}"/>
              </a:ext>
            </a:extLst>
          </p:cNvPr>
          <p:cNvSpPr/>
          <p:nvPr/>
        </p:nvSpPr>
        <p:spPr>
          <a:xfrm>
            <a:off x="923476" y="2881644"/>
            <a:ext cx="261982" cy="245150"/>
          </a:xfrm>
          <a:prstGeom prst="ellipse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7</a:t>
            </a:r>
            <a:endParaRPr lang="ko-KR" altLang="en-US" sz="1000"/>
          </a:p>
        </p:txBody>
      </p:sp>
      <p:sp>
        <p:nvSpPr>
          <p:cNvPr id="11" name="사각형: 둥근 모서리 114">
            <a:extLst>
              <a:ext uri="{FF2B5EF4-FFF2-40B4-BE49-F238E27FC236}">
                <a16:creationId xmlns:a16="http://schemas.microsoft.com/office/drawing/2014/main" id="{E0D7D79A-9AAE-6488-F0FC-931FA8825A97}"/>
              </a:ext>
            </a:extLst>
          </p:cNvPr>
          <p:cNvSpPr/>
          <p:nvPr/>
        </p:nvSpPr>
        <p:spPr>
          <a:xfrm>
            <a:off x="861290" y="1268105"/>
            <a:ext cx="1921124" cy="368911"/>
          </a:xfrm>
          <a:prstGeom prst="roundRect">
            <a:avLst>
              <a:gd name="adj" fmla="val 10304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50" b="1"/>
              <a:t>CDI (Container Device Interface) Spec File (YAML) </a:t>
            </a:r>
            <a:endParaRPr lang="en-US" altLang="ko-KR" sz="1050" b="1" dirty="0"/>
          </a:p>
        </p:txBody>
      </p:sp>
      <p:cxnSp>
        <p:nvCxnSpPr>
          <p:cNvPr id="12" name="직선 화살표 연결선 17">
            <a:extLst>
              <a:ext uri="{FF2B5EF4-FFF2-40B4-BE49-F238E27FC236}">
                <a16:creationId xmlns:a16="http://schemas.microsoft.com/office/drawing/2014/main" id="{46E18517-58DD-1B56-7350-9D34EB5D73E8}"/>
              </a:ext>
            </a:extLst>
          </p:cNvPr>
          <p:cNvCxnSpPr>
            <a:cxnSpLocks/>
            <a:stCxn id="11" idx="3"/>
            <a:endCxn id="9" idx="1"/>
          </p:cNvCxnSpPr>
          <p:nvPr/>
        </p:nvCxnSpPr>
        <p:spPr>
          <a:xfrm>
            <a:off x="2782414" y="1452561"/>
            <a:ext cx="925485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사각형: 둥근 모서리 114">
            <a:extLst>
              <a:ext uri="{FF2B5EF4-FFF2-40B4-BE49-F238E27FC236}">
                <a16:creationId xmlns:a16="http://schemas.microsoft.com/office/drawing/2014/main" id="{DBA462F6-0F67-A528-0AB5-98CA2FC9CCA2}"/>
              </a:ext>
            </a:extLst>
          </p:cNvPr>
          <p:cNvSpPr/>
          <p:nvPr/>
        </p:nvSpPr>
        <p:spPr>
          <a:xfrm>
            <a:off x="753313" y="2026286"/>
            <a:ext cx="3595239" cy="698064"/>
          </a:xfrm>
          <a:prstGeom prst="roundRect">
            <a:avLst>
              <a:gd name="adj" fmla="val 10304"/>
            </a:avLst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000" i="1"/>
              <a:t>- Create namespace (clone()),</a:t>
            </a:r>
          </a:p>
          <a:p>
            <a:r>
              <a:rPr lang="en-US" altLang="ko-KR" sz="1000" i="1"/>
              <a:t>- Set rootfs (overlay FS),</a:t>
            </a:r>
          </a:p>
          <a:p>
            <a:r>
              <a:rPr lang="en-US" altLang="ko-KR" sz="1000" i="1"/>
              <a:t>- Bind mount GPU device file and CUDA libraries/tools,</a:t>
            </a:r>
          </a:p>
          <a:p>
            <a:r>
              <a:rPr lang="en-US" altLang="ko-KR" sz="1000" i="1"/>
              <a:t>- Allow GPU Cgroup</a:t>
            </a:r>
          </a:p>
        </p:txBody>
      </p:sp>
    </p:spTree>
    <p:extLst>
      <p:ext uri="{BB962C8B-B14F-4D97-AF65-F5344CB8AC3E}">
        <p14:creationId xmlns:p14="http://schemas.microsoft.com/office/powerpoint/2010/main" val="11383639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824208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7006E3-14BF-55C5-19C7-5F69C3DAA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2503FA-17E5-5AE3-085B-3E08955531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726229"/>
            <a:ext cx="9144000" cy="857250"/>
          </a:xfrm>
        </p:spPr>
        <p:txBody>
          <a:bodyPr>
            <a:normAutofit fontScale="90000"/>
          </a:bodyPr>
          <a:lstStyle/>
          <a:p>
            <a:r>
              <a:rPr lang="en-US" altLang="ko-KR"/>
              <a:t>CUDA Container OCI Runtime Spec</a:t>
            </a:r>
            <a:endParaRPr lang="ko-KR" altLang="en-US" dirty="0"/>
          </a:p>
        </p:txBody>
      </p:sp>
      <p:sp>
        <p:nvSpPr>
          <p:cNvPr id="7" name="사각형: 둥근 모서리 114">
            <a:extLst>
              <a:ext uri="{FF2B5EF4-FFF2-40B4-BE49-F238E27FC236}">
                <a16:creationId xmlns:a16="http://schemas.microsoft.com/office/drawing/2014/main" id="{3A9A9FAD-7393-75E5-FB5E-4B6A1277EAD6}"/>
              </a:ext>
            </a:extLst>
          </p:cNvPr>
          <p:cNvSpPr/>
          <p:nvPr/>
        </p:nvSpPr>
        <p:spPr>
          <a:xfrm>
            <a:off x="1691680" y="555526"/>
            <a:ext cx="5904656" cy="433441"/>
          </a:xfrm>
          <a:prstGeom prst="roundRect">
            <a:avLst>
              <a:gd name="adj" fmla="val 0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100"/>
              <a:t>$ ctr run --env NVIDIA_VISIBLE_DEVICES=all</a:t>
            </a:r>
            <a:r>
              <a:rPr lang="ko-KR" altLang="en-US" sz="1100"/>
              <a:t> </a:t>
            </a:r>
            <a:r>
              <a:rPr lang="en-US" altLang="ko-KR" sz="1100"/>
              <a:t>nvidia/cuda:9.0-base test-gpu nvidia-smi</a:t>
            </a:r>
            <a:endParaRPr lang="en-US" altLang="ko-KR" sz="1100" dirty="0"/>
          </a:p>
        </p:txBody>
      </p:sp>
      <p:sp>
        <p:nvSpPr>
          <p:cNvPr id="11" name="사각형: 둥근 모서리 114">
            <a:extLst>
              <a:ext uri="{FF2B5EF4-FFF2-40B4-BE49-F238E27FC236}">
                <a16:creationId xmlns:a16="http://schemas.microsoft.com/office/drawing/2014/main" id="{6CABFD53-A11C-D694-A1D1-C2B792E873C0}"/>
              </a:ext>
            </a:extLst>
          </p:cNvPr>
          <p:cNvSpPr/>
          <p:nvPr/>
        </p:nvSpPr>
        <p:spPr>
          <a:xfrm>
            <a:off x="899592" y="1211838"/>
            <a:ext cx="7488831" cy="2880320"/>
          </a:xfrm>
          <a:prstGeom prst="roundRect">
            <a:avLst>
              <a:gd name="adj" fmla="val 0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100" kern="0" dirty="0">
                <a:cs typeface="Al Bayan Plain" pitchFamily="2" charset="-78"/>
              </a:rPr>
              <a:t>{</a:t>
            </a:r>
          </a:p>
          <a:p>
            <a:r>
              <a:rPr lang="en-US" altLang="ko-KR" sz="1100" kern="0" dirty="0">
                <a:cs typeface="Al Bayan Plain" pitchFamily="2" charset="-78"/>
              </a:rPr>
              <a:t>    "hooks": {</a:t>
            </a:r>
          </a:p>
          <a:p>
            <a:r>
              <a:rPr lang="en-US" altLang="ko-KR" sz="1100" kern="0" dirty="0">
                <a:cs typeface="Al Bayan Plain" pitchFamily="2" charset="-78"/>
              </a:rPr>
              <a:t>        "</a:t>
            </a:r>
            <a:r>
              <a:rPr lang="en-US" altLang="ko-KR" sz="1100" kern="0" dirty="0" err="1">
                <a:cs typeface="Al Bayan Plain" pitchFamily="2" charset="-78"/>
              </a:rPr>
              <a:t>Poststart</a:t>
            </a:r>
            <a:r>
              <a:rPr lang="en-US" altLang="ko-KR" sz="1100" kern="0" dirty="0">
                <a:cs typeface="Al Bayan Plain" pitchFamily="2" charset="-78"/>
              </a:rPr>
              <a:t>": [],</a:t>
            </a:r>
          </a:p>
          <a:p>
            <a:r>
              <a:rPr lang="en-US" altLang="ko-KR" sz="1100" kern="0" dirty="0">
                <a:cs typeface="Al Bayan Plain" pitchFamily="2" charset="-78"/>
              </a:rPr>
              <a:t>        "</a:t>
            </a:r>
            <a:r>
              <a:rPr lang="en-US" altLang="ko-KR" sz="1100" kern="0" dirty="0" err="1">
                <a:cs typeface="Al Bayan Plain" pitchFamily="2" charset="-78"/>
              </a:rPr>
              <a:t>Poststop</a:t>
            </a:r>
            <a:r>
              <a:rPr lang="en-US" altLang="ko-KR" sz="1100" kern="0" dirty="0">
                <a:cs typeface="Al Bayan Plain" pitchFamily="2" charset="-78"/>
              </a:rPr>
              <a:t>": [],</a:t>
            </a:r>
          </a:p>
          <a:p>
            <a:r>
              <a:rPr lang="en-US" altLang="ko-KR" sz="1100" kern="0" dirty="0">
                <a:cs typeface="Al Bayan Plain" pitchFamily="2" charset="-78"/>
              </a:rPr>
              <a:t>        "prestart": [{</a:t>
            </a:r>
          </a:p>
          <a:p>
            <a:r>
              <a:rPr lang="en-US" altLang="ko-KR" sz="1100" kern="0" dirty="0">
                <a:cs typeface="Al Bayan Plain" pitchFamily="2" charset="-78"/>
              </a:rPr>
              <a:t>            "</a:t>
            </a:r>
            <a:r>
              <a:rPr lang="en-US" altLang="ko-KR" sz="1100" kern="0" dirty="0" err="1">
                <a:cs typeface="Al Bayan Plain" pitchFamily="2" charset="-78"/>
              </a:rPr>
              <a:t>args</a:t>
            </a:r>
            <a:r>
              <a:rPr lang="en-US" altLang="ko-KR" sz="1100" kern="0" dirty="0">
                <a:cs typeface="Al Bayan Plain" pitchFamily="2" charset="-78"/>
              </a:rPr>
              <a:t>": ["/</a:t>
            </a:r>
            <a:r>
              <a:rPr lang="en-US" altLang="ko-KR" sz="1100" kern="0" dirty="0" err="1">
                <a:cs typeface="Al Bayan Plain" pitchFamily="2" charset="-78"/>
              </a:rPr>
              <a:t>usr</a:t>
            </a:r>
            <a:r>
              <a:rPr lang="en-US" altLang="ko-KR" sz="1100" kern="0" dirty="0">
                <a:cs typeface="Al Bayan Plain" pitchFamily="2" charset="-78"/>
              </a:rPr>
              <a:t>/bin/</a:t>
            </a:r>
            <a:r>
              <a:rPr lang="en-US" altLang="ko-KR" sz="1100" kern="0" dirty="0" err="1">
                <a:cs typeface="Al Bayan Plain" pitchFamily="2" charset="-78"/>
              </a:rPr>
              <a:t>nvidia</a:t>
            </a:r>
            <a:r>
              <a:rPr lang="en-US" altLang="ko-KR" sz="1100" kern="0" dirty="0">
                <a:cs typeface="Al Bayan Plain" pitchFamily="2" charset="-78"/>
              </a:rPr>
              <a:t>-container-runtime-hook", "prestart"],</a:t>
            </a:r>
          </a:p>
          <a:p>
            <a:r>
              <a:rPr lang="en-US" altLang="ko-KR" sz="1100" kern="0" dirty="0">
                <a:cs typeface="Al Bayan Plain" pitchFamily="2" charset="-78"/>
              </a:rPr>
              <a:t>            "path": "/</a:t>
            </a:r>
            <a:r>
              <a:rPr lang="en-US" altLang="ko-KR" sz="1100" kern="0" dirty="0" err="1">
                <a:cs typeface="Al Bayan Plain" pitchFamily="2" charset="-78"/>
              </a:rPr>
              <a:t>usr</a:t>
            </a:r>
            <a:r>
              <a:rPr lang="en-US" altLang="ko-KR" sz="1100" kern="0" dirty="0">
                <a:cs typeface="Al Bayan Plain" pitchFamily="2" charset="-78"/>
              </a:rPr>
              <a:t>/bin/</a:t>
            </a:r>
            <a:r>
              <a:rPr lang="en-US" altLang="ko-KR" sz="1100" kern="0" dirty="0" err="1">
                <a:cs typeface="Al Bayan Plain" pitchFamily="2" charset="-78"/>
              </a:rPr>
              <a:t>nvidia</a:t>
            </a:r>
            <a:r>
              <a:rPr lang="en-US" altLang="ko-KR" sz="1100" kern="0" dirty="0">
                <a:cs typeface="Al Bayan Plain" pitchFamily="2" charset="-78"/>
              </a:rPr>
              <a:t>-container-runtime-hook”</a:t>
            </a:r>
          </a:p>
          <a:p>
            <a:r>
              <a:rPr lang="en-US" altLang="ko-KR" sz="1100" kern="0" dirty="0">
                <a:cs typeface="Al Bayan Plain" pitchFamily="2" charset="-78"/>
              </a:rPr>
              <a:t>        }]</a:t>
            </a:r>
          </a:p>
          <a:p>
            <a:r>
              <a:rPr lang="en-US" altLang="ko-KR" sz="1100" kern="0" dirty="0">
                <a:cs typeface="Al Bayan Plain" pitchFamily="2" charset="-78"/>
              </a:rPr>
              <a:t>    },</a:t>
            </a:r>
          </a:p>
          <a:p>
            <a:r>
              <a:rPr lang="en-US" altLang="ko-KR" sz="1100" kern="0" dirty="0">
                <a:cs typeface="Al Bayan Plain" pitchFamily="2" charset="-78"/>
              </a:rPr>
              <a:t>    "process": {</a:t>
            </a:r>
          </a:p>
          <a:p>
            <a:r>
              <a:rPr lang="en-US" altLang="ko-KR" sz="1100" kern="0" dirty="0">
                <a:cs typeface="Al Bayan Plain" pitchFamily="2" charset="-78"/>
              </a:rPr>
              <a:t>        “env”: [</a:t>
            </a:r>
          </a:p>
          <a:p>
            <a:r>
              <a:rPr lang="en-US" altLang="ko-KR" sz="1100" kern="0" dirty="0">
                <a:cs typeface="Al Bayan Plain" pitchFamily="2" charset="-78"/>
              </a:rPr>
              <a:t>            "</a:t>
            </a:r>
            <a:r>
              <a:rPr lang="en-US" altLang="ko-KR" sz="1100" b="1" kern="0" dirty="0">
                <a:cs typeface="Al Bayan Plain" pitchFamily="2" charset="-78"/>
              </a:rPr>
              <a:t>NVIDIA_VISIBLE_DEVICES</a:t>
            </a:r>
            <a:r>
              <a:rPr lang="en-US" altLang="ko-KR" sz="1100" kern="0" dirty="0">
                <a:cs typeface="Al Bayan Plain" pitchFamily="2" charset="-78"/>
              </a:rPr>
              <a:t>=all",</a:t>
            </a:r>
          </a:p>
          <a:p>
            <a:r>
              <a:rPr lang="en-US" altLang="ko-KR" sz="1100" kern="0" dirty="0">
                <a:cs typeface="Al Bayan Plain" pitchFamily="2" charset="-78"/>
              </a:rPr>
              <a:t>            ...</a:t>
            </a:r>
            <a:br>
              <a:rPr lang="en-US" altLang="ko-KR" sz="1100" kern="0" dirty="0">
                <a:cs typeface="Al Bayan Plain" pitchFamily="2" charset="-78"/>
              </a:rPr>
            </a:br>
            <a:r>
              <a:rPr lang="en-US" altLang="ko-KR" sz="1100" kern="0" dirty="0">
                <a:cs typeface="Al Bayan Plain" pitchFamily="2" charset="-78"/>
              </a:rPr>
              <a:t>        ]</a:t>
            </a:r>
          </a:p>
          <a:p>
            <a:r>
              <a:rPr lang="en-US" altLang="ko-KR" sz="1100" kern="0" dirty="0">
                <a:cs typeface="Al Bayan Plain" pitchFamily="2" charset="-78"/>
              </a:rPr>
              <a:t>    }</a:t>
            </a:r>
          </a:p>
          <a:p>
            <a:r>
              <a:rPr lang="en-US" altLang="ko-KR" sz="1100" kern="0" dirty="0">
                <a:cs typeface="Al Bayan Plain" pitchFamily="2" charset="-78"/>
              </a:rPr>
              <a:t>...</a:t>
            </a:r>
            <a:endParaRPr lang="en-US" altLang="ko-KR" sz="1600" kern="0" dirty="0">
              <a:cs typeface="Al Bayan Plain" pitchFamily="2" charset="-78"/>
            </a:endParaRPr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E2C29F7C-E831-83D2-6BE9-5A7252F4071B}"/>
              </a:ext>
            </a:extLst>
          </p:cNvPr>
          <p:cNvCxnSpPr>
            <a:cxnSpLocks/>
            <a:stCxn id="7" idx="2"/>
            <a:endCxn id="11" idx="0"/>
          </p:cNvCxnSpPr>
          <p:nvPr/>
        </p:nvCxnSpPr>
        <p:spPr>
          <a:xfrm>
            <a:off x="4644008" y="988967"/>
            <a:ext cx="0" cy="222871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사각형: 둥근 모서리 114">
            <a:extLst>
              <a:ext uri="{FF2B5EF4-FFF2-40B4-BE49-F238E27FC236}">
                <a16:creationId xmlns:a16="http://schemas.microsoft.com/office/drawing/2014/main" id="{11FE6D81-54D3-433F-201E-86F85E0C5348}"/>
              </a:ext>
            </a:extLst>
          </p:cNvPr>
          <p:cNvSpPr/>
          <p:nvPr/>
        </p:nvSpPr>
        <p:spPr>
          <a:xfrm>
            <a:off x="3278436" y="4098308"/>
            <a:ext cx="2731142" cy="281881"/>
          </a:xfrm>
          <a:prstGeom prst="roundRect">
            <a:avLst>
              <a:gd name="adj" fmla="val 10304"/>
            </a:avLst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OCI Runtime Spec</a:t>
            </a:r>
            <a:endParaRPr lang="en-US" altLang="ko-KR" sz="1200" dirty="0"/>
          </a:p>
        </p:txBody>
      </p:sp>
    </p:spTree>
    <p:extLst>
      <p:ext uri="{BB962C8B-B14F-4D97-AF65-F5344CB8AC3E}">
        <p14:creationId xmlns:p14="http://schemas.microsoft.com/office/powerpoint/2010/main" val="30945244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1F27C9-FE9F-B983-E596-7CC42B712E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15B928-A8DC-815E-9CFF-56B5FEFA28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2546"/>
            <a:ext cx="9144000" cy="857250"/>
          </a:xfrm>
        </p:spPr>
        <p:txBody>
          <a:bodyPr>
            <a:normAutofit/>
          </a:bodyPr>
          <a:lstStyle/>
          <a:p>
            <a:r>
              <a:rPr lang="en-US" altLang="ko-KR"/>
              <a:t>CUDA Container Stack</a:t>
            </a:r>
            <a:endParaRPr lang="ko-KR" altLang="en-US" dirty="0"/>
          </a:p>
        </p:txBody>
      </p:sp>
      <p:sp>
        <p:nvSpPr>
          <p:cNvPr id="37" name="사각형: 둥근 모서리 114">
            <a:extLst>
              <a:ext uri="{FF2B5EF4-FFF2-40B4-BE49-F238E27FC236}">
                <a16:creationId xmlns:a16="http://schemas.microsoft.com/office/drawing/2014/main" id="{0F15E521-42AD-9F16-663B-8C9CF9794EE3}"/>
              </a:ext>
            </a:extLst>
          </p:cNvPr>
          <p:cNvSpPr/>
          <p:nvPr/>
        </p:nvSpPr>
        <p:spPr>
          <a:xfrm>
            <a:off x="1557988" y="3660955"/>
            <a:ext cx="6033186" cy="976265"/>
          </a:xfrm>
          <a:prstGeom prst="roundRect">
            <a:avLst>
              <a:gd name="adj" fmla="val 6397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200" b="1"/>
              <a:t>Host Hardware</a:t>
            </a:r>
            <a:endParaRPr lang="en-US" altLang="ko-KR" sz="1200" b="1" dirty="0"/>
          </a:p>
        </p:txBody>
      </p:sp>
      <p:sp>
        <p:nvSpPr>
          <p:cNvPr id="33" name="사각형: 둥근 모서리 114">
            <a:extLst>
              <a:ext uri="{FF2B5EF4-FFF2-40B4-BE49-F238E27FC236}">
                <a16:creationId xmlns:a16="http://schemas.microsoft.com/office/drawing/2014/main" id="{CC2CA0D7-E25A-4E8F-102B-D8277B3DC374}"/>
              </a:ext>
            </a:extLst>
          </p:cNvPr>
          <p:cNvSpPr/>
          <p:nvPr/>
        </p:nvSpPr>
        <p:spPr>
          <a:xfrm>
            <a:off x="1552826" y="2812111"/>
            <a:ext cx="6043510" cy="855136"/>
          </a:xfrm>
          <a:prstGeom prst="roundRect">
            <a:avLst>
              <a:gd name="adj" fmla="val 4167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200" b="1"/>
              <a:t>Host Kernel</a:t>
            </a:r>
            <a:endParaRPr lang="en-US" altLang="ko-KR" sz="1200" b="1" dirty="0"/>
          </a:p>
        </p:txBody>
      </p:sp>
      <p:sp>
        <p:nvSpPr>
          <p:cNvPr id="14" name="사각형: 둥근 모서리 114">
            <a:extLst>
              <a:ext uri="{FF2B5EF4-FFF2-40B4-BE49-F238E27FC236}">
                <a16:creationId xmlns:a16="http://schemas.microsoft.com/office/drawing/2014/main" id="{0D675FE4-B9AC-A94B-5B1F-2A97ED4540A7}"/>
              </a:ext>
            </a:extLst>
          </p:cNvPr>
          <p:cNvSpPr/>
          <p:nvPr/>
        </p:nvSpPr>
        <p:spPr>
          <a:xfrm>
            <a:off x="2145948" y="3773124"/>
            <a:ext cx="1077331" cy="576064"/>
          </a:xfrm>
          <a:prstGeom prst="roundRect">
            <a:avLst>
              <a:gd name="adj" fmla="val 724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NVIDIA</a:t>
            </a:r>
          </a:p>
          <a:p>
            <a:pPr algn="ctr"/>
            <a:r>
              <a:rPr lang="en-US" altLang="ko-KR" sz="1000"/>
              <a:t>GPU 0</a:t>
            </a:r>
            <a:endParaRPr lang="en-US" altLang="ko-KR" sz="1000" dirty="0"/>
          </a:p>
        </p:txBody>
      </p:sp>
      <p:sp>
        <p:nvSpPr>
          <p:cNvPr id="15" name="사각형: 둥근 모서리 114">
            <a:extLst>
              <a:ext uri="{FF2B5EF4-FFF2-40B4-BE49-F238E27FC236}">
                <a16:creationId xmlns:a16="http://schemas.microsoft.com/office/drawing/2014/main" id="{57F266B6-6534-D114-73C9-2F931E20C5FD}"/>
              </a:ext>
            </a:extLst>
          </p:cNvPr>
          <p:cNvSpPr/>
          <p:nvPr/>
        </p:nvSpPr>
        <p:spPr>
          <a:xfrm>
            <a:off x="3405927" y="3773124"/>
            <a:ext cx="1077331" cy="576064"/>
          </a:xfrm>
          <a:prstGeom prst="roundRect">
            <a:avLst>
              <a:gd name="adj" fmla="val 724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NVIDIA</a:t>
            </a:r>
          </a:p>
          <a:p>
            <a:pPr algn="ctr"/>
            <a:r>
              <a:rPr lang="en-US" altLang="ko-KR" sz="1000"/>
              <a:t>GPU 1</a:t>
            </a:r>
            <a:endParaRPr lang="en-US" altLang="ko-KR" sz="1000" dirty="0"/>
          </a:p>
        </p:txBody>
      </p:sp>
      <p:sp>
        <p:nvSpPr>
          <p:cNvPr id="16" name="사각형: 둥근 모서리 114">
            <a:extLst>
              <a:ext uri="{FF2B5EF4-FFF2-40B4-BE49-F238E27FC236}">
                <a16:creationId xmlns:a16="http://schemas.microsoft.com/office/drawing/2014/main" id="{BD0849C0-387C-23D7-6D71-EA7D49BF9086}"/>
              </a:ext>
            </a:extLst>
          </p:cNvPr>
          <p:cNvSpPr/>
          <p:nvPr/>
        </p:nvSpPr>
        <p:spPr>
          <a:xfrm>
            <a:off x="4665905" y="3773124"/>
            <a:ext cx="1077331" cy="576064"/>
          </a:xfrm>
          <a:prstGeom prst="roundRect">
            <a:avLst>
              <a:gd name="adj" fmla="val 724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NVIDIA</a:t>
            </a:r>
          </a:p>
          <a:p>
            <a:pPr algn="ctr"/>
            <a:r>
              <a:rPr lang="en-US" altLang="ko-KR" sz="1000"/>
              <a:t>GPU 2</a:t>
            </a:r>
            <a:endParaRPr lang="en-US" altLang="ko-KR" sz="1000" dirty="0"/>
          </a:p>
        </p:txBody>
      </p:sp>
      <p:sp>
        <p:nvSpPr>
          <p:cNvPr id="17" name="사각형: 둥근 모서리 114">
            <a:extLst>
              <a:ext uri="{FF2B5EF4-FFF2-40B4-BE49-F238E27FC236}">
                <a16:creationId xmlns:a16="http://schemas.microsoft.com/office/drawing/2014/main" id="{72A4C5BE-5325-D922-1D47-18D1B1EE3C86}"/>
              </a:ext>
            </a:extLst>
          </p:cNvPr>
          <p:cNvSpPr/>
          <p:nvPr/>
        </p:nvSpPr>
        <p:spPr>
          <a:xfrm>
            <a:off x="5925884" y="3773124"/>
            <a:ext cx="1077331" cy="576064"/>
          </a:xfrm>
          <a:prstGeom prst="roundRect">
            <a:avLst>
              <a:gd name="adj" fmla="val 724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NVIDIA</a:t>
            </a:r>
          </a:p>
          <a:p>
            <a:pPr algn="ctr"/>
            <a:r>
              <a:rPr lang="en-US" altLang="ko-KR" sz="1000"/>
              <a:t>GPU 3</a:t>
            </a:r>
            <a:endParaRPr lang="en-US" altLang="ko-KR" sz="1000" dirty="0"/>
          </a:p>
        </p:txBody>
      </p:sp>
      <p:sp>
        <p:nvSpPr>
          <p:cNvPr id="36" name="사각형: 둥근 모서리 114">
            <a:extLst>
              <a:ext uri="{FF2B5EF4-FFF2-40B4-BE49-F238E27FC236}">
                <a16:creationId xmlns:a16="http://schemas.microsoft.com/office/drawing/2014/main" id="{96E2251D-3062-C567-A0D6-9EE0B0C70B79}"/>
              </a:ext>
            </a:extLst>
          </p:cNvPr>
          <p:cNvSpPr/>
          <p:nvPr/>
        </p:nvSpPr>
        <p:spPr>
          <a:xfrm>
            <a:off x="683568" y="1393942"/>
            <a:ext cx="2486761" cy="1317955"/>
          </a:xfrm>
          <a:prstGeom prst="roundRect">
            <a:avLst>
              <a:gd name="adj" fmla="val 6774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200" b="1"/>
              <a:t>Container A</a:t>
            </a:r>
            <a:endParaRPr lang="ko-KR" altLang="en-US" sz="12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8" name="사각형: 둥근 모서리 114">
            <a:extLst>
              <a:ext uri="{FF2B5EF4-FFF2-40B4-BE49-F238E27FC236}">
                <a16:creationId xmlns:a16="http://schemas.microsoft.com/office/drawing/2014/main" id="{F310B05C-7347-6005-190A-E59B721CD3A7}"/>
              </a:ext>
            </a:extLst>
          </p:cNvPr>
          <p:cNvSpPr/>
          <p:nvPr/>
        </p:nvSpPr>
        <p:spPr>
          <a:xfrm>
            <a:off x="771302" y="2228033"/>
            <a:ext cx="1099999" cy="396044"/>
          </a:xfrm>
          <a:prstGeom prst="roundRect">
            <a:avLst>
              <a:gd name="adj" fmla="val 724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/dev/nvidia0</a:t>
            </a:r>
            <a:endParaRPr lang="en-US" altLang="ko-KR" sz="1000" dirty="0"/>
          </a:p>
        </p:txBody>
      </p:sp>
      <p:sp>
        <p:nvSpPr>
          <p:cNvPr id="49" name="사각형: 둥근 모서리 114">
            <a:extLst>
              <a:ext uri="{FF2B5EF4-FFF2-40B4-BE49-F238E27FC236}">
                <a16:creationId xmlns:a16="http://schemas.microsoft.com/office/drawing/2014/main" id="{7F9E0133-19BF-C998-AB14-9900D88AF886}"/>
              </a:ext>
            </a:extLst>
          </p:cNvPr>
          <p:cNvSpPr/>
          <p:nvPr/>
        </p:nvSpPr>
        <p:spPr>
          <a:xfrm>
            <a:off x="1972902" y="2228033"/>
            <a:ext cx="1099868" cy="396044"/>
          </a:xfrm>
          <a:prstGeom prst="roundRect">
            <a:avLst>
              <a:gd name="adj" fmla="val 724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/dev/nvidia1</a:t>
            </a:r>
            <a:endParaRPr lang="en-US" altLang="ko-KR" sz="1000" dirty="0"/>
          </a:p>
        </p:txBody>
      </p:sp>
      <p:sp>
        <p:nvSpPr>
          <p:cNvPr id="53" name="사각형: 둥근 모서리 114">
            <a:extLst>
              <a:ext uri="{FF2B5EF4-FFF2-40B4-BE49-F238E27FC236}">
                <a16:creationId xmlns:a16="http://schemas.microsoft.com/office/drawing/2014/main" id="{0AC767D1-D8B6-81B3-CC4D-27EB7E2B3019}"/>
              </a:ext>
            </a:extLst>
          </p:cNvPr>
          <p:cNvSpPr/>
          <p:nvPr/>
        </p:nvSpPr>
        <p:spPr>
          <a:xfrm>
            <a:off x="771302" y="1741979"/>
            <a:ext cx="2301467" cy="396044"/>
          </a:xfrm>
          <a:prstGeom prst="roundRect">
            <a:avLst>
              <a:gd name="adj" fmla="val 724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NVIDIA CUDA Lib/Toolkit</a:t>
            </a:r>
            <a:endParaRPr lang="en-US" altLang="ko-KR" sz="1000" dirty="0"/>
          </a:p>
        </p:txBody>
      </p: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012D9227-5823-A226-CF6D-EB6377708E48}"/>
              </a:ext>
            </a:extLst>
          </p:cNvPr>
          <p:cNvGrpSpPr/>
          <p:nvPr/>
        </p:nvGrpSpPr>
        <p:grpSpPr>
          <a:xfrm>
            <a:off x="3295100" y="1388279"/>
            <a:ext cx="3674596" cy="1317955"/>
            <a:chOff x="3328619" y="1015999"/>
            <a:chExt cx="3674596" cy="1317955"/>
          </a:xfrm>
        </p:grpSpPr>
        <p:sp>
          <p:nvSpPr>
            <p:cNvPr id="54" name="사각형: 둥근 모서리 114">
              <a:extLst>
                <a:ext uri="{FF2B5EF4-FFF2-40B4-BE49-F238E27FC236}">
                  <a16:creationId xmlns:a16="http://schemas.microsoft.com/office/drawing/2014/main" id="{341018E0-5C40-7C99-9D12-F4C67D06B651}"/>
                </a:ext>
              </a:extLst>
            </p:cNvPr>
            <p:cNvSpPr/>
            <p:nvPr/>
          </p:nvSpPr>
          <p:spPr>
            <a:xfrm>
              <a:off x="3328619" y="1015999"/>
              <a:ext cx="3674596" cy="1317955"/>
            </a:xfrm>
            <a:prstGeom prst="roundRect">
              <a:avLst>
                <a:gd name="adj" fmla="val 6774"/>
              </a:avLst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en-US" altLang="ko-KR" sz="1200" b="1"/>
                <a:t>Container B</a:t>
              </a:r>
              <a:endParaRPr lang="ko-KR" altLang="en-US" sz="1200" b="1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  <p:sp>
          <p:nvSpPr>
            <p:cNvPr id="55" name="사각형: 둥근 모서리 114">
              <a:extLst>
                <a:ext uri="{FF2B5EF4-FFF2-40B4-BE49-F238E27FC236}">
                  <a16:creationId xmlns:a16="http://schemas.microsoft.com/office/drawing/2014/main" id="{F56C11F9-0C3F-3604-1093-922DC40ABE7D}"/>
                </a:ext>
              </a:extLst>
            </p:cNvPr>
            <p:cNvSpPr/>
            <p:nvPr/>
          </p:nvSpPr>
          <p:spPr>
            <a:xfrm>
              <a:off x="3416353" y="1850090"/>
              <a:ext cx="1099999" cy="396044"/>
            </a:xfrm>
            <a:prstGeom prst="roundRect">
              <a:avLst>
                <a:gd name="adj" fmla="val 7242"/>
              </a:avLst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000"/>
                <a:t>/dev/nvdia0</a:t>
              </a:r>
              <a:endParaRPr lang="en-US" altLang="ko-KR" sz="1000" dirty="0"/>
            </a:p>
          </p:txBody>
        </p:sp>
        <p:sp>
          <p:nvSpPr>
            <p:cNvPr id="56" name="사각형: 둥근 모서리 114">
              <a:extLst>
                <a:ext uri="{FF2B5EF4-FFF2-40B4-BE49-F238E27FC236}">
                  <a16:creationId xmlns:a16="http://schemas.microsoft.com/office/drawing/2014/main" id="{71890ADD-A0DB-6261-7F1E-4BE6848BEF81}"/>
                </a:ext>
              </a:extLst>
            </p:cNvPr>
            <p:cNvSpPr/>
            <p:nvPr/>
          </p:nvSpPr>
          <p:spPr>
            <a:xfrm>
              <a:off x="4617953" y="1850090"/>
              <a:ext cx="1099868" cy="396044"/>
            </a:xfrm>
            <a:prstGeom prst="roundRect">
              <a:avLst>
                <a:gd name="adj" fmla="val 7242"/>
              </a:avLst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000"/>
                <a:t>/dev/nvdia2</a:t>
              </a:r>
              <a:endParaRPr lang="en-US" altLang="ko-KR" sz="1000" dirty="0"/>
            </a:p>
          </p:txBody>
        </p:sp>
        <p:sp>
          <p:nvSpPr>
            <p:cNvPr id="57" name="사각형: 둥근 모서리 114">
              <a:extLst>
                <a:ext uri="{FF2B5EF4-FFF2-40B4-BE49-F238E27FC236}">
                  <a16:creationId xmlns:a16="http://schemas.microsoft.com/office/drawing/2014/main" id="{167DCAC4-F288-0DE5-E901-C12716CE6819}"/>
                </a:ext>
              </a:extLst>
            </p:cNvPr>
            <p:cNvSpPr/>
            <p:nvPr/>
          </p:nvSpPr>
          <p:spPr>
            <a:xfrm>
              <a:off x="3416353" y="1364036"/>
              <a:ext cx="3498895" cy="396044"/>
            </a:xfrm>
            <a:prstGeom prst="roundRect">
              <a:avLst>
                <a:gd name="adj" fmla="val 7242"/>
              </a:avLst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000"/>
                <a:t>NVIDIA CUDA Lib/Toolkit</a:t>
              </a:r>
              <a:endParaRPr lang="en-US" altLang="ko-KR" sz="1000" dirty="0"/>
            </a:p>
          </p:txBody>
        </p:sp>
        <p:sp>
          <p:nvSpPr>
            <p:cNvPr id="85" name="사각형: 둥근 모서리 114">
              <a:extLst>
                <a:ext uri="{FF2B5EF4-FFF2-40B4-BE49-F238E27FC236}">
                  <a16:creationId xmlns:a16="http://schemas.microsoft.com/office/drawing/2014/main" id="{680999CA-FF8F-26AE-D876-22610AACAB44}"/>
                </a:ext>
              </a:extLst>
            </p:cNvPr>
            <p:cNvSpPr/>
            <p:nvPr/>
          </p:nvSpPr>
          <p:spPr>
            <a:xfrm>
              <a:off x="5815380" y="1850090"/>
              <a:ext cx="1099868" cy="396044"/>
            </a:xfrm>
            <a:prstGeom prst="roundRect">
              <a:avLst>
                <a:gd name="adj" fmla="val 7242"/>
              </a:avLst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000"/>
                <a:t>/dev/nvdia3</a:t>
              </a:r>
              <a:endParaRPr lang="en-US" altLang="ko-KR" sz="1000" dirty="0"/>
            </a:p>
          </p:txBody>
        </p:sp>
      </p:grpSp>
      <p:sp>
        <p:nvSpPr>
          <p:cNvPr id="72" name="사각형: 둥근 모서리 114">
            <a:extLst>
              <a:ext uri="{FF2B5EF4-FFF2-40B4-BE49-F238E27FC236}">
                <a16:creationId xmlns:a16="http://schemas.microsoft.com/office/drawing/2014/main" id="{3053C66E-F46D-498D-DF70-A6C0C0A4C081}"/>
              </a:ext>
            </a:extLst>
          </p:cNvPr>
          <p:cNvSpPr/>
          <p:nvPr/>
        </p:nvSpPr>
        <p:spPr>
          <a:xfrm>
            <a:off x="7112912" y="1388279"/>
            <a:ext cx="1487816" cy="1317955"/>
          </a:xfrm>
          <a:prstGeom prst="roundRect">
            <a:avLst>
              <a:gd name="adj" fmla="val 6774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200" b="1"/>
              <a:t>Container C</a:t>
            </a:r>
            <a:endParaRPr lang="ko-KR" altLang="en-US" sz="12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4" name="사각형: 둥근 모서리 114">
            <a:extLst>
              <a:ext uri="{FF2B5EF4-FFF2-40B4-BE49-F238E27FC236}">
                <a16:creationId xmlns:a16="http://schemas.microsoft.com/office/drawing/2014/main" id="{BBA54966-6171-893D-E8B5-1EF6B3149383}"/>
              </a:ext>
            </a:extLst>
          </p:cNvPr>
          <p:cNvSpPr/>
          <p:nvPr/>
        </p:nvSpPr>
        <p:spPr>
          <a:xfrm>
            <a:off x="7193099" y="2222370"/>
            <a:ext cx="1321799" cy="396044"/>
          </a:xfrm>
          <a:prstGeom prst="roundRect">
            <a:avLst>
              <a:gd name="adj" fmla="val 724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/dev/nvdia3</a:t>
            </a:r>
            <a:endParaRPr lang="en-US" altLang="ko-KR" sz="1000" dirty="0"/>
          </a:p>
        </p:txBody>
      </p:sp>
      <p:sp>
        <p:nvSpPr>
          <p:cNvPr id="75" name="사각형: 둥근 모서리 114">
            <a:extLst>
              <a:ext uri="{FF2B5EF4-FFF2-40B4-BE49-F238E27FC236}">
                <a16:creationId xmlns:a16="http://schemas.microsoft.com/office/drawing/2014/main" id="{B0C6C204-5487-CB99-48BE-6731085185E4}"/>
              </a:ext>
            </a:extLst>
          </p:cNvPr>
          <p:cNvSpPr/>
          <p:nvPr/>
        </p:nvSpPr>
        <p:spPr>
          <a:xfrm>
            <a:off x="7193099" y="1736316"/>
            <a:ext cx="1321798" cy="396044"/>
          </a:xfrm>
          <a:prstGeom prst="roundRect">
            <a:avLst>
              <a:gd name="adj" fmla="val 724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NVIDIA CUDA Lib/Toolkit</a:t>
            </a:r>
            <a:endParaRPr lang="en-US" altLang="ko-KR" sz="1000" dirty="0"/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9A1E5562-3930-E1E7-FD4B-1151CD57A5E1}"/>
              </a:ext>
            </a:extLst>
          </p:cNvPr>
          <p:cNvCxnSpPr>
            <a:cxnSpLocks/>
            <a:stCxn id="48" idx="2"/>
            <a:endCxn id="14" idx="0"/>
          </p:cNvCxnSpPr>
          <p:nvPr/>
        </p:nvCxnSpPr>
        <p:spPr>
          <a:xfrm>
            <a:off x="1321302" y="2624077"/>
            <a:ext cx="1363312" cy="114904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3D96D04A-1709-AC58-9283-0BE7B70A3B55}"/>
              </a:ext>
            </a:extLst>
          </p:cNvPr>
          <p:cNvCxnSpPr>
            <a:cxnSpLocks/>
            <a:stCxn id="55" idx="2"/>
            <a:endCxn id="14" idx="0"/>
          </p:cNvCxnSpPr>
          <p:nvPr/>
        </p:nvCxnSpPr>
        <p:spPr>
          <a:xfrm flipH="1">
            <a:off x="2684614" y="2618414"/>
            <a:ext cx="1248220" cy="115471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17">
            <a:extLst>
              <a:ext uri="{FF2B5EF4-FFF2-40B4-BE49-F238E27FC236}">
                <a16:creationId xmlns:a16="http://schemas.microsoft.com/office/drawing/2014/main" id="{41C42C19-2FA7-7B47-A69D-655B79B26E9F}"/>
              </a:ext>
            </a:extLst>
          </p:cNvPr>
          <p:cNvCxnSpPr>
            <a:cxnSpLocks/>
            <a:stCxn id="49" idx="2"/>
            <a:endCxn id="15" idx="0"/>
          </p:cNvCxnSpPr>
          <p:nvPr/>
        </p:nvCxnSpPr>
        <p:spPr>
          <a:xfrm>
            <a:off x="2522836" y="2624077"/>
            <a:ext cx="1421757" cy="114904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17">
            <a:extLst>
              <a:ext uri="{FF2B5EF4-FFF2-40B4-BE49-F238E27FC236}">
                <a16:creationId xmlns:a16="http://schemas.microsoft.com/office/drawing/2014/main" id="{3F667F75-900D-ECC0-32EE-59ACAB2EDEBA}"/>
              </a:ext>
            </a:extLst>
          </p:cNvPr>
          <p:cNvCxnSpPr>
            <a:cxnSpLocks/>
            <a:stCxn id="56" idx="2"/>
            <a:endCxn id="16" idx="0"/>
          </p:cNvCxnSpPr>
          <p:nvPr/>
        </p:nvCxnSpPr>
        <p:spPr>
          <a:xfrm>
            <a:off x="5134368" y="2618414"/>
            <a:ext cx="70203" cy="115471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00193E1B-53AC-8E3F-7067-53104C419E2E}"/>
              </a:ext>
            </a:extLst>
          </p:cNvPr>
          <p:cNvCxnSpPr>
            <a:cxnSpLocks/>
            <a:stCxn id="85" idx="2"/>
            <a:endCxn id="17" idx="0"/>
          </p:cNvCxnSpPr>
          <p:nvPr/>
        </p:nvCxnSpPr>
        <p:spPr>
          <a:xfrm>
            <a:off x="6331795" y="2618414"/>
            <a:ext cx="132755" cy="115471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6">
            <a:extLst>
              <a:ext uri="{FF2B5EF4-FFF2-40B4-BE49-F238E27FC236}">
                <a16:creationId xmlns:a16="http://schemas.microsoft.com/office/drawing/2014/main" id="{E69B32E6-A4BB-94A5-3BEA-1B9E2A989020}"/>
              </a:ext>
            </a:extLst>
          </p:cNvPr>
          <p:cNvCxnSpPr>
            <a:cxnSpLocks/>
            <a:stCxn id="74" idx="2"/>
            <a:endCxn id="17" idx="0"/>
          </p:cNvCxnSpPr>
          <p:nvPr/>
        </p:nvCxnSpPr>
        <p:spPr>
          <a:xfrm flipH="1">
            <a:off x="6464550" y="2618414"/>
            <a:ext cx="1389449" cy="115471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사각형: 둥근 모서리 114">
            <a:extLst>
              <a:ext uri="{FF2B5EF4-FFF2-40B4-BE49-F238E27FC236}">
                <a16:creationId xmlns:a16="http://schemas.microsoft.com/office/drawing/2014/main" id="{A1D7EEF2-2AB2-F6C6-C4FD-B9BD5A4B5CA7}"/>
              </a:ext>
            </a:extLst>
          </p:cNvPr>
          <p:cNvSpPr/>
          <p:nvPr/>
        </p:nvSpPr>
        <p:spPr>
          <a:xfrm>
            <a:off x="1692325" y="2945032"/>
            <a:ext cx="5759996" cy="396044"/>
          </a:xfrm>
          <a:prstGeom prst="roundRect">
            <a:avLst>
              <a:gd name="adj" fmla="val 724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NVIDIA GPU Device Driver</a:t>
            </a:r>
            <a:endParaRPr lang="en-US" altLang="ko-KR" sz="1000" dirty="0"/>
          </a:p>
        </p:txBody>
      </p:sp>
    </p:spTree>
    <p:extLst>
      <p:ext uri="{BB962C8B-B14F-4D97-AF65-F5344CB8AC3E}">
        <p14:creationId xmlns:p14="http://schemas.microsoft.com/office/powerpoint/2010/main" val="42189390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38443D-5E72-49E2-86AC-581D61C41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726229"/>
            <a:ext cx="9144000" cy="857250"/>
          </a:xfrm>
        </p:spPr>
        <p:txBody>
          <a:bodyPr>
            <a:normAutofit fontScale="90000"/>
          </a:bodyPr>
          <a:lstStyle/>
          <a:p>
            <a:r>
              <a:rPr lang="en-US" altLang="ko-KR"/>
              <a:t>CUDA Container OCI Runtime Spec</a:t>
            </a:r>
            <a:endParaRPr lang="ko-KR" altLang="en-US" dirty="0"/>
          </a:p>
        </p:txBody>
      </p:sp>
      <p:sp>
        <p:nvSpPr>
          <p:cNvPr id="7" name="사각형: 둥근 모서리 114">
            <a:extLst>
              <a:ext uri="{FF2B5EF4-FFF2-40B4-BE49-F238E27FC236}">
                <a16:creationId xmlns:a16="http://schemas.microsoft.com/office/drawing/2014/main" id="{E074CAD6-7716-4458-B0D4-1C0318E58F6D}"/>
              </a:ext>
            </a:extLst>
          </p:cNvPr>
          <p:cNvSpPr/>
          <p:nvPr/>
        </p:nvSpPr>
        <p:spPr>
          <a:xfrm>
            <a:off x="2627784" y="259255"/>
            <a:ext cx="4032448" cy="433441"/>
          </a:xfrm>
          <a:prstGeom prst="roundRect">
            <a:avLst>
              <a:gd name="adj" fmla="val 0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100"/>
              <a:t>$ docker run --gpu all nvidia/cuda:9.0-base nvidia-smi</a:t>
            </a:r>
            <a:endParaRPr lang="en-US" altLang="ko-KR" sz="1100" dirty="0"/>
          </a:p>
        </p:txBody>
      </p:sp>
      <p:sp>
        <p:nvSpPr>
          <p:cNvPr id="11" name="사각형: 둥근 모서리 114">
            <a:extLst>
              <a:ext uri="{FF2B5EF4-FFF2-40B4-BE49-F238E27FC236}">
                <a16:creationId xmlns:a16="http://schemas.microsoft.com/office/drawing/2014/main" id="{E07F06D4-AF1E-486E-8493-362B4DEDC5E3}"/>
              </a:ext>
            </a:extLst>
          </p:cNvPr>
          <p:cNvSpPr/>
          <p:nvPr/>
        </p:nvSpPr>
        <p:spPr>
          <a:xfrm>
            <a:off x="899592" y="915566"/>
            <a:ext cx="7488831" cy="3737569"/>
          </a:xfrm>
          <a:prstGeom prst="roundRect">
            <a:avLst>
              <a:gd name="adj" fmla="val 0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100" kern="0" dirty="0">
                <a:cs typeface="Al Bayan Plain" pitchFamily="2" charset="-78"/>
              </a:rPr>
              <a:t>{</a:t>
            </a:r>
          </a:p>
          <a:p>
            <a:r>
              <a:rPr lang="en-US" altLang="ko-KR" sz="1100" kern="0" dirty="0">
                <a:cs typeface="Al Bayan Plain" pitchFamily="2" charset="-78"/>
              </a:rPr>
              <a:t>    "hooks": {</a:t>
            </a:r>
          </a:p>
          <a:p>
            <a:r>
              <a:rPr lang="en-US" altLang="ko-KR" sz="1100" kern="0" dirty="0">
                <a:cs typeface="Al Bayan Plain" pitchFamily="2" charset="-78"/>
              </a:rPr>
              <a:t>        "</a:t>
            </a:r>
            <a:r>
              <a:rPr lang="en-US" altLang="ko-KR" sz="1100" kern="0" dirty="0" err="1">
                <a:cs typeface="Al Bayan Plain" pitchFamily="2" charset="-78"/>
              </a:rPr>
              <a:t>Poststart</a:t>
            </a:r>
            <a:r>
              <a:rPr lang="en-US" altLang="ko-KR" sz="1100" kern="0" dirty="0">
                <a:cs typeface="Al Bayan Plain" pitchFamily="2" charset="-78"/>
              </a:rPr>
              <a:t>": [],</a:t>
            </a:r>
          </a:p>
          <a:p>
            <a:r>
              <a:rPr lang="en-US" altLang="ko-KR" sz="1100" kern="0" dirty="0">
                <a:cs typeface="Al Bayan Plain" pitchFamily="2" charset="-78"/>
              </a:rPr>
              <a:t>        "</a:t>
            </a:r>
            <a:r>
              <a:rPr lang="en-US" altLang="ko-KR" sz="1100" kern="0" dirty="0" err="1">
                <a:cs typeface="Al Bayan Plain" pitchFamily="2" charset="-78"/>
              </a:rPr>
              <a:t>Poststop</a:t>
            </a:r>
            <a:r>
              <a:rPr lang="en-US" altLang="ko-KR" sz="1100" kern="0" dirty="0">
                <a:cs typeface="Al Bayan Plain" pitchFamily="2" charset="-78"/>
              </a:rPr>
              <a:t>": [],</a:t>
            </a:r>
          </a:p>
          <a:p>
            <a:r>
              <a:rPr lang="en-US" altLang="ko-KR" sz="1100" kern="0" dirty="0">
                <a:cs typeface="Al Bayan Plain" pitchFamily="2" charset="-78"/>
              </a:rPr>
              <a:t>        "prestart": [{</a:t>
            </a:r>
          </a:p>
          <a:p>
            <a:r>
              <a:rPr lang="en-US" altLang="ko-KR" sz="1100" kern="0" dirty="0">
                <a:cs typeface="Al Bayan Plain" pitchFamily="2" charset="-78"/>
              </a:rPr>
              <a:t>            "</a:t>
            </a:r>
            <a:r>
              <a:rPr lang="en-US" altLang="ko-KR" sz="1100" kern="0" dirty="0" err="1">
                <a:cs typeface="Al Bayan Plain" pitchFamily="2" charset="-78"/>
              </a:rPr>
              <a:t>args</a:t>
            </a:r>
            <a:r>
              <a:rPr lang="en-US" altLang="ko-KR" sz="1100" kern="0" dirty="0">
                <a:cs typeface="Al Bayan Plain" pitchFamily="2" charset="-78"/>
              </a:rPr>
              <a:t>": ["/</a:t>
            </a:r>
            <a:r>
              <a:rPr lang="en-US" altLang="ko-KR" sz="1100" kern="0" dirty="0" err="1">
                <a:cs typeface="Al Bayan Plain" pitchFamily="2" charset="-78"/>
              </a:rPr>
              <a:t>usr</a:t>
            </a:r>
            <a:r>
              <a:rPr lang="en-US" altLang="ko-KR" sz="1100" kern="0" dirty="0">
                <a:cs typeface="Al Bayan Plain" pitchFamily="2" charset="-78"/>
              </a:rPr>
              <a:t>/bin/</a:t>
            </a:r>
            <a:r>
              <a:rPr lang="en-US" altLang="ko-KR" sz="1100" kern="0" dirty="0" err="1">
                <a:cs typeface="Al Bayan Plain" pitchFamily="2" charset="-78"/>
              </a:rPr>
              <a:t>nvidia</a:t>
            </a:r>
            <a:r>
              <a:rPr lang="en-US" altLang="ko-KR" sz="1100" kern="0" dirty="0">
                <a:cs typeface="Al Bayan Plain" pitchFamily="2" charset="-78"/>
              </a:rPr>
              <a:t>-container-runtime-hook", "prestart"],</a:t>
            </a:r>
          </a:p>
          <a:p>
            <a:r>
              <a:rPr lang="en-US" altLang="ko-KR" sz="1100" kern="0" dirty="0">
                <a:cs typeface="Al Bayan Plain" pitchFamily="2" charset="-78"/>
              </a:rPr>
              <a:t>            "path": "/</a:t>
            </a:r>
            <a:r>
              <a:rPr lang="en-US" altLang="ko-KR" sz="1100" kern="0" dirty="0" err="1">
                <a:cs typeface="Al Bayan Plain" pitchFamily="2" charset="-78"/>
              </a:rPr>
              <a:t>usr</a:t>
            </a:r>
            <a:r>
              <a:rPr lang="en-US" altLang="ko-KR" sz="1100" kern="0" dirty="0">
                <a:cs typeface="Al Bayan Plain" pitchFamily="2" charset="-78"/>
              </a:rPr>
              <a:t>/bin/</a:t>
            </a:r>
            <a:r>
              <a:rPr lang="en-US" altLang="ko-KR" sz="1100" kern="0" dirty="0" err="1">
                <a:cs typeface="Al Bayan Plain" pitchFamily="2" charset="-78"/>
              </a:rPr>
              <a:t>nvidia</a:t>
            </a:r>
            <a:r>
              <a:rPr lang="en-US" altLang="ko-KR" sz="1100" kern="0" dirty="0">
                <a:cs typeface="Al Bayan Plain" pitchFamily="2" charset="-78"/>
              </a:rPr>
              <a:t>-container-runtime-hook”</a:t>
            </a:r>
          </a:p>
          <a:p>
            <a:r>
              <a:rPr lang="en-US" altLang="ko-KR" sz="1100" kern="0" dirty="0">
                <a:cs typeface="Al Bayan Plain" pitchFamily="2" charset="-78"/>
              </a:rPr>
              <a:t>        }]</a:t>
            </a:r>
          </a:p>
          <a:p>
            <a:r>
              <a:rPr lang="en-US" altLang="ko-KR" sz="1100" kern="0" dirty="0">
                <a:cs typeface="Al Bayan Plain" pitchFamily="2" charset="-78"/>
              </a:rPr>
              <a:t>    },</a:t>
            </a:r>
          </a:p>
          <a:p>
            <a:r>
              <a:rPr lang="en-US" altLang="ko-KR" sz="1100" kern="0" dirty="0">
                <a:cs typeface="Al Bayan Plain" pitchFamily="2" charset="-78"/>
              </a:rPr>
              <a:t>...</a:t>
            </a:r>
          </a:p>
          <a:p>
            <a:r>
              <a:rPr lang="en-US" altLang="ko-KR" sz="1100" kern="0" dirty="0">
                <a:cs typeface="Al Bayan Plain" pitchFamily="2" charset="-78"/>
              </a:rPr>
              <a:t>    "process": {</a:t>
            </a:r>
          </a:p>
          <a:p>
            <a:r>
              <a:rPr lang="en-US" altLang="ko-KR" sz="1100" kern="0" dirty="0">
                <a:cs typeface="Al Bayan Plain" pitchFamily="2" charset="-78"/>
              </a:rPr>
              <a:t>        “env”: [</a:t>
            </a:r>
          </a:p>
          <a:p>
            <a:r>
              <a:rPr lang="en-US" altLang="ko-KR" sz="1100" kern="0" dirty="0">
                <a:cs typeface="Al Bayan Plain" pitchFamily="2" charset="-78"/>
              </a:rPr>
              <a:t>            "NVIDIA_VISIBLE_DEVICES=GPU-5a270e58-abc7-d55b-a94f-54d410c1dfe2,GPU-9de66fe4-2a8b-4a2b-36bc-d61c165db7d8",</a:t>
            </a:r>
          </a:p>
          <a:p>
            <a:r>
              <a:rPr lang="en-US" altLang="ko-KR" sz="1100" kern="0" dirty="0">
                <a:cs typeface="Al Bayan Plain" pitchFamily="2" charset="-78"/>
              </a:rPr>
              <a:t>            “NVIDIA_DRIVER_CAPABILITIES=</a:t>
            </a:r>
            <a:r>
              <a:rPr lang="en-US" altLang="ko-KR" sz="1100" kern="0" dirty="0" err="1">
                <a:cs typeface="Al Bayan Plain" pitchFamily="2" charset="-78"/>
              </a:rPr>
              <a:t>compute,utility</a:t>
            </a:r>
            <a:r>
              <a:rPr lang="en-US" altLang="ko-KR" sz="1100" kern="0" dirty="0">
                <a:cs typeface="Al Bayan Plain" pitchFamily="2" charset="-78"/>
              </a:rPr>
              <a:t>”,</a:t>
            </a:r>
          </a:p>
          <a:p>
            <a:r>
              <a:rPr lang="en-US" altLang="ko-KR" sz="1100" kern="0" dirty="0">
                <a:cs typeface="Al Bayan Plain" pitchFamily="2" charset="-78"/>
              </a:rPr>
              <a:t>            "NV_CUDA_CUDART_VERSION=11.8.89-1",</a:t>
            </a:r>
          </a:p>
          <a:p>
            <a:r>
              <a:rPr lang="en-US" altLang="ko-KR" sz="1100" kern="0" dirty="0">
                <a:cs typeface="Al Bayan Plain" pitchFamily="2" charset="-78"/>
              </a:rPr>
              <a:t>            "CUDA_VERSION=11.8.0”,</a:t>
            </a:r>
          </a:p>
          <a:p>
            <a:r>
              <a:rPr lang="en-US" altLang="ko-KR" sz="1100" kern="0" dirty="0">
                <a:cs typeface="Al Bayan Plain" pitchFamily="2" charset="-78"/>
              </a:rPr>
              <a:t>            "LD_LIBRARY_PATH=/</a:t>
            </a:r>
            <a:r>
              <a:rPr lang="en-US" altLang="ko-KR" sz="1100" kern="0" dirty="0" err="1">
                <a:cs typeface="Al Bayan Plain" pitchFamily="2" charset="-78"/>
              </a:rPr>
              <a:t>usr</a:t>
            </a:r>
            <a:r>
              <a:rPr lang="en-US" altLang="ko-KR" sz="1100" kern="0" dirty="0">
                <a:cs typeface="Al Bayan Plain" pitchFamily="2" charset="-78"/>
              </a:rPr>
              <a:t>/local/</a:t>
            </a:r>
            <a:r>
              <a:rPr lang="en-US" altLang="ko-KR" sz="1100" kern="0" dirty="0" err="1">
                <a:cs typeface="Al Bayan Plain" pitchFamily="2" charset="-78"/>
              </a:rPr>
              <a:t>nvidia</a:t>
            </a:r>
            <a:r>
              <a:rPr lang="en-US" altLang="ko-KR" sz="1100" kern="0" dirty="0">
                <a:cs typeface="Al Bayan Plain" pitchFamily="2" charset="-78"/>
              </a:rPr>
              <a:t>/lib:/</a:t>
            </a:r>
            <a:r>
              <a:rPr lang="en-US" altLang="ko-KR" sz="1100" kern="0" dirty="0" err="1">
                <a:cs typeface="Al Bayan Plain" pitchFamily="2" charset="-78"/>
              </a:rPr>
              <a:t>usr</a:t>
            </a:r>
            <a:r>
              <a:rPr lang="en-US" altLang="ko-KR" sz="1100" kern="0" dirty="0">
                <a:cs typeface="Al Bayan Plain" pitchFamily="2" charset="-78"/>
              </a:rPr>
              <a:t>/local/</a:t>
            </a:r>
            <a:r>
              <a:rPr lang="en-US" altLang="ko-KR" sz="1100" kern="0" dirty="0" err="1">
                <a:cs typeface="Al Bayan Plain" pitchFamily="2" charset="-78"/>
              </a:rPr>
              <a:t>nvidia</a:t>
            </a:r>
            <a:r>
              <a:rPr lang="en-US" altLang="ko-KR" sz="1100" kern="0" dirty="0">
                <a:cs typeface="Al Bayan Plain" pitchFamily="2" charset="-78"/>
              </a:rPr>
              <a:t>/lib64"</a:t>
            </a:r>
          </a:p>
          <a:p>
            <a:r>
              <a:rPr lang="en-US" altLang="ko-KR" sz="1100" kern="0" dirty="0">
                <a:cs typeface="Al Bayan Plain" pitchFamily="2" charset="-78"/>
              </a:rPr>
              <a:t>            ...</a:t>
            </a:r>
            <a:br>
              <a:rPr lang="en-US" altLang="ko-KR" sz="1100" kern="0" dirty="0">
                <a:cs typeface="Al Bayan Plain" pitchFamily="2" charset="-78"/>
              </a:rPr>
            </a:br>
            <a:r>
              <a:rPr lang="en-US" altLang="ko-KR" sz="1100" kern="0" dirty="0">
                <a:cs typeface="Al Bayan Plain" pitchFamily="2" charset="-78"/>
              </a:rPr>
              <a:t>        ]</a:t>
            </a:r>
          </a:p>
          <a:p>
            <a:r>
              <a:rPr lang="en-US" altLang="ko-KR" sz="1100" kern="0" dirty="0">
                <a:cs typeface="Al Bayan Plain" pitchFamily="2" charset="-78"/>
              </a:rPr>
              <a:t>    }</a:t>
            </a:r>
          </a:p>
          <a:p>
            <a:r>
              <a:rPr lang="en-US" altLang="ko-KR" sz="1100" kern="0" dirty="0">
                <a:cs typeface="Al Bayan Plain" pitchFamily="2" charset="-78"/>
              </a:rPr>
              <a:t>...</a:t>
            </a:r>
            <a:endParaRPr lang="en-US" altLang="ko-KR" sz="1600" kern="0" dirty="0">
              <a:cs typeface="Al Bayan Plain" pitchFamily="2" charset="-78"/>
            </a:endParaRPr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D3447036-464F-4C90-9B09-6E8806442451}"/>
              </a:ext>
            </a:extLst>
          </p:cNvPr>
          <p:cNvCxnSpPr>
            <a:cxnSpLocks/>
            <a:stCxn id="7" idx="2"/>
            <a:endCxn id="11" idx="0"/>
          </p:cNvCxnSpPr>
          <p:nvPr/>
        </p:nvCxnSpPr>
        <p:spPr>
          <a:xfrm>
            <a:off x="4644008" y="692696"/>
            <a:ext cx="0" cy="22287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사각형: 둥근 모서리 114">
            <a:extLst>
              <a:ext uri="{FF2B5EF4-FFF2-40B4-BE49-F238E27FC236}">
                <a16:creationId xmlns:a16="http://schemas.microsoft.com/office/drawing/2014/main" id="{0B79FB11-EB5E-48B2-9B7D-2CF7A5759856}"/>
              </a:ext>
            </a:extLst>
          </p:cNvPr>
          <p:cNvSpPr/>
          <p:nvPr/>
        </p:nvSpPr>
        <p:spPr>
          <a:xfrm>
            <a:off x="3278436" y="4587974"/>
            <a:ext cx="2731142" cy="433441"/>
          </a:xfrm>
          <a:prstGeom prst="roundRect">
            <a:avLst>
              <a:gd name="adj" fmla="val 10304"/>
            </a:avLst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OCI Runtime Spec</a:t>
            </a:r>
            <a:endParaRPr lang="en-US" altLang="ko-KR" sz="1200" dirty="0"/>
          </a:p>
        </p:txBody>
      </p:sp>
    </p:spTree>
    <p:extLst>
      <p:ext uri="{BB962C8B-B14F-4D97-AF65-F5344CB8AC3E}">
        <p14:creationId xmlns:p14="http://schemas.microsoft.com/office/powerpoint/2010/main" val="32655696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38443D-5E72-49E2-86AC-581D61C41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2546"/>
            <a:ext cx="9144000" cy="857250"/>
          </a:xfrm>
        </p:spPr>
        <p:txBody>
          <a:bodyPr>
            <a:normAutofit/>
          </a:bodyPr>
          <a:lstStyle/>
          <a:p>
            <a:r>
              <a:rPr lang="en-US" altLang="ko-KR"/>
              <a:t>CUDA Container Init</a:t>
            </a:r>
            <a:endParaRPr lang="ko-KR" altLang="en-US" dirty="0"/>
          </a:p>
        </p:txBody>
      </p:sp>
      <p:sp>
        <p:nvSpPr>
          <p:cNvPr id="42" name="사각형: 둥근 모서리 114">
            <a:extLst>
              <a:ext uri="{FF2B5EF4-FFF2-40B4-BE49-F238E27FC236}">
                <a16:creationId xmlns:a16="http://schemas.microsoft.com/office/drawing/2014/main" id="{5DB7B0D4-5C1C-4C60-BB8B-03D76D721F3B}"/>
              </a:ext>
            </a:extLst>
          </p:cNvPr>
          <p:cNvSpPr/>
          <p:nvPr/>
        </p:nvSpPr>
        <p:spPr>
          <a:xfrm>
            <a:off x="3841306" y="3760564"/>
            <a:ext cx="2731142" cy="827410"/>
          </a:xfrm>
          <a:prstGeom prst="roundRect">
            <a:avLst>
              <a:gd name="adj" fmla="val 6397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200"/>
              <a:t>nvidia-container-cli CLI</a:t>
            </a:r>
            <a:endParaRPr lang="en-US" altLang="ko-KR" sz="1200" dirty="0"/>
          </a:p>
        </p:txBody>
      </p:sp>
      <p:sp>
        <p:nvSpPr>
          <p:cNvPr id="43" name="사각형: 둥근 모서리 114">
            <a:extLst>
              <a:ext uri="{FF2B5EF4-FFF2-40B4-BE49-F238E27FC236}">
                <a16:creationId xmlns:a16="http://schemas.microsoft.com/office/drawing/2014/main" id="{142E6DCA-FDB6-4119-91C1-FBA4F20C9A10}"/>
              </a:ext>
            </a:extLst>
          </p:cNvPr>
          <p:cNvSpPr/>
          <p:nvPr/>
        </p:nvSpPr>
        <p:spPr>
          <a:xfrm>
            <a:off x="4237350" y="4108151"/>
            <a:ext cx="1939054" cy="372492"/>
          </a:xfrm>
          <a:prstGeom prst="roundRect">
            <a:avLst>
              <a:gd name="adj" fmla="val 6397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libnvidia-container</a:t>
            </a:r>
            <a:endParaRPr lang="en-US" altLang="ko-KR" sz="1200" dirty="0"/>
          </a:p>
        </p:txBody>
      </p:sp>
      <p:sp>
        <p:nvSpPr>
          <p:cNvPr id="44" name="사각형: 둥근 모서리 114">
            <a:extLst>
              <a:ext uri="{FF2B5EF4-FFF2-40B4-BE49-F238E27FC236}">
                <a16:creationId xmlns:a16="http://schemas.microsoft.com/office/drawing/2014/main" id="{082C67D4-7411-4FFA-9DE5-481C92F517B9}"/>
              </a:ext>
            </a:extLst>
          </p:cNvPr>
          <p:cNvSpPr/>
          <p:nvPr/>
        </p:nvSpPr>
        <p:spPr>
          <a:xfrm>
            <a:off x="3673694" y="2571751"/>
            <a:ext cx="3066366" cy="433441"/>
          </a:xfrm>
          <a:prstGeom prst="roundRect">
            <a:avLst>
              <a:gd name="adj" fmla="val 10304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nvidia-container-runtime-hook CLI</a:t>
            </a:r>
            <a:endParaRPr lang="en-US" altLang="ko-KR" sz="1200" dirty="0"/>
          </a:p>
        </p:txBody>
      </p:sp>
      <p:sp>
        <p:nvSpPr>
          <p:cNvPr id="45" name="사각형: 둥근 모서리 114">
            <a:extLst>
              <a:ext uri="{FF2B5EF4-FFF2-40B4-BE49-F238E27FC236}">
                <a16:creationId xmlns:a16="http://schemas.microsoft.com/office/drawing/2014/main" id="{5822C4E5-43ED-4C5D-8B03-6B6C17509CCC}"/>
              </a:ext>
            </a:extLst>
          </p:cNvPr>
          <p:cNvSpPr/>
          <p:nvPr/>
        </p:nvSpPr>
        <p:spPr>
          <a:xfrm>
            <a:off x="7153673" y="2571750"/>
            <a:ext cx="1717863" cy="433441"/>
          </a:xfrm>
          <a:prstGeom prst="roundRect">
            <a:avLst>
              <a:gd name="adj" fmla="val 10304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Hook Config File</a:t>
            </a:r>
            <a:endParaRPr lang="en-US" altLang="ko-KR" sz="1200" dirty="0"/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65FB5BFF-A0DD-4714-8875-97CD74D2A2E4}"/>
              </a:ext>
            </a:extLst>
          </p:cNvPr>
          <p:cNvCxnSpPr>
            <a:cxnSpLocks/>
            <a:stCxn id="45" idx="1"/>
            <a:endCxn id="44" idx="3"/>
          </p:cNvCxnSpPr>
          <p:nvPr/>
        </p:nvCxnSpPr>
        <p:spPr>
          <a:xfrm flipH="1">
            <a:off x="6740060" y="2788471"/>
            <a:ext cx="413613" cy="1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FE2EADFE-6C93-41E9-A1B9-B5E2ADB880C6}"/>
              </a:ext>
            </a:extLst>
          </p:cNvPr>
          <p:cNvCxnSpPr>
            <a:cxnSpLocks/>
            <a:stCxn id="42" idx="1"/>
            <a:endCxn id="48" idx="2"/>
          </p:cNvCxnSpPr>
          <p:nvPr/>
        </p:nvCxnSpPr>
        <p:spPr>
          <a:xfrm flipH="1" flipV="1">
            <a:off x="1955254" y="3850998"/>
            <a:ext cx="1886052" cy="323271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3DD8BE10-CBA1-42DD-B3C6-FC95FC0FE639}"/>
              </a:ext>
            </a:extLst>
          </p:cNvPr>
          <p:cNvCxnSpPr>
            <a:cxnSpLocks/>
            <a:stCxn id="44" idx="2"/>
            <a:endCxn id="42" idx="0"/>
          </p:cNvCxnSpPr>
          <p:nvPr/>
        </p:nvCxnSpPr>
        <p:spPr>
          <a:xfrm>
            <a:off x="5206877" y="3005192"/>
            <a:ext cx="0" cy="75537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CB70320F-7E30-47DB-95E1-D7C348AC5B33}"/>
              </a:ext>
            </a:extLst>
          </p:cNvPr>
          <p:cNvCxnSpPr>
            <a:cxnSpLocks/>
            <a:stCxn id="35" idx="2"/>
            <a:endCxn id="44" idx="0"/>
          </p:cNvCxnSpPr>
          <p:nvPr/>
        </p:nvCxnSpPr>
        <p:spPr>
          <a:xfrm>
            <a:off x="5206872" y="1811551"/>
            <a:ext cx="5" cy="76020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사각형: 둥근 모서리 114">
            <a:extLst>
              <a:ext uri="{FF2B5EF4-FFF2-40B4-BE49-F238E27FC236}">
                <a16:creationId xmlns:a16="http://schemas.microsoft.com/office/drawing/2014/main" id="{A2B3235F-66A3-43E7-8101-C88D350C6502}"/>
              </a:ext>
            </a:extLst>
          </p:cNvPr>
          <p:cNvSpPr/>
          <p:nvPr/>
        </p:nvSpPr>
        <p:spPr>
          <a:xfrm>
            <a:off x="3841301" y="1378110"/>
            <a:ext cx="2731142" cy="433441"/>
          </a:xfrm>
          <a:prstGeom prst="roundRect">
            <a:avLst>
              <a:gd name="adj" fmla="val 10304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runc CLI</a:t>
            </a:r>
            <a:endParaRPr lang="en-US" altLang="ko-KR" sz="1200" dirty="0"/>
          </a:p>
        </p:txBody>
      </p:sp>
      <p:sp>
        <p:nvSpPr>
          <p:cNvPr id="39" name="사각형: 둥근 모서리 114">
            <a:extLst>
              <a:ext uri="{FF2B5EF4-FFF2-40B4-BE49-F238E27FC236}">
                <a16:creationId xmlns:a16="http://schemas.microsoft.com/office/drawing/2014/main" id="{3F164252-2058-435F-8A1E-78F6A6AD1BA3}"/>
              </a:ext>
            </a:extLst>
          </p:cNvPr>
          <p:cNvSpPr/>
          <p:nvPr/>
        </p:nvSpPr>
        <p:spPr>
          <a:xfrm>
            <a:off x="4616610" y="1973478"/>
            <a:ext cx="2731142" cy="433442"/>
          </a:xfrm>
          <a:prstGeom prst="roundRect">
            <a:avLst>
              <a:gd name="adj" fmla="val 10304"/>
            </a:avLst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 i="1"/>
              <a:t>Exec via OCI runtime’s </a:t>
            </a:r>
          </a:p>
          <a:p>
            <a:pPr algn="ctr"/>
            <a:r>
              <a:rPr lang="en-US" altLang="ko-KR" sz="1000" b="1" i="1"/>
              <a:t>prestart hook</a:t>
            </a:r>
          </a:p>
        </p:txBody>
      </p:sp>
      <p:sp>
        <p:nvSpPr>
          <p:cNvPr id="46" name="사각형: 둥근 모서리 114">
            <a:extLst>
              <a:ext uri="{FF2B5EF4-FFF2-40B4-BE49-F238E27FC236}">
                <a16:creationId xmlns:a16="http://schemas.microsoft.com/office/drawing/2014/main" id="{2A7265A9-1ED0-4509-AADA-EE30D5CF414A}"/>
              </a:ext>
            </a:extLst>
          </p:cNvPr>
          <p:cNvSpPr/>
          <p:nvPr/>
        </p:nvSpPr>
        <p:spPr>
          <a:xfrm>
            <a:off x="4791471" y="3118132"/>
            <a:ext cx="2381421" cy="537288"/>
          </a:xfrm>
          <a:prstGeom prst="roundRect">
            <a:avLst>
              <a:gd name="adj" fmla="val 10304"/>
            </a:avLst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 i="1"/>
              <a:t>Exec with container, </a:t>
            </a:r>
          </a:p>
          <a:p>
            <a:pPr algn="ctr"/>
            <a:r>
              <a:rPr lang="en-US" altLang="ko-KR" sz="1000" b="1" i="1"/>
              <a:t>GPU, CUDA parameters</a:t>
            </a:r>
          </a:p>
        </p:txBody>
      </p:sp>
      <p:sp>
        <p:nvSpPr>
          <p:cNvPr id="48" name="사각형: 둥근 모서리 114">
            <a:extLst>
              <a:ext uri="{FF2B5EF4-FFF2-40B4-BE49-F238E27FC236}">
                <a16:creationId xmlns:a16="http://schemas.microsoft.com/office/drawing/2014/main" id="{E97AE204-C428-413E-8AD2-E8A0E995527D}"/>
              </a:ext>
            </a:extLst>
          </p:cNvPr>
          <p:cNvSpPr/>
          <p:nvPr/>
        </p:nvSpPr>
        <p:spPr>
          <a:xfrm>
            <a:off x="994692" y="2139701"/>
            <a:ext cx="1921124" cy="1711297"/>
          </a:xfrm>
          <a:prstGeom prst="roundRect">
            <a:avLst>
              <a:gd name="adj" fmla="val 6774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200">
                <a:solidFill>
                  <a:schemeClr val="tx1"/>
                </a:solidFill>
              </a:rPr>
              <a:t>Container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en-US" altLang="ko-KR" sz="1200">
                <a:solidFill>
                  <a:schemeClr val="tx1"/>
                </a:solidFill>
              </a:rPr>
              <a:t>(Namespace, Rootfs)</a:t>
            </a:r>
          </a:p>
        </p:txBody>
      </p:sp>
      <p:sp>
        <p:nvSpPr>
          <p:cNvPr id="59" name="사각형: 둥근 모서리 114">
            <a:extLst>
              <a:ext uri="{FF2B5EF4-FFF2-40B4-BE49-F238E27FC236}">
                <a16:creationId xmlns:a16="http://schemas.microsoft.com/office/drawing/2014/main" id="{A425BB29-0B26-467C-B6AC-5AE24F54625E}"/>
              </a:ext>
            </a:extLst>
          </p:cNvPr>
          <p:cNvSpPr/>
          <p:nvPr/>
        </p:nvSpPr>
        <p:spPr>
          <a:xfrm>
            <a:off x="2037881" y="1034393"/>
            <a:ext cx="1828120" cy="420540"/>
          </a:xfrm>
          <a:prstGeom prst="roundRect">
            <a:avLst>
              <a:gd name="adj" fmla="val 10304"/>
            </a:avLst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i="1"/>
              <a:t>Create namespace (clone()),</a:t>
            </a:r>
          </a:p>
          <a:p>
            <a:pPr algn="ctr"/>
            <a:r>
              <a:rPr lang="en-US" altLang="ko-KR" sz="1000" i="1"/>
              <a:t>Set rootfs (overlay FS)</a:t>
            </a:r>
          </a:p>
        </p:txBody>
      </p:sp>
      <p:sp>
        <p:nvSpPr>
          <p:cNvPr id="73" name="타원 72">
            <a:extLst>
              <a:ext uri="{FF2B5EF4-FFF2-40B4-BE49-F238E27FC236}">
                <a16:creationId xmlns:a16="http://schemas.microsoft.com/office/drawing/2014/main" id="{13F88F64-DEB9-4E8C-9566-709C0350B858}"/>
              </a:ext>
            </a:extLst>
          </p:cNvPr>
          <p:cNvSpPr/>
          <p:nvPr/>
        </p:nvSpPr>
        <p:spPr>
          <a:xfrm>
            <a:off x="5054539" y="1708096"/>
            <a:ext cx="288032" cy="288032"/>
          </a:xfrm>
          <a:prstGeom prst="ellipse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3</a:t>
            </a:r>
            <a:endParaRPr lang="ko-KR" altLang="en-US" sz="1200"/>
          </a:p>
        </p:txBody>
      </p:sp>
      <p:sp>
        <p:nvSpPr>
          <p:cNvPr id="74" name="타원 73">
            <a:extLst>
              <a:ext uri="{FF2B5EF4-FFF2-40B4-BE49-F238E27FC236}">
                <a16:creationId xmlns:a16="http://schemas.microsoft.com/office/drawing/2014/main" id="{48D87559-1E58-4D86-845E-9977F9833F54}"/>
              </a:ext>
            </a:extLst>
          </p:cNvPr>
          <p:cNvSpPr/>
          <p:nvPr/>
        </p:nvSpPr>
        <p:spPr>
          <a:xfrm>
            <a:off x="5054539" y="2886446"/>
            <a:ext cx="288032" cy="288032"/>
          </a:xfrm>
          <a:prstGeom prst="ellipse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4</a:t>
            </a:r>
            <a:endParaRPr lang="ko-KR" altLang="en-US" sz="1200"/>
          </a:p>
        </p:txBody>
      </p:sp>
      <p:sp>
        <p:nvSpPr>
          <p:cNvPr id="75" name="타원 74">
            <a:extLst>
              <a:ext uri="{FF2B5EF4-FFF2-40B4-BE49-F238E27FC236}">
                <a16:creationId xmlns:a16="http://schemas.microsoft.com/office/drawing/2014/main" id="{DD1DCE9A-4B26-4230-8C42-D35177C3EBFF}"/>
              </a:ext>
            </a:extLst>
          </p:cNvPr>
          <p:cNvSpPr/>
          <p:nvPr/>
        </p:nvSpPr>
        <p:spPr>
          <a:xfrm>
            <a:off x="3693972" y="4030253"/>
            <a:ext cx="288032" cy="288032"/>
          </a:xfrm>
          <a:prstGeom prst="ellipse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5</a:t>
            </a:r>
            <a:endParaRPr lang="ko-KR" altLang="en-US" sz="1200"/>
          </a:p>
        </p:txBody>
      </p:sp>
      <p:sp>
        <p:nvSpPr>
          <p:cNvPr id="80" name="사각형: 둥근 모서리 114">
            <a:extLst>
              <a:ext uri="{FF2B5EF4-FFF2-40B4-BE49-F238E27FC236}">
                <a16:creationId xmlns:a16="http://schemas.microsoft.com/office/drawing/2014/main" id="{B3BFAD38-3DFC-464B-B19E-4DB857870917}"/>
              </a:ext>
            </a:extLst>
          </p:cNvPr>
          <p:cNvSpPr/>
          <p:nvPr/>
        </p:nvSpPr>
        <p:spPr>
          <a:xfrm>
            <a:off x="1177355" y="2831826"/>
            <a:ext cx="1886052" cy="458983"/>
          </a:xfrm>
          <a:prstGeom prst="roundRect">
            <a:avLst>
              <a:gd name="adj" fmla="val 10304"/>
            </a:avLst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i="1"/>
              <a:t>Change root (pivot_root()),</a:t>
            </a:r>
            <a:br>
              <a:rPr lang="en-US" altLang="ko-KR" sz="1000" i="1"/>
            </a:br>
            <a:r>
              <a:rPr lang="en-US" altLang="ko-KR" sz="1000" i="1"/>
              <a:t>Exec app (exec())</a:t>
            </a:r>
          </a:p>
        </p:txBody>
      </p:sp>
      <p:cxnSp>
        <p:nvCxnSpPr>
          <p:cNvPr id="97" name="직선 화살표 연결선 96">
            <a:extLst>
              <a:ext uri="{FF2B5EF4-FFF2-40B4-BE49-F238E27FC236}">
                <a16:creationId xmlns:a16="http://schemas.microsoft.com/office/drawing/2014/main" id="{E49F9148-186C-4D75-9590-4EAFC196FE25}"/>
              </a:ext>
            </a:extLst>
          </p:cNvPr>
          <p:cNvCxnSpPr>
            <a:cxnSpLocks/>
          </p:cNvCxnSpPr>
          <p:nvPr/>
        </p:nvCxnSpPr>
        <p:spPr>
          <a:xfrm flipH="1">
            <a:off x="1551883" y="1472351"/>
            <a:ext cx="2289418" cy="667351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타원 69">
            <a:extLst>
              <a:ext uri="{FF2B5EF4-FFF2-40B4-BE49-F238E27FC236}">
                <a16:creationId xmlns:a16="http://schemas.microsoft.com/office/drawing/2014/main" id="{FF8641A9-C507-43AD-A240-C1F7DE339E78}"/>
              </a:ext>
            </a:extLst>
          </p:cNvPr>
          <p:cNvSpPr/>
          <p:nvPr/>
        </p:nvSpPr>
        <p:spPr>
          <a:xfrm>
            <a:off x="3693972" y="1242415"/>
            <a:ext cx="288032" cy="288032"/>
          </a:xfrm>
          <a:prstGeom prst="ellipse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1</a:t>
            </a:r>
            <a:endParaRPr lang="ko-KR" altLang="en-US" sz="1200"/>
          </a:p>
        </p:txBody>
      </p:sp>
      <p:sp>
        <p:nvSpPr>
          <p:cNvPr id="24" name="사각형: 둥근 모서리 114">
            <a:extLst>
              <a:ext uri="{FF2B5EF4-FFF2-40B4-BE49-F238E27FC236}">
                <a16:creationId xmlns:a16="http://schemas.microsoft.com/office/drawing/2014/main" id="{B9253FE2-2D7A-448F-B4D6-58E5379E0CA6}"/>
              </a:ext>
            </a:extLst>
          </p:cNvPr>
          <p:cNvSpPr/>
          <p:nvPr/>
        </p:nvSpPr>
        <p:spPr>
          <a:xfrm>
            <a:off x="1854525" y="4108151"/>
            <a:ext cx="1859108" cy="398704"/>
          </a:xfrm>
          <a:prstGeom prst="roundRect">
            <a:avLst>
              <a:gd name="adj" fmla="val 10304"/>
            </a:avLst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i="1"/>
              <a:t>Make device node (mknod), </a:t>
            </a:r>
          </a:p>
          <a:p>
            <a:pPr algn="ctr"/>
            <a:r>
              <a:rPr lang="en-US" altLang="ko-KR" sz="1000" i="1"/>
              <a:t>Load kernel module</a:t>
            </a:r>
          </a:p>
        </p:txBody>
      </p:sp>
      <p:sp>
        <p:nvSpPr>
          <p:cNvPr id="4" name="사각형: 둥근 모서리 114">
            <a:extLst>
              <a:ext uri="{FF2B5EF4-FFF2-40B4-BE49-F238E27FC236}">
                <a16:creationId xmlns:a16="http://schemas.microsoft.com/office/drawing/2014/main" id="{212B356A-4769-43B0-B4FF-2D32ED66F330}"/>
              </a:ext>
            </a:extLst>
          </p:cNvPr>
          <p:cNvSpPr/>
          <p:nvPr/>
        </p:nvSpPr>
        <p:spPr>
          <a:xfrm>
            <a:off x="7153673" y="1370132"/>
            <a:ext cx="1717863" cy="433441"/>
          </a:xfrm>
          <a:prstGeom prst="roundRect">
            <a:avLst>
              <a:gd name="adj" fmla="val 10304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OCI Runtime</a:t>
            </a:r>
          </a:p>
          <a:p>
            <a:pPr algn="ctr"/>
            <a:r>
              <a:rPr lang="en-US" altLang="ko-KR" sz="1200"/>
              <a:t>Config.json</a:t>
            </a:r>
            <a:endParaRPr lang="en-US" altLang="ko-KR" sz="1200" dirty="0"/>
          </a:p>
        </p:txBody>
      </p:sp>
      <p:cxnSp>
        <p:nvCxnSpPr>
          <p:cNvPr id="5" name="직선 화살표 연결선 17">
            <a:extLst>
              <a:ext uri="{FF2B5EF4-FFF2-40B4-BE49-F238E27FC236}">
                <a16:creationId xmlns:a16="http://schemas.microsoft.com/office/drawing/2014/main" id="{FA9F356B-0DF0-1E32-F955-B0DA73E6C3BF}"/>
              </a:ext>
            </a:extLst>
          </p:cNvPr>
          <p:cNvCxnSpPr>
            <a:cxnSpLocks/>
            <a:stCxn id="4" idx="1"/>
            <a:endCxn id="35" idx="3"/>
          </p:cNvCxnSpPr>
          <p:nvPr/>
        </p:nvCxnSpPr>
        <p:spPr>
          <a:xfrm flipH="1">
            <a:off x="6572443" y="1586853"/>
            <a:ext cx="581230" cy="7978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화살표 연결선 17">
            <a:extLst>
              <a:ext uri="{FF2B5EF4-FFF2-40B4-BE49-F238E27FC236}">
                <a16:creationId xmlns:a16="http://schemas.microsoft.com/office/drawing/2014/main" id="{E236BF99-FFC4-2E79-2D88-3A91E95D8732}"/>
              </a:ext>
            </a:extLst>
          </p:cNvPr>
          <p:cNvCxnSpPr>
            <a:cxnSpLocks/>
            <a:stCxn id="4" idx="2"/>
            <a:endCxn id="44" idx="3"/>
          </p:cNvCxnSpPr>
          <p:nvPr/>
        </p:nvCxnSpPr>
        <p:spPr>
          <a:xfrm flipH="1">
            <a:off x="6740060" y="1803573"/>
            <a:ext cx="1272545" cy="984899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EFE3B8DF-4C56-3CC0-5814-05BBC4932D96}"/>
              </a:ext>
            </a:extLst>
          </p:cNvPr>
          <p:cNvCxnSpPr>
            <a:cxnSpLocks/>
            <a:stCxn id="48" idx="0"/>
            <a:endCxn id="35" idx="1"/>
          </p:cNvCxnSpPr>
          <p:nvPr/>
        </p:nvCxnSpPr>
        <p:spPr>
          <a:xfrm flipV="1">
            <a:off x="1955254" y="1594831"/>
            <a:ext cx="1886047" cy="54487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사각형: 둥근 모서리 114">
            <a:extLst>
              <a:ext uri="{FF2B5EF4-FFF2-40B4-BE49-F238E27FC236}">
                <a16:creationId xmlns:a16="http://schemas.microsoft.com/office/drawing/2014/main" id="{DFB5EAB8-13A7-24B3-B600-D994ACA0B37A}"/>
              </a:ext>
            </a:extLst>
          </p:cNvPr>
          <p:cNvSpPr/>
          <p:nvPr/>
        </p:nvSpPr>
        <p:spPr>
          <a:xfrm>
            <a:off x="686361" y="2128125"/>
            <a:ext cx="1449638" cy="619914"/>
          </a:xfrm>
          <a:prstGeom prst="roundRect">
            <a:avLst>
              <a:gd name="adj" fmla="val 10304"/>
            </a:avLst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i="1"/>
              <a:t>Request run </a:t>
            </a:r>
          </a:p>
          <a:p>
            <a:pPr algn="ctr"/>
            <a:r>
              <a:rPr lang="en-US" altLang="ko-KR" sz="1000" i="1"/>
              <a:t>prestart hook through FIFO</a:t>
            </a:r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00DF2A4E-ED70-38F7-A9A8-11E7FD4B3FC8}"/>
              </a:ext>
            </a:extLst>
          </p:cNvPr>
          <p:cNvSpPr/>
          <p:nvPr/>
        </p:nvSpPr>
        <p:spPr>
          <a:xfrm>
            <a:off x="1811238" y="2085622"/>
            <a:ext cx="288032" cy="288032"/>
          </a:xfrm>
          <a:prstGeom prst="ellipse">
            <a:avLst/>
          </a:prstGeom>
          <a:solidFill>
            <a:schemeClr val="bg1"/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2</a:t>
            </a:r>
            <a:endParaRPr lang="ko-KR" altLang="en-US" sz="1200"/>
          </a:p>
        </p:txBody>
      </p: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E4DBC2F7-3A9E-6976-F9E3-68CB58121E8E}"/>
              </a:ext>
            </a:extLst>
          </p:cNvPr>
          <p:cNvCxnSpPr>
            <a:cxnSpLocks/>
          </p:cNvCxnSpPr>
          <p:nvPr/>
        </p:nvCxnSpPr>
        <p:spPr>
          <a:xfrm flipH="1">
            <a:off x="2371915" y="1709737"/>
            <a:ext cx="1464878" cy="430213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타원 56">
            <a:extLst>
              <a:ext uri="{FF2B5EF4-FFF2-40B4-BE49-F238E27FC236}">
                <a16:creationId xmlns:a16="http://schemas.microsoft.com/office/drawing/2014/main" id="{A8C5CAD4-4925-3C60-8FBF-A486C33C5A6A}"/>
              </a:ext>
            </a:extLst>
          </p:cNvPr>
          <p:cNvSpPr/>
          <p:nvPr/>
        </p:nvSpPr>
        <p:spPr>
          <a:xfrm>
            <a:off x="3693972" y="1666142"/>
            <a:ext cx="288032" cy="288032"/>
          </a:xfrm>
          <a:prstGeom prst="ellipse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6</a:t>
            </a:r>
            <a:endParaRPr lang="ko-KR" altLang="en-US" sz="1200"/>
          </a:p>
        </p:txBody>
      </p:sp>
      <p:sp>
        <p:nvSpPr>
          <p:cNvPr id="58" name="사각형: 둥근 모서리 114">
            <a:extLst>
              <a:ext uri="{FF2B5EF4-FFF2-40B4-BE49-F238E27FC236}">
                <a16:creationId xmlns:a16="http://schemas.microsoft.com/office/drawing/2014/main" id="{08F61331-5805-941B-ACD7-FD2DE2B3CF1F}"/>
              </a:ext>
            </a:extLst>
          </p:cNvPr>
          <p:cNvSpPr/>
          <p:nvPr/>
        </p:nvSpPr>
        <p:spPr>
          <a:xfrm>
            <a:off x="2929779" y="1935917"/>
            <a:ext cx="1828120" cy="420540"/>
          </a:xfrm>
          <a:prstGeom prst="roundRect">
            <a:avLst>
              <a:gd name="adj" fmla="val 10304"/>
            </a:avLst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i="1"/>
              <a:t>Response done prestart hook through FIFO</a:t>
            </a:r>
          </a:p>
        </p:txBody>
      </p:sp>
      <p:sp>
        <p:nvSpPr>
          <p:cNvPr id="64" name="타원 63">
            <a:extLst>
              <a:ext uri="{FF2B5EF4-FFF2-40B4-BE49-F238E27FC236}">
                <a16:creationId xmlns:a16="http://schemas.microsoft.com/office/drawing/2014/main" id="{C9ECED67-B786-436A-F2E8-5EAF4D6F013D}"/>
              </a:ext>
            </a:extLst>
          </p:cNvPr>
          <p:cNvSpPr/>
          <p:nvPr/>
        </p:nvSpPr>
        <p:spPr>
          <a:xfrm>
            <a:off x="1036914" y="2917302"/>
            <a:ext cx="288032" cy="288032"/>
          </a:xfrm>
          <a:prstGeom prst="ellipse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7</a:t>
            </a:r>
            <a:endParaRPr lang="ko-KR" altLang="en-US" sz="1200"/>
          </a:p>
        </p:txBody>
      </p:sp>
    </p:spTree>
    <p:extLst>
      <p:ext uri="{BB962C8B-B14F-4D97-AF65-F5344CB8AC3E}">
        <p14:creationId xmlns:p14="http://schemas.microsoft.com/office/powerpoint/2010/main" val="18322582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38443D-5E72-49E2-86AC-581D61C41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2546"/>
            <a:ext cx="9144000" cy="857250"/>
          </a:xfrm>
        </p:spPr>
        <p:txBody>
          <a:bodyPr>
            <a:normAutofit/>
          </a:bodyPr>
          <a:lstStyle/>
          <a:p>
            <a:r>
              <a:rPr lang="en-US" altLang="ko-KR"/>
              <a:t>CUDA Container Stack</a:t>
            </a:r>
            <a:endParaRPr lang="ko-KR" altLang="en-US" dirty="0"/>
          </a:p>
        </p:txBody>
      </p:sp>
      <p:sp>
        <p:nvSpPr>
          <p:cNvPr id="37" name="사각형: 둥근 모서리 114">
            <a:extLst>
              <a:ext uri="{FF2B5EF4-FFF2-40B4-BE49-F238E27FC236}">
                <a16:creationId xmlns:a16="http://schemas.microsoft.com/office/drawing/2014/main" id="{8CC31052-D46C-415C-AC5E-9F519A0CE552}"/>
              </a:ext>
            </a:extLst>
          </p:cNvPr>
          <p:cNvSpPr/>
          <p:nvPr/>
        </p:nvSpPr>
        <p:spPr>
          <a:xfrm>
            <a:off x="1557988" y="3660955"/>
            <a:ext cx="6033186" cy="976265"/>
          </a:xfrm>
          <a:prstGeom prst="roundRect">
            <a:avLst>
              <a:gd name="adj" fmla="val 6397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200" b="1"/>
              <a:t>Host Hardware</a:t>
            </a:r>
            <a:endParaRPr lang="en-US" altLang="ko-KR" sz="1200" b="1" dirty="0"/>
          </a:p>
        </p:txBody>
      </p:sp>
      <p:sp>
        <p:nvSpPr>
          <p:cNvPr id="33" name="사각형: 둥근 모서리 114">
            <a:extLst>
              <a:ext uri="{FF2B5EF4-FFF2-40B4-BE49-F238E27FC236}">
                <a16:creationId xmlns:a16="http://schemas.microsoft.com/office/drawing/2014/main" id="{79F6D168-BB65-4F50-9582-4A29196F3F72}"/>
              </a:ext>
            </a:extLst>
          </p:cNvPr>
          <p:cNvSpPr/>
          <p:nvPr/>
        </p:nvSpPr>
        <p:spPr>
          <a:xfrm>
            <a:off x="1552826" y="2812111"/>
            <a:ext cx="6043510" cy="855136"/>
          </a:xfrm>
          <a:prstGeom prst="roundRect">
            <a:avLst>
              <a:gd name="adj" fmla="val 4167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200" b="1"/>
              <a:t>Host Kernel</a:t>
            </a:r>
            <a:endParaRPr lang="en-US" altLang="ko-KR" sz="1200" b="1" dirty="0"/>
          </a:p>
        </p:txBody>
      </p:sp>
      <p:sp>
        <p:nvSpPr>
          <p:cNvPr id="14" name="사각형: 둥근 모서리 114">
            <a:extLst>
              <a:ext uri="{FF2B5EF4-FFF2-40B4-BE49-F238E27FC236}">
                <a16:creationId xmlns:a16="http://schemas.microsoft.com/office/drawing/2014/main" id="{1A39F0A4-CB41-4000-A6B3-276C8699113E}"/>
              </a:ext>
            </a:extLst>
          </p:cNvPr>
          <p:cNvSpPr/>
          <p:nvPr/>
        </p:nvSpPr>
        <p:spPr>
          <a:xfrm>
            <a:off x="2145948" y="3773124"/>
            <a:ext cx="1077331" cy="576064"/>
          </a:xfrm>
          <a:prstGeom prst="roundRect">
            <a:avLst>
              <a:gd name="adj" fmla="val 724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NVIDIA</a:t>
            </a:r>
          </a:p>
          <a:p>
            <a:pPr algn="ctr"/>
            <a:r>
              <a:rPr lang="en-US" altLang="ko-KR" sz="1000"/>
              <a:t>GPU 0</a:t>
            </a:r>
            <a:endParaRPr lang="en-US" altLang="ko-KR" sz="1000" dirty="0"/>
          </a:p>
        </p:txBody>
      </p:sp>
      <p:sp>
        <p:nvSpPr>
          <p:cNvPr id="15" name="사각형: 둥근 모서리 114">
            <a:extLst>
              <a:ext uri="{FF2B5EF4-FFF2-40B4-BE49-F238E27FC236}">
                <a16:creationId xmlns:a16="http://schemas.microsoft.com/office/drawing/2014/main" id="{444230E6-BF6C-47E3-875F-1BF325B264E8}"/>
              </a:ext>
            </a:extLst>
          </p:cNvPr>
          <p:cNvSpPr/>
          <p:nvPr/>
        </p:nvSpPr>
        <p:spPr>
          <a:xfrm>
            <a:off x="3405927" y="3773124"/>
            <a:ext cx="1077331" cy="576064"/>
          </a:xfrm>
          <a:prstGeom prst="roundRect">
            <a:avLst>
              <a:gd name="adj" fmla="val 724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NVIDIA</a:t>
            </a:r>
          </a:p>
          <a:p>
            <a:pPr algn="ctr"/>
            <a:r>
              <a:rPr lang="en-US" altLang="ko-KR" sz="1000"/>
              <a:t>GPU 1</a:t>
            </a:r>
            <a:endParaRPr lang="en-US" altLang="ko-KR" sz="1000" dirty="0"/>
          </a:p>
        </p:txBody>
      </p:sp>
      <p:sp>
        <p:nvSpPr>
          <p:cNvPr id="16" name="사각형: 둥근 모서리 114">
            <a:extLst>
              <a:ext uri="{FF2B5EF4-FFF2-40B4-BE49-F238E27FC236}">
                <a16:creationId xmlns:a16="http://schemas.microsoft.com/office/drawing/2014/main" id="{32771B95-FEAB-4B5F-8E1D-1879E0D35C73}"/>
              </a:ext>
            </a:extLst>
          </p:cNvPr>
          <p:cNvSpPr/>
          <p:nvPr/>
        </p:nvSpPr>
        <p:spPr>
          <a:xfrm>
            <a:off x="4665905" y="3773124"/>
            <a:ext cx="1077331" cy="576064"/>
          </a:xfrm>
          <a:prstGeom prst="roundRect">
            <a:avLst>
              <a:gd name="adj" fmla="val 724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NVIDIA</a:t>
            </a:r>
          </a:p>
          <a:p>
            <a:pPr algn="ctr"/>
            <a:r>
              <a:rPr lang="en-US" altLang="ko-KR" sz="1000"/>
              <a:t>GPU 2</a:t>
            </a:r>
            <a:endParaRPr lang="en-US" altLang="ko-KR" sz="1000" dirty="0"/>
          </a:p>
        </p:txBody>
      </p:sp>
      <p:sp>
        <p:nvSpPr>
          <p:cNvPr id="17" name="사각형: 둥근 모서리 114">
            <a:extLst>
              <a:ext uri="{FF2B5EF4-FFF2-40B4-BE49-F238E27FC236}">
                <a16:creationId xmlns:a16="http://schemas.microsoft.com/office/drawing/2014/main" id="{FA743878-415F-4F3F-8BD0-44868C250DED}"/>
              </a:ext>
            </a:extLst>
          </p:cNvPr>
          <p:cNvSpPr/>
          <p:nvPr/>
        </p:nvSpPr>
        <p:spPr>
          <a:xfrm>
            <a:off x="5925884" y="3773124"/>
            <a:ext cx="1077331" cy="576064"/>
          </a:xfrm>
          <a:prstGeom prst="roundRect">
            <a:avLst>
              <a:gd name="adj" fmla="val 724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NVIDIA</a:t>
            </a:r>
          </a:p>
          <a:p>
            <a:pPr algn="ctr"/>
            <a:r>
              <a:rPr lang="en-US" altLang="ko-KR" sz="1000"/>
              <a:t>GPU 3</a:t>
            </a:r>
            <a:endParaRPr lang="en-US" altLang="ko-KR" sz="1000" dirty="0"/>
          </a:p>
        </p:txBody>
      </p:sp>
      <p:sp>
        <p:nvSpPr>
          <p:cNvPr id="36" name="사각형: 둥근 모서리 114">
            <a:extLst>
              <a:ext uri="{FF2B5EF4-FFF2-40B4-BE49-F238E27FC236}">
                <a16:creationId xmlns:a16="http://schemas.microsoft.com/office/drawing/2014/main" id="{CF76CF1D-B8E6-443A-80C5-A21C41477750}"/>
              </a:ext>
            </a:extLst>
          </p:cNvPr>
          <p:cNvSpPr/>
          <p:nvPr/>
        </p:nvSpPr>
        <p:spPr>
          <a:xfrm>
            <a:off x="683568" y="1393942"/>
            <a:ext cx="2486761" cy="1317955"/>
          </a:xfrm>
          <a:prstGeom prst="roundRect">
            <a:avLst>
              <a:gd name="adj" fmla="val 6774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200" b="1"/>
              <a:t>Container A</a:t>
            </a:r>
            <a:endParaRPr lang="ko-KR" altLang="en-US" sz="12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8" name="사각형: 둥근 모서리 114">
            <a:extLst>
              <a:ext uri="{FF2B5EF4-FFF2-40B4-BE49-F238E27FC236}">
                <a16:creationId xmlns:a16="http://schemas.microsoft.com/office/drawing/2014/main" id="{A803DAF7-99B0-4292-A5DB-3EC24AB08296}"/>
              </a:ext>
            </a:extLst>
          </p:cNvPr>
          <p:cNvSpPr/>
          <p:nvPr/>
        </p:nvSpPr>
        <p:spPr>
          <a:xfrm>
            <a:off x="771302" y="2228033"/>
            <a:ext cx="1099999" cy="396044"/>
          </a:xfrm>
          <a:prstGeom prst="roundRect">
            <a:avLst>
              <a:gd name="adj" fmla="val 724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/dev/nvidia0</a:t>
            </a:r>
            <a:endParaRPr lang="en-US" altLang="ko-KR" sz="1000" dirty="0"/>
          </a:p>
        </p:txBody>
      </p:sp>
      <p:sp>
        <p:nvSpPr>
          <p:cNvPr id="49" name="사각형: 둥근 모서리 114">
            <a:extLst>
              <a:ext uri="{FF2B5EF4-FFF2-40B4-BE49-F238E27FC236}">
                <a16:creationId xmlns:a16="http://schemas.microsoft.com/office/drawing/2014/main" id="{D2F56706-879C-45B5-A8D5-3807D53C29AC}"/>
              </a:ext>
            </a:extLst>
          </p:cNvPr>
          <p:cNvSpPr/>
          <p:nvPr/>
        </p:nvSpPr>
        <p:spPr>
          <a:xfrm>
            <a:off x="1972902" y="2228033"/>
            <a:ext cx="1099868" cy="396044"/>
          </a:xfrm>
          <a:prstGeom prst="roundRect">
            <a:avLst>
              <a:gd name="adj" fmla="val 724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/dev/nvidia1</a:t>
            </a:r>
            <a:endParaRPr lang="en-US" altLang="ko-KR" sz="1000" dirty="0"/>
          </a:p>
        </p:txBody>
      </p:sp>
      <p:sp>
        <p:nvSpPr>
          <p:cNvPr id="53" name="사각형: 둥근 모서리 114">
            <a:extLst>
              <a:ext uri="{FF2B5EF4-FFF2-40B4-BE49-F238E27FC236}">
                <a16:creationId xmlns:a16="http://schemas.microsoft.com/office/drawing/2014/main" id="{D0D7C7AC-1E28-4E6E-BABF-ED8C7548D800}"/>
              </a:ext>
            </a:extLst>
          </p:cNvPr>
          <p:cNvSpPr/>
          <p:nvPr/>
        </p:nvSpPr>
        <p:spPr>
          <a:xfrm>
            <a:off x="771302" y="1741979"/>
            <a:ext cx="2301467" cy="396044"/>
          </a:xfrm>
          <a:prstGeom prst="roundRect">
            <a:avLst>
              <a:gd name="adj" fmla="val 724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NVIDIA CUDA Lib/Toolkit</a:t>
            </a:r>
            <a:endParaRPr lang="en-US" altLang="ko-KR" sz="1000" dirty="0"/>
          </a:p>
        </p:txBody>
      </p: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55283E46-F286-4ADA-9E5B-DCE0F42F1436}"/>
              </a:ext>
            </a:extLst>
          </p:cNvPr>
          <p:cNvGrpSpPr/>
          <p:nvPr/>
        </p:nvGrpSpPr>
        <p:grpSpPr>
          <a:xfrm>
            <a:off x="3295100" y="1388279"/>
            <a:ext cx="3674596" cy="1317955"/>
            <a:chOff x="3328619" y="1015999"/>
            <a:chExt cx="3674596" cy="1317955"/>
          </a:xfrm>
        </p:grpSpPr>
        <p:sp>
          <p:nvSpPr>
            <p:cNvPr id="54" name="사각형: 둥근 모서리 114">
              <a:extLst>
                <a:ext uri="{FF2B5EF4-FFF2-40B4-BE49-F238E27FC236}">
                  <a16:creationId xmlns:a16="http://schemas.microsoft.com/office/drawing/2014/main" id="{A18B781E-389B-4EBF-A817-D4569C2D6423}"/>
                </a:ext>
              </a:extLst>
            </p:cNvPr>
            <p:cNvSpPr/>
            <p:nvPr/>
          </p:nvSpPr>
          <p:spPr>
            <a:xfrm>
              <a:off x="3328619" y="1015999"/>
              <a:ext cx="3674596" cy="1317955"/>
            </a:xfrm>
            <a:prstGeom prst="roundRect">
              <a:avLst>
                <a:gd name="adj" fmla="val 6774"/>
              </a:avLst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en-US" altLang="ko-KR" sz="1200" b="1"/>
                <a:t>Container B</a:t>
              </a:r>
              <a:endParaRPr lang="ko-KR" altLang="en-US" sz="1200" b="1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  <p:sp>
          <p:nvSpPr>
            <p:cNvPr id="55" name="사각형: 둥근 모서리 114">
              <a:extLst>
                <a:ext uri="{FF2B5EF4-FFF2-40B4-BE49-F238E27FC236}">
                  <a16:creationId xmlns:a16="http://schemas.microsoft.com/office/drawing/2014/main" id="{CA8E074B-D8A6-4E92-8563-585CEF736C89}"/>
                </a:ext>
              </a:extLst>
            </p:cNvPr>
            <p:cNvSpPr/>
            <p:nvPr/>
          </p:nvSpPr>
          <p:spPr>
            <a:xfrm>
              <a:off x="3416353" y="1850090"/>
              <a:ext cx="1099999" cy="396044"/>
            </a:xfrm>
            <a:prstGeom prst="roundRect">
              <a:avLst>
                <a:gd name="adj" fmla="val 7242"/>
              </a:avLst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000"/>
                <a:t>/dev/nvdia0</a:t>
              </a:r>
              <a:endParaRPr lang="en-US" altLang="ko-KR" sz="1000" dirty="0"/>
            </a:p>
          </p:txBody>
        </p:sp>
        <p:sp>
          <p:nvSpPr>
            <p:cNvPr id="56" name="사각형: 둥근 모서리 114">
              <a:extLst>
                <a:ext uri="{FF2B5EF4-FFF2-40B4-BE49-F238E27FC236}">
                  <a16:creationId xmlns:a16="http://schemas.microsoft.com/office/drawing/2014/main" id="{9AC5B223-6762-4A94-BC2D-48F317D9D503}"/>
                </a:ext>
              </a:extLst>
            </p:cNvPr>
            <p:cNvSpPr/>
            <p:nvPr/>
          </p:nvSpPr>
          <p:spPr>
            <a:xfrm>
              <a:off x="4617953" y="1850090"/>
              <a:ext cx="1099868" cy="396044"/>
            </a:xfrm>
            <a:prstGeom prst="roundRect">
              <a:avLst>
                <a:gd name="adj" fmla="val 7242"/>
              </a:avLst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000"/>
                <a:t>/dev/nvdia2</a:t>
              </a:r>
              <a:endParaRPr lang="en-US" altLang="ko-KR" sz="1000" dirty="0"/>
            </a:p>
          </p:txBody>
        </p:sp>
        <p:sp>
          <p:nvSpPr>
            <p:cNvPr id="57" name="사각형: 둥근 모서리 114">
              <a:extLst>
                <a:ext uri="{FF2B5EF4-FFF2-40B4-BE49-F238E27FC236}">
                  <a16:creationId xmlns:a16="http://schemas.microsoft.com/office/drawing/2014/main" id="{FE359AF7-218F-44C6-B474-8140E31271D1}"/>
                </a:ext>
              </a:extLst>
            </p:cNvPr>
            <p:cNvSpPr/>
            <p:nvPr/>
          </p:nvSpPr>
          <p:spPr>
            <a:xfrm>
              <a:off x="3416353" y="1364036"/>
              <a:ext cx="3498895" cy="396044"/>
            </a:xfrm>
            <a:prstGeom prst="roundRect">
              <a:avLst>
                <a:gd name="adj" fmla="val 7242"/>
              </a:avLst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000"/>
                <a:t>NVIDIA CUDA Lib/Toolkit</a:t>
              </a:r>
              <a:endParaRPr lang="en-US" altLang="ko-KR" sz="1000" dirty="0"/>
            </a:p>
          </p:txBody>
        </p:sp>
        <p:sp>
          <p:nvSpPr>
            <p:cNvPr id="85" name="사각형: 둥근 모서리 114">
              <a:extLst>
                <a:ext uri="{FF2B5EF4-FFF2-40B4-BE49-F238E27FC236}">
                  <a16:creationId xmlns:a16="http://schemas.microsoft.com/office/drawing/2014/main" id="{BCC0956D-C3F7-49C0-A9F2-EEC64131C57C}"/>
                </a:ext>
              </a:extLst>
            </p:cNvPr>
            <p:cNvSpPr/>
            <p:nvPr/>
          </p:nvSpPr>
          <p:spPr>
            <a:xfrm>
              <a:off x="5815380" y="1850090"/>
              <a:ext cx="1099868" cy="396044"/>
            </a:xfrm>
            <a:prstGeom prst="roundRect">
              <a:avLst>
                <a:gd name="adj" fmla="val 7242"/>
              </a:avLst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000"/>
                <a:t>/dev/nvdia3</a:t>
              </a:r>
              <a:endParaRPr lang="en-US" altLang="ko-KR" sz="1000" dirty="0"/>
            </a:p>
          </p:txBody>
        </p:sp>
      </p:grpSp>
      <p:sp>
        <p:nvSpPr>
          <p:cNvPr id="72" name="사각형: 둥근 모서리 114">
            <a:extLst>
              <a:ext uri="{FF2B5EF4-FFF2-40B4-BE49-F238E27FC236}">
                <a16:creationId xmlns:a16="http://schemas.microsoft.com/office/drawing/2014/main" id="{13DCC872-5499-4CEA-9CA8-FA20591EB069}"/>
              </a:ext>
            </a:extLst>
          </p:cNvPr>
          <p:cNvSpPr/>
          <p:nvPr/>
        </p:nvSpPr>
        <p:spPr>
          <a:xfrm>
            <a:off x="7112912" y="1388279"/>
            <a:ext cx="1487816" cy="1317955"/>
          </a:xfrm>
          <a:prstGeom prst="roundRect">
            <a:avLst>
              <a:gd name="adj" fmla="val 6774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200" b="1"/>
              <a:t>Container C</a:t>
            </a:r>
            <a:endParaRPr lang="ko-KR" altLang="en-US" sz="12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4" name="사각형: 둥근 모서리 114">
            <a:extLst>
              <a:ext uri="{FF2B5EF4-FFF2-40B4-BE49-F238E27FC236}">
                <a16:creationId xmlns:a16="http://schemas.microsoft.com/office/drawing/2014/main" id="{3D3CC5C5-2615-49A4-A2AE-C361BD4D1BBE}"/>
              </a:ext>
            </a:extLst>
          </p:cNvPr>
          <p:cNvSpPr/>
          <p:nvPr/>
        </p:nvSpPr>
        <p:spPr>
          <a:xfrm>
            <a:off x="7193099" y="2222370"/>
            <a:ext cx="1321799" cy="396044"/>
          </a:xfrm>
          <a:prstGeom prst="roundRect">
            <a:avLst>
              <a:gd name="adj" fmla="val 724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/dev/nvdia3</a:t>
            </a:r>
            <a:endParaRPr lang="en-US" altLang="ko-KR" sz="1000" dirty="0"/>
          </a:p>
        </p:txBody>
      </p:sp>
      <p:sp>
        <p:nvSpPr>
          <p:cNvPr id="75" name="사각형: 둥근 모서리 114">
            <a:extLst>
              <a:ext uri="{FF2B5EF4-FFF2-40B4-BE49-F238E27FC236}">
                <a16:creationId xmlns:a16="http://schemas.microsoft.com/office/drawing/2014/main" id="{B29ABC0B-15DC-450D-8FC3-49C53EDE5F1E}"/>
              </a:ext>
            </a:extLst>
          </p:cNvPr>
          <p:cNvSpPr/>
          <p:nvPr/>
        </p:nvSpPr>
        <p:spPr>
          <a:xfrm>
            <a:off x="7193099" y="1736316"/>
            <a:ext cx="1321798" cy="396044"/>
          </a:xfrm>
          <a:prstGeom prst="roundRect">
            <a:avLst>
              <a:gd name="adj" fmla="val 724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NVIDIA CUDA Lib/Toolkit</a:t>
            </a:r>
            <a:endParaRPr lang="en-US" altLang="ko-KR" sz="1000" dirty="0"/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CF314586-C0C4-4879-A3CB-8E4469478D11}"/>
              </a:ext>
            </a:extLst>
          </p:cNvPr>
          <p:cNvCxnSpPr>
            <a:cxnSpLocks/>
            <a:stCxn id="48" idx="2"/>
            <a:endCxn id="14" idx="0"/>
          </p:cNvCxnSpPr>
          <p:nvPr/>
        </p:nvCxnSpPr>
        <p:spPr>
          <a:xfrm>
            <a:off x="1321302" y="2624077"/>
            <a:ext cx="1363312" cy="114904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D7F73344-7CBD-4515-AF8F-57B32D20BE1C}"/>
              </a:ext>
            </a:extLst>
          </p:cNvPr>
          <p:cNvCxnSpPr>
            <a:cxnSpLocks/>
            <a:stCxn id="55" idx="2"/>
            <a:endCxn id="14" idx="0"/>
          </p:cNvCxnSpPr>
          <p:nvPr/>
        </p:nvCxnSpPr>
        <p:spPr>
          <a:xfrm flipH="1">
            <a:off x="2684614" y="2618414"/>
            <a:ext cx="1248220" cy="115471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17">
            <a:extLst>
              <a:ext uri="{FF2B5EF4-FFF2-40B4-BE49-F238E27FC236}">
                <a16:creationId xmlns:a16="http://schemas.microsoft.com/office/drawing/2014/main" id="{03B70D87-E8F1-636E-2734-08D20B84587A}"/>
              </a:ext>
            </a:extLst>
          </p:cNvPr>
          <p:cNvCxnSpPr>
            <a:cxnSpLocks/>
            <a:stCxn id="49" idx="2"/>
            <a:endCxn id="15" idx="0"/>
          </p:cNvCxnSpPr>
          <p:nvPr/>
        </p:nvCxnSpPr>
        <p:spPr>
          <a:xfrm>
            <a:off x="2522836" y="2624077"/>
            <a:ext cx="1421757" cy="114904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17">
            <a:extLst>
              <a:ext uri="{FF2B5EF4-FFF2-40B4-BE49-F238E27FC236}">
                <a16:creationId xmlns:a16="http://schemas.microsoft.com/office/drawing/2014/main" id="{5E8C92FC-DD69-18A4-74EC-834FCCD7F2E2}"/>
              </a:ext>
            </a:extLst>
          </p:cNvPr>
          <p:cNvCxnSpPr>
            <a:cxnSpLocks/>
            <a:stCxn id="56" idx="2"/>
            <a:endCxn id="16" idx="0"/>
          </p:cNvCxnSpPr>
          <p:nvPr/>
        </p:nvCxnSpPr>
        <p:spPr>
          <a:xfrm>
            <a:off x="5134368" y="2618414"/>
            <a:ext cx="70203" cy="115471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0C25B297-C471-4983-B26F-9B6D9298B3BB}"/>
              </a:ext>
            </a:extLst>
          </p:cNvPr>
          <p:cNvCxnSpPr>
            <a:cxnSpLocks/>
            <a:stCxn id="85" idx="2"/>
            <a:endCxn id="17" idx="0"/>
          </p:cNvCxnSpPr>
          <p:nvPr/>
        </p:nvCxnSpPr>
        <p:spPr>
          <a:xfrm>
            <a:off x="6331795" y="2618414"/>
            <a:ext cx="132755" cy="115471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6">
            <a:extLst>
              <a:ext uri="{FF2B5EF4-FFF2-40B4-BE49-F238E27FC236}">
                <a16:creationId xmlns:a16="http://schemas.microsoft.com/office/drawing/2014/main" id="{B6F4D2A3-59C5-B078-E593-8F85D1EEF940}"/>
              </a:ext>
            </a:extLst>
          </p:cNvPr>
          <p:cNvCxnSpPr>
            <a:cxnSpLocks/>
            <a:stCxn id="74" idx="2"/>
            <a:endCxn id="17" idx="0"/>
          </p:cNvCxnSpPr>
          <p:nvPr/>
        </p:nvCxnSpPr>
        <p:spPr>
          <a:xfrm flipH="1">
            <a:off x="6464550" y="2618414"/>
            <a:ext cx="1389449" cy="115471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사각형: 둥근 모서리 114">
            <a:extLst>
              <a:ext uri="{FF2B5EF4-FFF2-40B4-BE49-F238E27FC236}">
                <a16:creationId xmlns:a16="http://schemas.microsoft.com/office/drawing/2014/main" id="{8204B16C-CA82-4791-8D0F-1EE9DCEDA54F}"/>
              </a:ext>
            </a:extLst>
          </p:cNvPr>
          <p:cNvSpPr/>
          <p:nvPr/>
        </p:nvSpPr>
        <p:spPr>
          <a:xfrm>
            <a:off x="1692325" y="2945032"/>
            <a:ext cx="5759996" cy="396044"/>
          </a:xfrm>
          <a:prstGeom prst="roundRect">
            <a:avLst>
              <a:gd name="adj" fmla="val 724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NVIDIA GPU Device Driver</a:t>
            </a:r>
            <a:endParaRPr lang="en-US" altLang="ko-KR" sz="1000" dirty="0"/>
          </a:p>
        </p:txBody>
      </p:sp>
    </p:spTree>
    <p:extLst>
      <p:ext uri="{BB962C8B-B14F-4D97-AF65-F5344CB8AC3E}">
        <p14:creationId xmlns:p14="http://schemas.microsoft.com/office/powerpoint/2010/main" val="7180217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03B0BA-68D1-BD3C-3458-09E9ACE5CC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C74CC4-DE60-A510-3813-8C0BD405B8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726229"/>
            <a:ext cx="9144000" cy="857250"/>
          </a:xfrm>
        </p:spPr>
        <p:txBody>
          <a:bodyPr>
            <a:normAutofit fontScale="90000"/>
          </a:bodyPr>
          <a:lstStyle/>
          <a:p>
            <a:r>
              <a:rPr lang="en-US" altLang="ko-KR"/>
              <a:t>CUDA Container OCI Runtime Spec</a:t>
            </a:r>
            <a:endParaRPr lang="ko-KR" altLang="en-US" dirty="0"/>
          </a:p>
        </p:txBody>
      </p:sp>
      <p:sp>
        <p:nvSpPr>
          <p:cNvPr id="7" name="사각형: 둥근 모서리 114">
            <a:extLst>
              <a:ext uri="{FF2B5EF4-FFF2-40B4-BE49-F238E27FC236}">
                <a16:creationId xmlns:a16="http://schemas.microsoft.com/office/drawing/2014/main" id="{D022E7F7-C9AC-F290-1424-37425B5839ED}"/>
              </a:ext>
            </a:extLst>
          </p:cNvPr>
          <p:cNvSpPr/>
          <p:nvPr/>
        </p:nvSpPr>
        <p:spPr>
          <a:xfrm>
            <a:off x="2267744" y="259255"/>
            <a:ext cx="4752528" cy="433441"/>
          </a:xfrm>
          <a:prstGeom prst="roundRect">
            <a:avLst>
              <a:gd name="adj" fmla="val 0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400"/>
              <a:t># docker run --gpu all nvidia/cuda:9.0-base nvidia-smi</a:t>
            </a:r>
            <a:endParaRPr lang="en-US" altLang="ko-KR" sz="1400" dirty="0"/>
          </a:p>
        </p:txBody>
      </p:sp>
      <p:sp>
        <p:nvSpPr>
          <p:cNvPr id="11" name="사각형: 둥근 모서리 114">
            <a:extLst>
              <a:ext uri="{FF2B5EF4-FFF2-40B4-BE49-F238E27FC236}">
                <a16:creationId xmlns:a16="http://schemas.microsoft.com/office/drawing/2014/main" id="{A632F3FB-7B22-D451-5B4D-B7281CE5B4AA}"/>
              </a:ext>
            </a:extLst>
          </p:cNvPr>
          <p:cNvSpPr/>
          <p:nvPr/>
        </p:nvSpPr>
        <p:spPr>
          <a:xfrm>
            <a:off x="899592" y="915566"/>
            <a:ext cx="7488831" cy="3737569"/>
          </a:xfrm>
          <a:prstGeom prst="roundRect">
            <a:avLst>
              <a:gd name="adj" fmla="val 0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400"/>
              <a:t>"hooks": {</a:t>
            </a:r>
          </a:p>
          <a:p>
            <a:r>
              <a:rPr lang="en-US" altLang="ko-KR" sz="1400"/>
              <a:t>    "process": {</a:t>
            </a:r>
          </a:p>
          <a:p>
            <a:r>
              <a:rPr lang="en-US" altLang="ko-KR" sz="1400"/>
              <a:t>          "env": [“CUDA_VERSION=9.0.176”,</a:t>
            </a:r>
            <a:br>
              <a:rPr lang="en-US" altLang="ko-KR" sz="1400"/>
            </a:br>
            <a:r>
              <a:rPr lang="en-US" altLang="ko-KR" sz="1400"/>
              <a:t>                   “CUDA_PKG_VERSION=9-0=9.0.176-1”,</a:t>
            </a:r>
          </a:p>
          <a:p>
            <a:r>
              <a:rPr lang="en-US" altLang="ko-KR" sz="1400"/>
              <a:t>                   “NVIDIA_VISIBLE_DEVICES=all“,</a:t>
            </a:r>
            <a:br>
              <a:rPr lang="en-US" altLang="ko-KR" sz="1400"/>
            </a:br>
            <a:r>
              <a:rPr lang="en-US" altLang="ko-KR" sz="1400"/>
              <a:t>                   “NVIDIA_DRIVER_CAPABILITIES=“compute,utility”,</a:t>
            </a:r>
          </a:p>
          <a:p>
            <a:r>
              <a:rPr lang="en-US" altLang="ko-KR" sz="1400"/>
              <a:t>                   "NVIDIA_REQUIRE_CUDA=cuda&gt;=9.0“,</a:t>
            </a:r>
            <a:br>
              <a:rPr lang="en-US" altLang="ko-KR" sz="1400"/>
            </a:br>
            <a:r>
              <a:rPr lang="en-US" altLang="ko-KR" sz="1400"/>
              <a:t>                   "LD_LIBRARY_PATH=/usr/local/nvidia/lib:/usr/local/nvidia/lib64“</a:t>
            </a:r>
          </a:p>
          <a:p>
            <a:r>
              <a:rPr lang="en-US" altLang="ko-KR" sz="1400"/>
              <a:t>             ]</a:t>
            </a:r>
          </a:p>
          <a:p>
            <a:r>
              <a:rPr lang="en-US" altLang="ko-KR" sz="1400"/>
              <a:t>     }</a:t>
            </a:r>
          </a:p>
          <a:p>
            <a:r>
              <a:rPr lang="en-US" altLang="ko-KR" sz="1400"/>
              <a:t>    "prestart": [</a:t>
            </a:r>
          </a:p>
          <a:p>
            <a:r>
              <a:rPr lang="en-US" altLang="ko-KR" sz="1400"/>
              <a:t>         {</a:t>
            </a:r>
          </a:p>
          <a:p>
            <a:r>
              <a:rPr lang="en-US" altLang="ko-KR" sz="1400"/>
              <a:t>             "path": “/usr/bin/nvidia-container-runtime-hook”,</a:t>
            </a:r>
          </a:p>
          <a:p>
            <a:r>
              <a:rPr lang="en-US" altLang="ko-KR" sz="1400"/>
              <a:t>             "args": ["nvidia-container-runtime-hook ", “prestart"]</a:t>
            </a:r>
          </a:p>
          <a:p>
            <a:r>
              <a:rPr lang="en-US" altLang="ko-KR" sz="1400"/>
              <a:t>         },</a:t>
            </a:r>
          </a:p>
          <a:p>
            <a:r>
              <a:rPr lang="en-US" altLang="ko-KR" sz="1400"/>
              <a:t>    ],</a:t>
            </a:r>
          </a:p>
          <a:p>
            <a:r>
              <a:rPr lang="en-US" altLang="ko-KR" sz="1400"/>
              <a:t>}</a:t>
            </a:r>
            <a:endParaRPr lang="en-US" altLang="ko-KR" sz="1400" dirty="0"/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765C919B-0EDF-3301-DFC5-8C1EF831E09C}"/>
              </a:ext>
            </a:extLst>
          </p:cNvPr>
          <p:cNvCxnSpPr>
            <a:cxnSpLocks/>
            <a:stCxn id="7" idx="2"/>
            <a:endCxn id="11" idx="0"/>
          </p:cNvCxnSpPr>
          <p:nvPr/>
        </p:nvCxnSpPr>
        <p:spPr>
          <a:xfrm>
            <a:off x="4644008" y="692696"/>
            <a:ext cx="0" cy="22287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사각형: 둥근 모서리 114">
            <a:extLst>
              <a:ext uri="{FF2B5EF4-FFF2-40B4-BE49-F238E27FC236}">
                <a16:creationId xmlns:a16="http://schemas.microsoft.com/office/drawing/2014/main" id="{D7853DE0-49D2-11AD-A222-5CDD76CD3A39}"/>
              </a:ext>
            </a:extLst>
          </p:cNvPr>
          <p:cNvSpPr/>
          <p:nvPr/>
        </p:nvSpPr>
        <p:spPr>
          <a:xfrm>
            <a:off x="3278436" y="4587974"/>
            <a:ext cx="2731142" cy="433441"/>
          </a:xfrm>
          <a:prstGeom prst="roundRect">
            <a:avLst>
              <a:gd name="adj" fmla="val 10304"/>
            </a:avLst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/>
              <a:t>OCI Runtime Spec</a:t>
            </a: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33776656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D122ED-3835-3DC0-4352-5EC9D3A5D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995984-7EC0-74A8-AF2B-5AF306DDEE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2546"/>
            <a:ext cx="9144000" cy="857250"/>
          </a:xfrm>
        </p:spPr>
        <p:txBody>
          <a:bodyPr>
            <a:normAutofit/>
          </a:bodyPr>
          <a:lstStyle/>
          <a:p>
            <a:r>
              <a:rPr lang="en-US" altLang="ko-KR"/>
              <a:t>CUDA Container Init</a:t>
            </a:r>
            <a:endParaRPr lang="ko-KR" altLang="en-US" dirty="0"/>
          </a:p>
        </p:txBody>
      </p:sp>
      <p:sp>
        <p:nvSpPr>
          <p:cNvPr id="42" name="사각형: 둥근 모서리 114">
            <a:extLst>
              <a:ext uri="{FF2B5EF4-FFF2-40B4-BE49-F238E27FC236}">
                <a16:creationId xmlns:a16="http://schemas.microsoft.com/office/drawing/2014/main" id="{AECCCC64-0828-F134-05A2-0B439489904B}"/>
              </a:ext>
            </a:extLst>
          </p:cNvPr>
          <p:cNvSpPr/>
          <p:nvPr/>
        </p:nvSpPr>
        <p:spPr>
          <a:xfrm>
            <a:off x="3841306" y="3760564"/>
            <a:ext cx="2731142" cy="827410"/>
          </a:xfrm>
          <a:prstGeom prst="roundRect">
            <a:avLst>
              <a:gd name="adj" fmla="val 639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400"/>
              <a:t>nvidia-container-cli CLI</a:t>
            </a:r>
            <a:endParaRPr lang="en-US" altLang="ko-KR" sz="1400" dirty="0"/>
          </a:p>
        </p:txBody>
      </p:sp>
      <p:sp>
        <p:nvSpPr>
          <p:cNvPr id="43" name="사각형: 둥근 모서리 114">
            <a:extLst>
              <a:ext uri="{FF2B5EF4-FFF2-40B4-BE49-F238E27FC236}">
                <a16:creationId xmlns:a16="http://schemas.microsoft.com/office/drawing/2014/main" id="{392D0A0A-B53F-4A90-B311-F8FAD571A8A5}"/>
              </a:ext>
            </a:extLst>
          </p:cNvPr>
          <p:cNvSpPr/>
          <p:nvPr/>
        </p:nvSpPr>
        <p:spPr>
          <a:xfrm>
            <a:off x="4237350" y="4108151"/>
            <a:ext cx="1939054" cy="372492"/>
          </a:xfrm>
          <a:prstGeom prst="roundRect">
            <a:avLst>
              <a:gd name="adj" fmla="val 639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/>
              <a:t>libnvidia-container</a:t>
            </a:r>
            <a:endParaRPr lang="en-US" altLang="ko-KR" sz="1400" dirty="0"/>
          </a:p>
        </p:txBody>
      </p:sp>
      <p:sp>
        <p:nvSpPr>
          <p:cNvPr id="44" name="사각형: 둥근 모서리 114">
            <a:extLst>
              <a:ext uri="{FF2B5EF4-FFF2-40B4-BE49-F238E27FC236}">
                <a16:creationId xmlns:a16="http://schemas.microsoft.com/office/drawing/2014/main" id="{4B2C7BE7-2F5A-24AE-CDFD-798E4A9F25CF}"/>
              </a:ext>
            </a:extLst>
          </p:cNvPr>
          <p:cNvSpPr/>
          <p:nvPr/>
        </p:nvSpPr>
        <p:spPr>
          <a:xfrm>
            <a:off x="3673694" y="2571751"/>
            <a:ext cx="3066366" cy="433441"/>
          </a:xfrm>
          <a:prstGeom prst="roundRect">
            <a:avLst>
              <a:gd name="adj" fmla="val 10304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/>
              <a:t>nvidia-container-runtime-hook CLI</a:t>
            </a:r>
            <a:endParaRPr lang="en-US" altLang="ko-KR" sz="1400" dirty="0"/>
          </a:p>
        </p:txBody>
      </p:sp>
      <p:sp>
        <p:nvSpPr>
          <p:cNvPr id="45" name="사각형: 둥근 모서리 114">
            <a:extLst>
              <a:ext uri="{FF2B5EF4-FFF2-40B4-BE49-F238E27FC236}">
                <a16:creationId xmlns:a16="http://schemas.microsoft.com/office/drawing/2014/main" id="{6CB43451-663D-44ED-F26F-A184162A2227}"/>
              </a:ext>
            </a:extLst>
          </p:cNvPr>
          <p:cNvSpPr/>
          <p:nvPr/>
        </p:nvSpPr>
        <p:spPr>
          <a:xfrm>
            <a:off x="7153673" y="2571750"/>
            <a:ext cx="1717863" cy="433441"/>
          </a:xfrm>
          <a:prstGeom prst="roundRect">
            <a:avLst>
              <a:gd name="adj" fmla="val 10304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/>
              <a:t>Hook Config File</a:t>
            </a:r>
            <a:endParaRPr lang="en-US" altLang="ko-KR" sz="1400" dirty="0"/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CEC02631-0696-740D-BC41-FDE19399C85F}"/>
              </a:ext>
            </a:extLst>
          </p:cNvPr>
          <p:cNvCxnSpPr>
            <a:cxnSpLocks/>
            <a:stCxn id="45" idx="1"/>
            <a:endCxn id="44" idx="3"/>
          </p:cNvCxnSpPr>
          <p:nvPr/>
        </p:nvCxnSpPr>
        <p:spPr>
          <a:xfrm flipH="1">
            <a:off x="6740060" y="2788471"/>
            <a:ext cx="413613" cy="1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DC38CB59-20C9-6733-FA0E-412AE49E45FB}"/>
              </a:ext>
            </a:extLst>
          </p:cNvPr>
          <p:cNvCxnSpPr>
            <a:cxnSpLocks/>
            <a:stCxn id="42" idx="1"/>
            <a:endCxn id="48" idx="2"/>
          </p:cNvCxnSpPr>
          <p:nvPr/>
        </p:nvCxnSpPr>
        <p:spPr>
          <a:xfrm flipH="1" flipV="1">
            <a:off x="1955254" y="3343764"/>
            <a:ext cx="1886052" cy="830505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B3533A58-75CD-7D94-2995-7961486E80BA}"/>
              </a:ext>
            </a:extLst>
          </p:cNvPr>
          <p:cNvCxnSpPr>
            <a:cxnSpLocks/>
            <a:stCxn id="44" idx="2"/>
            <a:endCxn id="42" idx="0"/>
          </p:cNvCxnSpPr>
          <p:nvPr/>
        </p:nvCxnSpPr>
        <p:spPr>
          <a:xfrm>
            <a:off x="5206877" y="3005192"/>
            <a:ext cx="0" cy="755372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2674C97E-6670-D3AD-8F74-BA2D89D7A7FD}"/>
              </a:ext>
            </a:extLst>
          </p:cNvPr>
          <p:cNvCxnSpPr>
            <a:cxnSpLocks/>
            <a:stCxn id="35" idx="2"/>
            <a:endCxn id="44" idx="0"/>
          </p:cNvCxnSpPr>
          <p:nvPr/>
        </p:nvCxnSpPr>
        <p:spPr>
          <a:xfrm>
            <a:off x="5206872" y="1811551"/>
            <a:ext cx="5" cy="76020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사각형: 둥근 모서리 114">
            <a:extLst>
              <a:ext uri="{FF2B5EF4-FFF2-40B4-BE49-F238E27FC236}">
                <a16:creationId xmlns:a16="http://schemas.microsoft.com/office/drawing/2014/main" id="{B08B49E6-412F-DDF1-A72D-9194FA92404B}"/>
              </a:ext>
            </a:extLst>
          </p:cNvPr>
          <p:cNvSpPr/>
          <p:nvPr/>
        </p:nvSpPr>
        <p:spPr>
          <a:xfrm>
            <a:off x="3841301" y="1378110"/>
            <a:ext cx="2731142" cy="433441"/>
          </a:xfrm>
          <a:prstGeom prst="roundRect">
            <a:avLst>
              <a:gd name="adj" fmla="val 10304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/>
              <a:t>runc CLI</a:t>
            </a:r>
            <a:endParaRPr lang="en-US" altLang="ko-KR" sz="1400" dirty="0"/>
          </a:p>
        </p:txBody>
      </p:sp>
      <p:sp>
        <p:nvSpPr>
          <p:cNvPr id="39" name="사각형: 둥근 모서리 114">
            <a:extLst>
              <a:ext uri="{FF2B5EF4-FFF2-40B4-BE49-F238E27FC236}">
                <a16:creationId xmlns:a16="http://schemas.microsoft.com/office/drawing/2014/main" id="{3BCEDCC4-7A90-07A4-91E3-FEF13C5D6553}"/>
              </a:ext>
            </a:extLst>
          </p:cNvPr>
          <p:cNvSpPr/>
          <p:nvPr/>
        </p:nvSpPr>
        <p:spPr>
          <a:xfrm>
            <a:off x="4978365" y="1942417"/>
            <a:ext cx="2731142" cy="433442"/>
          </a:xfrm>
          <a:prstGeom prst="roundRect">
            <a:avLst>
              <a:gd name="adj" fmla="val 10304"/>
            </a:avLst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b="1"/>
              <a:t>Exec via OCI runtime’s prestart hook</a:t>
            </a:r>
          </a:p>
        </p:txBody>
      </p:sp>
      <p:sp>
        <p:nvSpPr>
          <p:cNvPr id="46" name="사각형: 둥근 모서리 114">
            <a:extLst>
              <a:ext uri="{FF2B5EF4-FFF2-40B4-BE49-F238E27FC236}">
                <a16:creationId xmlns:a16="http://schemas.microsoft.com/office/drawing/2014/main" id="{C082F7EE-2B3E-ED69-1005-9B90468E3EDB}"/>
              </a:ext>
            </a:extLst>
          </p:cNvPr>
          <p:cNvSpPr/>
          <p:nvPr/>
        </p:nvSpPr>
        <p:spPr>
          <a:xfrm>
            <a:off x="5153226" y="3080244"/>
            <a:ext cx="2381421" cy="537288"/>
          </a:xfrm>
          <a:prstGeom prst="roundRect">
            <a:avLst>
              <a:gd name="adj" fmla="val 10304"/>
            </a:avLst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b="1"/>
              <a:t>Exec with container, </a:t>
            </a:r>
          </a:p>
          <a:p>
            <a:pPr algn="ctr"/>
            <a:r>
              <a:rPr lang="en-US" altLang="ko-KR" sz="1400" b="1"/>
              <a:t>GPU, CUDA arguments</a:t>
            </a:r>
          </a:p>
        </p:txBody>
      </p:sp>
      <p:sp>
        <p:nvSpPr>
          <p:cNvPr id="48" name="사각형: 둥근 모서리 114">
            <a:extLst>
              <a:ext uri="{FF2B5EF4-FFF2-40B4-BE49-F238E27FC236}">
                <a16:creationId xmlns:a16="http://schemas.microsoft.com/office/drawing/2014/main" id="{8F2DFD78-2A43-A301-E75E-696F7A31EDDF}"/>
              </a:ext>
            </a:extLst>
          </p:cNvPr>
          <p:cNvSpPr/>
          <p:nvPr/>
        </p:nvSpPr>
        <p:spPr>
          <a:xfrm>
            <a:off x="994692" y="2231784"/>
            <a:ext cx="1921124" cy="1111980"/>
          </a:xfrm>
          <a:prstGeom prst="roundRect">
            <a:avLst>
              <a:gd name="adj" fmla="val 6774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Container</a:t>
            </a:r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r>
              <a:rPr lang="en-US" altLang="ko-KR" sz="1400">
                <a:solidFill>
                  <a:schemeClr val="tx1"/>
                </a:solidFill>
              </a:rPr>
              <a:t>(Namespace, Rootfs)</a:t>
            </a:r>
          </a:p>
        </p:txBody>
      </p:sp>
      <p:sp>
        <p:nvSpPr>
          <p:cNvPr id="59" name="사각형: 둥근 모서리 114">
            <a:extLst>
              <a:ext uri="{FF2B5EF4-FFF2-40B4-BE49-F238E27FC236}">
                <a16:creationId xmlns:a16="http://schemas.microsoft.com/office/drawing/2014/main" id="{E7104B79-1752-9403-35AA-4C63AF9C7839}"/>
              </a:ext>
            </a:extLst>
          </p:cNvPr>
          <p:cNvSpPr/>
          <p:nvPr/>
        </p:nvSpPr>
        <p:spPr>
          <a:xfrm>
            <a:off x="1125242" y="1046349"/>
            <a:ext cx="2731142" cy="619914"/>
          </a:xfrm>
          <a:prstGeom prst="roundRect">
            <a:avLst>
              <a:gd name="adj" fmla="val 10304"/>
            </a:avLst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/>
              <a:t>Create namespace (clone()),</a:t>
            </a:r>
          </a:p>
          <a:p>
            <a:pPr algn="ctr"/>
            <a:r>
              <a:rPr lang="en-US" altLang="ko-KR" sz="1400"/>
              <a:t>Set rootfs (overlay FS)</a:t>
            </a:r>
          </a:p>
        </p:txBody>
      </p:sp>
      <p:sp>
        <p:nvSpPr>
          <p:cNvPr id="73" name="타원 72">
            <a:extLst>
              <a:ext uri="{FF2B5EF4-FFF2-40B4-BE49-F238E27FC236}">
                <a16:creationId xmlns:a16="http://schemas.microsoft.com/office/drawing/2014/main" id="{3D06B21E-B4C8-C97E-A8A8-41A024A3AAAD}"/>
              </a:ext>
            </a:extLst>
          </p:cNvPr>
          <p:cNvSpPr/>
          <p:nvPr/>
        </p:nvSpPr>
        <p:spPr>
          <a:xfrm>
            <a:off x="5054539" y="1708096"/>
            <a:ext cx="288032" cy="28803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/>
              <a:t>2</a:t>
            </a:r>
            <a:endParaRPr lang="ko-KR" altLang="en-US" sz="1600"/>
          </a:p>
        </p:txBody>
      </p:sp>
      <p:sp>
        <p:nvSpPr>
          <p:cNvPr id="74" name="타원 73">
            <a:extLst>
              <a:ext uri="{FF2B5EF4-FFF2-40B4-BE49-F238E27FC236}">
                <a16:creationId xmlns:a16="http://schemas.microsoft.com/office/drawing/2014/main" id="{12E84C7F-602E-1394-C058-B812ABB2093C}"/>
              </a:ext>
            </a:extLst>
          </p:cNvPr>
          <p:cNvSpPr/>
          <p:nvPr/>
        </p:nvSpPr>
        <p:spPr>
          <a:xfrm>
            <a:off x="5054539" y="2886446"/>
            <a:ext cx="288032" cy="28803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/>
              <a:t>3</a:t>
            </a:r>
            <a:endParaRPr lang="ko-KR" altLang="en-US" sz="1600"/>
          </a:p>
        </p:txBody>
      </p:sp>
      <p:sp>
        <p:nvSpPr>
          <p:cNvPr id="75" name="타원 74">
            <a:extLst>
              <a:ext uri="{FF2B5EF4-FFF2-40B4-BE49-F238E27FC236}">
                <a16:creationId xmlns:a16="http://schemas.microsoft.com/office/drawing/2014/main" id="{03712F6E-D101-AE14-5440-4FAFDBCBA76B}"/>
              </a:ext>
            </a:extLst>
          </p:cNvPr>
          <p:cNvSpPr/>
          <p:nvPr/>
        </p:nvSpPr>
        <p:spPr>
          <a:xfrm>
            <a:off x="3693972" y="4030253"/>
            <a:ext cx="288032" cy="28803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/>
              <a:t>4</a:t>
            </a:r>
            <a:endParaRPr lang="ko-KR" altLang="en-US" sz="1600"/>
          </a:p>
        </p:txBody>
      </p:sp>
      <p:sp>
        <p:nvSpPr>
          <p:cNvPr id="80" name="사각형: 둥근 모서리 114">
            <a:extLst>
              <a:ext uri="{FF2B5EF4-FFF2-40B4-BE49-F238E27FC236}">
                <a16:creationId xmlns:a16="http://schemas.microsoft.com/office/drawing/2014/main" id="{81580CDA-A4DC-926E-BF06-49B86D6E308F}"/>
              </a:ext>
            </a:extLst>
          </p:cNvPr>
          <p:cNvSpPr/>
          <p:nvPr/>
        </p:nvSpPr>
        <p:spPr>
          <a:xfrm>
            <a:off x="2548806" y="1902976"/>
            <a:ext cx="2604420" cy="619914"/>
          </a:xfrm>
          <a:prstGeom prst="roundRect">
            <a:avLst>
              <a:gd name="adj" fmla="val 10304"/>
            </a:avLst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/>
              <a:t>Change root (pivot_root()),</a:t>
            </a:r>
            <a:br>
              <a:rPr lang="en-US" altLang="ko-KR" sz="1400"/>
            </a:br>
            <a:r>
              <a:rPr lang="en-US" altLang="ko-KR" sz="1400"/>
              <a:t>Exec app (exec())</a:t>
            </a:r>
          </a:p>
        </p:txBody>
      </p:sp>
      <p:sp>
        <p:nvSpPr>
          <p:cNvPr id="76" name="타원 75">
            <a:extLst>
              <a:ext uri="{FF2B5EF4-FFF2-40B4-BE49-F238E27FC236}">
                <a16:creationId xmlns:a16="http://schemas.microsoft.com/office/drawing/2014/main" id="{6ED8FE13-254F-4094-BE66-85495E6FE887}"/>
              </a:ext>
            </a:extLst>
          </p:cNvPr>
          <p:cNvSpPr/>
          <p:nvPr/>
        </p:nvSpPr>
        <p:spPr>
          <a:xfrm>
            <a:off x="3690518" y="1705061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/>
              <a:t>5</a:t>
            </a:r>
            <a:endParaRPr lang="ko-KR" altLang="en-US" sz="1600"/>
          </a:p>
        </p:txBody>
      </p:sp>
      <p:cxnSp>
        <p:nvCxnSpPr>
          <p:cNvPr id="97" name="직선 화살표 연결선 96">
            <a:extLst>
              <a:ext uri="{FF2B5EF4-FFF2-40B4-BE49-F238E27FC236}">
                <a16:creationId xmlns:a16="http://schemas.microsoft.com/office/drawing/2014/main" id="{73965EDB-8B72-A906-108E-D38F962AAA8C}"/>
              </a:ext>
            </a:extLst>
          </p:cNvPr>
          <p:cNvCxnSpPr>
            <a:cxnSpLocks/>
            <a:stCxn id="35" idx="1"/>
          </p:cNvCxnSpPr>
          <p:nvPr/>
        </p:nvCxnSpPr>
        <p:spPr>
          <a:xfrm flipH="1">
            <a:off x="1718313" y="1594831"/>
            <a:ext cx="2122988" cy="636953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타원 69">
            <a:extLst>
              <a:ext uri="{FF2B5EF4-FFF2-40B4-BE49-F238E27FC236}">
                <a16:creationId xmlns:a16="http://schemas.microsoft.com/office/drawing/2014/main" id="{5D0B6546-3B63-E414-9215-AE042A33EBDC}"/>
              </a:ext>
            </a:extLst>
          </p:cNvPr>
          <p:cNvSpPr/>
          <p:nvPr/>
        </p:nvSpPr>
        <p:spPr>
          <a:xfrm>
            <a:off x="3693972" y="1234253"/>
            <a:ext cx="288032" cy="28803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/>
              <a:t>1</a:t>
            </a:r>
            <a:endParaRPr lang="ko-KR" altLang="en-US" sz="1600"/>
          </a:p>
        </p:txBody>
      </p:sp>
      <p:sp>
        <p:nvSpPr>
          <p:cNvPr id="24" name="사각형: 둥근 모서리 114">
            <a:extLst>
              <a:ext uri="{FF2B5EF4-FFF2-40B4-BE49-F238E27FC236}">
                <a16:creationId xmlns:a16="http://schemas.microsoft.com/office/drawing/2014/main" id="{8BD2647E-7F6D-665A-281C-4989E21F06B8}"/>
              </a:ext>
            </a:extLst>
          </p:cNvPr>
          <p:cNvSpPr/>
          <p:nvPr/>
        </p:nvSpPr>
        <p:spPr>
          <a:xfrm>
            <a:off x="921657" y="3734226"/>
            <a:ext cx="2878471" cy="619914"/>
          </a:xfrm>
          <a:prstGeom prst="roundRect">
            <a:avLst>
              <a:gd name="adj" fmla="val 10304"/>
            </a:avLst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/>
              <a:t>Make device node </a:t>
            </a:r>
            <a:br>
              <a:rPr lang="en-US" altLang="ko-KR" sz="1400"/>
            </a:br>
            <a:r>
              <a:rPr lang="en-US" altLang="ko-KR" sz="1400"/>
              <a:t>(mknod), Load kernel module</a:t>
            </a:r>
          </a:p>
        </p:txBody>
      </p:sp>
      <p:sp>
        <p:nvSpPr>
          <p:cNvPr id="4" name="사각형: 둥근 모서리 114">
            <a:extLst>
              <a:ext uri="{FF2B5EF4-FFF2-40B4-BE49-F238E27FC236}">
                <a16:creationId xmlns:a16="http://schemas.microsoft.com/office/drawing/2014/main" id="{BFD3FE09-03AF-1987-088E-72EB08CB5B76}"/>
              </a:ext>
            </a:extLst>
          </p:cNvPr>
          <p:cNvSpPr/>
          <p:nvPr/>
        </p:nvSpPr>
        <p:spPr>
          <a:xfrm>
            <a:off x="7153673" y="1370132"/>
            <a:ext cx="1717863" cy="433441"/>
          </a:xfrm>
          <a:prstGeom prst="roundRect">
            <a:avLst>
              <a:gd name="adj" fmla="val 10304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/>
              <a:t>OCI Runtime</a:t>
            </a:r>
          </a:p>
          <a:p>
            <a:pPr algn="ctr"/>
            <a:r>
              <a:rPr lang="en-US" altLang="ko-KR" sz="1400"/>
              <a:t>Config.json</a:t>
            </a:r>
            <a:endParaRPr lang="en-US" altLang="ko-KR" sz="1400" dirty="0"/>
          </a:p>
        </p:txBody>
      </p:sp>
      <p:cxnSp>
        <p:nvCxnSpPr>
          <p:cNvPr id="5" name="직선 화살표 연결선 17">
            <a:extLst>
              <a:ext uri="{FF2B5EF4-FFF2-40B4-BE49-F238E27FC236}">
                <a16:creationId xmlns:a16="http://schemas.microsoft.com/office/drawing/2014/main" id="{73A68F90-A225-1E6B-0D4B-49050CDFFAFE}"/>
              </a:ext>
            </a:extLst>
          </p:cNvPr>
          <p:cNvCxnSpPr>
            <a:cxnSpLocks/>
            <a:stCxn id="4" idx="1"/>
            <a:endCxn id="35" idx="3"/>
          </p:cNvCxnSpPr>
          <p:nvPr/>
        </p:nvCxnSpPr>
        <p:spPr>
          <a:xfrm flipH="1">
            <a:off x="6572443" y="1586853"/>
            <a:ext cx="581230" cy="7978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화살표 연결선 17">
            <a:extLst>
              <a:ext uri="{FF2B5EF4-FFF2-40B4-BE49-F238E27FC236}">
                <a16:creationId xmlns:a16="http://schemas.microsoft.com/office/drawing/2014/main" id="{080B94D1-EF6B-8C54-F068-8376FB251754}"/>
              </a:ext>
            </a:extLst>
          </p:cNvPr>
          <p:cNvCxnSpPr>
            <a:cxnSpLocks/>
            <a:stCxn id="4" idx="2"/>
            <a:endCxn id="44" idx="3"/>
          </p:cNvCxnSpPr>
          <p:nvPr/>
        </p:nvCxnSpPr>
        <p:spPr>
          <a:xfrm flipH="1">
            <a:off x="6740060" y="1803573"/>
            <a:ext cx="1272545" cy="984899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85490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38443D-5E72-49E2-86AC-581D61C41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2546"/>
            <a:ext cx="9144000" cy="857250"/>
          </a:xfrm>
        </p:spPr>
        <p:txBody>
          <a:bodyPr>
            <a:normAutofit fontScale="90000"/>
          </a:bodyPr>
          <a:lstStyle/>
          <a:p>
            <a:r>
              <a:rPr lang="en-US" altLang="ko-KR"/>
              <a:t>CUDA Container OCI Runtime Spec</a:t>
            </a:r>
            <a:endParaRPr lang="ko-KR" altLang="en-US" dirty="0"/>
          </a:p>
        </p:txBody>
      </p:sp>
      <p:sp>
        <p:nvSpPr>
          <p:cNvPr id="7" name="사각형: 둥근 모서리 114">
            <a:extLst>
              <a:ext uri="{FF2B5EF4-FFF2-40B4-BE49-F238E27FC236}">
                <a16:creationId xmlns:a16="http://schemas.microsoft.com/office/drawing/2014/main" id="{E074CAD6-7716-4458-B0D4-1C0318E58F6D}"/>
              </a:ext>
            </a:extLst>
          </p:cNvPr>
          <p:cNvSpPr/>
          <p:nvPr/>
        </p:nvSpPr>
        <p:spPr>
          <a:xfrm>
            <a:off x="2267744" y="698149"/>
            <a:ext cx="4752528" cy="433441"/>
          </a:xfrm>
          <a:prstGeom prst="roundRect">
            <a:avLst>
              <a:gd name="adj" fmla="val 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400"/>
              <a:t># docker run --gpu all nvidia/cuda:9.0-base nvidia-smi</a:t>
            </a:r>
            <a:endParaRPr lang="en-US" altLang="ko-KR" sz="1400" dirty="0"/>
          </a:p>
        </p:txBody>
      </p:sp>
      <p:sp>
        <p:nvSpPr>
          <p:cNvPr id="11" name="사각형: 둥근 모서리 114">
            <a:extLst>
              <a:ext uri="{FF2B5EF4-FFF2-40B4-BE49-F238E27FC236}">
                <a16:creationId xmlns:a16="http://schemas.microsoft.com/office/drawing/2014/main" id="{E07F06D4-AF1E-486E-8493-362B4DEDC5E3}"/>
              </a:ext>
            </a:extLst>
          </p:cNvPr>
          <p:cNvSpPr/>
          <p:nvPr/>
        </p:nvSpPr>
        <p:spPr>
          <a:xfrm>
            <a:off x="899592" y="1354461"/>
            <a:ext cx="7488831" cy="3367380"/>
          </a:xfrm>
          <a:prstGeom prst="roundRect">
            <a:avLst>
              <a:gd name="adj" fmla="val 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400"/>
              <a:t>"hooks": {</a:t>
            </a:r>
          </a:p>
          <a:p>
            <a:r>
              <a:rPr lang="en-US" altLang="ko-KR" sz="1400"/>
              <a:t>    "prestart": [</a:t>
            </a:r>
          </a:p>
          <a:p>
            <a:r>
              <a:rPr lang="en-US" altLang="ko-KR" sz="1400"/>
              <a:t>         {</a:t>
            </a:r>
          </a:p>
          <a:p>
            <a:r>
              <a:rPr lang="en-US" altLang="ko-KR" sz="1400"/>
              <a:t>             "path": “/usr/bin/nvidia-container-runtime-hook”,</a:t>
            </a:r>
          </a:p>
          <a:p>
            <a:r>
              <a:rPr lang="en-US" altLang="ko-KR" sz="1400"/>
              <a:t>             "args": ["nvidia-container-runtime-hook ", “prestart"],</a:t>
            </a:r>
          </a:p>
          <a:p>
            <a:r>
              <a:rPr lang="en-US" altLang="ko-KR" sz="1400"/>
              <a:t>             "env": [“CUDA_VERSION=9.0.176”,</a:t>
            </a:r>
            <a:br>
              <a:rPr lang="en-US" altLang="ko-KR" sz="1400"/>
            </a:br>
            <a:r>
              <a:rPr lang="en-US" altLang="ko-KR" sz="1400"/>
              <a:t>                       “CUDA_PKG_VERSION=9-0=9.0.176-1”,</a:t>
            </a:r>
          </a:p>
          <a:p>
            <a:r>
              <a:rPr lang="en-US" altLang="ko-KR" sz="1400"/>
              <a:t>                       “NVIDIA_VISIBLE_DEVICES=all“,</a:t>
            </a:r>
            <a:br>
              <a:rPr lang="en-US" altLang="ko-KR" sz="1400"/>
            </a:br>
            <a:r>
              <a:rPr lang="en-US" altLang="ko-KR" sz="1400"/>
              <a:t>                       “NVIDIA_DRIVER_CAPABILITIES=“compute,utility”,</a:t>
            </a:r>
          </a:p>
          <a:p>
            <a:r>
              <a:rPr lang="en-US" altLang="ko-KR" sz="1400"/>
              <a:t>                       "NVIDIA_REQUIRE_CUDA=cuda&gt;=9.0“,</a:t>
            </a:r>
            <a:br>
              <a:rPr lang="en-US" altLang="ko-KR" sz="1400"/>
            </a:br>
            <a:r>
              <a:rPr lang="en-US" altLang="ko-KR" sz="1400"/>
              <a:t>                       "LD_LIBRARY_PATH=/usr/local/nvidia/lib:/usr/local/nvidia/lib64“</a:t>
            </a:r>
          </a:p>
          <a:p>
            <a:r>
              <a:rPr lang="en-US" altLang="ko-KR" sz="1400"/>
              <a:t>             ]</a:t>
            </a:r>
          </a:p>
          <a:p>
            <a:r>
              <a:rPr lang="en-US" altLang="ko-KR" sz="1400"/>
              <a:t>         },</a:t>
            </a:r>
          </a:p>
          <a:p>
            <a:r>
              <a:rPr lang="en-US" altLang="ko-KR" sz="1400"/>
              <a:t>    ],</a:t>
            </a:r>
          </a:p>
          <a:p>
            <a:r>
              <a:rPr lang="en-US" altLang="ko-KR" sz="1400"/>
              <a:t>}</a:t>
            </a:r>
            <a:endParaRPr lang="en-US" altLang="ko-KR" sz="1400" dirty="0"/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D3447036-464F-4C90-9B09-6E8806442451}"/>
              </a:ext>
            </a:extLst>
          </p:cNvPr>
          <p:cNvCxnSpPr>
            <a:cxnSpLocks/>
            <a:stCxn id="7" idx="2"/>
            <a:endCxn id="11" idx="0"/>
          </p:cNvCxnSpPr>
          <p:nvPr/>
        </p:nvCxnSpPr>
        <p:spPr>
          <a:xfrm>
            <a:off x="4644008" y="1131590"/>
            <a:ext cx="0" cy="222871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사각형: 둥근 모서리 114">
            <a:extLst>
              <a:ext uri="{FF2B5EF4-FFF2-40B4-BE49-F238E27FC236}">
                <a16:creationId xmlns:a16="http://schemas.microsoft.com/office/drawing/2014/main" id="{0B79FB11-EB5E-48B2-9B7D-2CF7A5759856}"/>
              </a:ext>
            </a:extLst>
          </p:cNvPr>
          <p:cNvSpPr/>
          <p:nvPr/>
        </p:nvSpPr>
        <p:spPr>
          <a:xfrm>
            <a:off x="3278436" y="4658589"/>
            <a:ext cx="2731142" cy="433441"/>
          </a:xfrm>
          <a:prstGeom prst="roundRect">
            <a:avLst>
              <a:gd name="adj" fmla="val 10304"/>
            </a:avLst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/>
              <a:t>OCI Runtime Spec</a:t>
            </a: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35324456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38443D-5E72-49E2-86AC-581D61C41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2546"/>
            <a:ext cx="9144000" cy="857250"/>
          </a:xfrm>
        </p:spPr>
        <p:txBody>
          <a:bodyPr>
            <a:normAutofit/>
          </a:bodyPr>
          <a:lstStyle/>
          <a:p>
            <a:r>
              <a:rPr lang="en-US" altLang="ko-KR"/>
              <a:t>CUDA Container Init</a:t>
            </a:r>
            <a:endParaRPr lang="ko-KR" altLang="en-US" dirty="0"/>
          </a:p>
        </p:txBody>
      </p:sp>
      <p:sp>
        <p:nvSpPr>
          <p:cNvPr id="42" name="사각형: 둥근 모서리 114">
            <a:extLst>
              <a:ext uri="{FF2B5EF4-FFF2-40B4-BE49-F238E27FC236}">
                <a16:creationId xmlns:a16="http://schemas.microsoft.com/office/drawing/2014/main" id="{5DB7B0D4-5C1C-4C60-BB8B-03D76D721F3B}"/>
              </a:ext>
            </a:extLst>
          </p:cNvPr>
          <p:cNvSpPr/>
          <p:nvPr/>
        </p:nvSpPr>
        <p:spPr>
          <a:xfrm>
            <a:off x="3841306" y="3760564"/>
            <a:ext cx="2731142" cy="827410"/>
          </a:xfrm>
          <a:prstGeom prst="roundRect">
            <a:avLst>
              <a:gd name="adj" fmla="val 639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400"/>
              <a:t>nvidia-container-cli CLI</a:t>
            </a:r>
            <a:endParaRPr lang="en-US" altLang="ko-KR" sz="1400" dirty="0"/>
          </a:p>
        </p:txBody>
      </p:sp>
      <p:sp>
        <p:nvSpPr>
          <p:cNvPr id="43" name="사각형: 둥근 모서리 114">
            <a:extLst>
              <a:ext uri="{FF2B5EF4-FFF2-40B4-BE49-F238E27FC236}">
                <a16:creationId xmlns:a16="http://schemas.microsoft.com/office/drawing/2014/main" id="{142E6DCA-FDB6-4119-91C1-FBA4F20C9A10}"/>
              </a:ext>
            </a:extLst>
          </p:cNvPr>
          <p:cNvSpPr/>
          <p:nvPr/>
        </p:nvSpPr>
        <p:spPr>
          <a:xfrm>
            <a:off x="4237350" y="4108151"/>
            <a:ext cx="1939054" cy="372492"/>
          </a:xfrm>
          <a:prstGeom prst="roundRect">
            <a:avLst>
              <a:gd name="adj" fmla="val 639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/>
              <a:t>libnvidia-container</a:t>
            </a:r>
            <a:endParaRPr lang="en-US" altLang="ko-KR" sz="1400" dirty="0"/>
          </a:p>
        </p:txBody>
      </p:sp>
      <p:sp>
        <p:nvSpPr>
          <p:cNvPr id="44" name="사각형: 둥근 모서리 114">
            <a:extLst>
              <a:ext uri="{FF2B5EF4-FFF2-40B4-BE49-F238E27FC236}">
                <a16:creationId xmlns:a16="http://schemas.microsoft.com/office/drawing/2014/main" id="{082C67D4-7411-4FFA-9DE5-481C92F517B9}"/>
              </a:ext>
            </a:extLst>
          </p:cNvPr>
          <p:cNvSpPr/>
          <p:nvPr/>
        </p:nvSpPr>
        <p:spPr>
          <a:xfrm>
            <a:off x="3673694" y="2571751"/>
            <a:ext cx="3066366" cy="433441"/>
          </a:xfrm>
          <a:prstGeom prst="roundRect">
            <a:avLst>
              <a:gd name="adj" fmla="val 10304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/>
              <a:t>nvidia-container-runtime-hook CLI</a:t>
            </a:r>
            <a:endParaRPr lang="en-US" altLang="ko-KR" sz="1400" dirty="0"/>
          </a:p>
        </p:txBody>
      </p:sp>
      <p:sp>
        <p:nvSpPr>
          <p:cNvPr id="45" name="사각형: 둥근 모서리 114">
            <a:extLst>
              <a:ext uri="{FF2B5EF4-FFF2-40B4-BE49-F238E27FC236}">
                <a16:creationId xmlns:a16="http://schemas.microsoft.com/office/drawing/2014/main" id="{5822C4E5-43ED-4C5D-8B03-6B6C17509CCC}"/>
              </a:ext>
            </a:extLst>
          </p:cNvPr>
          <p:cNvSpPr/>
          <p:nvPr/>
        </p:nvSpPr>
        <p:spPr>
          <a:xfrm>
            <a:off x="7153673" y="2571750"/>
            <a:ext cx="1717863" cy="433441"/>
          </a:xfrm>
          <a:prstGeom prst="roundRect">
            <a:avLst>
              <a:gd name="adj" fmla="val 10304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/>
              <a:t>Hook Config File</a:t>
            </a:r>
            <a:endParaRPr lang="en-US" altLang="ko-KR" sz="1400" dirty="0"/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65FB5BFF-A0DD-4714-8875-97CD74D2A2E4}"/>
              </a:ext>
            </a:extLst>
          </p:cNvPr>
          <p:cNvCxnSpPr>
            <a:cxnSpLocks/>
            <a:stCxn id="45" idx="1"/>
            <a:endCxn id="44" idx="3"/>
          </p:cNvCxnSpPr>
          <p:nvPr/>
        </p:nvCxnSpPr>
        <p:spPr>
          <a:xfrm flipH="1">
            <a:off x="6740060" y="2788471"/>
            <a:ext cx="413613" cy="1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FE2EADFE-6C93-41E9-A1B9-B5E2ADB880C6}"/>
              </a:ext>
            </a:extLst>
          </p:cNvPr>
          <p:cNvCxnSpPr>
            <a:cxnSpLocks/>
            <a:stCxn id="42" idx="1"/>
            <a:endCxn id="48" idx="2"/>
          </p:cNvCxnSpPr>
          <p:nvPr/>
        </p:nvCxnSpPr>
        <p:spPr>
          <a:xfrm flipH="1" flipV="1">
            <a:off x="1955254" y="3343764"/>
            <a:ext cx="1886052" cy="830505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3DD8BE10-CBA1-42DD-B3C6-FC95FC0FE639}"/>
              </a:ext>
            </a:extLst>
          </p:cNvPr>
          <p:cNvCxnSpPr>
            <a:cxnSpLocks/>
            <a:stCxn id="44" idx="2"/>
            <a:endCxn id="42" idx="0"/>
          </p:cNvCxnSpPr>
          <p:nvPr/>
        </p:nvCxnSpPr>
        <p:spPr>
          <a:xfrm>
            <a:off x="5206877" y="3005192"/>
            <a:ext cx="0" cy="755372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CB70320F-7E30-47DB-95E1-D7C348AC5B33}"/>
              </a:ext>
            </a:extLst>
          </p:cNvPr>
          <p:cNvCxnSpPr>
            <a:cxnSpLocks/>
            <a:stCxn id="35" idx="2"/>
            <a:endCxn id="44" idx="0"/>
          </p:cNvCxnSpPr>
          <p:nvPr/>
        </p:nvCxnSpPr>
        <p:spPr>
          <a:xfrm>
            <a:off x="5206872" y="1276999"/>
            <a:ext cx="5" cy="1294752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사각형: 둥근 모서리 114">
            <a:extLst>
              <a:ext uri="{FF2B5EF4-FFF2-40B4-BE49-F238E27FC236}">
                <a16:creationId xmlns:a16="http://schemas.microsoft.com/office/drawing/2014/main" id="{A2B3235F-66A3-43E7-8101-C88D350C6502}"/>
              </a:ext>
            </a:extLst>
          </p:cNvPr>
          <p:cNvSpPr/>
          <p:nvPr/>
        </p:nvSpPr>
        <p:spPr>
          <a:xfrm>
            <a:off x="3841301" y="843558"/>
            <a:ext cx="2731142" cy="433441"/>
          </a:xfrm>
          <a:prstGeom prst="roundRect">
            <a:avLst>
              <a:gd name="adj" fmla="val 10304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/>
              <a:t>runc CLI</a:t>
            </a:r>
            <a:endParaRPr lang="en-US" altLang="ko-KR" sz="1400" dirty="0"/>
          </a:p>
        </p:txBody>
      </p:sp>
      <p:sp>
        <p:nvSpPr>
          <p:cNvPr id="39" name="사각형: 둥근 모서리 114">
            <a:extLst>
              <a:ext uri="{FF2B5EF4-FFF2-40B4-BE49-F238E27FC236}">
                <a16:creationId xmlns:a16="http://schemas.microsoft.com/office/drawing/2014/main" id="{3F164252-2058-435F-8A1E-78F6A6AD1BA3}"/>
              </a:ext>
            </a:extLst>
          </p:cNvPr>
          <p:cNvSpPr/>
          <p:nvPr/>
        </p:nvSpPr>
        <p:spPr>
          <a:xfrm>
            <a:off x="5153226" y="1313747"/>
            <a:ext cx="2731142" cy="1224135"/>
          </a:xfrm>
          <a:prstGeom prst="roundRect">
            <a:avLst>
              <a:gd name="adj" fmla="val 10304"/>
            </a:avLst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b="1"/>
              <a:t>Prestart Hook</a:t>
            </a:r>
          </a:p>
          <a:p>
            <a:pPr algn="ctr"/>
            <a:r>
              <a:rPr lang="en-US" altLang="ko-KR" sz="1400" b="1"/>
              <a:t>STDIN : </a:t>
            </a:r>
            <a:r>
              <a:rPr lang="en-US" altLang="ko-KR" sz="1400"/>
              <a:t>Container Status</a:t>
            </a:r>
          </a:p>
          <a:p>
            <a:pPr algn="ctr"/>
            <a:r>
              <a:rPr lang="en-US" altLang="ko-KR" sz="1400"/>
              <a:t>(Init PID, Rootfs Path)</a:t>
            </a:r>
            <a:endParaRPr lang="en-US" altLang="ko-KR" sz="1400" b="1"/>
          </a:p>
          <a:p>
            <a:pPr algn="ctr"/>
            <a:r>
              <a:rPr lang="en-US" altLang="ko-KR" sz="1400" b="1"/>
              <a:t>ENV : </a:t>
            </a:r>
            <a:r>
              <a:rPr lang="en-US" altLang="ko-KR" sz="1400"/>
              <a:t>GPU, CUDA Config</a:t>
            </a:r>
          </a:p>
          <a:p>
            <a:pPr algn="ctr"/>
            <a:r>
              <a:rPr lang="en-US" altLang="ko-KR" sz="1400"/>
              <a:t>(GPU Device, CUDA Version)</a:t>
            </a:r>
          </a:p>
        </p:txBody>
      </p:sp>
      <p:sp>
        <p:nvSpPr>
          <p:cNvPr id="46" name="사각형: 둥근 모서리 114">
            <a:extLst>
              <a:ext uri="{FF2B5EF4-FFF2-40B4-BE49-F238E27FC236}">
                <a16:creationId xmlns:a16="http://schemas.microsoft.com/office/drawing/2014/main" id="{2A7265A9-1ED0-4509-AADA-EE30D5CF414A}"/>
              </a:ext>
            </a:extLst>
          </p:cNvPr>
          <p:cNvSpPr/>
          <p:nvPr/>
        </p:nvSpPr>
        <p:spPr>
          <a:xfrm>
            <a:off x="5076056" y="3080244"/>
            <a:ext cx="2381421" cy="537288"/>
          </a:xfrm>
          <a:prstGeom prst="roundRect">
            <a:avLst>
              <a:gd name="adj" fmla="val 10304"/>
            </a:avLst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b="1"/>
              <a:t>Exec with Container, </a:t>
            </a:r>
          </a:p>
          <a:p>
            <a:pPr algn="ctr"/>
            <a:r>
              <a:rPr lang="en-US" altLang="ko-KR" sz="1400" b="1"/>
              <a:t>GPU, CUDA Arguments</a:t>
            </a:r>
          </a:p>
        </p:txBody>
      </p:sp>
      <p:sp>
        <p:nvSpPr>
          <p:cNvPr id="48" name="사각형: 둥근 모서리 114">
            <a:extLst>
              <a:ext uri="{FF2B5EF4-FFF2-40B4-BE49-F238E27FC236}">
                <a16:creationId xmlns:a16="http://schemas.microsoft.com/office/drawing/2014/main" id="{E97AE204-C428-413E-8AD2-E8A0E995527D}"/>
              </a:ext>
            </a:extLst>
          </p:cNvPr>
          <p:cNvSpPr/>
          <p:nvPr/>
        </p:nvSpPr>
        <p:spPr>
          <a:xfrm>
            <a:off x="994692" y="2231784"/>
            <a:ext cx="1921124" cy="1111980"/>
          </a:xfrm>
          <a:prstGeom prst="roundRect">
            <a:avLst>
              <a:gd name="adj" fmla="val 6774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Container</a:t>
            </a:r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r>
              <a:rPr lang="en-US" altLang="ko-KR" sz="1400">
                <a:solidFill>
                  <a:schemeClr val="tx1"/>
                </a:solidFill>
              </a:rPr>
              <a:t>(Namespace, Rootfs)</a:t>
            </a:r>
          </a:p>
        </p:txBody>
      </p:sp>
      <p:sp>
        <p:nvSpPr>
          <p:cNvPr id="59" name="사각형: 둥근 모서리 114">
            <a:extLst>
              <a:ext uri="{FF2B5EF4-FFF2-40B4-BE49-F238E27FC236}">
                <a16:creationId xmlns:a16="http://schemas.microsoft.com/office/drawing/2014/main" id="{A425BB29-0B26-467C-B6AC-5AE24F54625E}"/>
              </a:ext>
            </a:extLst>
          </p:cNvPr>
          <p:cNvSpPr/>
          <p:nvPr/>
        </p:nvSpPr>
        <p:spPr>
          <a:xfrm>
            <a:off x="755576" y="987574"/>
            <a:ext cx="2731142" cy="619914"/>
          </a:xfrm>
          <a:prstGeom prst="roundRect">
            <a:avLst>
              <a:gd name="adj" fmla="val 10304"/>
            </a:avLst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/>
              <a:t>Create Namespace,</a:t>
            </a:r>
          </a:p>
          <a:p>
            <a:pPr algn="ctr"/>
            <a:r>
              <a:rPr lang="en-US" altLang="ko-KR" sz="1400"/>
              <a:t>Set rootfs (clone())</a:t>
            </a:r>
          </a:p>
        </p:txBody>
      </p:sp>
      <p:sp>
        <p:nvSpPr>
          <p:cNvPr id="73" name="타원 72">
            <a:extLst>
              <a:ext uri="{FF2B5EF4-FFF2-40B4-BE49-F238E27FC236}">
                <a16:creationId xmlns:a16="http://schemas.microsoft.com/office/drawing/2014/main" id="{13F88F64-DEB9-4E8C-9566-709C0350B858}"/>
              </a:ext>
            </a:extLst>
          </p:cNvPr>
          <p:cNvSpPr/>
          <p:nvPr/>
        </p:nvSpPr>
        <p:spPr>
          <a:xfrm>
            <a:off x="5054539" y="1203598"/>
            <a:ext cx="288032" cy="28803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/>
              <a:t>2</a:t>
            </a:r>
            <a:endParaRPr lang="ko-KR" altLang="en-US" sz="1600"/>
          </a:p>
        </p:txBody>
      </p:sp>
      <p:sp>
        <p:nvSpPr>
          <p:cNvPr id="74" name="타원 73">
            <a:extLst>
              <a:ext uri="{FF2B5EF4-FFF2-40B4-BE49-F238E27FC236}">
                <a16:creationId xmlns:a16="http://schemas.microsoft.com/office/drawing/2014/main" id="{48D87559-1E58-4D86-845E-9977F9833F54}"/>
              </a:ext>
            </a:extLst>
          </p:cNvPr>
          <p:cNvSpPr/>
          <p:nvPr/>
        </p:nvSpPr>
        <p:spPr>
          <a:xfrm>
            <a:off x="5054539" y="2886446"/>
            <a:ext cx="288032" cy="28803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/>
              <a:t>3</a:t>
            </a:r>
            <a:endParaRPr lang="ko-KR" altLang="en-US" sz="1600"/>
          </a:p>
        </p:txBody>
      </p:sp>
      <p:sp>
        <p:nvSpPr>
          <p:cNvPr id="75" name="타원 74">
            <a:extLst>
              <a:ext uri="{FF2B5EF4-FFF2-40B4-BE49-F238E27FC236}">
                <a16:creationId xmlns:a16="http://schemas.microsoft.com/office/drawing/2014/main" id="{DD1DCE9A-4B26-4230-8C42-D35177C3EBFF}"/>
              </a:ext>
            </a:extLst>
          </p:cNvPr>
          <p:cNvSpPr/>
          <p:nvPr/>
        </p:nvSpPr>
        <p:spPr>
          <a:xfrm>
            <a:off x="3693972" y="4030253"/>
            <a:ext cx="288032" cy="28803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/>
              <a:t>4</a:t>
            </a:r>
            <a:endParaRPr lang="ko-KR" altLang="en-US" sz="1600"/>
          </a:p>
        </p:txBody>
      </p:sp>
      <p:sp>
        <p:nvSpPr>
          <p:cNvPr id="80" name="사각형: 둥근 모서리 114">
            <a:extLst>
              <a:ext uri="{FF2B5EF4-FFF2-40B4-BE49-F238E27FC236}">
                <a16:creationId xmlns:a16="http://schemas.microsoft.com/office/drawing/2014/main" id="{B3BFAD38-3DFC-464B-B19E-4DB857870917}"/>
              </a:ext>
            </a:extLst>
          </p:cNvPr>
          <p:cNvSpPr/>
          <p:nvPr/>
        </p:nvSpPr>
        <p:spPr>
          <a:xfrm>
            <a:off x="2987824" y="1471897"/>
            <a:ext cx="1002950" cy="619914"/>
          </a:xfrm>
          <a:prstGeom prst="roundRect">
            <a:avLst>
              <a:gd name="adj" fmla="val 10304"/>
            </a:avLst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/>
              <a:t>Exec App</a:t>
            </a:r>
          </a:p>
        </p:txBody>
      </p:sp>
      <p:cxnSp>
        <p:nvCxnSpPr>
          <p:cNvPr id="88" name="직선 화살표 연결선 87">
            <a:extLst>
              <a:ext uri="{FF2B5EF4-FFF2-40B4-BE49-F238E27FC236}">
                <a16:creationId xmlns:a16="http://schemas.microsoft.com/office/drawing/2014/main" id="{B82A5C8F-038F-4540-ACBF-D54373AE176E}"/>
              </a:ext>
            </a:extLst>
          </p:cNvPr>
          <p:cNvCxnSpPr>
            <a:cxnSpLocks/>
          </p:cNvCxnSpPr>
          <p:nvPr/>
        </p:nvCxnSpPr>
        <p:spPr>
          <a:xfrm flipH="1">
            <a:off x="2203107" y="1247237"/>
            <a:ext cx="1585056" cy="984547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타원 75">
            <a:extLst>
              <a:ext uri="{FF2B5EF4-FFF2-40B4-BE49-F238E27FC236}">
                <a16:creationId xmlns:a16="http://schemas.microsoft.com/office/drawing/2014/main" id="{ABCCEE66-F353-4557-8BFD-172E27E48A67}"/>
              </a:ext>
            </a:extLst>
          </p:cNvPr>
          <p:cNvSpPr/>
          <p:nvPr/>
        </p:nvSpPr>
        <p:spPr>
          <a:xfrm>
            <a:off x="3673694" y="1112349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/>
              <a:t>5</a:t>
            </a:r>
            <a:endParaRPr lang="ko-KR" altLang="en-US" sz="1600"/>
          </a:p>
        </p:txBody>
      </p:sp>
      <p:cxnSp>
        <p:nvCxnSpPr>
          <p:cNvPr id="97" name="직선 화살표 연결선 96">
            <a:extLst>
              <a:ext uri="{FF2B5EF4-FFF2-40B4-BE49-F238E27FC236}">
                <a16:creationId xmlns:a16="http://schemas.microsoft.com/office/drawing/2014/main" id="{E49F9148-186C-4D75-9590-4EAFC196FE25}"/>
              </a:ext>
            </a:extLst>
          </p:cNvPr>
          <p:cNvCxnSpPr>
            <a:cxnSpLocks/>
          </p:cNvCxnSpPr>
          <p:nvPr/>
        </p:nvCxnSpPr>
        <p:spPr>
          <a:xfrm flipH="1">
            <a:off x="1718313" y="942412"/>
            <a:ext cx="2075805" cy="1289372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타원 69">
            <a:extLst>
              <a:ext uri="{FF2B5EF4-FFF2-40B4-BE49-F238E27FC236}">
                <a16:creationId xmlns:a16="http://schemas.microsoft.com/office/drawing/2014/main" id="{FF8641A9-C507-43AD-A240-C1F7DE339E78}"/>
              </a:ext>
            </a:extLst>
          </p:cNvPr>
          <p:cNvSpPr/>
          <p:nvPr/>
        </p:nvSpPr>
        <p:spPr>
          <a:xfrm>
            <a:off x="3673694" y="766738"/>
            <a:ext cx="288032" cy="28803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/>
              <a:t>1</a:t>
            </a:r>
            <a:endParaRPr lang="ko-KR" altLang="en-US" sz="1600"/>
          </a:p>
        </p:txBody>
      </p:sp>
      <p:sp>
        <p:nvSpPr>
          <p:cNvPr id="24" name="사각형: 둥근 모서리 114">
            <a:extLst>
              <a:ext uri="{FF2B5EF4-FFF2-40B4-BE49-F238E27FC236}">
                <a16:creationId xmlns:a16="http://schemas.microsoft.com/office/drawing/2014/main" id="{B9253FE2-2D7A-448F-B4D6-58E5379E0CA6}"/>
              </a:ext>
            </a:extLst>
          </p:cNvPr>
          <p:cNvSpPr/>
          <p:nvPr/>
        </p:nvSpPr>
        <p:spPr>
          <a:xfrm>
            <a:off x="2465045" y="3386563"/>
            <a:ext cx="2043345" cy="619914"/>
          </a:xfrm>
          <a:prstGeom prst="roundRect">
            <a:avLst>
              <a:gd name="adj" fmla="val 10304"/>
            </a:avLst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/>
              <a:t>Set GPU, </a:t>
            </a:r>
          </a:p>
          <a:p>
            <a:pPr algn="ctr"/>
            <a:r>
              <a:rPr lang="en-US" altLang="ko-KR" sz="1400"/>
              <a:t>CUDA</a:t>
            </a:r>
          </a:p>
        </p:txBody>
      </p:sp>
    </p:spTree>
    <p:extLst>
      <p:ext uri="{BB962C8B-B14F-4D97-AF65-F5344CB8AC3E}">
        <p14:creationId xmlns:p14="http://schemas.microsoft.com/office/powerpoint/2010/main" val="20517974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38443D-5E72-49E2-86AC-581D61C41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2546"/>
            <a:ext cx="9144000" cy="857250"/>
          </a:xfrm>
        </p:spPr>
        <p:txBody>
          <a:bodyPr>
            <a:normAutofit/>
          </a:bodyPr>
          <a:lstStyle/>
          <a:p>
            <a:r>
              <a:rPr lang="en-US" altLang="ko-KR"/>
              <a:t>CUDA Container Stack</a:t>
            </a:r>
            <a:endParaRPr lang="ko-KR" altLang="en-US" dirty="0"/>
          </a:p>
        </p:txBody>
      </p:sp>
      <p:sp>
        <p:nvSpPr>
          <p:cNvPr id="37" name="사각형: 둥근 모서리 114">
            <a:extLst>
              <a:ext uri="{FF2B5EF4-FFF2-40B4-BE49-F238E27FC236}">
                <a16:creationId xmlns:a16="http://schemas.microsoft.com/office/drawing/2014/main" id="{8CC31052-D46C-415C-AC5E-9F519A0CE552}"/>
              </a:ext>
            </a:extLst>
          </p:cNvPr>
          <p:cNvSpPr/>
          <p:nvPr/>
        </p:nvSpPr>
        <p:spPr>
          <a:xfrm>
            <a:off x="2056882" y="3660955"/>
            <a:ext cx="5035398" cy="976265"/>
          </a:xfrm>
          <a:prstGeom prst="roundRect">
            <a:avLst>
              <a:gd name="adj" fmla="val 639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400" b="1"/>
              <a:t>Host Hardware</a:t>
            </a:r>
            <a:endParaRPr lang="en-US" altLang="ko-KR" sz="1400" b="1" dirty="0"/>
          </a:p>
        </p:txBody>
      </p:sp>
      <p:sp>
        <p:nvSpPr>
          <p:cNvPr id="33" name="사각형: 둥근 모서리 114">
            <a:extLst>
              <a:ext uri="{FF2B5EF4-FFF2-40B4-BE49-F238E27FC236}">
                <a16:creationId xmlns:a16="http://schemas.microsoft.com/office/drawing/2014/main" id="{79F6D168-BB65-4F50-9582-4A29196F3F72}"/>
              </a:ext>
            </a:extLst>
          </p:cNvPr>
          <p:cNvSpPr/>
          <p:nvPr/>
        </p:nvSpPr>
        <p:spPr>
          <a:xfrm>
            <a:off x="2056882" y="2292249"/>
            <a:ext cx="5035398" cy="1374998"/>
          </a:xfrm>
          <a:prstGeom prst="roundRect">
            <a:avLst>
              <a:gd name="adj" fmla="val 41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400" b="1"/>
              <a:t>Host Kernel</a:t>
            </a:r>
            <a:endParaRPr lang="en-US" altLang="ko-KR" sz="1400" b="1" dirty="0"/>
          </a:p>
        </p:txBody>
      </p:sp>
      <p:sp>
        <p:nvSpPr>
          <p:cNvPr id="10" name="사각형: 둥근 모서리 114">
            <a:extLst>
              <a:ext uri="{FF2B5EF4-FFF2-40B4-BE49-F238E27FC236}">
                <a16:creationId xmlns:a16="http://schemas.microsoft.com/office/drawing/2014/main" id="{AD1D8D57-5236-4724-A023-F93F5C3B4961}"/>
              </a:ext>
            </a:extLst>
          </p:cNvPr>
          <p:cNvSpPr/>
          <p:nvPr/>
        </p:nvSpPr>
        <p:spPr>
          <a:xfrm>
            <a:off x="2145948" y="2404972"/>
            <a:ext cx="1077331" cy="396044"/>
          </a:xfrm>
          <a:prstGeom prst="roundRect">
            <a:avLst>
              <a:gd name="adj" fmla="val 7242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/dev/nvidia0</a:t>
            </a:r>
            <a:endParaRPr lang="en-US" altLang="ko-KR" sz="1200" dirty="0"/>
          </a:p>
        </p:txBody>
      </p:sp>
      <p:sp>
        <p:nvSpPr>
          <p:cNvPr id="11" name="사각형: 둥근 모서리 114">
            <a:extLst>
              <a:ext uri="{FF2B5EF4-FFF2-40B4-BE49-F238E27FC236}">
                <a16:creationId xmlns:a16="http://schemas.microsoft.com/office/drawing/2014/main" id="{5058CA32-4D86-4990-8643-039C5C2B7964}"/>
              </a:ext>
            </a:extLst>
          </p:cNvPr>
          <p:cNvSpPr/>
          <p:nvPr/>
        </p:nvSpPr>
        <p:spPr>
          <a:xfrm>
            <a:off x="3405927" y="2404972"/>
            <a:ext cx="1077331" cy="396044"/>
          </a:xfrm>
          <a:prstGeom prst="roundRect">
            <a:avLst>
              <a:gd name="adj" fmla="val 7242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/dev/nvdia1</a:t>
            </a:r>
            <a:endParaRPr lang="en-US" altLang="ko-KR" sz="1200" dirty="0"/>
          </a:p>
        </p:txBody>
      </p:sp>
      <p:sp>
        <p:nvSpPr>
          <p:cNvPr id="12" name="사각형: 둥근 모서리 114">
            <a:extLst>
              <a:ext uri="{FF2B5EF4-FFF2-40B4-BE49-F238E27FC236}">
                <a16:creationId xmlns:a16="http://schemas.microsoft.com/office/drawing/2014/main" id="{D81271EB-6029-425A-8D5E-DF1F48C8EE13}"/>
              </a:ext>
            </a:extLst>
          </p:cNvPr>
          <p:cNvSpPr/>
          <p:nvPr/>
        </p:nvSpPr>
        <p:spPr>
          <a:xfrm>
            <a:off x="4665905" y="2404972"/>
            <a:ext cx="1077331" cy="396044"/>
          </a:xfrm>
          <a:prstGeom prst="roundRect">
            <a:avLst>
              <a:gd name="adj" fmla="val 7242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/dev/nvdia2</a:t>
            </a:r>
            <a:endParaRPr lang="en-US" altLang="ko-KR" sz="1200" dirty="0"/>
          </a:p>
        </p:txBody>
      </p:sp>
      <p:sp>
        <p:nvSpPr>
          <p:cNvPr id="13" name="사각형: 둥근 모서리 114">
            <a:extLst>
              <a:ext uri="{FF2B5EF4-FFF2-40B4-BE49-F238E27FC236}">
                <a16:creationId xmlns:a16="http://schemas.microsoft.com/office/drawing/2014/main" id="{D47EB027-0397-479D-9DD6-FD6D321AA3DE}"/>
              </a:ext>
            </a:extLst>
          </p:cNvPr>
          <p:cNvSpPr/>
          <p:nvPr/>
        </p:nvSpPr>
        <p:spPr>
          <a:xfrm>
            <a:off x="5925884" y="2404972"/>
            <a:ext cx="1077331" cy="396044"/>
          </a:xfrm>
          <a:prstGeom prst="roundRect">
            <a:avLst>
              <a:gd name="adj" fmla="val 7242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/dev/nvdia3</a:t>
            </a:r>
            <a:endParaRPr lang="en-US" altLang="ko-KR" sz="1200" dirty="0"/>
          </a:p>
        </p:txBody>
      </p:sp>
      <p:sp>
        <p:nvSpPr>
          <p:cNvPr id="14" name="사각형: 둥근 모서리 114">
            <a:extLst>
              <a:ext uri="{FF2B5EF4-FFF2-40B4-BE49-F238E27FC236}">
                <a16:creationId xmlns:a16="http://schemas.microsoft.com/office/drawing/2014/main" id="{1A39F0A4-CB41-4000-A6B3-276C8699113E}"/>
              </a:ext>
            </a:extLst>
          </p:cNvPr>
          <p:cNvSpPr/>
          <p:nvPr/>
        </p:nvSpPr>
        <p:spPr>
          <a:xfrm>
            <a:off x="2145948" y="3773124"/>
            <a:ext cx="1077331" cy="576064"/>
          </a:xfrm>
          <a:prstGeom prst="roundRect">
            <a:avLst>
              <a:gd name="adj" fmla="val 7242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NVIDIA</a:t>
            </a:r>
          </a:p>
          <a:p>
            <a:pPr algn="ctr"/>
            <a:r>
              <a:rPr lang="en-US" altLang="ko-KR" sz="1200"/>
              <a:t>GPU 0</a:t>
            </a:r>
            <a:endParaRPr lang="en-US" altLang="ko-KR" sz="1200" dirty="0"/>
          </a:p>
        </p:txBody>
      </p:sp>
      <p:sp>
        <p:nvSpPr>
          <p:cNvPr id="15" name="사각형: 둥근 모서리 114">
            <a:extLst>
              <a:ext uri="{FF2B5EF4-FFF2-40B4-BE49-F238E27FC236}">
                <a16:creationId xmlns:a16="http://schemas.microsoft.com/office/drawing/2014/main" id="{444230E6-BF6C-47E3-875F-1BF325B264E8}"/>
              </a:ext>
            </a:extLst>
          </p:cNvPr>
          <p:cNvSpPr/>
          <p:nvPr/>
        </p:nvSpPr>
        <p:spPr>
          <a:xfrm>
            <a:off x="3405927" y="3773124"/>
            <a:ext cx="1077331" cy="576064"/>
          </a:xfrm>
          <a:prstGeom prst="roundRect">
            <a:avLst>
              <a:gd name="adj" fmla="val 7242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NVIDIA</a:t>
            </a:r>
          </a:p>
          <a:p>
            <a:pPr algn="ctr"/>
            <a:r>
              <a:rPr lang="en-US" altLang="ko-KR" sz="1200"/>
              <a:t>GPU 1</a:t>
            </a:r>
            <a:endParaRPr lang="en-US" altLang="ko-KR" sz="1200" dirty="0"/>
          </a:p>
        </p:txBody>
      </p:sp>
      <p:sp>
        <p:nvSpPr>
          <p:cNvPr id="16" name="사각형: 둥근 모서리 114">
            <a:extLst>
              <a:ext uri="{FF2B5EF4-FFF2-40B4-BE49-F238E27FC236}">
                <a16:creationId xmlns:a16="http://schemas.microsoft.com/office/drawing/2014/main" id="{32771B95-FEAB-4B5F-8E1D-1879E0D35C73}"/>
              </a:ext>
            </a:extLst>
          </p:cNvPr>
          <p:cNvSpPr/>
          <p:nvPr/>
        </p:nvSpPr>
        <p:spPr>
          <a:xfrm>
            <a:off x="4665905" y="3773124"/>
            <a:ext cx="1077331" cy="576064"/>
          </a:xfrm>
          <a:prstGeom prst="roundRect">
            <a:avLst>
              <a:gd name="adj" fmla="val 7242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NVIDIA</a:t>
            </a:r>
          </a:p>
          <a:p>
            <a:pPr algn="ctr"/>
            <a:r>
              <a:rPr lang="en-US" altLang="ko-KR" sz="1200"/>
              <a:t>GPU 2</a:t>
            </a:r>
            <a:endParaRPr lang="en-US" altLang="ko-KR" sz="1200" dirty="0"/>
          </a:p>
        </p:txBody>
      </p:sp>
      <p:sp>
        <p:nvSpPr>
          <p:cNvPr id="17" name="사각형: 둥근 모서리 114">
            <a:extLst>
              <a:ext uri="{FF2B5EF4-FFF2-40B4-BE49-F238E27FC236}">
                <a16:creationId xmlns:a16="http://schemas.microsoft.com/office/drawing/2014/main" id="{FA743878-415F-4F3F-8BD0-44868C250DED}"/>
              </a:ext>
            </a:extLst>
          </p:cNvPr>
          <p:cNvSpPr/>
          <p:nvPr/>
        </p:nvSpPr>
        <p:spPr>
          <a:xfrm>
            <a:off x="5925884" y="3773124"/>
            <a:ext cx="1077331" cy="576064"/>
          </a:xfrm>
          <a:prstGeom prst="roundRect">
            <a:avLst>
              <a:gd name="adj" fmla="val 7242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NVIDIA</a:t>
            </a:r>
          </a:p>
          <a:p>
            <a:pPr algn="ctr"/>
            <a:r>
              <a:rPr lang="en-US" altLang="ko-KR" sz="1200"/>
              <a:t>GPU 3</a:t>
            </a:r>
            <a:endParaRPr lang="en-US" altLang="ko-KR" sz="1200" dirty="0"/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CF314586-C0C4-4879-A3CB-8E4469478D11}"/>
              </a:ext>
            </a:extLst>
          </p:cNvPr>
          <p:cNvCxnSpPr>
            <a:cxnSpLocks/>
            <a:stCxn id="10" idx="2"/>
            <a:endCxn id="14" idx="0"/>
          </p:cNvCxnSpPr>
          <p:nvPr/>
        </p:nvCxnSpPr>
        <p:spPr>
          <a:xfrm>
            <a:off x="2684614" y="2801016"/>
            <a:ext cx="0" cy="97210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D7F73344-7CBD-4515-AF8F-57B32D20BE1C}"/>
              </a:ext>
            </a:extLst>
          </p:cNvPr>
          <p:cNvCxnSpPr>
            <a:cxnSpLocks/>
            <a:stCxn id="11" idx="2"/>
            <a:endCxn id="15" idx="0"/>
          </p:cNvCxnSpPr>
          <p:nvPr/>
        </p:nvCxnSpPr>
        <p:spPr>
          <a:xfrm>
            <a:off x="3944593" y="2801016"/>
            <a:ext cx="0" cy="97210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5236BC4D-F64B-4952-94D9-CFADD41ED1DB}"/>
              </a:ext>
            </a:extLst>
          </p:cNvPr>
          <p:cNvCxnSpPr>
            <a:cxnSpLocks/>
            <a:stCxn id="12" idx="2"/>
            <a:endCxn id="16" idx="0"/>
          </p:cNvCxnSpPr>
          <p:nvPr/>
        </p:nvCxnSpPr>
        <p:spPr>
          <a:xfrm>
            <a:off x="5204571" y="2801016"/>
            <a:ext cx="0" cy="97210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0C25B297-C471-4983-B26F-9B6D9298B3BB}"/>
              </a:ext>
            </a:extLst>
          </p:cNvPr>
          <p:cNvCxnSpPr>
            <a:cxnSpLocks/>
            <a:stCxn id="13" idx="2"/>
            <a:endCxn id="17" idx="0"/>
          </p:cNvCxnSpPr>
          <p:nvPr/>
        </p:nvCxnSpPr>
        <p:spPr>
          <a:xfrm>
            <a:off x="6464550" y="2801016"/>
            <a:ext cx="0" cy="97210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사각형: 둥근 모서리 114">
            <a:extLst>
              <a:ext uri="{FF2B5EF4-FFF2-40B4-BE49-F238E27FC236}">
                <a16:creationId xmlns:a16="http://schemas.microsoft.com/office/drawing/2014/main" id="{8204B16C-CA82-4791-8D0F-1EE9DCEDA54F}"/>
              </a:ext>
            </a:extLst>
          </p:cNvPr>
          <p:cNvSpPr/>
          <p:nvPr/>
        </p:nvSpPr>
        <p:spPr>
          <a:xfrm>
            <a:off x="2145948" y="2945032"/>
            <a:ext cx="4852749" cy="396044"/>
          </a:xfrm>
          <a:prstGeom prst="roundRect">
            <a:avLst>
              <a:gd name="adj" fmla="val 7242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NVIDIA CUDA Device Driver</a:t>
            </a:r>
            <a:endParaRPr lang="en-US" altLang="ko-KR" sz="1200" dirty="0"/>
          </a:p>
        </p:txBody>
      </p:sp>
      <p:sp>
        <p:nvSpPr>
          <p:cNvPr id="36" name="사각형: 둥근 모서리 114">
            <a:extLst>
              <a:ext uri="{FF2B5EF4-FFF2-40B4-BE49-F238E27FC236}">
                <a16:creationId xmlns:a16="http://schemas.microsoft.com/office/drawing/2014/main" id="{CF76CF1D-B8E6-443A-80C5-A21C41477750}"/>
              </a:ext>
            </a:extLst>
          </p:cNvPr>
          <p:cNvSpPr/>
          <p:nvPr/>
        </p:nvSpPr>
        <p:spPr>
          <a:xfrm>
            <a:off x="683568" y="849221"/>
            <a:ext cx="2486761" cy="1317955"/>
          </a:xfrm>
          <a:prstGeom prst="roundRect">
            <a:avLst>
              <a:gd name="adj" fmla="val 6774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400" b="1"/>
              <a:t>Container A</a:t>
            </a:r>
            <a:endParaRPr lang="ko-KR" altLang="en-US" sz="1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8" name="사각형: 둥근 모서리 114">
            <a:extLst>
              <a:ext uri="{FF2B5EF4-FFF2-40B4-BE49-F238E27FC236}">
                <a16:creationId xmlns:a16="http://schemas.microsoft.com/office/drawing/2014/main" id="{A803DAF7-99B0-4292-A5DB-3EC24AB08296}"/>
              </a:ext>
            </a:extLst>
          </p:cNvPr>
          <p:cNvSpPr/>
          <p:nvPr/>
        </p:nvSpPr>
        <p:spPr>
          <a:xfrm>
            <a:off x="771302" y="1683312"/>
            <a:ext cx="1099999" cy="396044"/>
          </a:xfrm>
          <a:prstGeom prst="roundRect">
            <a:avLst>
              <a:gd name="adj" fmla="val 7242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/dev/nvidia0</a:t>
            </a:r>
            <a:endParaRPr lang="en-US" altLang="ko-KR" sz="1200" dirty="0"/>
          </a:p>
        </p:txBody>
      </p:sp>
      <p:sp>
        <p:nvSpPr>
          <p:cNvPr id="49" name="사각형: 둥근 모서리 114">
            <a:extLst>
              <a:ext uri="{FF2B5EF4-FFF2-40B4-BE49-F238E27FC236}">
                <a16:creationId xmlns:a16="http://schemas.microsoft.com/office/drawing/2014/main" id="{D2F56706-879C-45B5-A8D5-3807D53C29AC}"/>
              </a:ext>
            </a:extLst>
          </p:cNvPr>
          <p:cNvSpPr/>
          <p:nvPr/>
        </p:nvSpPr>
        <p:spPr>
          <a:xfrm>
            <a:off x="1972902" y="1683312"/>
            <a:ext cx="1099868" cy="396044"/>
          </a:xfrm>
          <a:prstGeom prst="roundRect">
            <a:avLst>
              <a:gd name="adj" fmla="val 7242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/dev/nvidia1</a:t>
            </a:r>
            <a:endParaRPr lang="en-US" altLang="ko-KR" sz="1200" dirty="0"/>
          </a:p>
        </p:txBody>
      </p:sp>
      <p:sp>
        <p:nvSpPr>
          <p:cNvPr id="53" name="사각형: 둥근 모서리 114">
            <a:extLst>
              <a:ext uri="{FF2B5EF4-FFF2-40B4-BE49-F238E27FC236}">
                <a16:creationId xmlns:a16="http://schemas.microsoft.com/office/drawing/2014/main" id="{D0D7C7AC-1E28-4E6E-BABF-ED8C7548D800}"/>
              </a:ext>
            </a:extLst>
          </p:cNvPr>
          <p:cNvSpPr/>
          <p:nvPr/>
        </p:nvSpPr>
        <p:spPr>
          <a:xfrm>
            <a:off x="771302" y="1197258"/>
            <a:ext cx="2301467" cy="396044"/>
          </a:xfrm>
          <a:prstGeom prst="roundRect">
            <a:avLst>
              <a:gd name="adj" fmla="val 7242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NVIDIA CUDA Lib/Toolkit</a:t>
            </a:r>
            <a:endParaRPr lang="en-US" altLang="ko-KR" sz="1200" dirty="0"/>
          </a:p>
        </p:txBody>
      </p: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55283E46-F286-4ADA-9E5B-DCE0F42F1436}"/>
              </a:ext>
            </a:extLst>
          </p:cNvPr>
          <p:cNvGrpSpPr/>
          <p:nvPr/>
        </p:nvGrpSpPr>
        <p:grpSpPr>
          <a:xfrm>
            <a:off x="3295100" y="843558"/>
            <a:ext cx="3674596" cy="1317955"/>
            <a:chOff x="3328619" y="1015999"/>
            <a:chExt cx="3674596" cy="1317955"/>
          </a:xfrm>
        </p:grpSpPr>
        <p:sp>
          <p:nvSpPr>
            <p:cNvPr id="54" name="사각형: 둥근 모서리 114">
              <a:extLst>
                <a:ext uri="{FF2B5EF4-FFF2-40B4-BE49-F238E27FC236}">
                  <a16:creationId xmlns:a16="http://schemas.microsoft.com/office/drawing/2014/main" id="{A18B781E-389B-4EBF-A817-D4569C2D6423}"/>
                </a:ext>
              </a:extLst>
            </p:cNvPr>
            <p:cNvSpPr/>
            <p:nvPr/>
          </p:nvSpPr>
          <p:spPr>
            <a:xfrm>
              <a:off x="3328619" y="1015999"/>
              <a:ext cx="3674596" cy="1317955"/>
            </a:xfrm>
            <a:prstGeom prst="roundRect">
              <a:avLst>
                <a:gd name="adj" fmla="val 6774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en-US" altLang="ko-KR" sz="1400" b="1"/>
                <a:t>Container B</a:t>
              </a:r>
              <a:endParaRPr lang="ko-KR" altLang="en-US" sz="1400" b="1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  <p:sp>
          <p:nvSpPr>
            <p:cNvPr id="55" name="사각형: 둥근 모서리 114">
              <a:extLst>
                <a:ext uri="{FF2B5EF4-FFF2-40B4-BE49-F238E27FC236}">
                  <a16:creationId xmlns:a16="http://schemas.microsoft.com/office/drawing/2014/main" id="{CA8E074B-D8A6-4E92-8563-585CEF736C89}"/>
                </a:ext>
              </a:extLst>
            </p:cNvPr>
            <p:cNvSpPr/>
            <p:nvPr/>
          </p:nvSpPr>
          <p:spPr>
            <a:xfrm>
              <a:off x="3416353" y="1850090"/>
              <a:ext cx="1099999" cy="396044"/>
            </a:xfrm>
            <a:prstGeom prst="roundRect">
              <a:avLst>
                <a:gd name="adj" fmla="val 7242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200"/>
                <a:t>/dev/nvdia0</a:t>
              </a:r>
              <a:endParaRPr lang="en-US" altLang="ko-KR" sz="1200" dirty="0"/>
            </a:p>
          </p:txBody>
        </p:sp>
        <p:sp>
          <p:nvSpPr>
            <p:cNvPr id="56" name="사각형: 둥근 모서리 114">
              <a:extLst>
                <a:ext uri="{FF2B5EF4-FFF2-40B4-BE49-F238E27FC236}">
                  <a16:creationId xmlns:a16="http://schemas.microsoft.com/office/drawing/2014/main" id="{9AC5B223-6762-4A94-BC2D-48F317D9D503}"/>
                </a:ext>
              </a:extLst>
            </p:cNvPr>
            <p:cNvSpPr/>
            <p:nvPr/>
          </p:nvSpPr>
          <p:spPr>
            <a:xfrm>
              <a:off x="4617953" y="1850090"/>
              <a:ext cx="1099868" cy="396044"/>
            </a:xfrm>
            <a:prstGeom prst="roundRect">
              <a:avLst>
                <a:gd name="adj" fmla="val 7242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200"/>
                <a:t>/dev/nvdia2</a:t>
              </a:r>
              <a:endParaRPr lang="en-US" altLang="ko-KR" sz="1200" dirty="0"/>
            </a:p>
          </p:txBody>
        </p:sp>
        <p:sp>
          <p:nvSpPr>
            <p:cNvPr id="57" name="사각형: 둥근 모서리 114">
              <a:extLst>
                <a:ext uri="{FF2B5EF4-FFF2-40B4-BE49-F238E27FC236}">
                  <a16:creationId xmlns:a16="http://schemas.microsoft.com/office/drawing/2014/main" id="{FE359AF7-218F-44C6-B474-8140E31271D1}"/>
                </a:ext>
              </a:extLst>
            </p:cNvPr>
            <p:cNvSpPr/>
            <p:nvPr/>
          </p:nvSpPr>
          <p:spPr>
            <a:xfrm>
              <a:off x="3416353" y="1364036"/>
              <a:ext cx="3498895" cy="396044"/>
            </a:xfrm>
            <a:prstGeom prst="roundRect">
              <a:avLst>
                <a:gd name="adj" fmla="val 7242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200"/>
                <a:t>NVIDIA CUDA Lib/Toolkit</a:t>
              </a:r>
              <a:endParaRPr lang="en-US" altLang="ko-KR" sz="1200" dirty="0"/>
            </a:p>
          </p:txBody>
        </p:sp>
        <p:sp>
          <p:nvSpPr>
            <p:cNvPr id="85" name="사각형: 둥근 모서리 114">
              <a:extLst>
                <a:ext uri="{FF2B5EF4-FFF2-40B4-BE49-F238E27FC236}">
                  <a16:creationId xmlns:a16="http://schemas.microsoft.com/office/drawing/2014/main" id="{BCC0956D-C3F7-49C0-A9F2-EEC64131C57C}"/>
                </a:ext>
              </a:extLst>
            </p:cNvPr>
            <p:cNvSpPr/>
            <p:nvPr/>
          </p:nvSpPr>
          <p:spPr>
            <a:xfrm>
              <a:off x="5815380" y="1850090"/>
              <a:ext cx="1099868" cy="396044"/>
            </a:xfrm>
            <a:prstGeom prst="roundRect">
              <a:avLst>
                <a:gd name="adj" fmla="val 7242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200"/>
                <a:t>/dev/nvdia3</a:t>
              </a:r>
              <a:endParaRPr lang="en-US" altLang="ko-KR" sz="1200" dirty="0"/>
            </a:p>
          </p:txBody>
        </p:sp>
      </p:grp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547E468E-9DCC-4036-95E6-5C64F04EC946}"/>
              </a:ext>
            </a:extLst>
          </p:cNvPr>
          <p:cNvCxnSpPr>
            <a:cxnSpLocks/>
            <a:stCxn id="55" idx="2"/>
            <a:endCxn id="10" idx="0"/>
          </p:cNvCxnSpPr>
          <p:nvPr/>
        </p:nvCxnSpPr>
        <p:spPr>
          <a:xfrm flipH="1">
            <a:off x="2684614" y="2073693"/>
            <a:ext cx="1248220" cy="331279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연결선 61">
            <a:extLst>
              <a:ext uri="{FF2B5EF4-FFF2-40B4-BE49-F238E27FC236}">
                <a16:creationId xmlns:a16="http://schemas.microsoft.com/office/drawing/2014/main" id="{447EE17D-B86A-4D4C-A28D-677596AEBA4D}"/>
              </a:ext>
            </a:extLst>
          </p:cNvPr>
          <p:cNvCxnSpPr>
            <a:cxnSpLocks/>
            <a:stCxn id="56" idx="2"/>
            <a:endCxn id="12" idx="0"/>
          </p:cNvCxnSpPr>
          <p:nvPr/>
        </p:nvCxnSpPr>
        <p:spPr>
          <a:xfrm>
            <a:off x="5134368" y="2073693"/>
            <a:ext cx="70203" cy="331279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3715AE55-4BDC-44F9-B7A9-7FED7942CF64}"/>
              </a:ext>
            </a:extLst>
          </p:cNvPr>
          <p:cNvCxnSpPr>
            <a:cxnSpLocks/>
            <a:stCxn id="49" idx="2"/>
            <a:endCxn id="11" idx="0"/>
          </p:cNvCxnSpPr>
          <p:nvPr/>
        </p:nvCxnSpPr>
        <p:spPr>
          <a:xfrm>
            <a:off x="2522836" y="2079356"/>
            <a:ext cx="1421757" cy="325616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연결선 67">
            <a:extLst>
              <a:ext uri="{FF2B5EF4-FFF2-40B4-BE49-F238E27FC236}">
                <a16:creationId xmlns:a16="http://schemas.microsoft.com/office/drawing/2014/main" id="{5167F17F-93BD-481A-878E-2769FFAC5A7D}"/>
              </a:ext>
            </a:extLst>
          </p:cNvPr>
          <p:cNvCxnSpPr>
            <a:cxnSpLocks/>
            <a:stCxn id="48" idx="2"/>
            <a:endCxn id="10" idx="0"/>
          </p:cNvCxnSpPr>
          <p:nvPr/>
        </p:nvCxnSpPr>
        <p:spPr>
          <a:xfrm>
            <a:off x="1321302" y="2079356"/>
            <a:ext cx="1363312" cy="325616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사각형: 둥근 모서리 114">
            <a:extLst>
              <a:ext uri="{FF2B5EF4-FFF2-40B4-BE49-F238E27FC236}">
                <a16:creationId xmlns:a16="http://schemas.microsoft.com/office/drawing/2014/main" id="{13DCC872-5499-4CEA-9CA8-FA20591EB069}"/>
              </a:ext>
            </a:extLst>
          </p:cNvPr>
          <p:cNvSpPr/>
          <p:nvPr/>
        </p:nvSpPr>
        <p:spPr>
          <a:xfrm>
            <a:off x="7112912" y="843558"/>
            <a:ext cx="1487816" cy="1317955"/>
          </a:xfrm>
          <a:prstGeom prst="roundRect">
            <a:avLst>
              <a:gd name="adj" fmla="val 6774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400" b="1"/>
              <a:t>Container C</a:t>
            </a:r>
            <a:endParaRPr lang="ko-KR" altLang="en-US" sz="1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4" name="사각형: 둥근 모서리 114">
            <a:extLst>
              <a:ext uri="{FF2B5EF4-FFF2-40B4-BE49-F238E27FC236}">
                <a16:creationId xmlns:a16="http://schemas.microsoft.com/office/drawing/2014/main" id="{3D3CC5C5-2615-49A4-A2AE-C361BD4D1BBE}"/>
              </a:ext>
            </a:extLst>
          </p:cNvPr>
          <p:cNvSpPr/>
          <p:nvPr/>
        </p:nvSpPr>
        <p:spPr>
          <a:xfrm>
            <a:off x="7193099" y="1677649"/>
            <a:ext cx="1321799" cy="396044"/>
          </a:xfrm>
          <a:prstGeom prst="roundRect">
            <a:avLst>
              <a:gd name="adj" fmla="val 7242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/dev/nvdia3</a:t>
            </a:r>
            <a:endParaRPr lang="en-US" altLang="ko-KR" sz="1200" dirty="0"/>
          </a:p>
        </p:txBody>
      </p:sp>
      <p:sp>
        <p:nvSpPr>
          <p:cNvPr id="75" name="사각형: 둥근 모서리 114">
            <a:extLst>
              <a:ext uri="{FF2B5EF4-FFF2-40B4-BE49-F238E27FC236}">
                <a16:creationId xmlns:a16="http://schemas.microsoft.com/office/drawing/2014/main" id="{B29ABC0B-15DC-450D-8FC3-49C53EDE5F1E}"/>
              </a:ext>
            </a:extLst>
          </p:cNvPr>
          <p:cNvSpPr/>
          <p:nvPr/>
        </p:nvSpPr>
        <p:spPr>
          <a:xfrm>
            <a:off x="7193099" y="1191595"/>
            <a:ext cx="1321798" cy="396044"/>
          </a:xfrm>
          <a:prstGeom prst="roundRect">
            <a:avLst>
              <a:gd name="adj" fmla="val 7242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NVIDIA CUDA Lib/Toolkit</a:t>
            </a:r>
            <a:endParaRPr lang="en-US" altLang="ko-KR" sz="1200" dirty="0"/>
          </a:p>
        </p:txBody>
      </p:sp>
      <p:cxnSp>
        <p:nvCxnSpPr>
          <p:cNvPr id="77" name="직선 연결선 76">
            <a:extLst>
              <a:ext uri="{FF2B5EF4-FFF2-40B4-BE49-F238E27FC236}">
                <a16:creationId xmlns:a16="http://schemas.microsoft.com/office/drawing/2014/main" id="{11C92D62-7A09-4961-898A-F75788A631BC}"/>
              </a:ext>
            </a:extLst>
          </p:cNvPr>
          <p:cNvCxnSpPr>
            <a:cxnSpLocks/>
            <a:stCxn id="85" idx="2"/>
            <a:endCxn id="13" idx="0"/>
          </p:cNvCxnSpPr>
          <p:nvPr/>
        </p:nvCxnSpPr>
        <p:spPr>
          <a:xfrm>
            <a:off x="6331795" y="2073693"/>
            <a:ext cx="132755" cy="331279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직선 연결선 79">
            <a:extLst>
              <a:ext uri="{FF2B5EF4-FFF2-40B4-BE49-F238E27FC236}">
                <a16:creationId xmlns:a16="http://schemas.microsoft.com/office/drawing/2014/main" id="{8C36D167-0C49-4016-82BB-091D496242C8}"/>
              </a:ext>
            </a:extLst>
          </p:cNvPr>
          <p:cNvCxnSpPr>
            <a:cxnSpLocks/>
            <a:stCxn id="74" idx="2"/>
            <a:endCxn id="13" idx="0"/>
          </p:cNvCxnSpPr>
          <p:nvPr/>
        </p:nvCxnSpPr>
        <p:spPr>
          <a:xfrm flipH="1">
            <a:off x="6464550" y="2073693"/>
            <a:ext cx="1389449" cy="331279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6" name="그룹 95">
            <a:extLst>
              <a:ext uri="{FF2B5EF4-FFF2-40B4-BE49-F238E27FC236}">
                <a16:creationId xmlns:a16="http://schemas.microsoft.com/office/drawing/2014/main" id="{9A139917-E006-40F7-A7B0-817A48830865}"/>
              </a:ext>
            </a:extLst>
          </p:cNvPr>
          <p:cNvGrpSpPr/>
          <p:nvPr/>
        </p:nvGrpSpPr>
        <p:grpSpPr>
          <a:xfrm>
            <a:off x="7237949" y="2295039"/>
            <a:ext cx="1276948" cy="276999"/>
            <a:chOff x="7222397" y="2564780"/>
            <a:chExt cx="1276948" cy="276999"/>
          </a:xfrm>
        </p:grpSpPr>
        <p:cxnSp>
          <p:nvCxnSpPr>
            <p:cNvPr id="89" name="직선 연결선 88">
              <a:extLst>
                <a:ext uri="{FF2B5EF4-FFF2-40B4-BE49-F238E27FC236}">
                  <a16:creationId xmlns:a16="http://schemas.microsoft.com/office/drawing/2014/main" id="{6BB3EA8A-2863-4FD9-B7E4-5FF3305E45EB}"/>
                </a:ext>
              </a:extLst>
            </p:cNvPr>
            <p:cNvCxnSpPr>
              <a:cxnSpLocks/>
              <a:endCxn id="92" idx="1"/>
            </p:cNvCxnSpPr>
            <p:nvPr/>
          </p:nvCxnSpPr>
          <p:spPr>
            <a:xfrm>
              <a:off x="7222397" y="2703280"/>
              <a:ext cx="220248" cy="0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89540500-3C9D-48AE-AFD4-CCD1A0C2E4DC}"/>
                </a:ext>
              </a:extLst>
            </p:cNvPr>
            <p:cNvSpPr txBox="1"/>
            <p:nvPr/>
          </p:nvSpPr>
          <p:spPr>
            <a:xfrm>
              <a:off x="7442645" y="2564780"/>
              <a:ext cx="105670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b="1"/>
                <a:t>Bind Mount</a:t>
              </a:r>
              <a:endParaRPr lang="ko-KR" altLang="en-US" sz="1200" b="1"/>
            </a:p>
          </p:txBody>
        </p:sp>
      </p:grpSp>
    </p:spTree>
    <p:extLst>
      <p:ext uri="{BB962C8B-B14F-4D97-AF65-F5344CB8AC3E}">
        <p14:creationId xmlns:p14="http://schemas.microsoft.com/office/powerpoint/2010/main" val="26225784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45706</TotalTime>
  <Words>1420</Words>
  <Application>Microsoft Macintosh PowerPoint</Application>
  <PresentationFormat>화면 슬라이드 쇼(16:9)</PresentationFormat>
  <Paragraphs>353</Paragraphs>
  <Slides>14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8" baseType="lpstr">
      <vt:lpstr>맑은 고딕</vt:lpstr>
      <vt:lpstr>Al Bayan Plain</vt:lpstr>
      <vt:lpstr>Arial</vt:lpstr>
      <vt:lpstr>Office 테마</vt:lpstr>
      <vt:lpstr>CUDA Container Stack</vt:lpstr>
      <vt:lpstr>CUDA Container Init</vt:lpstr>
      <vt:lpstr>CUDA Container Init</vt:lpstr>
      <vt:lpstr>PowerPoint 프레젠테이션</vt:lpstr>
      <vt:lpstr>CUDA Container OCI Runtime Spec</vt:lpstr>
      <vt:lpstr>CUDA Container Stack</vt:lpstr>
      <vt:lpstr>CUDA Container OCI Runtime Spec</vt:lpstr>
      <vt:lpstr>CUDA Container Init</vt:lpstr>
      <vt:lpstr>CUDA Container Stack</vt:lpstr>
      <vt:lpstr>CUDA Container OCI Runtime Spec</vt:lpstr>
      <vt:lpstr>CUDA Container Init</vt:lpstr>
      <vt:lpstr>CUDA Container OCI Runtime Spec</vt:lpstr>
      <vt:lpstr>CUDA Container Init</vt:lpstr>
      <vt:lpstr>CUDA Container Stack</vt:lpstr>
    </vt:vector>
  </TitlesOfParts>
  <Company>R&amp;D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Microsoft Corporation</dc:creator>
  <cp:lastModifiedBy>정섭 신</cp:lastModifiedBy>
  <cp:revision>6088</cp:revision>
  <dcterms:created xsi:type="dcterms:W3CDTF">2006-10-05T04:04:58Z</dcterms:created>
  <dcterms:modified xsi:type="dcterms:W3CDTF">2026-03-01T10:33:08Z</dcterms:modified>
</cp:coreProperties>
</file>