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431" r:id="rId2"/>
    <p:sldId id="436" r:id="rId3"/>
    <p:sldId id="434" r:id="rId4"/>
    <p:sldId id="435" r:id="rId5"/>
    <p:sldId id="422" r:id="rId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61" autoAdjust="0"/>
    <p:restoredTop sz="87360" autoAdjust="0"/>
  </p:normalViewPr>
  <p:slideViewPr>
    <p:cSldViewPr>
      <p:cViewPr>
        <p:scale>
          <a:sx n="200" d="100"/>
          <a:sy n="200" d="100"/>
        </p:scale>
        <p:origin x="1224" y="112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45543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2026. 2. 28.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2FD20FDA-A726-6111-1F48-1BF893C3637F}"/>
              </a:ext>
            </a:extLst>
          </p:cNvPr>
          <p:cNvSpPr/>
          <p:nvPr/>
        </p:nvSpPr>
        <p:spPr>
          <a:xfrm flipH="1">
            <a:off x="1187624" y="2715766"/>
            <a:ext cx="5794527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t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3D60D388-233D-1AA2-E811-051E720F3968}"/>
              </a:ext>
            </a:extLst>
          </p:cNvPr>
          <p:cNvGrpSpPr/>
          <p:nvPr/>
        </p:nvGrpSpPr>
        <p:grpSpPr>
          <a:xfrm flipH="1">
            <a:off x="1852107" y="4031119"/>
            <a:ext cx="1463038" cy="605106"/>
            <a:chOff x="4854687" y="4196486"/>
            <a:chExt cx="1463038" cy="702501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9C88CC54-2142-7874-3021-51DDDB8BEC24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433E3234-1F7D-3F9F-17BA-ABD8DD33A884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62520089-E71E-CD7A-1B8B-1019109CEF36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7CBA6587-13E2-9ADD-7890-3502C479E962}"/>
              </a:ext>
            </a:extLst>
          </p:cNvPr>
          <p:cNvSpPr/>
          <p:nvPr/>
        </p:nvSpPr>
        <p:spPr>
          <a:xfrm flipH="1">
            <a:off x="1852107" y="3057559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8558285C-F719-14C5-57E3-AB0DEBC8A263}"/>
              </a:ext>
            </a:extLst>
          </p:cNvPr>
          <p:cNvSpPr/>
          <p:nvPr/>
        </p:nvSpPr>
        <p:spPr>
          <a:xfrm flipH="1">
            <a:off x="4914198" y="3057559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07FD465-DCD6-5DFB-37E1-D6F6C809D2AA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2629005" y="3518844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D17D82C2-0AE5-79E0-678D-2D4BE77E0E27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5" y="3518844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5B56CD6A-3DBB-CADC-3D2E-6F5F609933FB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30" y="3518844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770D2D1-C9B1-A73F-C73E-83CF486C4DD2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3" y="3518844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88BEDEE9-3E34-84B4-AADB-72A368C77D7D}"/>
              </a:ext>
            </a:extLst>
          </p:cNvPr>
          <p:cNvCxnSpPr>
            <a:cxnSpLocks/>
          </p:cNvCxnSpPr>
          <p:nvPr/>
        </p:nvCxnSpPr>
        <p:spPr>
          <a:xfrm>
            <a:off x="3405903" y="3180670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612D680-25F7-28AD-C551-7D5963D60AF7}"/>
              </a:ext>
            </a:extLst>
          </p:cNvPr>
          <p:cNvSpPr txBox="1"/>
          <p:nvPr/>
        </p:nvSpPr>
        <p:spPr>
          <a:xfrm flipH="1">
            <a:off x="1243607" y="3612567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F9EED-B5A6-C870-261D-B7427A11370B}"/>
              </a:ext>
            </a:extLst>
          </p:cNvPr>
          <p:cNvSpPr txBox="1"/>
          <p:nvPr/>
        </p:nvSpPr>
        <p:spPr>
          <a:xfrm flipH="1">
            <a:off x="1971113" y="2811338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D0C3D-C804-C81D-4ECD-0ABF3CE642C7}"/>
              </a:ext>
            </a:extLst>
          </p:cNvPr>
          <p:cNvSpPr txBox="1"/>
          <p:nvPr/>
        </p:nvSpPr>
        <p:spPr>
          <a:xfrm flipH="1">
            <a:off x="3582809" y="2934448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55ABB838-183D-55FD-9F29-E1CF706FCC26}"/>
              </a:ext>
            </a:extLst>
          </p:cNvPr>
          <p:cNvCxnSpPr>
            <a:cxnSpLocks/>
          </p:cNvCxnSpPr>
          <p:nvPr/>
        </p:nvCxnSpPr>
        <p:spPr>
          <a:xfrm>
            <a:off x="3405903" y="3363838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956E2F7E-CD68-56E8-5828-62B45AAD5499}"/>
              </a:ext>
            </a:extLst>
          </p:cNvPr>
          <p:cNvSpPr txBox="1"/>
          <p:nvPr/>
        </p:nvSpPr>
        <p:spPr>
          <a:xfrm flipH="1">
            <a:off x="3149532" y="3366346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DACC4DB1-BEDF-3EC0-4B8B-1564E28355E3}"/>
              </a:ext>
            </a:extLst>
          </p:cNvPr>
          <p:cNvSpPr/>
          <p:nvPr/>
        </p:nvSpPr>
        <p:spPr>
          <a:xfrm flipH="1">
            <a:off x="4914198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B0000FF-CE53-E139-D5B1-C511CF0005F5}"/>
              </a:ext>
            </a:extLst>
          </p:cNvPr>
          <p:cNvCxnSpPr>
            <a:cxnSpLocks/>
          </p:cNvCxnSpPr>
          <p:nvPr/>
        </p:nvCxnSpPr>
        <p:spPr>
          <a:xfrm flipV="1">
            <a:off x="5320320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A0FA7063-21A8-B090-3BA7-398631BF9F24}"/>
              </a:ext>
            </a:extLst>
          </p:cNvPr>
          <p:cNvSpPr txBox="1"/>
          <p:nvPr/>
        </p:nvSpPr>
        <p:spPr>
          <a:xfrm flipH="1">
            <a:off x="4042026" y="1266269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28620520-CB3D-852D-421B-F758E359A284}"/>
              </a:ext>
            </a:extLst>
          </p:cNvPr>
          <p:cNvSpPr/>
          <p:nvPr/>
        </p:nvSpPr>
        <p:spPr>
          <a:xfrm flipH="1">
            <a:off x="3719564" y="802308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9C7311C7-A133-127F-9CE9-667C3E1EA9FB}"/>
              </a:ext>
            </a:extLst>
          </p:cNvPr>
          <p:cNvSpPr/>
          <p:nvPr/>
        </p:nvSpPr>
        <p:spPr>
          <a:xfrm flipH="1">
            <a:off x="1187625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1368EB9-BB8A-73D8-BE27-7FA1CEB3A9AD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7" y="368184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38F4DD15-3E6D-A800-7440-AC035A9337C4}"/>
              </a:ext>
            </a:extLst>
          </p:cNvPr>
          <p:cNvSpPr txBox="1"/>
          <p:nvPr/>
        </p:nvSpPr>
        <p:spPr>
          <a:xfrm>
            <a:off x="2304962" y="367545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2CD83D61-6960-D415-17A8-E4E301387BAD}"/>
              </a:ext>
            </a:extLst>
          </p:cNvPr>
          <p:cNvSpPr/>
          <p:nvPr/>
        </p:nvSpPr>
        <p:spPr>
          <a:xfrm flipH="1">
            <a:off x="2190150" y="2138514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BB37803-970E-CACE-841F-F6DDD0C096BB}"/>
              </a:ext>
            </a:extLst>
          </p:cNvPr>
          <p:cNvCxnSpPr>
            <a:cxnSpLocks/>
          </p:cNvCxnSpPr>
          <p:nvPr/>
        </p:nvCxnSpPr>
        <p:spPr>
          <a:xfrm flipV="1">
            <a:off x="5580113" y="598826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7">
            <a:extLst>
              <a:ext uri="{FF2B5EF4-FFF2-40B4-BE49-F238E27FC236}">
                <a16:creationId xmlns:a16="http://schemas.microsoft.com/office/drawing/2014/main" id="{35117287-6E11-2183-DDB7-0C7AA2053C80}"/>
              </a:ext>
            </a:extLst>
          </p:cNvPr>
          <p:cNvSpPr/>
          <p:nvPr/>
        </p:nvSpPr>
        <p:spPr>
          <a:xfrm flipH="1">
            <a:off x="6903737" y="137541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Scheduler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2268511-A885-0F7C-5507-D9F0C555654C}"/>
              </a:ext>
            </a:extLst>
          </p:cNvPr>
          <p:cNvCxnSpPr>
            <a:cxnSpLocks/>
            <a:stCxn id="77" idx="3"/>
            <a:endCxn id="43" idx="1"/>
          </p:cNvCxnSpPr>
          <p:nvPr/>
        </p:nvCxnSpPr>
        <p:spPr>
          <a:xfrm flipH="1">
            <a:off x="5922310" y="368184"/>
            <a:ext cx="98142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71">
            <a:extLst>
              <a:ext uri="{FF2B5EF4-FFF2-40B4-BE49-F238E27FC236}">
                <a16:creationId xmlns:a16="http://schemas.microsoft.com/office/drawing/2014/main" id="{983FF275-AB1C-5C79-A728-DCD8666000FD}"/>
              </a:ext>
            </a:extLst>
          </p:cNvPr>
          <p:cNvSpPr/>
          <p:nvPr/>
        </p:nvSpPr>
        <p:spPr>
          <a:xfrm flipH="1">
            <a:off x="5843894" y="482830"/>
            <a:ext cx="113825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7. Get created pod info and </a:t>
            </a:r>
          </a:p>
          <a:p>
            <a:pPr algn="ctr"/>
            <a:r>
              <a:rPr lang="en-US" altLang="ko-KR" sz="1000" i="1"/>
              <a:t>scheduling</a:t>
            </a:r>
            <a:endParaRPr lang="ko-KR" altLang="en-US" sz="1000" i="1"/>
          </a:p>
        </p:txBody>
      </p:sp>
      <p:sp>
        <p:nvSpPr>
          <p:cNvPr id="88" name="사각형: 둥근 모서리 71">
            <a:extLst>
              <a:ext uri="{FF2B5EF4-FFF2-40B4-BE49-F238E27FC236}">
                <a16:creationId xmlns:a16="http://schemas.microsoft.com/office/drawing/2014/main" id="{EB764BDA-9302-5D4B-81BC-81B547B95512}"/>
              </a:ext>
            </a:extLst>
          </p:cNvPr>
          <p:cNvSpPr/>
          <p:nvPr/>
        </p:nvSpPr>
        <p:spPr>
          <a:xfrm flipH="1">
            <a:off x="5333707" y="1599298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8. Get scheduled pod</a:t>
            </a:r>
            <a:endParaRPr lang="ko-KR" altLang="en-US" sz="1000" i="1"/>
          </a:p>
        </p:txBody>
      </p:sp>
      <p:sp>
        <p:nvSpPr>
          <p:cNvPr id="92" name="Rounded Rectangle 17">
            <a:extLst>
              <a:ext uri="{FF2B5EF4-FFF2-40B4-BE49-F238E27FC236}">
                <a16:creationId xmlns:a16="http://schemas.microsoft.com/office/drawing/2014/main" id="{44983ACF-45FE-B652-8DE9-063213F2BBCC}"/>
              </a:ext>
            </a:extLst>
          </p:cNvPr>
          <p:cNvSpPr/>
          <p:nvPr/>
        </p:nvSpPr>
        <p:spPr>
          <a:xfrm flipH="1">
            <a:off x="4914198" y="418533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Pod with GPU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38C51E93-DE07-05D0-AFEB-88B39DC4341B}"/>
              </a:ext>
            </a:extLst>
          </p:cNvPr>
          <p:cNvCxnSpPr>
            <a:cxnSpLocks/>
            <a:stCxn id="8" idx="2"/>
            <a:endCxn id="92" idx="0"/>
          </p:cNvCxnSpPr>
          <p:nvPr/>
        </p:nvCxnSpPr>
        <p:spPr>
          <a:xfrm>
            <a:off x="5418254" y="3518844"/>
            <a:ext cx="0" cy="6664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사각형: 둥근 모서리 71">
            <a:extLst>
              <a:ext uri="{FF2B5EF4-FFF2-40B4-BE49-F238E27FC236}">
                <a16:creationId xmlns:a16="http://schemas.microsoft.com/office/drawing/2014/main" id="{4EEF7D4D-2C23-621B-ADC7-C2D579FCA302}"/>
              </a:ext>
            </a:extLst>
          </p:cNvPr>
          <p:cNvSpPr/>
          <p:nvPr/>
        </p:nvSpPr>
        <p:spPr>
          <a:xfrm flipH="1">
            <a:off x="5208915" y="3678156"/>
            <a:ext cx="1928787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9. Create pod with GPU</a:t>
            </a:r>
            <a:endParaRPr lang="ko-KR" altLang="en-US" sz="1000" i="1"/>
          </a:p>
        </p:txBody>
      </p:sp>
      <p:cxnSp>
        <p:nvCxnSpPr>
          <p:cNvPr id="98" name="직선 화살표 연결선 97">
            <a:extLst>
              <a:ext uri="{FF2B5EF4-FFF2-40B4-BE49-F238E27FC236}">
                <a16:creationId xmlns:a16="http://schemas.microsoft.com/office/drawing/2014/main" id="{93B7A83F-2951-ACBE-50BB-BD2447EE1EF0}"/>
              </a:ext>
            </a:extLst>
          </p:cNvPr>
          <p:cNvCxnSpPr>
            <a:cxnSpLocks/>
            <a:stCxn id="92" idx="3"/>
          </p:cNvCxnSpPr>
          <p:nvPr/>
        </p:nvCxnSpPr>
        <p:spPr>
          <a:xfrm flipH="1">
            <a:off x="3405903" y="4415975"/>
            <a:ext cx="1508295" cy="6712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69450F2C-FF4C-0797-1836-7E1A9B2EC6FF}"/>
              </a:ext>
            </a:extLst>
          </p:cNvPr>
          <p:cNvCxnSpPr>
            <a:cxnSpLocks/>
            <a:stCxn id="92" idx="3"/>
          </p:cNvCxnSpPr>
          <p:nvPr/>
        </p:nvCxnSpPr>
        <p:spPr>
          <a:xfrm flipH="1" flipV="1">
            <a:off x="3312154" y="4405582"/>
            <a:ext cx="1602044" cy="10393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7">
            <a:extLst>
              <a:ext uri="{FF2B5EF4-FFF2-40B4-BE49-F238E27FC236}">
                <a16:creationId xmlns:a16="http://schemas.microsoft.com/office/drawing/2014/main" id="{3CCE009E-337E-351D-BE95-4A1AAB866927}"/>
              </a:ext>
            </a:extLst>
          </p:cNvPr>
          <p:cNvSpPr/>
          <p:nvPr/>
        </p:nvSpPr>
        <p:spPr>
          <a:xfrm flipH="1">
            <a:off x="2121390" y="4252458"/>
            <a:ext cx="1284513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GPUs</a:t>
            </a:r>
          </a:p>
        </p:txBody>
      </p:sp>
    </p:spTree>
    <p:extLst>
      <p:ext uri="{BB962C8B-B14F-4D97-AF65-F5344CB8AC3E}">
        <p14:creationId xmlns:p14="http://schemas.microsoft.com/office/powerpoint/2010/main" val="7231302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0DA45-FFE6-20D2-57EF-B9DC7121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EFE877C4-66CF-A466-BBDA-C110A5F992AE}"/>
              </a:ext>
            </a:extLst>
          </p:cNvPr>
          <p:cNvSpPr/>
          <p:nvPr/>
        </p:nvSpPr>
        <p:spPr>
          <a:xfrm>
            <a:off x="4452121" y="843557"/>
            <a:ext cx="1665290" cy="1709575"/>
          </a:xfrm>
          <a:prstGeom prst="roundRect">
            <a:avLst>
              <a:gd name="adj" fmla="val 391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8" name="사각형: 둥근 모서리 114">
            <a:extLst>
              <a:ext uri="{FF2B5EF4-FFF2-40B4-BE49-F238E27FC236}">
                <a16:creationId xmlns:a16="http://schemas.microsoft.com/office/drawing/2014/main" id="{990BBAE9-CBD1-9942-AE8D-DC8358E04673}"/>
              </a:ext>
            </a:extLst>
          </p:cNvPr>
          <p:cNvSpPr/>
          <p:nvPr/>
        </p:nvSpPr>
        <p:spPr>
          <a:xfrm>
            <a:off x="79063" y="843557"/>
            <a:ext cx="4092354" cy="1709575"/>
          </a:xfrm>
          <a:prstGeom prst="roundRect">
            <a:avLst>
              <a:gd name="adj" fmla="val 428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Pod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" name="사각형: 둥근 모서리 114">
            <a:extLst>
              <a:ext uri="{FF2B5EF4-FFF2-40B4-BE49-F238E27FC236}">
                <a16:creationId xmlns:a16="http://schemas.microsoft.com/office/drawing/2014/main" id="{B0160E73-56A0-D29E-F984-848864432BD9}"/>
              </a:ext>
            </a:extLst>
          </p:cNvPr>
          <p:cNvSpPr/>
          <p:nvPr/>
        </p:nvSpPr>
        <p:spPr>
          <a:xfrm>
            <a:off x="84225" y="3507854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Hardware</a:t>
            </a:r>
            <a:endParaRPr lang="en-US" altLang="ko-KR" sz="1000" b="1" dirty="0"/>
          </a:p>
        </p:txBody>
      </p:sp>
      <p:sp>
        <p:nvSpPr>
          <p:cNvPr id="3" name="사각형: 둥근 모서리 114">
            <a:extLst>
              <a:ext uri="{FF2B5EF4-FFF2-40B4-BE49-F238E27FC236}">
                <a16:creationId xmlns:a16="http://schemas.microsoft.com/office/drawing/2014/main" id="{19B8C55D-9759-1216-90A7-4060BD798FB4}"/>
              </a:ext>
            </a:extLst>
          </p:cNvPr>
          <p:cNvSpPr/>
          <p:nvPr/>
        </p:nvSpPr>
        <p:spPr>
          <a:xfrm>
            <a:off x="79063" y="2659010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b="1"/>
              <a:t>Host Kernel</a:t>
            </a:r>
            <a:endParaRPr lang="en-US" altLang="ko-KR" sz="1000" b="1" dirty="0"/>
          </a:p>
        </p:txBody>
      </p:sp>
      <p:sp>
        <p:nvSpPr>
          <p:cNvPr id="4" name="사각형: 둥근 모서리 114">
            <a:extLst>
              <a:ext uri="{FF2B5EF4-FFF2-40B4-BE49-F238E27FC236}">
                <a16:creationId xmlns:a16="http://schemas.microsoft.com/office/drawing/2014/main" id="{7428988E-C06C-5498-D7AC-C92B54858738}"/>
              </a:ext>
            </a:extLst>
          </p:cNvPr>
          <p:cNvSpPr/>
          <p:nvPr/>
        </p:nvSpPr>
        <p:spPr>
          <a:xfrm>
            <a:off x="672185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0</a:t>
            </a:r>
            <a:endParaRPr lang="en-US" altLang="ko-KR" sz="1000" dirty="0"/>
          </a:p>
        </p:txBody>
      </p:sp>
      <p:sp>
        <p:nvSpPr>
          <p:cNvPr id="5" name="사각형: 둥근 모서리 114">
            <a:extLst>
              <a:ext uri="{FF2B5EF4-FFF2-40B4-BE49-F238E27FC236}">
                <a16:creationId xmlns:a16="http://schemas.microsoft.com/office/drawing/2014/main" id="{28A41BF5-6288-F66D-6B18-A1C27C57BCD2}"/>
              </a:ext>
            </a:extLst>
          </p:cNvPr>
          <p:cNvSpPr/>
          <p:nvPr/>
        </p:nvSpPr>
        <p:spPr>
          <a:xfrm>
            <a:off x="1932164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1</a:t>
            </a:r>
            <a:endParaRPr lang="en-US" altLang="ko-KR" sz="1000" dirty="0"/>
          </a:p>
        </p:txBody>
      </p:sp>
      <p:sp>
        <p:nvSpPr>
          <p:cNvPr id="6" name="사각형: 둥근 모서리 114">
            <a:extLst>
              <a:ext uri="{FF2B5EF4-FFF2-40B4-BE49-F238E27FC236}">
                <a16:creationId xmlns:a16="http://schemas.microsoft.com/office/drawing/2014/main" id="{AB117318-4CD7-BD97-5351-1F6F61156CD5}"/>
              </a:ext>
            </a:extLst>
          </p:cNvPr>
          <p:cNvSpPr/>
          <p:nvPr/>
        </p:nvSpPr>
        <p:spPr>
          <a:xfrm>
            <a:off x="3192142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2</a:t>
            </a:r>
            <a:endParaRPr lang="en-US" altLang="ko-KR" sz="1000" dirty="0"/>
          </a:p>
        </p:txBody>
      </p:sp>
      <p:sp>
        <p:nvSpPr>
          <p:cNvPr id="7" name="사각형: 둥근 모서리 114">
            <a:extLst>
              <a:ext uri="{FF2B5EF4-FFF2-40B4-BE49-F238E27FC236}">
                <a16:creationId xmlns:a16="http://schemas.microsoft.com/office/drawing/2014/main" id="{C21EA64B-D360-1D11-4ECB-24E796346C00}"/>
              </a:ext>
            </a:extLst>
          </p:cNvPr>
          <p:cNvSpPr/>
          <p:nvPr/>
        </p:nvSpPr>
        <p:spPr>
          <a:xfrm>
            <a:off x="4452121" y="3620023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</a:t>
            </a:r>
          </a:p>
          <a:p>
            <a:pPr algn="ctr"/>
            <a:r>
              <a:rPr lang="en-US" altLang="ko-KR" sz="1000"/>
              <a:t>GPU 3</a:t>
            </a:r>
            <a:endParaRPr lang="en-US" altLang="ko-KR" sz="1000" dirty="0"/>
          </a:p>
        </p:txBody>
      </p:sp>
      <p:sp>
        <p:nvSpPr>
          <p:cNvPr id="8" name="사각형: 둥근 모서리 114">
            <a:extLst>
              <a:ext uri="{FF2B5EF4-FFF2-40B4-BE49-F238E27FC236}">
                <a16:creationId xmlns:a16="http://schemas.microsoft.com/office/drawing/2014/main" id="{065A5E74-B440-BA3F-5A07-8CDCDFF2E427}"/>
              </a:ext>
            </a:extLst>
          </p:cNvPr>
          <p:cNvSpPr/>
          <p:nvPr/>
        </p:nvSpPr>
        <p:spPr>
          <a:xfrm>
            <a:off x="186295" y="1209261"/>
            <a:ext cx="1276737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A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9" name="사각형: 둥근 모서리 114">
            <a:extLst>
              <a:ext uri="{FF2B5EF4-FFF2-40B4-BE49-F238E27FC236}">
                <a16:creationId xmlns:a16="http://schemas.microsoft.com/office/drawing/2014/main" id="{769415EB-0A2D-50D7-44F6-1F81A018E10C}"/>
              </a:ext>
            </a:extLst>
          </p:cNvPr>
          <p:cNvSpPr/>
          <p:nvPr/>
        </p:nvSpPr>
        <p:spPr>
          <a:xfrm>
            <a:off x="274029" y="1991019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/dev/nvidia0</a:t>
            </a:r>
            <a:endParaRPr lang="en-US" altLang="ko-KR" sz="1000" dirty="0"/>
          </a:p>
        </p:txBody>
      </p:sp>
      <p:sp>
        <p:nvSpPr>
          <p:cNvPr id="11" name="사각형: 둥근 모서리 114">
            <a:extLst>
              <a:ext uri="{FF2B5EF4-FFF2-40B4-BE49-F238E27FC236}">
                <a16:creationId xmlns:a16="http://schemas.microsoft.com/office/drawing/2014/main" id="{A5B1B74D-0B82-73B1-5F00-44CC5F744F4A}"/>
              </a:ext>
            </a:extLst>
          </p:cNvPr>
          <p:cNvSpPr/>
          <p:nvPr/>
        </p:nvSpPr>
        <p:spPr>
          <a:xfrm>
            <a:off x="274029" y="1504965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3" name="사각형: 둥근 모서리 114">
            <a:extLst>
              <a:ext uri="{FF2B5EF4-FFF2-40B4-BE49-F238E27FC236}">
                <a16:creationId xmlns:a16="http://schemas.microsoft.com/office/drawing/2014/main" id="{F1F3EEC6-6CC4-CE00-13AC-F53EED26A83F}"/>
              </a:ext>
            </a:extLst>
          </p:cNvPr>
          <p:cNvSpPr/>
          <p:nvPr/>
        </p:nvSpPr>
        <p:spPr>
          <a:xfrm>
            <a:off x="1598372" y="1203598"/>
            <a:ext cx="2474164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B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EAB6A47-5F20-094B-0D4A-E766A80A2A60}"/>
              </a:ext>
            </a:extLst>
          </p:cNvPr>
          <p:cNvSpPr/>
          <p:nvPr/>
        </p:nvSpPr>
        <p:spPr>
          <a:xfrm>
            <a:off x="1686106" y="1985356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/dev/nvdia0</a:t>
            </a:r>
            <a:endParaRPr lang="en-US" altLang="ko-KR" sz="100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7201475F-A4A4-46B2-84B6-A45CE1664B47}"/>
              </a:ext>
            </a:extLst>
          </p:cNvPr>
          <p:cNvSpPr/>
          <p:nvPr/>
        </p:nvSpPr>
        <p:spPr>
          <a:xfrm>
            <a:off x="2887706" y="1985356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/dev/nvdia2</a:t>
            </a:r>
            <a:endParaRPr lang="en-US" altLang="ko-KR" sz="100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1B3E5041-0778-66C8-1F90-7570D9731483}"/>
              </a:ext>
            </a:extLst>
          </p:cNvPr>
          <p:cNvSpPr/>
          <p:nvPr/>
        </p:nvSpPr>
        <p:spPr>
          <a:xfrm>
            <a:off x="1686107" y="1499302"/>
            <a:ext cx="23014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sp>
        <p:nvSpPr>
          <p:cNvPr id="18" name="사각형: 둥근 모서리 114">
            <a:extLst>
              <a:ext uri="{FF2B5EF4-FFF2-40B4-BE49-F238E27FC236}">
                <a16:creationId xmlns:a16="http://schemas.microsoft.com/office/drawing/2014/main" id="{28995F5A-7DC0-2507-432E-914678470451}"/>
              </a:ext>
            </a:extLst>
          </p:cNvPr>
          <p:cNvSpPr/>
          <p:nvPr/>
        </p:nvSpPr>
        <p:spPr>
          <a:xfrm>
            <a:off x="4537508" y="1203598"/>
            <a:ext cx="1487816" cy="1265622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b="1"/>
              <a:t>Container C</a:t>
            </a:r>
            <a:endParaRPr lang="ko-KR" altLang="en-US" sz="1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9" name="사각형: 둥근 모서리 114">
            <a:extLst>
              <a:ext uri="{FF2B5EF4-FFF2-40B4-BE49-F238E27FC236}">
                <a16:creationId xmlns:a16="http://schemas.microsoft.com/office/drawing/2014/main" id="{16CFA239-2511-9D27-E71A-172A3FA07324}"/>
              </a:ext>
            </a:extLst>
          </p:cNvPr>
          <p:cNvSpPr/>
          <p:nvPr/>
        </p:nvSpPr>
        <p:spPr>
          <a:xfrm>
            <a:off x="4617695" y="1985356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20" name="사각형: 둥근 모서리 114">
            <a:extLst>
              <a:ext uri="{FF2B5EF4-FFF2-40B4-BE49-F238E27FC236}">
                <a16:creationId xmlns:a16="http://schemas.microsoft.com/office/drawing/2014/main" id="{D5E1B1C4-5B6E-85F7-FDAB-04642D4057A6}"/>
              </a:ext>
            </a:extLst>
          </p:cNvPr>
          <p:cNvSpPr/>
          <p:nvPr/>
        </p:nvSpPr>
        <p:spPr>
          <a:xfrm>
            <a:off x="4617695" y="1499302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21" name="직선 연결선 17">
            <a:extLst>
              <a:ext uri="{FF2B5EF4-FFF2-40B4-BE49-F238E27FC236}">
                <a16:creationId xmlns:a16="http://schemas.microsoft.com/office/drawing/2014/main" id="{BBE57953-324C-8070-7D38-3BAD3665DB8C}"/>
              </a:ext>
            </a:extLst>
          </p:cNvPr>
          <p:cNvCxnSpPr>
            <a:cxnSpLocks/>
            <a:stCxn id="9" idx="2"/>
            <a:endCxn id="4" idx="0"/>
          </p:cNvCxnSpPr>
          <p:nvPr/>
        </p:nvCxnSpPr>
        <p:spPr>
          <a:xfrm>
            <a:off x="824029" y="2387063"/>
            <a:ext cx="386822" cy="12329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0">
            <a:extLst>
              <a:ext uri="{FF2B5EF4-FFF2-40B4-BE49-F238E27FC236}">
                <a16:creationId xmlns:a16="http://schemas.microsoft.com/office/drawing/2014/main" id="{22C12797-54A8-2874-270D-D393650E397D}"/>
              </a:ext>
            </a:extLst>
          </p:cNvPr>
          <p:cNvCxnSpPr>
            <a:cxnSpLocks/>
            <a:stCxn id="14" idx="2"/>
            <a:endCxn id="5" idx="0"/>
          </p:cNvCxnSpPr>
          <p:nvPr/>
        </p:nvCxnSpPr>
        <p:spPr>
          <a:xfrm>
            <a:off x="2236106" y="2381400"/>
            <a:ext cx="234724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17">
            <a:extLst>
              <a:ext uri="{FF2B5EF4-FFF2-40B4-BE49-F238E27FC236}">
                <a16:creationId xmlns:a16="http://schemas.microsoft.com/office/drawing/2014/main" id="{2945351D-D086-4FB4-4382-C9127B2ED274}"/>
              </a:ext>
            </a:extLst>
          </p:cNvPr>
          <p:cNvCxnSpPr>
            <a:cxnSpLocks/>
            <a:stCxn id="15" idx="2"/>
            <a:endCxn id="6" idx="0"/>
          </p:cNvCxnSpPr>
          <p:nvPr/>
        </p:nvCxnSpPr>
        <p:spPr>
          <a:xfrm>
            <a:off x="3437640" y="2381400"/>
            <a:ext cx="29316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6">
            <a:extLst>
              <a:ext uri="{FF2B5EF4-FFF2-40B4-BE49-F238E27FC236}">
                <a16:creationId xmlns:a16="http://schemas.microsoft.com/office/drawing/2014/main" id="{A6841772-5FAC-52D2-D93A-BF3E1BF471DF}"/>
              </a:ext>
            </a:extLst>
          </p:cNvPr>
          <p:cNvCxnSpPr>
            <a:cxnSpLocks/>
            <a:stCxn id="19" idx="2"/>
            <a:endCxn id="7" idx="0"/>
          </p:cNvCxnSpPr>
          <p:nvPr/>
        </p:nvCxnSpPr>
        <p:spPr>
          <a:xfrm flipH="1">
            <a:off x="4990787" y="2381400"/>
            <a:ext cx="287808" cy="123862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사각형: 둥근 모서리 114">
            <a:extLst>
              <a:ext uri="{FF2B5EF4-FFF2-40B4-BE49-F238E27FC236}">
                <a16:creationId xmlns:a16="http://schemas.microsoft.com/office/drawing/2014/main" id="{87AAA4FF-5355-0B8E-2C4A-7B3DEB8558AB}"/>
              </a:ext>
            </a:extLst>
          </p:cNvPr>
          <p:cNvSpPr/>
          <p:nvPr/>
        </p:nvSpPr>
        <p:spPr>
          <a:xfrm>
            <a:off x="218562" y="2791931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GPU Device Driver</a:t>
            </a:r>
            <a:endParaRPr lang="en-US" altLang="ko-KR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7DAA5F-A54B-025A-21E9-FA0AC9BF51AF}"/>
              </a:ext>
            </a:extLst>
          </p:cNvPr>
          <p:cNvSpPr txBox="1"/>
          <p:nvPr/>
        </p:nvSpPr>
        <p:spPr>
          <a:xfrm>
            <a:off x="7965348" y="483518"/>
            <a:ext cx="1665155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PodB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070C16E-B348-642F-E3BF-7E2C0BD51AB8}"/>
              </a:ext>
            </a:extLst>
          </p:cNvPr>
          <p:cNvSpPr txBox="1"/>
          <p:nvPr/>
        </p:nvSpPr>
        <p:spPr>
          <a:xfrm>
            <a:off x="6300058" y="483518"/>
            <a:ext cx="1665290" cy="260071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ContainerA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1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- name: ContainerB</a:t>
            </a:r>
          </a:p>
          <a:p>
            <a:r>
              <a:rPr lang="en-US" altLang="ko-KR" sz="900" kern="0" dirty="0">
                <a:cs typeface="Al Bayan Plain" pitchFamily="2" charset="-78"/>
              </a:rPr>
              <a:t>       resources: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</p:spTree>
    <p:extLst>
      <p:ext uri="{BB962C8B-B14F-4D97-AF65-F5344CB8AC3E}">
        <p14:creationId xmlns:p14="http://schemas.microsoft.com/office/powerpoint/2010/main" val="2011655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29654-FCDE-BE44-D146-40F0538E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86349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42F791-B7D2-6E11-3F70-CAEEEDD30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ounded Rectangle 17">
            <a:extLst>
              <a:ext uri="{FF2B5EF4-FFF2-40B4-BE49-F238E27FC236}">
                <a16:creationId xmlns:a16="http://schemas.microsoft.com/office/drawing/2014/main" id="{10F2B23F-9AEF-2C88-E9B9-9945188B25B3}"/>
              </a:ext>
            </a:extLst>
          </p:cNvPr>
          <p:cNvSpPr/>
          <p:nvPr/>
        </p:nvSpPr>
        <p:spPr>
          <a:xfrm flipH="1">
            <a:off x="1187624" y="2845719"/>
            <a:ext cx="4857803" cy="2160240"/>
          </a:xfrm>
          <a:prstGeom prst="roundRect">
            <a:avLst>
              <a:gd name="adj" fmla="val 5713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b"/>
          <a:lstStyle/>
          <a:p>
            <a:pPr algn="r"/>
            <a:r>
              <a:rPr lang="en-US" sz="1000" dirty="0">
                <a:solidFill>
                  <a:schemeClr val="tx1"/>
                </a:solidFill>
              </a:rPr>
              <a:t>NVIDIA GPU Node</a:t>
            </a:r>
            <a:endParaRPr lang="en-KR" sz="1000" dirty="0">
              <a:solidFill>
                <a:schemeClr val="tx1"/>
              </a:solidFill>
            </a:endParaRPr>
          </a:p>
        </p:txBody>
      </p:sp>
      <p:grpSp>
        <p:nvGrpSpPr>
          <p:cNvPr id="2" name="Group 18">
            <a:extLst>
              <a:ext uri="{FF2B5EF4-FFF2-40B4-BE49-F238E27FC236}">
                <a16:creationId xmlns:a16="http://schemas.microsoft.com/office/drawing/2014/main" id="{85B6B43C-0D2B-C04E-2303-E8F2540CF601}"/>
              </a:ext>
            </a:extLst>
          </p:cNvPr>
          <p:cNvGrpSpPr/>
          <p:nvPr/>
        </p:nvGrpSpPr>
        <p:grpSpPr>
          <a:xfrm flipH="1">
            <a:off x="1852106" y="4161072"/>
            <a:ext cx="1553796" cy="682624"/>
            <a:chOff x="4763929" y="4196486"/>
            <a:chExt cx="1553796" cy="792496"/>
          </a:xfrm>
          <a:solidFill>
            <a:schemeClr val="bg1"/>
          </a:solidFill>
        </p:grpSpPr>
        <p:sp>
          <p:nvSpPr>
            <p:cNvPr id="3" name="Rounded Rectangle 3">
              <a:extLst>
                <a:ext uri="{FF2B5EF4-FFF2-40B4-BE49-F238E27FC236}">
                  <a16:creationId xmlns:a16="http://schemas.microsoft.com/office/drawing/2014/main" id="{27BC3A99-D86C-7B81-95A6-0E6E0832948B}"/>
                </a:ext>
              </a:extLst>
            </p:cNvPr>
            <p:cNvSpPr/>
            <p:nvPr/>
          </p:nvSpPr>
          <p:spPr>
            <a:xfrm>
              <a:off x="5033212" y="419648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4" name="Rounded Rectangle 7">
              <a:extLst>
                <a:ext uri="{FF2B5EF4-FFF2-40B4-BE49-F238E27FC236}">
                  <a16:creationId xmlns:a16="http://schemas.microsoft.com/office/drawing/2014/main" id="{AC71AA69-81B7-EAF1-B2D7-B03FF50AE636}"/>
                </a:ext>
              </a:extLst>
            </p:cNvPr>
            <p:cNvSpPr/>
            <p:nvPr/>
          </p:nvSpPr>
          <p:spPr>
            <a:xfrm>
              <a:off x="4945445" y="427637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5" name="Rounded Rectangle 16">
              <a:extLst>
                <a:ext uri="{FF2B5EF4-FFF2-40B4-BE49-F238E27FC236}">
                  <a16:creationId xmlns:a16="http://schemas.microsoft.com/office/drawing/2014/main" id="{F795EF5C-EBD4-49B6-125C-E55CF988F689}"/>
                </a:ext>
              </a:extLst>
            </p:cNvPr>
            <p:cNvSpPr/>
            <p:nvPr/>
          </p:nvSpPr>
          <p:spPr>
            <a:xfrm>
              <a:off x="4854687" y="4363456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400" dirty="0">
                  <a:solidFill>
                    <a:schemeClr val="tx1"/>
                  </a:solidFill>
                </a:rPr>
                <a:t>NVIDA GPU</a:t>
              </a:r>
            </a:p>
          </p:txBody>
        </p:sp>
        <p:sp>
          <p:nvSpPr>
            <p:cNvPr id="6" name="Rounded Rectangle 17">
              <a:extLst>
                <a:ext uri="{FF2B5EF4-FFF2-40B4-BE49-F238E27FC236}">
                  <a16:creationId xmlns:a16="http://schemas.microsoft.com/office/drawing/2014/main" id="{70B81519-226B-C572-B436-93D80EDAC78E}"/>
                </a:ext>
              </a:extLst>
            </p:cNvPr>
            <p:cNvSpPr/>
            <p:nvPr/>
          </p:nvSpPr>
          <p:spPr>
            <a:xfrm>
              <a:off x="4763929" y="4453451"/>
              <a:ext cx="1284513" cy="535531"/>
            </a:xfrm>
            <a:prstGeom prst="roundRect">
              <a:avLst/>
            </a:prstGeom>
            <a:grpFill/>
            <a:ln w="12700">
              <a:solidFill>
                <a:schemeClr val="tx1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KR" sz="1000" dirty="0">
                  <a:solidFill>
                    <a:schemeClr val="tx1"/>
                  </a:solidFill>
                </a:rPr>
                <a:t>NVIDIA GPUs</a:t>
              </a:r>
            </a:p>
          </p:txBody>
        </p:sp>
      </p:grpSp>
      <p:sp>
        <p:nvSpPr>
          <p:cNvPr id="7" name="Rounded Rectangle 17">
            <a:extLst>
              <a:ext uri="{FF2B5EF4-FFF2-40B4-BE49-F238E27FC236}">
                <a16:creationId xmlns:a16="http://schemas.microsoft.com/office/drawing/2014/main" id="{E993DECE-74A3-6960-C89D-37242CC8FD72}"/>
              </a:ext>
            </a:extLst>
          </p:cNvPr>
          <p:cNvSpPr/>
          <p:nvPr/>
        </p:nvSpPr>
        <p:spPr>
          <a:xfrm flipH="1">
            <a:off x="1852106" y="3187512"/>
            <a:ext cx="1553796" cy="461285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KR" sz="1000" dirty="0">
                <a:solidFill>
                  <a:schemeClr val="tx1"/>
                </a:solidFill>
              </a:rPr>
              <a:t>NVIDIA </a:t>
            </a:r>
            <a:r>
              <a:rPr lang="en-US" sz="1000" dirty="0">
                <a:solidFill>
                  <a:schemeClr val="tx1"/>
                </a:solidFill>
              </a:rPr>
              <a:t>Device Plugin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(DaemonSet Pod)</a:t>
            </a:r>
            <a:endParaRPr lang="en-KR" sz="1000" dirty="0">
              <a:solidFill>
                <a:schemeClr val="tx1"/>
              </a:solidFill>
            </a:endParaRPr>
          </a:p>
        </p:txBody>
      </p:sp>
      <p:sp>
        <p:nvSpPr>
          <p:cNvPr id="8" name="Rounded Rectangle 17">
            <a:extLst>
              <a:ext uri="{FF2B5EF4-FFF2-40B4-BE49-F238E27FC236}">
                <a16:creationId xmlns:a16="http://schemas.microsoft.com/office/drawing/2014/main" id="{CB1A56F0-E0B0-94B0-890B-059040F76C2B}"/>
              </a:ext>
            </a:extLst>
          </p:cNvPr>
          <p:cNvSpPr/>
          <p:nvPr/>
        </p:nvSpPr>
        <p:spPr>
          <a:xfrm flipH="1">
            <a:off x="4914197" y="3187512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kubelet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E5F9DACD-E278-43DB-E041-49E5110C80E5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2629004" y="3648797"/>
            <a:ext cx="134641" cy="73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761AADB4-2E6F-E74E-769A-217109A93683}"/>
              </a:ext>
            </a:extLst>
          </p:cNvPr>
          <p:cNvCxnSpPr>
            <a:cxnSpLocks/>
            <a:stCxn id="7" idx="2"/>
            <a:endCxn id="5" idx="0"/>
          </p:cNvCxnSpPr>
          <p:nvPr/>
        </p:nvCxnSpPr>
        <p:spPr>
          <a:xfrm>
            <a:off x="2629004" y="3648797"/>
            <a:ext cx="43883" cy="6560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21AA32C-FF57-2BA2-742B-38D0344F0F47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 flipH="1">
            <a:off x="2582129" y="3648797"/>
            <a:ext cx="46875" cy="5810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4C8E81CF-AE3B-FF1C-F3E0-B6FD9B99AD73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2494362" y="3648797"/>
            <a:ext cx="134642" cy="5122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F20EECB-6672-E419-CF83-32CA132732BD}"/>
              </a:ext>
            </a:extLst>
          </p:cNvPr>
          <p:cNvCxnSpPr>
            <a:cxnSpLocks/>
          </p:cNvCxnSpPr>
          <p:nvPr/>
        </p:nvCxnSpPr>
        <p:spPr>
          <a:xfrm>
            <a:off x="3405902" y="3310623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3BD2527-7D7B-8BD8-F8B6-EEC33DEE45AB}"/>
              </a:ext>
            </a:extLst>
          </p:cNvPr>
          <p:cNvSpPr txBox="1"/>
          <p:nvPr/>
        </p:nvSpPr>
        <p:spPr>
          <a:xfrm flipH="1">
            <a:off x="1243606" y="3742520"/>
            <a:ext cx="121700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2. Scan &amp; </a:t>
            </a:r>
            <a:br>
              <a:rPr kumimoji="1" lang="en-US" altLang="ko-KR" sz="1000" i="1"/>
            </a:br>
            <a:r>
              <a:rPr kumimoji="1" lang="en-US" altLang="ko-KR" sz="1000" i="1"/>
              <a:t>health check GPU</a:t>
            </a:r>
            <a:endParaRPr kumimoji="1" lang="ko-KR" altLang="en-US" sz="1000" i="1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02EF75-92EA-9B9C-3222-70ED568B484C}"/>
              </a:ext>
            </a:extLst>
          </p:cNvPr>
          <p:cNvSpPr txBox="1"/>
          <p:nvPr/>
        </p:nvSpPr>
        <p:spPr>
          <a:xfrm flipH="1">
            <a:off x="1971112" y="2941291"/>
            <a:ext cx="135966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1000" i="1"/>
              <a:t>1. Start gRPC Server</a:t>
            </a:r>
            <a:endParaRPr kumimoji="1" lang="ko-KR" altLang="en-US" sz="1000" i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B8C4A-728C-A5B7-F884-F22D81C534AE}"/>
              </a:ext>
            </a:extLst>
          </p:cNvPr>
          <p:cNvSpPr txBox="1"/>
          <p:nvPr/>
        </p:nvSpPr>
        <p:spPr>
          <a:xfrm flipH="1">
            <a:off x="3582808" y="3064401"/>
            <a:ext cx="1154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3. Register GPUs</a:t>
            </a:r>
            <a:endParaRPr kumimoji="1" lang="ko-KR" altLang="en-US" sz="1000" i="1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BA4B641C-6DFC-AFC4-E0C6-B1AB1AABB76A}"/>
              </a:ext>
            </a:extLst>
          </p:cNvPr>
          <p:cNvCxnSpPr>
            <a:cxnSpLocks/>
          </p:cNvCxnSpPr>
          <p:nvPr/>
        </p:nvCxnSpPr>
        <p:spPr>
          <a:xfrm>
            <a:off x="3405902" y="3493791"/>
            <a:ext cx="1508295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4B555DE-5AB9-3CF5-44A6-7F90CDDDB744}"/>
              </a:ext>
            </a:extLst>
          </p:cNvPr>
          <p:cNvSpPr txBox="1"/>
          <p:nvPr/>
        </p:nvSpPr>
        <p:spPr>
          <a:xfrm flipH="1">
            <a:off x="3149531" y="3496299"/>
            <a:ext cx="203132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ko-KR" sz="1000" i="1"/>
              <a:t>4. Call ListAndWatch()</a:t>
            </a:r>
          </a:p>
          <a:p>
            <a:pPr algn="ctr"/>
            <a:r>
              <a:rPr kumimoji="1" lang="en-US" altLang="ko-KR" sz="1000" i="1"/>
              <a:t>via gRPC</a:t>
            </a:r>
            <a:br>
              <a:rPr kumimoji="1" lang="en-US" altLang="ko-KR" sz="1000" i="1"/>
            </a:br>
            <a:r>
              <a:rPr kumimoji="1" lang="en-US" altLang="ko-KR" sz="1000" i="1"/>
              <a:t>(/var/lib/kubelet/</a:t>
            </a:r>
            <a:br>
              <a:rPr kumimoji="1" lang="en-US" altLang="ko-KR" sz="1000" i="1"/>
            </a:br>
            <a:r>
              <a:rPr kumimoji="1" lang="en-US" altLang="ko-KR" sz="1000" i="1"/>
              <a:t>device-plugins/nvidia-gpu.sock)</a:t>
            </a:r>
            <a:endParaRPr kumimoji="1" lang="ko-KR" altLang="en-US" sz="1000" i="1"/>
          </a:p>
        </p:txBody>
      </p:sp>
      <p:sp>
        <p:nvSpPr>
          <p:cNvPr id="43" name="Rounded Rectangle 17">
            <a:extLst>
              <a:ext uri="{FF2B5EF4-FFF2-40B4-BE49-F238E27FC236}">
                <a16:creationId xmlns:a16="http://schemas.microsoft.com/office/drawing/2014/main" id="{34C1E1E8-C14F-2CD9-24D1-DB777E3F5DCE}"/>
              </a:ext>
            </a:extLst>
          </p:cNvPr>
          <p:cNvSpPr/>
          <p:nvPr/>
        </p:nvSpPr>
        <p:spPr>
          <a:xfrm flipH="1">
            <a:off x="4914197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K8s API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Server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0D54F16-75F9-3D87-1966-DA926CF208B4}"/>
              </a:ext>
            </a:extLst>
          </p:cNvPr>
          <p:cNvCxnSpPr>
            <a:cxnSpLocks/>
            <a:stCxn id="8" idx="0"/>
            <a:endCxn id="43" idx="2"/>
          </p:cNvCxnSpPr>
          <p:nvPr/>
        </p:nvCxnSpPr>
        <p:spPr>
          <a:xfrm flipV="1">
            <a:off x="5418253" y="728779"/>
            <a:ext cx="0" cy="24587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AE4B9E8-974C-42F7-AECA-8C9CB3CE9D3A}"/>
              </a:ext>
            </a:extLst>
          </p:cNvPr>
          <p:cNvSpPr txBox="1"/>
          <p:nvPr/>
        </p:nvSpPr>
        <p:spPr>
          <a:xfrm flipH="1">
            <a:off x="4139959" y="1396222"/>
            <a:ext cx="1278293" cy="1215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Node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…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status: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allocatable: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capacity:</a:t>
            </a:r>
          </a:p>
          <a:p>
            <a:pPr algn="l"/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     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"4"</a:t>
            </a:r>
          </a:p>
        </p:txBody>
      </p:sp>
      <p:sp>
        <p:nvSpPr>
          <p:cNvPr id="55" name="사각형: 둥근 모서리 71">
            <a:extLst>
              <a:ext uri="{FF2B5EF4-FFF2-40B4-BE49-F238E27FC236}">
                <a16:creationId xmlns:a16="http://schemas.microsoft.com/office/drawing/2014/main" id="{0D0D2218-FF1E-6FF2-C87F-1F429C114352}"/>
              </a:ext>
            </a:extLst>
          </p:cNvPr>
          <p:cNvSpPr/>
          <p:nvPr/>
        </p:nvSpPr>
        <p:spPr>
          <a:xfrm flipH="1">
            <a:off x="3817497" y="932261"/>
            <a:ext cx="1741239" cy="460362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5. Patch node’s allocatable and capacity</a:t>
            </a:r>
          </a:p>
          <a:p>
            <a:pPr algn="ctr"/>
            <a:r>
              <a:rPr lang="en-US" altLang="ko-KR" sz="1000" i="1"/>
              <a:t>with GPU </a:t>
            </a:r>
            <a:endParaRPr lang="ko-KR" altLang="en-US" sz="1000" i="1"/>
          </a:p>
        </p:txBody>
      </p:sp>
      <p:sp>
        <p:nvSpPr>
          <p:cNvPr id="60" name="Rounded Rectangle 17">
            <a:extLst>
              <a:ext uri="{FF2B5EF4-FFF2-40B4-BE49-F238E27FC236}">
                <a16:creationId xmlns:a16="http://schemas.microsoft.com/office/drawing/2014/main" id="{DB22DC89-89BD-60EE-276F-F63F2107C4A1}"/>
              </a:ext>
            </a:extLst>
          </p:cNvPr>
          <p:cNvSpPr/>
          <p:nvPr/>
        </p:nvSpPr>
        <p:spPr>
          <a:xfrm flipH="1">
            <a:off x="1187624" y="267494"/>
            <a:ext cx="1008112" cy="461285"/>
          </a:xfrm>
          <a:prstGeom prst="round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000" dirty="0">
                <a:solidFill>
                  <a:schemeClr val="tx1"/>
                </a:solidFill>
              </a:rPr>
              <a:t>Kubernetes</a:t>
            </a:r>
          </a:p>
          <a:p>
            <a:pPr algn="ctr"/>
            <a:r>
              <a:rPr lang="en-US" sz="1000" dirty="0">
                <a:solidFill>
                  <a:schemeClr val="tx1"/>
                </a:solidFill>
              </a:rPr>
              <a:t>Client</a:t>
            </a:r>
            <a:endParaRPr lang="en-KR" sz="1000" dirty="0">
              <a:solidFill>
                <a:schemeClr val="tx1"/>
              </a:solidFill>
            </a:endParaRPr>
          </a:p>
        </p:txBody>
      </p: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314F79C6-0618-FC4A-D2B6-CFD3971985C1}"/>
              </a:ext>
            </a:extLst>
          </p:cNvPr>
          <p:cNvCxnSpPr>
            <a:cxnSpLocks/>
            <a:stCxn id="60" idx="1"/>
            <a:endCxn id="43" idx="3"/>
          </p:cNvCxnSpPr>
          <p:nvPr/>
        </p:nvCxnSpPr>
        <p:spPr>
          <a:xfrm>
            <a:off x="2195736" y="498137"/>
            <a:ext cx="27184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06CB174C-1DCE-6237-9278-F070013C046C}"/>
              </a:ext>
            </a:extLst>
          </p:cNvPr>
          <p:cNvSpPr txBox="1"/>
          <p:nvPr/>
        </p:nvSpPr>
        <p:spPr>
          <a:xfrm>
            <a:off x="2304961" y="497498"/>
            <a:ext cx="1512536" cy="176971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chemeClr val="tx1"/>
            </a:solidFill>
          </a:ln>
        </p:spPr>
        <p:txBody>
          <a:bodyPr wrap="square" lIns="0" rIns="0" rtlCol="0">
            <a:spAutoFit/>
          </a:bodyPr>
          <a:lstStyle/>
          <a:p>
            <a:pPr algn="l"/>
            <a:r>
              <a:rPr lang="en-US" sz="1000" kern="0" dirty="0" err="1">
                <a:cs typeface="Al Bayan Plain" pitchFamily="2" charset="-78"/>
              </a:rPr>
              <a:t> </a:t>
            </a:r>
            <a:r>
              <a:rPr lang="en-US" sz="900" kern="0" dirty="0" err="1">
                <a:cs typeface="Al Bayan Plain" pitchFamily="2" charset="-78"/>
              </a:rPr>
              <a:t>apiVersion</a:t>
            </a:r>
            <a:r>
              <a:rPr lang="en-US" sz="900" kern="0" dirty="0">
                <a:cs typeface="Al Bayan Plain" pitchFamily="2" charset="-78"/>
              </a:rPr>
              <a:t>: v1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kind: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metadata: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name: pod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spec: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containers: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- name: gpu-app</a:t>
            </a:r>
          </a:p>
          <a:p>
            <a:pPr algn="l"/>
            <a:r>
              <a:rPr lang="en-US" sz="900" kern="0" dirty="0">
                <a:cs typeface="Al Bayan Plain" pitchFamily="2" charset="-78"/>
              </a:rPr>
              <a:t>       resources: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requests:</a:t>
            </a:r>
          </a:p>
          <a:p>
            <a:pPr algn="l"/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limits:</a:t>
            </a:r>
          </a:p>
          <a:p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           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nvidia.com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/</a:t>
            </a:r>
            <a:r>
              <a:rPr lang="en-US" altLang="ko-KR" sz="900" kern="0" dirty="0" err="1">
                <a:solidFill>
                  <a:srgbClr val="C00000"/>
                </a:solidFill>
                <a:cs typeface="Al Bayan Plain" pitchFamily="2" charset="-78"/>
              </a:rPr>
              <a:t>gpu</a:t>
            </a:r>
            <a:r>
              <a:rPr lang="en-US" altLang="ko-KR" sz="900" kern="0" dirty="0">
                <a:solidFill>
                  <a:srgbClr val="C00000"/>
                </a:solidFill>
                <a:cs typeface="Al Bayan Plain" pitchFamily="2" charset="-78"/>
              </a:rPr>
              <a:t>: 2</a:t>
            </a:r>
          </a:p>
        </p:txBody>
      </p:sp>
      <p:sp>
        <p:nvSpPr>
          <p:cNvPr id="70" name="사각형: 둥근 모서리 71">
            <a:extLst>
              <a:ext uri="{FF2B5EF4-FFF2-40B4-BE49-F238E27FC236}">
                <a16:creationId xmlns:a16="http://schemas.microsoft.com/office/drawing/2014/main" id="{3E63D929-28A7-1BEA-CAA7-A1A0061B61A6}"/>
              </a:ext>
            </a:extLst>
          </p:cNvPr>
          <p:cNvSpPr/>
          <p:nvPr/>
        </p:nvSpPr>
        <p:spPr>
          <a:xfrm flipH="1">
            <a:off x="2190149" y="2268467"/>
            <a:ext cx="1741239" cy="262460"/>
          </a:xfrm>
          <a:prstGeom prst="roundRect">
            <a:avLst>
              <a:gd name="adj" fmla="val 19110"/>
            </a:avLst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/>
              <a:t>6. Create pod with GPU </a:t>
            </a:r>
            <a:endParaRPr lang="ko-KR" altLang="en-US" sz="1000" i="1"/>
          </a:p>
        </p:txBody>
      </p:sp>
    </p:spTree>
    <p:extLst>
      <p:ext uri="{BB962C8B-B14F-4D97-AF65-F5344CB8AC3E}">
        <p14:creationId xmlns:p14="http://schemas.microsoft.com/office/powerpoint/2010/main" val="4128312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38443D-5E72-49E2-86AC-581D61C41C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546"/>
            <a:ext cx="9144000" cy="857250"/>
          </a:xfrm>
        </p:spPr>
        <p:txBody>
          <a:bodyPr>
            <a:normAutofit/>
          </a:bodyPr>
          <a:lstStyle/>
          <a:p>
            <a:r>
              <a:rPr lang="en-US" altLang="ko-KR"/>
              <a:t>CUDA Container Stack</a:t>
            </a:r>
            <a:endParaRPr lang="ko-KR" altLang="en-US" dirty="0"/>
          </a:p>
        </p:txBody>
      </p:sp>
      <p:sp>
        <p:nvSpPr>
          <p:cNvPr id="37" name="사각형: 둥근 모서리 114">
            <a:extLst>
              <a:ext uri="{FF2B5EF4-FFF2-40B4-BE49-F238E27FC236}">
                <a16:creationId xmlns:a16="http://schemas.microsoft.com/office/drawing/2014/main" id="{8CC31052-D46C-415C-AC5E-9F519A0CE552}"/>
              </a:ext>
            </a:extLst>
          </p:cNvPr>
          <p:cNvSpPr/>
          <p:nvPr/>
        </p:nvSpPr>
        <p:spPr>
          <a:xfrm>
            <a:off x="1557988" y="3660955"/>
            <a:ext cx="6033186" cy="976265"/>
          </a:xfrm>
          <a:prstGeom prst="roundRect">
            <a:avLst>
              <a:gd name="adj" fmla="val 639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Hardware</a:t>
            </a:r>
            <a:endParaRPr lang="en-US" altLang="ko-KR" sz="1200" b="1" dirty="0"/>
          </a:p>
        </p:txBody>
      </p:sp>
      <p:sp>
        <p:nvSpPr>
          <p:cNvPr id="33" name="사각형: 둥근 모서리 114">
            <a:extLst>
              <a:ext uri="{FF2B5EF4-FFF2-40B4-BE49-F238E27FC236}">
                <a16:creationId xmlns:a16="http://schemas.microsoft.com/office/drawing/2014/main" id="{79F6D168-BB65-4F50-9582-4A29196F3F72}"/>
              </a:ext>
            </a:extLst>
          </p:cNvPr>
          <p:cNvSpPr/>
          <p:nvPr/>
        </p:nvSpPr>
        <p:spPr>
          <a:xfrm>
            <a:off x="1552826" y="2812111"/>
            <a:ext cx="6043510" cy="855136"/>
          </a:xfrm>
          <a:prstGeom prst="roundRect">
            <a:avLst>
              <a:gd name="adj" fmla="val 4167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200" b="1"/>
              <a:t>Host Kernel</a:t>
            </a:r>
            <a:endParaRPr lang="en-US" altLang="ko-KR" sz="1200" b="1" dirty="0"/>
          </a:p>
        </p:txBody>
      </p:sp>
      <p:sp>
        <p:nvSpPr>
          <p:cNvPr id="14" name="사각형: 둥근 모서리 114">
            <a:extLst>
              <a:ext uri="{FF2B5EF4-FFF2-40B4-BE49-F238E27FC236}">
                <a16:creationId xmlns:a16="http://schemas.microsoft.com/office/drawing/2014/main" id="{1A39F0A4-CB41-4000-A6B3-276C8699113E}"/>
              </a:ext>
            </a:extLst>
          </p:cNvPr>
          <p:cNvSpPr/>
          <p:nvPr/>
        </p:nvSpPr>
        <p:spPr>
          <a:xfrm>
            <a:off x="2145948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0</a:t>
            </a:r>
            <a:endParaRPr lang="en-US" altLang="ko-KR" sz="1050" dirty="0"/>
          </a:p>
        </p:txBody>
      </p:sp>
      <p:sp>
        <p:nvSpPr>
          <p:cNvPr id="15" name="사각형: 둥근 모서리 114">
            <a:extLst>
              <a:ext uri="{FF2B5EF4-FFF2-40B4-BE49-F238E27FC236}">
                <a16:creationId xmlns:a16="http://schemas.microsoft.com/office/drawing/2014/main" id="{444230E6-BF6C-47E3-875F-1BF325B264E8}"/>
              </a:ext>
            </a:extLst>
          </p:cNvPr>
          <p:cNvSpPr/>
          <p:nvPr/>
        </p:nvSpPr>
        <p:spPr>
          <a:xfrm>
            <a:off x="3405927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1</a:t>
            </a:r>
            <a:endParaRPr lang="en-US" altLang="ko-KR" sz="1050" dirty="0"/>
          </a:p>
        </p:txBody>
      </p:sp>
      <p:sp>
        <p:nvSpPr>
          <p:cNvPr id="16" name="사각형: 둥근 모서리 114">
            <a:extLst>
              <a:ext uri="{FF2B5EF4-FFF2-40B4-BE49-F238E27FC236}">
                <a16:creationId xmlns:a16="http://schemas.microsoft.com/office/drawing/2014/main" id="{32771B95-FEAB-4B5F-8E1D-1879E0D35C73}"/>
              </a:ext>
            </a:extLst>
          </p:cNvPr>
          <p:cNvSpPr/>
          <p:nvPr/>
        </p:nvSpPr>
        <p:spPr>
          <a:xfrm>
            <a:off x="4665905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2</a:t>
            </a:r>
            <a:endParaRPr lang="en-US" altLang="ko-KR" sz="1050" dirty="0"/>
          </a:p>
        </p:txBody>
      </p:sp>
      <p:sp>
        <p:nvSpPr>
          <p:cNvPr id="17" name="사각형: 둥근 모서리 114">
            <a:extLst>
              <a:ext uri="{FF2B5EF4-FFF2-40B4-BE49-F238E27FC236}">
                <a16:creationId xmlns:a16="http://schemas.microsoft.com/office/drawing/2014/main" id="{FA743878-415F-4F3F-8BD0-44868C250DED}"/>
              </a:ext>
            </a:extLst>
          </p:cNvPr>
          <p:cNvSpPr/>
          <p:nvPr/>
        </p:nvSpPr>
        <p:spPr>
          <a:xfrm>
            <a:off x="5925884" y="3773124"/>
            <a:ext cx="1077331" cy="57606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</a:t>
            </a:r>
          </a:p>
          <a:p>
            <a:pPr algn="ctr"/>
            <a:r>
              <a:rPr lang="en-US" altLang="ko-KR" sz="1050"/>
              <a:t>GPU 3</a:t>
            </a:r>
            <a:endParaRPr lang="en-US" altLang="ko-KR" sz="1050" dirty="0"/>
          </a:p>
        </p:txBody>
      </p:sp>
      <p:sp>
        <p:nvSpPr>
          <p:cNvPr id="36" name="사각형: 둥근 모서리 114">
            <a:extLst>
              <a:ext uri="{FF2B5EF4-FFF2-40B4-BE49-F238E27FC236}">
                <a16:creationId xmlns:a16="http://schemas.microsoft.com/office/drawing/2014/main" id="{CF76CF1D-B8E6-443A-80C5-A21C41477750}"/>
              </a:ext>
            </a:extLst>
          </p:cNvPr>
          <p:cNvSpPr/>
          <p:nvPr/>
        </p:nvSpPr>
        <p:spPr>
          <a:xfrm>
            <a:off x="683568" y="1393942"/>
            <a:ext cx="2486761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A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48" name="사각형: 둥근 모서리 114">
            <a:extLst>
              <a:ext uri="{FF2B5EF4-FFF2-40B4-BE49-F238E27FC236}">
                <a16:creationId xmlns:a16="http://schemas.microsoft.com/office/drawing/2014/main" id="{A803DAF7-99B0-4292-A5DB-3EC24AB08296}"/>
              </a:ext>
            </a:extLst>
          </p:cNvPr>
          <p:cNvSpPr/>
          <p:nvPr/>
        </p:nvSpPr>
        <p:spPr>
          <a:xfrm>
            <a:off x="771302" y="2228033"/>
            <a:ext cx="10999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/dev/nvidia0</a:t>
            </a:r>
            <a:endParaRPr lang="en-US" altLang="ko-KR" sz="1050" dirty="0"/>
          </a:p>
        </p:txBody>
      </p:sp>
      <p:sp>
        <p:nvSpPr>
          <p:cNvPr id="49" name="사각형: 둥근 모서리 114">
            <a:extLst>
              <a:ext uri="{FF2B5EF4-FFF2-40B4-BE49-F238E27FC236}">
                <a16:creationId xmlns:a16="http://schemas.microsoft.com/office/drawing/2014/main" id="{D2F56706-879C-45B5-A8D5-3807D53C29AC}"/>
              </a:ext>
            </a:extLst>
          </p:cNvPr>
          <p:cNvSpPr/>
          <p:nvPr/>
        </p:nvSpPr>
        <p:spPr>
          <a:xfrm>
            <a:off x="1972902" y="2228033"/>
            <a:ext cx="109986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/dev/nvidia1</a:t>
            </a:r>
            <a:endParaRPr lang="en-US" altLang="ko-KR" sz="1050" dirty="0"/>
          </a:p>
        </p:txBody>
      </p:sp>
      <p:sp>
        <p:nvSpPr>
          <p:cNvPr id="53" name="사각형: 둥근 모서리 114">
            <a:extLst>
              <a:ext uri="{FF2B5EF4-FFF2-40B4-BE49-F238E27FC236}">
                <a16:creationId xmlns:a16="http://schemas.microsoft.com/office/drawing/2014/main" id="{D0D7C7AC-1E28-4E6E-BABF-ED8C7548D800}"/>
              </a:ext>
            </a:extLst>
          </p:cNvPr>
          <p:cNvSpPr/>
          <p:nvPr/>
        </p:nvSpPr>
        <p:spPr>
          <a:xfrm>
            <a:off x="771302" y="1741979"/>
            <a:ext cx="2301467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CUDA Lib/Toolkit</a:t>
            </a:r>
            <a:endParaRPr lang="en-US" altLang="ko-KR" sz="1050" dirty="0"/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5283E46-F286-4ADA-9E5B-DCE0F42F1436}"/>
              </a:ext>
            </a:extLst>
          </p:cNvPr>
          <p:cNvGrpSpPr/>
          <p:nvPr/>
        </p:nvGrpSpPr>
        <p:grpSpPr>
          <a:xfrm>
            <a:off x="3295100" y="1388279"/>
            <a:ext cx="3674596" cy="1317955"/>
            <a:chOff x="3328619" y="1015999"/>
            <a:chExt cx="3674596" cy="1317955"/>
          </a:xfrm>
        </p:grpSpPr>
        <p:sp>
          <p:nvSpPr>
            <p:cNvPr id="54" name="사각형: 둥근 모서리 114">
              <a:extLst>
                <a:ext uri="{FF2B5EF4-FFF2-40B4-BE49-F238E27FC236}">
                  <a16:creationId xmlns:a16="http://schemas.microsoft.com/office/drawing/2014/main" id="{A18B781E-389B-4EBF-A817-D4569C2D6423}"/>
                </a:ext>
              </a:extLst>
            </p:cNvPr>
            <p:cNvSpPr/>
            <p:nvPr/>
          </p:nvSpPr>
          <p:spPr>
            <a:xfrm>
              <a:off x="3328619" y="1015999"/>
              <a:ext cx="3674596" cy="1317955"/>
            </a:xfrm>
            <a:prstGeom prst="roundRect">
              <a:avLst>
                <a:gd name="adj" fmla="val 6774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altLang="ko-KR" sz="1200" b="1"/>
                <a:t>Container B</a:t>
              </a:r>
              <a:endParaRPr lang="ko-KR" alt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55" name="사각형: 둥근 모서리 114">
              <a:extLst>
                <a:ext uri="{FF2B5EF4-FFF2-40B4-BE49-F238E27FC236}">
                  <a16:creationId xmlns:a16="http://schemas.microsoft.com/office/drawing/2014/main" id="{CA8E074B-D8A6-4E92-8563-585CEF736C89}"/>
                </a:ext>
              </a:extLst>
            </p:cNvPr>
            <p:cNvSpPr/>
            <p:nvPr/>
          </p:nvSpPr>
          <p:spPr>
            <a:xfrm>
              <a:off x="3416353" y="1850090"/>
              <a:ext cx="1099999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/dev/nvdia0</a:t>
              </a:r>
              <a:endParaRPr lang="en-US" altLang="ko-KR" sz="1000" dirty="0"/>
            </a:p>
          </p:txBody>
        </p:sp>
        <p:sp>
          <p:nvSpPr>
            <p:cNvPr id="56" name="사각형: 둥근 모서리 114">
              <a:extLst>
                <a:ext uri="{FF2B5EF4-FFF2-40B4-BE49-F238E27FC236}">
                  <a16:creationId xmlns:a16="http://schemas.microsoft.com/office/drawing/2014/main" id="{9AC5B223-6762-4A94-BC2D-48F317D9D503}"/>
                </a:ext>
              </a:extLst>
            </p:cNvPr>
            <p:cNvSpPr/>
            <p:nvPr/>
          </p:nvSpPr>
          <p:spPr>
            <a:xfrm>
              <a:off x="4617953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/dev/nvdia2</a:t>
              </a:r>
              <a:endParaRPr lang="en-US" altLang="ko-KR" sz="1000" dirty="0"/>
            </a:p>
          </p:txBody>
        </p:sp>
        <p:sp>
          <p:nvSpPr>
            <p:cNvPr id="57" name="사각형: 둥근 모서리 114">
              <a:extLst>
                <a:ext uri="{FF2B5EF4-FFF2-40B4-BE49-F238E27FC236}">
                  <a16:creationId xmlns:a16="http://schemas.microsoft.com/office/drawing/2014/main" id="{FE359AF7-218F-44C6-B474-8140E31271D1}"/>
                </a:ext>
              </a:extLst>
            </p:cNvPr>
            <p:cNvSpPr/>
            <p:nvPr/>
          </p:nvSpPr>
          <p:spPr>
            <a:xfrm>
              <a:off x="3416353" y="1364036"/>
              <a:ext cx="3498895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NVIDIA CUDA Lib/Toolkit</a:t>
              </a:r>
              <a:endParaRPr lang="en-US" altLang="ko-KR" sz="1000" dirty="0"/>
            </a:p>
          </p:txBody>
        </p:sp>
        <p:sp>
          <p:nvSpPr>
            <p:cNvPr id="85" name="사각형: 둥근 모서리 114">
              <a:extLst>
                <a:ext uri="{FF2B5EF4-FFF2-40B4-BE49-F238E27FC236}">
                  <a16:creationId xmlns:a16="http://schemas.microsoft.com/office/drawing/2014/main" id="{BCC0956D-C3F7-49C0-A9F2-EEC64131C57C}"/>
                </a:ext>
              </a:extLst>
            </p:cNvPr>
            <p:cNvSpPr/>
            <p:nvPr/>
          </p:nvSpPr>
          <p:spPr>
            <a:xfrm>
              <a:off x="5815380" y="1850090"/>
              <a:ext cx="1099868" cy="396044"/>
            </a:xfrm>
            <a:prstGeom prst="roundRect">
              <a:avLst>
                <a:gd name="adj" fmla="val 7242"/>
              </a:avLst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ko-KR" sz="1000"/>
                <a:t>/dev/nvdia3</a:t>
              </a:r>
              <a:endParaRPr lang="en-US" altLang="ko-KR" sz="1000" dirty="0"/>
            </a:p>
          </p:txBody>
        </p:sp>
      </p:grpSp>
      <p:sp>
        <p:nvSpPr>
          <p:cNvPr id="72" name="사각형: 둥근 모서리 114">
            <a:extLst>
              <a:ext uri="{FF2B5EF4-FFF2-40B4-BE49-F238E27FC236}">
                <a16:creationId xmlns:a16="http://schemas.microsoft.com/office/drawing/2014/main" id="{13DCC872-5499-4CEA-9CA8-FA20591EB069}"/>
              </a:ext>
            </a:extLst>
          </p:cNvPr>
          <p:cNvSpPr/>
          <p:nvPr/>
        </p:nvSpPr>
        <p:spPr>
          <a:xfrm>
            <a:off x="7112912" y="1388279"/>
            <a:ext cx="1487816" cy="1317955"/>
          </a:xfrm>
          <a:prstGeom prst="roundRect">
            <a:avLst>
              <a:gd name="adj" fmla="val 6774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200" b="1"/>
              <a:t>Container C</a:t>
            </a:r>
            <a:endParaRPr lang="ko-KR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74" name="사각형: 둥근 모서리 114">
            <a:extLst>
              <a:ext uri="{FF2B5EF4-FFF2-40B4-BE49-F238E27FC236}">
                <a16:creationId xmlns:a16="http://schemas.microsoft.com/office/drawing/2014/main" id="{3D3CC5C5-2615-49A4-A2AE-C361BD4D1BBE}"/>
              </a:ext>
            </a:extLst>
          </p:cNvPr>
          <p:cNvSpPr/>
          <p:nvPr/>
        </p:nvSpPr>
        <p:spPr>
          <a:xfrm>
            <a:off x="7193099" y="2222370"/>
            <a:ext cx="1321799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/dev/nvdia3</a:t>
            </a:r>
            <a:endParaRPr lang="en-US" altLang="ko-KR" sz="1000" dirty="0"/>
          </a:p>
        </p:txBody>
      </p:sp>
      <p:sp>
        <p:nvSpPr>
          <p:cNvPr id="75" name="사각형: 둥근 모서리 114">
            <a:extLst>
              <a:ext uri="{FF2B5EF4-FFF2-40B4-BE49-F238E27FC236}">
                <a16:creationId xmlns:a16="http://schemas.microsoft.com/office/drawing/2014/main" id="{B29ABC0B-15DC-450D-8FC3-49C53EDE5F1E}"/>
              </a:ext>
            </a:extLst>
          </p:cNvPr>
          <p:cNvSpPr/>
          <p:nvPr/>
        </p:nvSpPr>
        <p:spPr>
          <a:xfrm>
            <a:off x="7193099" y="1736316"/>
            <a:ext cx="1321798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NVIDIA CUDA Lib/Toolkit</a:t>
            </a:r>
            <a:endParaRPr lang="en-US" altLang="ko-KR" sz="1000" dirty="0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314586-C0C4-4879-A3CB-8E4469478D11}"/>
              </a:ext>
            </a:extLst>
          </p:cNvPr>
          <p:cNvCxnSpPr>
            <a:cxnSpLocks/>
            <a:stCxn id="48" idx="2"/>
            <a:endCxn id="14" idx="0"/>
          </p:cNvCxnSpPr>
          <p:nvPr/>
        </p:nvCxnSpPr>
        <p:spPr>
          <a:xfrm>
            <a:off x="1321302" y="2624077"/>
            <a:ext cx="1363312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D7F73344-7CBD-4515-AF8F-57B32D20BE1C}"/>
              </a:ext>
            </a:extLst>
          </p:cNvPr>
          <p:cNvCxnSpPr>
            <a:cxnSpLocks/>
            <a:stCxn id="55" idx="2"/>
            <a:endCxn id="14" idx="0"/>
          </p:cNvCxnSpPr>
          <p:nvPr/>
        </p:nvCxnSpPr>
        <p:spPr>
          <a:xfrm flipH="1">
            <a:off x="2684614" y="2618414"/>
            <a:ext cx="1248220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17">
            <a:extLst>
              <a:ext uri="{FF2B5EF4-FFF2-40B4-BE49-F238E27FC236}">
                <a16:creationId xmlns:a16="http://schemas.microsoft.com/office/drawing/2014/main" id="{03B70D87-E8F1-636E-2734-08D20B84587A}"/>
              </a:ext>
            </a:extLst>
          </p:cNvPr>
          <p:cNvCxnSpPr>
            <a:cxnSpLocks/>
            <a:stCxn id="49" idx="2"/>
            <a:endCxn id="15" idx="0"/>
          </p:cNvCxnSpPr>
          <p:nvPr/>
        </p:nvCxnSpPr>
        <p:spPr>
          <a:xfrm>
            <a:off x="2522836" y="2624077"/>
            <a:ext cx="1421757" cy="11490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17">
            <a:extLst>
              <a:ext uri="{FF2B5EF4-FFF2-40B4-BE49-F238E27FC236}">
                <a16:creationId xmlns:a16="http://schemas.microsoft.com/office/drawing/2014/main" id="{5E8C92FC-DD69-18A4-74EC-834FCCD7F2E2}"/>
              </a:ext>
            </a:extLst>
          </p:cNvPr>
          <p:cNvCxnSpPr>
            <a:cxnSpLocks/>
            <a:stCxn id="56" idx="2"/>
            <a:endCxn id="16" idx="0"/>
          </p:cNvCxnSpPr>
          <p:nvPr/>
        </p:nvCxnSpPr>
        <p:spPr>
          <a:xfrm>
            <a:off x="5134368" y="2618414"/>
            <a:ext cx="70203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0C25B297-C471-4983-B26F-9B6D9298B3BB}"/>
              </a:ext>
            </a:extLst>
          </p:cNvPr>
          <p:cNvCxnSpPr>
            <a:cxnSpLocks/>
            <a:stCxn id="85" idx="2"/>
            <a:endCxn id="17" idx="0"/>
          </p:cNvCxnSpPr>
          <p:nvPr/>
        </p:nvCxnSpPr>
        <p:spPr>
          <a:xfrm>
            <a:off x="6331795" y="2618414"/>
            <a:ext cx="132755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6">
            <a:extLst>
              <a:ext uri="{FF2B5EF4-FFF2-40B4-BE49-F238E27FC236}">
                <a16:creationId xmlns:a16="http://schemas.microsoft.com/office/drawing/2014/main" id="{B6F4D2A3-59C5-B078-E593-8F85D1EEF940}"/>
              </a:ext>
            </a:extLst>
          </p:cNvPr>
          <p:cNvCxnSpPr>
            <a:cxnSpLocks/>
            <a:stCxn id="74" idx="2"/>
            <a:endCxn id="17" idx="0"/>
          </p:cNvCxnSpPr>
          <p:nvPr/>
        </p:nvCxnSpPr>
        <p:spPr>
          <a:xfrm flipH="1">
            <a:off x="6464550" y="2618414"/>
            <a:ext cx="1389449" cy="115471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사각형: 둥근 모서리 114">
            <a:extLst>
              <a:ext uri="{FF2B5EF4-FFF2-40B4-BE49-F238E27FC236}">
                <a16:creationId xmlns:a16="http://schemas.microsoft.com/office/drawing/2014/main" id="{8204B16C-CA82-4791-8D0F-1EE9DCEDA54F}"/>
              </a:ext>
            </a:extLst>
          </p:cNvPr>
          <p:cNvSpPr/>
          <p:nvPr/>
        </p:nvSpPr>
        <p:spPr>
          <a:xfrm>
            <a:off x="1692325" y="2945032"/>
            <a:ext cx="5759996" cy="396044"/>
          </a:xfrm>
          <a:prstGeom prst="roundRect">
            <a:avLst>
              <a:gd name="adj" fmla="val 7242"/>
            </a:avLst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NVIDIA GPU Device Driver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718021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49470</TotalTime>
  <Words>622</Words>
  <Application>Microsoft Macintosh PowerPoint</Application>
  <PresentationFormat>화면 슬라이드 쇼(16:9)</PresentationFormat>
  <Paragraphs>164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Al Bayan Plain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CUDA Container Stack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6273</cp:revision>
  <dcterms:created xsi:type="dcterms:W3CDTF">2006-10-05T04:04:58Z</dcterms:created>
  <dcterms:modified xsi:type="dcterms:W3CDTF">2026-03-01T01:37:31Z</dcterms:modified>
</cp:coreProperties>
</file>