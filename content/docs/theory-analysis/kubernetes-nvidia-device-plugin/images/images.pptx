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446" r:id="rId2"/>
    <p:sldId id="431" r:id="rId3"/>
    <p:sldId id="441" r:id="rId4"/>
    <p:sldId id="447" r:id="rId5"/>
    <p:sldId id="458" r:id="rId6"/>
    <p:sldId id="449" r:id="rId7"/>
    <p:sldId id="450" r:id="rId8"/>
    <p:sldId id="434" r:id="rId9"/>
    <p:sldId id="460" r:id="rId10"/>
    <p:sldId id="461" r:id="rId11"/>
    <p:sldId id="462" r:id="rId12"/>
    <p:sldId id="463" r:id="rId13"/>
    <p:sldId id="464" r:id="rId14"/>
    <p:sldId id="465" r:id="rId15"/>
    <p:sldId id="466" r:id="rId16"/>
    <p:sldId id="459" r:id="rId17"/>
    <p:sldId id="457" r:id="rId18"/>
    <p:sldId id="451" r:id="rId19"/>
    <p:sldId id="452" r:id="rId20"/>
    <p:sldId id="453" r:id="rId21"/>
    <p:sldId id="454" r:id="rId22"/>
    <p:sldId id="455" r:id="rId23"/>
    <p:sldId id="456" r:id="rId24"/>
    <p:sldId id="444" r:id="rId25"/>
    <p:sldId id="439" r:id="rId26"/>
    <p:sldId id="445" r:id="rId27"/>
    <p:sldId id="440" r:id="rId28"/>
    <p:sldId id="438" r:id="rId29"/>
    <p:sldId id="442" r:id="rId30"/>
    <p:sldId id="435" r:id="rId31"/>
    <p:sldId id="436" r:id="rId32"/>
    <p:sldId id="422" r:id="rId33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23" autoAdjust="0"/>
    <p:restoredTop sz="87520" autoAdjust="0"/>
  </p:normalViewPr>
  <p:slideViewPr>
    <p:cSldViewPr>
      <p:cViewPr>
        <p:scale>
          <a:sx n="200" d="100"/>
          <a:sy n="200" d="100"/>
        </p:scale>
        <p:origin x="1224" y="1136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2026. 3. 29.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CE74B-9890-775F-94CE-00C5C8F47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767A88-D5C3-C719-0CBB-D99E577E1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8DF26E-0B65-6593-A23B-D766DE9A0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CF2583-FB79-043A-0679-51E43BF04D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147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50C85-0C63-6A18-36A4-52FD61BCD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DAD6EE-D317-6C36-1737-491EF5AAF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53CBE6-E3B9-9056-42E3-5A485BC6A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216978-7DD5-028D-14AE-0564637047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341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52D6D-69EF-4F26-6BB6-C4D931EC5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05C230-9A90-AB6E-07E2-9DE2E2A70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318BD0-4BD0-BEB2-62B7-5865ABF08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59F88-4D83-AD78-B0F7-71B3B4B1CD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062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2F0BB-4789-9583-D82C-C1ECF31FC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84DFB5-0FB0-A3F1-2DC9-47E88D318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3F9F5F-CB20-6025-2B5A-B14981C50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B55DBB-94C6-008D-D5BB-61632D6CA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5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17F23-89BA-2A1D-017E-B4F6B4D38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8C3652-331C-B92A-E7F3-1B7E67505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3A207A-0349-4192-4804-8BB1449E8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3329D1-EADA-471B-CD62-68F7FE4105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980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EB821-E561-F054-49A0-0679CDA0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1473D4-CA44-13CC-9ACC-5EF1D94D5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20FFBE-3B74-E50B-0F60-E66569494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E12301-69AA-55CF-5BBF-D62B6A4F8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286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55B89-2114-7DB6-9E4F-01D32989C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453CAB-C186-63BA-E717-DEBCBC0D8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FBE1D1-4C55-484C-DA99-F280C223D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AFD2B7-52C3-3523-508E-F864EFFFF9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615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11B4B-2FB0-7102-F286-5EA71148C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6616B0-088B-CD22-3177-FEE426C62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B18958-B4C9-8C4B-3F19-CC4D137B1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68682-2F46-CD09-BA2A-A5B4B66DB0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888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28098-F339-B196-8DCF-FA0670C26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D92EB8-6565-C1DD-1F7D-DE0D9DEE6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6CA0CA-9069-580A-7C3C-664C0A128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668EC9-B8A6-F4D9-67AE-1701E73323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123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D507E-F1D8-E498-070D-5EF5DE645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A894FD-74CB-ABC1-68B9-6228DA6EE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AB0614-C0AC-EDC0-ECB8-E70E7707E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DEEF62-1E9A-F618-A477-A32BD430D2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93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DB570-0CAA-5CDC-A2CB-31465FFE3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920414-0488-BEA2-EFDE-FC66CB0A6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F00263-1C0C-694F-3C31-BAC8ECE6F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C7F48F-4A3E-E02F-3086-9ADE94220D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883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4A66E-169F-E873-FDBF-F048D384F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2A1C8-7789-02B8-D1B2-FE1C75A4C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319D5B-0C6B-2C91-0C5B-79F40E38E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CFE98D-5771-2EB5-99D1-0F63D50298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5144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8F0E-3CCF-20B6-54DC-15F5AD0C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A106F1-64D6-4171-B547-4BEE7BBCF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C75CA7-AA28-3A8B-2A63-AA5BFCBF8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499BBB-5939-CCB4-9B02-7ED7FF98D3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9096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6E25E-7BD2-ACD6-5AB0-AC486AE4B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35C8DC-C250-78E5-7D2A-6908AD64C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9D31D9-5998-B5C1-9246-B620DE3B8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5E25C1-5AA0-1ED2-BC15-86A1A72ED7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9954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2A508-FF2A-1DF1-3DD3-78CD3A99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47AFE7-477E-C4FB-922E-A5DB497B1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6F2381-BDD9-A6C4-B2FC-712A1F1B6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9EAA6B-72CD-38D7-FF10-CEB4B320E9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5613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08CB7-7340-B840-D8CB-F3FBC9133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D36DE7-B453-0C24-6CCC-72A5BB23E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F70D5C-66A6-DC12-2B2B-0E6174679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C3D25D-B85B-645C-DE6D-D585D8FE0F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5993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49794-A6C6-98AC-C41F-BFB42C384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5A7F9-9BC0-0DAB-E35A-CBDB2596C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F6DC8-1865-0662-7A1C-21F3FDD85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73D9D6-E96D-F05E-BE90-570EB61739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4951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554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2026. 3. 29.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2026. 3. 29.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CC7A-B1ED-4A83-8124-AD0236B7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114">
            <a:extLst>
              <a:ext uri="{FF2B5EF4-FFF2-40B4-BE49-F238E27FC236}">
                <a16:creationId xmlns:a16="http://schemas.microsoft.com/office/drawing/2014/main" id="{A1D99E2D-D825-1D83-632D-CDA2B6204CA7}"/>
              </a:ext>
            </a:extLst>
          </p:cNvPr>
          <p:cNvSpPr/>
          <p:nvPr/>
        </p:nvSpPr>
        <p:spPr>
          <a:xfrm>
            <a:off x="4981274" y="796958"/>
            <a:ext cx="1385789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CE9EAD89-7B67-9A81-1369-0ADAC44A19C5}"/>
              </a:ext>
            </a:extLst>
          </p:cNvPr>
          <p:cNvSpPr/>
          <p:nvPr/>
        </p:nvSpPr>
        <p:spPr>
          <a:xfrm>
            <a:off x="899592" y="800730"/>
            <a:ext cx="4006850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8340282-E1AD-9049-D988-D71092760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AF2F1BAB-5252-697F-07F2-BE648D66DFD8}"/>
              </a:ext>
            </a:extLst>
          </p:cNvPr>
          <p:cNvSpPr/>
          <p:nvPr/>
        </p:nvSpPr>
        <p:spPr>
          <a:xfrm>
            <a:off x="2369518" y="1082999"/>
            <a:ext cx="2486761" cy="1662236"/>
          </a:xfrm>
          <a:prstGeom prst="roundRect">
            <a:avLst>
              <a:gd name="adj" fmla="val 402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E989896A-4AEF-62B3-5D7E-4C627BA63DB0}"/>
              </a:ext>
            </a:extLst>
          </p:cNvPr>
          <p:cNvSpPr/>
          <p:nvPr/>
        </p:nvSpPr>
        <p:spPr>
          <a:xfrm>
            <a:off x="2457252" y="2277026"/>
            <a:ext cx="1099999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/dev/nvidia1</a:t>
            </a:r>
            <a:endParaRPr lang="en-US" altLang="ko-KR" sz="90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2CC530F5-67BC-E7FD-0F82-8AB1444F722C}"/>
              </a:ext>
            </a:extLst>
          </p:cNvPr>
          <p:cNvSpPr/>
          <p:nvPr/>
        </p:nvSpPr>
        <p:spPr>
          <a:xfrm>
            <a:off x="3658852" y="2277026"/>
            <a:ext cx="1099868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/dev/nvidia2</a:t>
            </a:r>
            <a:endParaRPr lang="en-US" altLang="ko-KR" sz="90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F9BF4FD5-A5E6-FBC0-B39D-59867CA9A8D4}"/>
              </a:ext>
            </a:extLst>
          </p:cNvPr>
          <p:cNvSpPr/>
          <p:nvPr/>
        </p:nvSpPr>
        <p:spPr>
          <a:xfrm>
            <a:off x="2457252" y="1806701"/>
            <a:ext cx="2301467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840AF672-1201-6484-FE7C-DEAA62DA48E1}"/>
              </a:ext>
            </a:extLst>
          </p:cNvPr>
          <p:cNvSpPr/>
          <p:nvPr/>
        </p:nvSpPr>
        <p:spPr>
          <a:xfrm>
            <a:off x="949353" y="1077519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04E2DAFD-A1E9-0FDD-583C-2C484C7B5937}"/>
              </a:ext>
            </a:extLst>
          </p:cNvPr>
          <p:cNvSpPr/>
          <p:nvPr/>
        </p:nvSpPr>
        <p:spPr>
          <a:xfrm>
            <a:off x="1035199" y="2267182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D5C85783-4ECD-7D0C-59F7-FB6D6EECE416}"/>
              </a:ext>
            </a:extLst>
          </p:cNvPr>
          <p:cNvSpPr/>
          <p:nvPr/>
        </p:nvSpPr>
        <p:spPr>
          <a:xfrm>
            <a:off x="1035198" y="1796856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46" name="사각형: 둥근 모서리 114">
            <a:extLst>
              <a:ext uri="{FF2B5EF4-FFF2-40B4-BE49-F238E27FC236}">
                <a16:creationId xmlns:a16="http://schemas.microsoft.com/office/drawing/2014/main" id="{175A1F31-4C4E-7924-F26E-EAD757D22ABF}"/>
              </a:ext>
            </a:extLst>
          </p:cNvPr>
          <p:cNvSpPr/>
          <p:nvPr/>
        </p:nvSpPr>
        <p:spPr>
          <a:xfrm>
            <a:off x="2457252" y="1355550"/>
            <a:ext cx="2301467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NVIDIA_VISIBLE_DEVICES Env  </a:t>
            </a:r>
            <a:endParaRPr lang="en-US" altLang="ko-KR" sz="9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695C1BB4-A5CE-716D-FFE4-5BE9F60DAB3E}"/>
              </a:ext>
            </a:extLst>
          </p:cNvPr>
          <p:cNvSpPr/>
          <p:nvPr/>
        </p:nvSpPr>
        <p:spPr>
          <a:xfrm>
            <a:off x="1035198" y="1351185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BFE5BA00-9737-9709-790A-AD8A181FF779}"/>
              </a:ext>
            </a:extLst>
          </p:cNvPr>
          <p:cNvSpPr/>
          <p:nvPr/>
        </p:nvSpPr>
        <p:spPr>
          <a:xfrm>
            <a:off x="5029966" y="1077519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사각형: 둥근 모서리 114">
            <a:extLst>
              <a:ext uri="{FF2B5EF4-FFF2-40B4-BE49-F238E27FC236}">
                <a16:creationId xmlns:a16="http://schemas.microsoft.com/office/drawing/2014/main" id="{9E8D85B0-A013-ED78-4225-3046FE75504E}"/>
              </a:ext>
            </a:extLst>
          </p:cNvPr>
          <p:cNvSpPr/>
          <p:nvPr/>
        </p:nvSpPr>
        <p:spPr>
          <a:xfrm>
            <a:off x="5115812" y="2267182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/dev/nvidia3</a:t>
            </a:r>
            <a:endParaRPr lang="en-US" altLang="ko-KR" sz="900" dirty="0"/>
          </a:p>
        </p:txBody>
      </p:sp>
      <p:sp>
        <p:nvSpPr>
          <p:cNvPr id="6" name="사각형: 둥근 모서리 114">
            <a:extLst>
              <a:ext uri="{FF2B5EF4-FFF2-40B4-BE49-F238E27FC236}">
                <a16:creationId xmlns:a16="http://schemas.microsoft.com/office/drawing/2014/main" id="{A155867F-CFFA-23F8-756E-D1E65E845EC3}"/>
              </a:ext>
            </a:extLst>
          </p:cNvPr>
          <p:cNvSpPr/>
          <p:nvPr/>
        </p:nvSpPr>
        <p:spPr>
          <a:xfrm>
            <a:off x="5115811" y="1796856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" name="사각형: 둥근 모서리 114">
            <a:extLst>
              <a:ext uri="{FF2B5EF4-FFF2-40B4-BE49-F238E27FC236}">
                <a16:creationId xmlns:a16="http://schemas.microsoft.com/office/drawing/2014/main" id="{5BB235DA-57EE-016A-A747-A680AB4C4261}"/>
              </a:ext>
            </a:extLst>
          </p:cNvPr>
          <p:cNvSpPr/>
          <p:nvPr/>
        </p:nvSpPr>
        <p:spPr>
          <a:xfrm>
            <a:off x="5115811" y="1351185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20EF6B3-5B96-1E7A-61A7-6C0C30DC39C6}"/>
              </a:ext>
            </a:extLst>
          </p:cNvPr>
          <p:cNvGrpSpPr/>
          <p:nvPr/>
        </p:nvGrpSpPr>
        <p:grpSpPr>
          <a:xfrm>
            <a:off x="902721" y="3003798"/>
            <a:ext cx="3309239" cy="1177659"/>
            <a:chOff x="902721" y="3003798"/>
            <a:chExt cx="5045722" cy="1177659"/>
          </a:xfrm>
        </p:grpSpPr>
        <p:sp>
          <p:nvSpPr>
            <p:cNvPr id="9" name="사각형: 둥근 모서리 114">
              <a:extLst>
                <a:ext uri="{FF2B5EF4-FFF2-40B4-BE49-F238E27FC236}">
                  <a16:creationId xmlns:a16="http://schemas.microsoft.com/office/drawing/2014/main" id="{2340383E-6533-BA55-31E0-A30F863C2ADF}"/>
                </a:ext>
              </a:extLst>
            </p:cNvPr>
            <p:cNvSpPr/>
            <p:nvPr/>
          </p:nvSpPr>
          <p:spPr>
            <a:xfrm>
              <a:off x="902721" y="3003798"/>
              <a:ext cx="5045722" cy="1177659"/>
            </a:xfrm>
            <a:prstGeom prst="roundRect">
              <a:avLst>
                <a:gd name="adj" fmla="val 4649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altLang="ko-KR" sz="1000" b="1"/>
                <a:t>Host</a:t>
              </a:r>
              <a:endParaRPr lang="en-US" altLang="ko-KR" sz="1000" b="1" dirty="0"/>
            </a:p>
          </p:txBody>
        </p:sp>
        <p:sp>
          <p:nvSpPr>
            <p:cNvPr id="12" name="사각형: 둥근 모서리 114">
              <a:extLst>
                <a:ext uri="{FF2B5EF4-FFF2-40B4-BE49-F238E27FC236}">
                  <a16:creationId xmlns:a16="http://schemas.microsoft.com/office/drawing/2014/main" id="{EF5218CA-055F-82B1-A06F-4C34D1428BF2}"/>
                </a:ext>
              </a:extLst>
            </p:cNvPr>
            <p:cNvSpPr/>
            <p:nvPr/>
          </p:nvSpPr>
          <p:spPr>
            <a:xfrm>
              <a:off x="1002111" y="3544142"/>
              <a:ext cx="1077331" cy="383228"/>
            </a:xfrm>
            <a:prstGeom prst="roundRect">
              <a:avLst>
                <a:gd name="adj" fmla="val 14292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NVIDIA</a:t>
              </a:r>
            </a:p>
            <a:p>
              <a:pPr algn="ctr"/>
              <a:r>
                <a:rPr lang="en-US" altLang="ko-KR" sz="900"/>
                <a:t>GPU 0</a:t>
              </a:r>
              <a:endParaRPr lang="en-US" altLang="ko-KR" sz="900" dirty="0"/>
            </a:p>
          </p:txBody>
        </p:sp>
        <p:sp>
          <p:nvSpPr>
            <p:cNvPr id="13" name="사각형: 둥근 모서리 114">
              <a:extLst>
                <a:ext uri="{FF2B5EF4-FFF2-40B4-BE49-F238E27FC236}">
                  <a16:creationId xmlns:a16="http://schemas.microsoft.com/office/drawing/2014/main" id="{DD5519D8-8350-36B2-1316-749DE094A5A2}"/>
                </a:ext>
              </a:extLst>
            </p:cNvPr>
            <p:cNvSpPr/>
            <p:nvPr/>
          </p:nvSpPr>
          <p:spPr>
            <a:xfrm>
              <a:off x="2262090" y="3544142"/>
              <a:ext cx="1077331" cy="383228"/>
            </a:xfrm>
            <a:prstGeom prst="roundRect">
              <a:avLst>
                <a:gd name="adj" fmla="val 14292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NVIDIA</a:t>
              </a:r>
            </a:p>
            <a:p>
              <a:pPr algn="ctr"/>
              <a:r>
                <a:rPr lang="en-US" altLang="ko-KR" sz="900"/>
                <a:t>GPU 1</a:t>
              </a:r>
              <a:endParaRPr lang="en-US" altLang="ko-KR" sz="900" dirty="0"/>
            </a:p>
          </p:txBody>
        </p:sp>
        <p:sp>
          <p:nvSpPr>
            <p:cNvPr id="18" name="사각형: 둥근 모서리 114">
              <a:extLst>
                <a:ext uri="{FF2B5EF4-FFF2-40B4-BE49-F238E27FC236}">
                  <a16:creationId xmlns:a16="http://schemas.microsoft.com/office/drawing/2014/main" id="{404BEAD9-ECEA-0563-E388-3DB7426AAA67}"/>
                </a:ext>
              </a:extLst>
            </p:cNvPr>
            <p:cNvSpPr/>
            <p:nvPr/>
          </p:nvSpPr>
          <p:spPr>
            <a:xfrm>
              <a:off x="3522068" y="3544142"/>
              <a:ext cx="1077331" cy="383228"/>
            </a:xfrm>
            <a:prstGeom prst="roundRect">
              <a:avLst>
                <a:gd name="adj" fmla="val 12529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NVIDIA</a:t>
              </a:r>
            </a:p>
            <a:p>
              <a:pPr algn="ctr"/>
              <a:r>
                <a:rPr lang="en-US" altLang="ko-KR" sz="900"/>
                <a:t>GPU 2</a:t>
              </a:r>
              <a:endParaRPr lang="en-US" altLang="ko-KR" sz="900" dirty="0"/>
            </a:p>
          </p:txBody>
        </p:sp>
        <p:sp>
          <p:nvSpPr>
            <p:cNvPr id="19" name="사각형: 둥근 모서리 114">
              <a:extLst>
                <a:ext uri="{FF2B5EF4-FFF2-40B4-BE49-F238E27FC236}">
                  <a16:creationId xmlns:a16="http://schemas.microsoft.com/office/drawing/2014/main" id="{C9D5C866-6698-BBE8-D698-FDCDBDD73BC8}"/>
                </a:ext>
              </a:extLst>
            </p:cNvPr>
            <p:cNvSpPr/>
            <p:nvPr/>
          </p:nvSpPr>
          <p:spPr>
            <a:xfrm>
              <a:off x="4782047" y="3544142"/>
              <a:ext cx="1077331" cy="383228"/>
            </a:xfrm>
            <a:prstGeom prst="roundRect">
              <a:avLst>
                <a:gd name="adj" fmla="val 16055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NVIDIA</a:t>
              </a:r>
            </a:p>
            <a:p>
              <a:pPr algn="ctr"/>
              <a:r>
                <a:rPr lang="en-US" altLang="ko-KR" sz="900"/>
                <a:t>GPU 3</a:t>
              </a:r>
              <a:endParaRPr lang="en-US" altLang="ko-KR" sz="900" dirty="0"/>
            </a:p>
          </p:txBody>
        </p:sp>
        <p:sp>
          <p:nvSpPr>
            <p:cNvPr id="26" name="사각형: 둥근 모서리 114">
              <a:extLst>
                <a:ext uri="{FF2B5EF4-FFF2-40B4-BE49-F238E27FC236}">
                  <a16:creationId xmlns:a16="http://schemas.microsoft.com/office/drawing/2014/main" id="{BB675BE5-DBE8-9C6D-F94A-0BF135A47C15}"/>
                </a:ext>
              </a:extLst>
            </p:cNvPr>
            <p:cNvSpPr/>
            <p:nvPr/>
          </p:nvSpPr>
          <p:spPr>
            <a:xfrm>
              <a:off x="997295" y="3078892"/>
              <a:ext cx="4862083" cy="383228"/>
            </a:xfrm>
            <a:prstGeom prst="roundRect">
              <a:avLst>
                <a:gd name="adj" fmla="val 17067"/>
              </a:avLst>
            </a:prstGeom>
            <a:solidFill>
              <a:schemeClr val="bg2">
                <a:lumMod val="90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NVIDIA CUDA Lib/Toolkit</a:t>
              </a:r>
              <a:endParaRPr lang="en-US" altLang="ko-KR" sz="900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9D1550F7-4372-0DDF-285E-FF89B2FB4D9E}"/>
                </a:ext>
              </a:extLst>
            </p:cNvPr>
            <p:cNvSpPr txBox="1"/>
            <p:nvPr/>
          </p:nvSpPr>
          <p:spPr>
            <a:xfrm>
              <a:off x="2730287" y="3023958"/>
              <a:ext cx="13961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000" b="1" i="1"/>
                <a:t>Bind Mount</a:t>
              </a:r>
              <a:endParaRPr kumimoji="1" lang="ko-KR" altLang="en-US" sz="1000" b="1" i="1"/>
            </a:p>
          </p:txBody>
        </p:sp>
      </p:grpSp>
      <p:cxnSp>
        <p:nvCxnSpPr>
          <p:cNvPr id="59" name="직선 연결선 17">
            <a:extLst>
              <a:ext uri="{FF2B5EF4-FFF2-40B4-BE49-F238E27FC236}">
                <a16:creationId xmlns:a16="http://schemas.microsoft.com/office/drawing/2014/main" id="{53A3ADFD-EA35-8514-CEA2-A0F6D5E69733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 flipH="1">
            <a:off x="2559147" y="2180084"/>
            <a:ext cx="3106020" cy="898808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17">
            <a:extLst>
              <a:ext uri="{FF2B5EF4-FFF2-40B4-BE49-F238E27FC236}">
                <a16:creationId xmlns:a16="http://schemas.microsoft.com/office/drawing/2014/main" id="{A1FD4408-B6DB-382B-0C61-A9CABD05F03D}"/>
              </a:ext>
            </a:extLst>
          </p:cNvPr>
          <p:cNvCxnSpPr>
            <a:cxnSpLocks/>
            <a:stCxn id="53" idx="2"/>
            <a:endCxn id="26" idx="0"/>
          </p:cNvCxnSpPr>
          <p:nvPr/>
        </p:nvCxnSpPr>
        <p:spPr>
          <a:xfrm flipH="1">
            <a:off x="2559147" y="2189929"/>
            <a:ext cx="1048839" cy="888963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17">
            <a:extLst>
              <a:ext uri="{FF2B5EF4-FFF2-40B4-BE49-F238E27FC236}">
                <a16:creationId xmlns:a16="http://schemas.microsoft.com/office/drawing/2014/main" id="{38921CEE-83D1-1F5F-140A-8E6570B7F8F8}"/>
              </a:ext>
            </a:extLst>
          </p:cNvPr>
          <p:cNvCxnSpPr>
            <a:cxnSpLocks/>
            <a:stCxn id="75" idx="2"/>
            <a:endCxn id="26" idx="0"/>
          </p:cNvCxnSpPr>
          <p:nvPr/>
        </p:nvCxnSpPr>
        <p:spPr>
          <a:xfrm>
            <a:off x="1584554" y="2180084"/>
            <a:ext cx="974593" cy="898808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ACED100-0E72-0320-4748-F114FAD94DC5}"/>
              </a:ext>
            </a:extLst>
          </p:cNvPr>
          <p:cNvSpPr txBox="1"/>
          <p:nvPr/>
        </p:nvSpPr>
        <p:spPr>
          <a:xfrm>
            <a:off x="6561999" y="2885931"/>
            <a:ext cx="16652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podb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containerc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C859026-8E74-462E-FE94-60C655FA78F2}"/>
              </a:ext>
            </a:extLst>
          </p:cNvPr>
          <p:cNvSpPr txBox="1"/>
          <p:nvPr/>
        </p:nvSpPr>
        <p:spPr>
          <a:xfrm>
            <a:off x="6561999" y="577607"/>
            <a:ext cx="1665290" cy="230832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cs typeface="Al Bayan Plain" pitchFamily="2" charset="-78"/>
              </a:rPr>
              <a:t>     - name: containerb</a:t>
            </a:r>
          </a:p>
          <a:p>
            <a:r>
              <a:rPr lang="en-US" altLang="ko-KR" sz="800" kern="0" dirty="0">
                <a:cs typeface="Al Bayan Plain" pitchFamily="2" charset="-78"/>
              </a:rPr>
              <a:t>       resources: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  <p:cxnSp>
        <p:nvCxnSpPr>
          <p:cNvPr id="41" name="직선 연결선 17">
            <a:extLst>
              <a:ext uri="{FF2B5EF4-FFF2-40B4-BE49-F238E27FC236}">
                <a16:creationId xmlns:a16="http://schemas.microsoft.com/office/drawing/2014/main" id="{48D47D4F-066F-17EE-59A0-E7D547AAA823}"/>
              </a:ext>
            </a:extLst>
          </p:cNvPr>
          <p:cNvCxnSpPr>
            <a:cxnSpLocks/>
            <a:stCxn id="74" idx="2"/>
            <a:endCxn id="12" idx="0"/>
          </p:cNvCxnSpPr>
          <p:nvPr/>
        </p:nvCxnSpPr>
        <p:spPr>
          <a:xfrm flipH="1">
            <a:off x="1321190" y="2650410"/>
            <a:ext cx="263365" cy="89373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17">
            <a:extLst>
              <a:ext uri="{FF2B5EF4-FFF2-40B4-BE49-F238E27FC236}">
                <a16:creationId xmlns:a16="http://schemas.microsoft.com/office/drawing/2014/main" id="{4D681B52-0085-F594-6205-CB864E97F000}"/>
              </a:ext>
            </a:extLst>
          </p:cNvPr>
          <p:cNvCxnSpPr>
            <a:cxnSpLocks/>
            <a:stCxn id="48" idx="2"/>
            <a:endCxn id="13" idx="0"/>
          </p:cNvCxnSpPr>
          <p:nvPr/>
        </p:nvCxnSpPr>
        <p:spPr>
          <a:xfrm flipH="1">
            <a:off x="2147548" y="2660254"/>
            <a:ext cx="859704" cy="88388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17">
            <a:extLst>
              <a:ext uri="{FF2B5EF4-FFF2-40B4-BE49-F238E27FC236}">
                <a16:creationId xmlns:a16="http://schemas.microsoft.com/office/drawing/2014/main" id="{1C318DF2-9EAC-04A1-5504-07E34EB4CED6}"/>
              </a:ext>
            </a:extLst>
          </p:cNvPr>
          <p:cNvCxnSpPr>
            <a:cxnSpLocks/>
            <a:stCxn id="49" idx="2"/>
            <a:endCxn id="18" idx="0"/>
          </p:cNvCxnSpPr>
          <p:nvPr/>
        </p:nvCxnSpPr>
        <p:spPr>
          <a:xfrm flipH="1">
            <a:off x="2973905" y="2660254"/>
            <a:ext cx="1234881" cy="88388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17">
            <a:extLst>
              <a:ext uri="{FF2B5EF4-FFF2-40B4-BE49-F238E27FC236}">
                <a16:creationId xmlns:a16="http://schemas.microsoft.com/office/drawing/2014/main" id="{30B0B621-54FF-57F3-76CA-048DC3AB4142}"/>
              </a:ext>
            </a:extLst>
          </p:cNvPr>
          <p:cNvSpPr/>
          <p:nvPr/>
        </p:nvSpPr>
        <p:spPr>
          <a:xfrm flipH="1">
            <a:off x="4300998" y="3006129"/>
            <a:ext cx="2066064" cy="4612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900" b="1" dirty="0">
                <a:solidFill>
                  <a:schemeClr val="tx1"/>
                </a:solidFill>
              </a:rPr>
              <a:t>NVIDIA </a:t>
            </a:r>
            <a:r>
              <a:rPr lang="en-US" sz="900" b="1" dirty="0">
                <a:solidFill>
                  <a:schemeClr val="tx1"/>
                </a:solidFill>
              </a:rPr>
              <a:t>Device Plugin Pod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(DaemonSet)</a:t>
            </a:r>
            <a:endParaRPr lang="en-KR" sz="900" dirty="0">
              <a:solidFill>
                <a:schemeClr val="tx1"/>
              </a:solidFill>
            </a:endParaRPr>
          </a:p>
        </p:txBody>
      </p:sp>
      <p:cxnSp>
        <p:nvCxnSpPr>
          <p:cNvPr id="28" name="직선 연결선 17">
            <a:extLst>
              <a:ext uri="{FF2B5EF4-FFF2-40B4-BE49-F238E27FC236}">
                <a16:creationId xmlns:a16="http://schemas.microsoft.com/office/drawing/2014/main" id="{3C4EF81C-2805-A1F1-4AEB-9E1FA6BAD538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>
          <a:xfrm flipH="1">
            <a:off x="3800263" y="2650410"/>
            <a:ext cx="1864905" cy="89373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98FD4C8-408D-7CF6-562A-79D6DEBDA711}"/>
              </a:ext>
            </a:extLst>
          </p:cNvPr>
          <p:cNvSpPr txBox="1"/>
          <p:nvPr/>
        </p:nvSpPr>
        <p:spPr>
          <a:xfrm>
            <a:off x="4294958" y="3539373"/>
            <a:ext cx="1489994" cy="120032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apiVersion: v1</a:t>
            </a:r>
          </a:p>
          <a:p>
            <a:pPr algn="l"/>
            <a:r>
              <a:rPr lang="en-US" sz="800" kern="0" dirty="0" err="1">
                <a:cs typeface="Al Bayan Plain" pitchFamily="2" charset="-78"/>
              </a:rPr>
              <a:t> kind: Node</a:t>
            </a:r>
          </a:p>
          <a:p>
            <a:pPr algn="l"/>
            <a:r>
              <a:rPr lang="en-US" sz="800" kern="0" dirty="0" err="1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 err="1">
                <a:cs typeface="Al Bayan Plain" pitchFamily="2" charset="-78"/>
              </a:rPr>
              <a:t>   name: gpu-node</a:t>
            </a:r>
          </a:p>
          <a:p>
            <a:pPr algn="l"/>
            <a:r>
              <a:rPr lang="en-US" sz="800" kern="0" dirty="0" err="1">
                <a:cs typeface="Al Bayan Plain" pitchFamily="2" charset="-78"/>
              </a:rPr>
              <a:t> status: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capacity: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  nvidia.com/gpu: "4"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allocatable: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  nvidia.com/gpu: "4"</a:t>
            </a:r>
          </a:p>
        </p:txBody>
      </p:sp>
    </p:spTree>
    <p:extLst>
      <p:ext uri="{BB962C8B-B14F-4D97-AF65-F5344CB8AC3E}">
        <p14:creationId xmlns:p14="http://schemas.microsoft.com/office/powerpoint/2010/main" val="806702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7">
            <a:extLst>
              <a:ext uri="{FF2B5EF4-FFF2-40B4-BE49-F238E27FC236}">
                <a16:creationId xmlns:a16="http://schemas.microsoft.com/office/drawing/2014/main" id="{E230E7AA-2F9E-D6DE-1E47-247F40BB0A95}"/>
              </a:ext>
            </a:extLst>
          </p:cNvPr>
          <p:cNvSpPr/>
          <p:nvPr/>
        </p:nvSpPr>
        <p:spPr>
          <a:xfrm flipH="1">
            <a:off x="971602" y="2507913"/>
            <a:ext cx="5112568" cy="2368093"/>
          </a:xfrm>
          <a:prstGeom prst="roundRect">
            <a:avLst>
              <a:gd name="adj" fmla="val 5713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t"/>
          <a:lstStyle/>
          <a:p>
            <a:r>
              <a:rPr lang="en-US" sz="1000" b="1" dirty="0">
                <a:solidFill>
                  <a:schemeClr val="tx1"/>
                </a:solidFill>
              </a:rPr>
              <a:t>NVIDIA 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GPU Node</a:t>
            </a:r>
            <a:endParaRPr lang="en-KR" sz="1000" b="1" dirty="0">
              <a:solidFill>
                <a:schemeClr val="tx1"/>
              </a:solidFill>
            </a:endParaRP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3D60D388-233D-1AA2-E811-051E720F3968}"/>
              </a:ext>
            </a:extLst>
          </p:cNvPr>
          <p:cNvGrpSpPr/>
          <p:nvPr/>
        </p:nvGrpSpPr>
        <p:grpSpPr>
          <a:xfrm flipH="1">
            <a:off x="1852107" y="4031119"/>
            <a:ext cx="1463038" cy="605106"/>
            <a:chOff x="4854687" y="4196486"/>
            <a:chExt cx="1463038" cy="702501"/>
          </a:xfrm>
          <a:solidFill>
            <a:schemeClr val="bg1"/>
          </a:solidFill>
        </p:grpSpPr>
        <p:sp>
          <p:nvSpPr>
            <p:cNvPr id="3" name="Rounded Rectangle 3">
              <a:extLst>
                <a:ext uri="{FF2B5EF4-FFF2-40B4-BE49-F238E27FC236}">
                  <a16:creationId xmlns:a16="http://schemas.microsoft.com/office/drawing/2014/main" id="{9C88CC54-2142-7874-3021-51DDDB8BEC24}"/>
                </a:ext>
              </a:extLst>
            </p:cNvPr>
            <p:cNvSpPr/>
            <p:nvPr/>
          </p:nvSpPr>
          <p:spPr>
            <a:xfrm>
              <a:off x="5033212" y="4196486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4" name="Rounded Rectangle 7">
              <a:extLst>
                <a:ext uri="{FF2B5EF4-FFF2-40B4-BE49-F238E27FC236}">
                  <a16:creationId xmlns:a16="http://schemas.microsoft.com/office/drawing/2014/main" id="{433E3234-1F7D-3F9F-17BA-ABD8DD33A884}"/>
                </a:ext>
              </a:extLst>
            </p:cNvPr>
            <p:cNvSpPr/>
            <p:nvPr/>
          </p:nvSpPr>
          <p:spPr>
            <a:xfrm>
              <a:off x="4945445" y="4276371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5" name="Rounded Rectangle 16">
              <a:extLst>
                <a:ext uri="{FF2B5EF4-FFF2-40B4-BE49-F238E27FC236}">
                  <a16:creationId xmlns:a16="http://schemas.microsoft.com/office/drawing/2014/main" id="{62520089-E71E-CD7A-1B8B-1019109CEF36}"/>
                </a:ext>
              </a:extLst>
            </p:cNvPr>
            <p:cNvSpPr/>
            <p:nvPr/>
          </p:nvSpPr>
          <p:spPr>
            <a:xfrm>
              <a:off x="4854687" y="4363456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</p:grp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CBA6587-13E2-9ADD-7890-3502C479E962}"/>
              </a:ext>
            </a:extLst>
          </p:cNvPr>
          <p:cNvSpPr/>
          <p:nvPr/>
        </p:nvSpPr>
        <p:spPr>
          <a:xfrm flipH="1">
            <a:off x="1619670" y="3057559"/>
            <a:ext cx="1786232" cy="4612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altLang="ko-KR" sz="1000" b="1" dirty="0">
                <a:solidFill>
                  <a:schemeClr val="tx1"/>
                </a:solidFill>
              </a:rPr>
              <a:t>NVIDIA </a:t>
            </a:r>
            <a:r>
              <a:rPr lang="en-US" altLang="ko-KR" sz="1000" b="1" dirty="0">
                <a:solidFill>
                  <a:schemeClr val="tx1"/>
                </a:solidFill>
              </a:rPr>
              <a:t>Device Plugin Pod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(DaemonSet)</a:t>
            </a:r>
            <a:endParaRPr lang="en-KR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8558285C-F719-14C5-57E3-AB0DEBC8A263}"/>
              </a:ext>
            </a:extLst>
          </p:cNvPr>
          <p:cNvSpPr/>
          <p:nvPr/>
        </p:nvSpPr>
        <p:spPr>
          <a:xfrm flipH="1">
            <a:off x="4914198" y="3057559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kubelet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07FD465-DCD6-5DFB-37E1-D6F6C809D2AA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512786" y="3518844"/>
            <a:ext cx="250859" cy="733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17D82C2-0AE5-79E0-678D-2D4BE77E0E27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2512786" y="3518844"/>
            <a:ext cx="160102" cy="6560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B56CD6A-3DBB-CADC-3D2E-6F5F609933FB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>
            <a:off x="2512786" y="3518844"/>
            <a:ext cx="69344" cy="5810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770D2D1-C9B1-A73F-C73E-83CF486C4DD2}"/>
              </a:ext>
            </a:extLst>
          </p:cNvPr>
          <p:cNvCxnSpPr>
            <a:cxnSpLocks/>
            <a:stCxn id="7" idx="2"/>
            <a:endCxn id="3" idx="0"/>
          </p:cNvCxnSpPr>
          <p:nvPr/>
        </p:nvCxnSpPr>
        <p:spPr>
          <a:xfrm flipH="1">
            <a:off x="2494363" y="3518844"/>
            <a:ext cx="18423" cy="5122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8BEDEE9-3E34-84B4-AADB-72A368C77D7D}"/>
              </a:ext>
            </a:extLst>
          </p:cNvPr>
          <p:cNvCxnSpPr>
            <a:cxnSpLocks/>
          </p:cNvCxnSpPr>
          <p:nvPr/>
        </p:nvCxnSpPr>
        <p:spPr>
          <a:xfrm>
            <a:off x="3405903" y="3180670"/>
            <a:ext cx="15082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612D680-25F7-28AD-C551-7D5963D60AF7}"/>
              </a:ext>
            </a:extLst>
          </p:cNvPr>
          <p:cNvSpPr txBox="1"/>
          <p:nvPr/>
        </p:nvSpPr>
        <p:spPr>
          <a:xfrm flipH="1">
            <a:off x="1331374" y="3578665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i="1"/>
              <a:t>2. Scan &amp; </a:t>
            </a:r>
            <a:br>
              <a:rPr kumimoji="1" lang="en-US" altLang="ko-KR" sz="1000" i="1"/>
            </a:br>
            <a:r>
              <a:rPr kumimoji="1" lang="en-US" altLang="ko-KR" sz="1000" i="1"/>
              <a:t>health check GPU</a:t>
            </a:r>
            <a:endParaRPr kumimoji="1" lang="ko-KR" altLang="en-US" sz="1000" i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3F9EED-B5A6-C870-261D-B7427A11370B}"/>
              </a:ext>
            </a:extLst>
          </p:cNvPr>
          <p:cNvSpPr txBox="1"/>
          <p:nvPr/>
        </p:nvSpPr>
        <p:spPr>
          <a:xfrm flipH="1">
            <a:off x="1632578" y="2507913"/>
            <a:ext cx="1992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i="1"/>
              <a:t>1. Start gRPC server</a:t>
            </a:r>
            <a:br>
              <a:rPr kumimoji="1" lang="en-US" altLang="ko-KR" sz="1000" i="1"/>
            </a:br>
            <a:r>
              <a:rPr kumimoji="1" lang="en-US" altLang="ko-KR" sz="1000" i="1"/>
              <a:t>with /var/lib/kubelet/</a:t>
            </a:r>
            <a:br>
              <a:rPr kumimoji="1" lang="en-US" altLang="ko-KR" sz="1000" i="1"/>
            </a:br>
            <a:r>
              <a:rPr kumimoji="1" lang="en-US" altLang="ko-KR" sz="1000" i="1"/>
              <a:t>device-plugins/nvidia-gpu.sock</a:t>
            </a:r>
            <a:endParaRPr kumimoji="1" lang="ko-KR" altLang="en-US" sz="1000" i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0D0C3D-C804-C81D-4ECD-0ABF3CE642C7}"/>
              </a:ext>
            </a:extLst>
          </p:cNvPr>
          <p:cNvSpPr txBox="1"/>
          <p:nvPr/>
        </p:nvSpPr>
        <p:spPr>
          <a:xfrm flipH="1">
            <a:off x="3707909" y="2506068"/>
            <a:ext cx="21423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3. </a:t>
            </a:r>
            <a:r>
              <a:rPr kumimoji="1" lang="en-US" altLang="ko-KR" sz="1000" b="1" i="1"/>
              <a:t>Register() </a:t>
            </a:r>
            <a:r>
              <a:rPr kumimoji="1" lang="en-US" altLang="ko-KR" sz="1000" i="1"/>
              <a:t>GPUs</a:t>
            </a:r>
          </a:p>
          <a:p>
            <a:r>
              <a:rPr kumimoji="1" lang="en-US" altLang="ko-KR" sz="1000" i="1"/>
              <a:t>via </a:t>
            </a:r>
            <a:r>
              <a:rPr lang="en" altLang="ko-KR" sz="1000"/>
              <a:t>/var/lib/kubelet/device-plugins/kubelet.sock</a:t>
            </a:r>
            <a:endParaRPr kumimoji="1" lang="en-US" altLang="ko-KR" sz="1000" i="1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5ABB838-183D-55FD-9F29-E1CF706FCC26}"/>
              </a:ext>
            </a:extLst>
          </p:cNvPr>
          <p:cNvCxnSpPr>
            <a:cxnSpLocks/>
          </p:cNvCxnSpPr>
          <p:nvPr/>
        </p:nvCxnSpPr>
        <p:spPr>
          <a:xfrm>
            <a:off x="3405903" y="3363838"/>
            <a:ext cx="150829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56E2F7E-CD68-56E8-5828-62B45AAD5499}"/>
              </a:ext>
            </a:extLst>
          </p:cNvPr>
          <p:cNvSpPr txBox="1"/>
          <p:nvPr/>
        </p:nvSpPr>
        <p:spPr>
          <a:xfrm flipH="1">
            <a:off x="3359028" y="3366346"/>
            <a:ext cx="203132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i="1"/>
              <a:t>4. </a:t>
            </a:r>
            <a:r>
              <a:rPr kumimoji="1" lang="en-US" altLang="ko-KR" sz="1000" b="1" i="1"/>
              <a:t>ListAndWatch()</a:t>
            </a:r>
            <a:r>
              <a:rPr kumimoji="1" lang="ko-KR" altLang="en-US" sz="1000" i="1"/>
              <a:t> </a:t>
            </a:r>
            <a:r>
              <a:rPr kumimoji="1" lang="en-US" altLang="ko-KR" sz="1000" i="1"/>
              <a:t>GPUs</a:t>
            </a:r>
            <a:endParaRPr kumimoji="1" lang="en-US" altLang="ko-KR" sz="1000" b="1" i="1"/>
          </a:p>
          <a:p>
            <a:r>
              <a:rPr kumimoji="1" lang="en-US" altLang="ko-KR" sz="1000" i="1"/>
              <a:t>via var/lib/kubelet/</a:t>
            </a:r>
            <a:br>
              <a:rPr kumimoji="1" lang="en-US" altLang="ko-KR" sz="1000" i="1"/>
            </a:br>
            <a:r>
              <a:rPr kumimoji="1" lang="en-US" altLang="ko-KR" sz="1000" i="1"/>
              <a:t>device-plugins/nvidia-gpu.sock</a:t>
            </a:r>
            <a:endParaRPr kumimoji="1" lang="ko-KR" altLang="en-US" sz="1000" i="1"/>
          </a:p>
        </p:txBody>
      </p:sp>
      <p:sp>
        <p:nvSpPr>
          <p:cNvPr id="43" name="Rounded Rectangle 17">
            <a:extLst>
              <a:ext uri="{FF2B5EF4-FFF2-40B4-BE49-F238E27FC236}">
                <a16:creationId xmlns:a16="http://schemas.microsoft.com/office/drawing/2014/main" id="{DACC4DB1-BEDF-3EC0-4B8B-1564E28355E3}"/>
              </a:ext>
            </a:extLst>
          </p:cNvPr>
          <p:cNvSpPr/>
          <p:nvPr/>
        </p:nvSpPr>
        <p:spPr>
          <a:xfrm flipH="1">
            <a:off x="4914198" y="137541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K8s API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Server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B0000FF-CE53-E139-D5B1-C511CF0005F5}"/>
              </a:ext>
            </a:extLst>
          </p:cNvPr>
          <p:cNvCxnSpPr>
            <a:cxnSpLocks/>
            <a:stCxn id="8" idx="0"/>
            <a:endCxn id="43" idx="2"/>
          </p:cNvCxnSpPr>
          <p:nvPr/>
        </p:nvCxnSpPr>
        <p:spPr>
          <a:xfrm flipV="1">
            <a:off x="5418254" y="598826"/>
            <a:ext cx="0" cy="24587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7">
            <a:extLst>
              <a:ext uri="{FF2B5EF4-FFF2-40B4-BE49-F238E27FC236}">
                <a16:creationId xmlns:a16="http://schemas.microsoft.com/office/drawing/2014/main" id="{3CCE009E-337E-351D-BE95-4A1AAB866927}"/>
              </a:ext>
            </a:extLst>
          </p:cNvPr>
          <p:cNvSpPr/>
          <p:nvPr/>
        </p:nvSpPr>
        <p:spPr>
          <a:xfrm flipH="1">
            <a:off x="2121390" y="4252458"/>
            <a:ext cx="1284513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1000" dirty="0">
                <a:solidFill>
                  <a:schemeClr val="tx1"/>
                </a:solidFill>
              </a:rPr>
              <a:t>NVIDIA GPUs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228448-171A-153D-6834-069CB821A3F8}"/>
              </a:ext>
            </a:extLst>
          </p:cNvPr>
          <p:cNvSpPr txBox="1"/>
          <p:nvPr/>
        </p:nvSpPr>
        <p:spPr>
          <a:xfrm flipH="1">
            <a:off x="4139961" y="1168060"/>
            <a:ext cx="1278293" cy="121571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kern="0" dirty="0" err="1">
                <a:cs typeface="Al Bayan Plain" pitchFamily="2" charset="-78"/>
              </a:rPr>
              <a:t> </a:t>
            </a:r>
            <a:r>
              <a:rPr lang="en-US" sz="900" kern="0" dirty="0" err="1">
                <a:cs typeface="Al Bayan Plain" pitchFamily="2" charset="-78"/>
              </a:rPr>
              <a:t>apiVersion</a:t>
            </a:r>
            <a:r>
              <a:rPr lang="en-US" sz="9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kind: Node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…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status: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allocatable:</a:t>
            </a:r>
          </a:p>
          <a:p>
            <a:pPr algn="l"/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     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"4"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capacity:</a:t>
            </a:r>
          </a:p>
          <a:p>
            <a:pPr algn="l"/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     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"4"</a:t>
            </a:r>
          </a:p>
        </p:txBody>
      </p:sp>
      <p:sp>
        <p:nvSpPr>
          <p:cNvPr id="13" name="사각형: 둥근 모서리 71">
            <a:extLst>
              <a:ext uri="{FF2B5EF4-FFF2-40B4-BE49-F238E27FC236}">
                <a16:creationId xmlns:a16="http://schemas.microsoft.com/office/drawing/2014/main" id="{EA5EFDD0-36F1-C39E-255F-3FAAA31BCB21}"/>
              </a:ext>
            </a:extLst>
          </p:cNvPr>
          <p:cNvSpPr/>
          <p:nvPr/>
        </p:nvSpPr>
        <p:spPr>
          <a:xfrm flipH="1">
            <a:off x="3817499" y="704099"/>
            <a:ext cx="1741239" cy="460362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5. Patch node’s allocatable and capacity</a:t>
            </a:r>
          </a:p>
          <a:p>
            <a:pPr algn="ctr"/>
            <a:r>
              <a:rPr lang="en-US" altLang="ko-KR" sz="1000" i="1"/>
              <a:t>with GPU </a:t>
            </a:r>
            <a:endParaRPr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723130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8B716-1926-3644-A3C6-FAB171730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9AC7DCAB-800A-F9D2-8DA2-09CDABCDA994}"/>
              </a:ext>
            </a:extLst>
          </p:cNvPr>
          <p:cNvSpPr/>
          <p:nvPr/>
        </p:nvSpPr>
        <p:spPr>
          <a:xfrm flipH="1">
            <a:off x="971602" y="2507913"/>
            <a:ext cx="5112568" cy="2368093"/>
          </a:xfrm>
          <a:prstGeom prst="roundRect">
            <a:avLst>
              <a:gd name="adj" fmla="val 5713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t"/>
          <a:lstStyle/>
          <a:p>
            <a:r>
              <a:rPr lang="en-US" sz="1000" b="1" dirty="0">
                <a:solidFill>
                  <a:schemeClr val="tx1"/>
                </a:solidFill>
              </a:rPr>
              <a:t>NVIDIA 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GPU Node</a:t>
            </a:r>
            <a:endParaRPr lang="en-KR" sz="1000" b="1" dirty="0">
              <a:solidFill>
                <a:schemeClr val="tx1"/>
              </a:solidFill>
            </a:endParaRP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0A5EB036-3619-C3D3-DEC9-6B6855A7B6FE}"/>
              </a:ext>
            </a:extLst>
          </p:cNvPr>
          <p:cNvGrpSpPr/>
          <p:nvPr/>
        </p:nvGrpSpPr>
        <p:grpSpPr>
          <a:xfrm flipH="1">
            <a:off x="1852107" y="4031119"/>
            <a:ext cx="1463038" cy="605106"/>
            <a:chOff x="4854687" y="4196486"/>
            <a:chExt cx="1463038" cy="702501"/>
          </a:xfrm>
          <a:solidFill>
            <a:schemeClr val="bg1"/>
          </a:solidFill>
        </p:grpSpPr>
        <p:sp>
          <p:nvSpPr>
            <p:cNvPr id="3" name="Rounded Rectangle 3">
              <a:extLst>
                <a:ext uri="{FF2B5EF4-FFF2-40B4-BE49-F238E27FC236}">
                  <a16:creationId xmlns:a16="http://schemas.microsoft.com/office/drawing/2014/main" id="{B5B990D2-CAB4-79D5-BA86-A33682804A33}"/>
                </a:ext>
              </a:extLst>
            </p:cNvPr>
            <p:cNvSpPr/>
            <p:nvPr/>
          </p:nvSpPr>
          <p:spPr>
            <a:xfrm>
              <a:off x="5033212" y="4196486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4" name="Rounded Rectangle 7">
              <a:extLst>
                <a:ext uri="{FF2B5EF4-FFF2-40B4-BE49-F238E27FC236}">
                  <a16:creationId xmlns:a16="http://schemas.microsoft.com/office/drawing/2014/main" id="{B010C308-461C-6FDD-F5BF-8AB82C1145A8}"/>
                </a:ext>
              </a:extLst>
            </p:cNvPr>
            <p:cNvSpPr/>
            <p:nvPr/>
          </p:nvSpPr>
          <p:spPr>
            <a:xfrm>
              <a:off x="4945445" y="4276371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5" name="Rounded Rectangle 16">
              <a:extLst>
                <a:ext uri="{FF2B5EF4-FFF2-40B4-BE49-F238E27FC236}">
                  <a16:creationId xmlns:a16="http://schemas.microsoft.com/office/drawing/2014/main" id="{C6815C37-3EE6-B360-75F3-ECE1853F9FD7}"/>
                </a:ext>
              </a:extLst>
            </p:cNvPr>
            <p:cNvSpPr/>
            <p:nvPr/>
          </p:nvSpPr>
          <p:spPr>
            <a:xfrm>
              <a:off x="4854687" y="4363456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</p:grp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1EDDF8A2-F03B-85F1-3219-3CCFE047FC05}"/>
              </a:ext>
            </a:extLst>
          </p:cNvPr>
          <p:cNvSpPr/>
          <p:nvPr/>
        </p:nvSpPr>
        <p:spPr>
          <a:xfrm flipH="1">
            <a:off x="1619672" y="3057559"/>
            <a:ext cx="1786231" cy="4612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1000" b="1" dirty="0">
                <a:solidFill>
                  <a:schemeClr val="tx1"/>
                </a:solidFill>
              </a:rPr>
              <a:t>NVIDIA </a:t>
            </a:r>
            <a:r>
              <a:rPr lang="en-US" sz="1000" b="1" dirty="0">
                <a:solidFill>
                  <a:schemeClr val="tx1"/>
                </a:solidFill>
              </a:rPr>
              <a:t>Device Plugin Pod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(DaemonSet)</a:t>
            </a:r>
            <a:endParaRPr lang="en-KR" sz="1000" dirty="0">
              <a:solidFill>
                <a:schemeClr val="tx1"/>
              </a:solidFill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5FCE30D2-0FCC-3FCA-972A-71E32F46F112}"/>
              </a:ext>
            </a:extLst>
          </p:cNvPr>
          <p:cNvSpPr/>
          <p:nvPr/>
        </p:nvSpPr>
        <p:spPr>
          <a:xfrm flipH="1">
            <a:off x="4914198" y="3057559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kubelet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CAC7E52-139A-44A5-9171-78413F240EC0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512787" y="3518844"/>
            <a:ext cx="250859" cy="733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5CB0154-55F9-74C4-E82F-C210DDE3B3CE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2512787" y="3518844"/>
            <a:ext cx="160101" cy="6560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C650D22-4D89-878B-BDC4-D412E03FB3DF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>
            <a:off x="2512787" y="3518844"/>
            <a:ext cx="69343" cy="5810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24E7283-4267-888F-B8D0-E8955712990F}"/>
              </a:ext>
            </a:extLst>
          </p:cNvPr>
          <p:cNvCxnSpPr>
            <a:cxnSpLocks/>
            <a:stCxn id="7" idx="2"/>
            <a:endCxn id="3" idx="0"/>
          </p:cNvCxnSpPr>
          <p:nvPr/>
        </p:nvCxnSpPr>
        <p:spPr>
          <a:xfrm flipH="1">
            <a:off x="2494363" y="3518844"/>
            <a:ext cx="18424" cy="5122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5A8F0E0-2F67-5F61-AC59-3FED09B8773C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>
            <a:off x="3405903" y="3288202"/>
            <a:ext cx="150829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8C8DE8A-044B-80CF-3AA4-7F1E93DD324F}"/>
              </a:ext>
            </a:extLst>
          </p:cNvPr>
          <p:cNvSpPr txBox="1"/>
          <p:nvPr/>
        </p:nvSpPr>
        <p:spPr>
          <a:xfrm flipH="1">
            <a:off x="3405875" y="3281918"/>
            <a:ext cx="1992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i="1"/>
              <a:t>4. </a:t>
            </a:r>
            <a:r>
              <a:rPr kumimoji="1" lang="en-US" altLang="ko-KR" sz="1000" b="1" i="1"/>
              <a:t>Allocate() </a:t>
            </a:r>
            <a:r>
              <a:rPr kumimoji="1" lang="en-US" altLang="ko-KR" sz="1000" i="1"/>
              <a:t>GPUs</a:t>
            </a:r>
          </a:p>
          <a:p>
            <a:r>
              <a:rPr kumimoji="1" lang="en-US" altLang="ko-KR" sz="1000" i="1"/>
              <a:t>via var/lib/kubelet/</a:t>
            </a:r>
            <a:br>
              <a:rPr kumimoji="1" lang="en-US" altLang="ko-KR" sz="1000" i="1"/>
            </a:br>
            <a:r>
              <a:rPr kumimoji="1" lang="en-US" altLang="ko-KR" sz="1000" i="1"/>
              <a:t>device-plugins/nvidia-gpu.sock</a:t>
            </a:r>
            <a:endParaRPr kumimoji="1" lang="ko-KR" altLang="en-US" sz="1000" i="1"/>
          </a:p>
        </p:txBody>
      </p:sp>
      <p:sp>
        <p:nvSpPr>
          <p:cNvPr id="43" name="Rounded Rectangle 17">
            <a:extLst>
              <a:ext uri="{FF2B5EF4-FFF2-40B4-BE49-F238E27FC236}">
                <a16:creationId xmlns:a16="http://schemas.microsoft.com/office/drawing/2014/main" id="{7BF463B9-34A6-AF02-187B-E5387EB78A4A}"/>
              </a:ext>
            </a:extLst>
          </p:cNvPr>
          <p:cNvSpPr/>
          <p:nvPr/>
        </p:nvSpPr>
        <p:spPr>
          <a:xfrm flipH="1">
            <a:off x="4914198" y="137541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K8s API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Server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C783EE7-F231-BB4F-00DA-4B077DFF730B}"/>
              </a:ext>
            </a:extLst>
          </p:cNvPr>
          <p:cNvCxnSpPr>
            <a:cxnSpLocks/>
            <a:stCxn id="8" idx="0"/>
            <a:endCxn id="43" idx="2"/>
          </p:cNvCxnSpPr>
          <p:nvPr/>
        </p:nvCxnSpPr>
        <p:spPr>
          <a:xfrm flipV="1">
            <a:off x="5418254" y="598826"/>
            <a:ext cx="0" cy="24587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17">
            <a:extLst>
              <a:ext uri="{FF2B5EF4-FFF2-40B4-BE49-F238E27FC236}">
                <a16:creationId xmlns:a16="http://schemas.microsoft.com/office/drawing/2014/main" id="{5398320E-E2FC-6130-5A80-D4E3524367F3}"/>
              </a:ext>
            </a:extLst>
          </p:cNvPr>
          <p:cNvSpPr/>
          <p:nvPr/>
        </p:nvSpPr>
        <p:spPr>
          <a:xfrm flipH="1">
            <a:off x="1187625" y="137541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Kubernetes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Client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52D151B3-171B-E4A2-56CB-61C0F0E43873}"/>
              </a:ext>
            </a:extLst>
          </p:cNvPr>
          <p:cNvCxnSpPr>
            <a:cxnSpLocks/>
            <a:stCxn id="60" idx="1"/>
            <a:endCxn id="43" idx="3"/>
          </p:cNvCxnSpPr>
          <p:nvPr/>
        </p:nvCxnSpPr>
        <p:spPr>
          <a:xfrm>
            <a:off x="2195737" y="368184"/>
            <a:ext cx="271846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334B64C-A9B4-AEC7-193C-7CBF177F67D2}"/>
              </a:ext>
            </a:extLst>
          </p:cNvPr>
          <p:cNvSpPr txBox="1"/>
          <p:nvPr/>
        </p:nvSpPr>
        <p:spPr>
          <a:xfrm>
            <a:off x="2304962" y="367545"/>
            <a:ext cx="1512536" cy="176971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kern="0" dirty="0" err="1">
                <a:cs typeface="Al Bayan Plain" pitchFamily="2" charset="-78"/>
              </a:rPr>
              <a:t> </a:t>
            </a:r>
            <a:r>
              <a:rPr lang="en-US" sz="900" kern="0" dirty="0" err="1">
                <a:cs typeface="Al Bayan Plain" pitchFamily="2" charset="-78"/>
              </a:rPr>
              <a:t>apiVersion</a:t>
            </a:r>
            <a:r>
              <a:rPr lang="en-US" sz="9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name: pod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- name: gpu-app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  <p:sp>
        <p:nvSpPr>
          <p:cNvPr id="70" name="사각형: 둥근 모서리 71">
            <a:extLst>
              <a:ext uri="{FF2B5EF4-FFF2-40B4-BE49-F238E27FC236}">
                <a16:creationId xmlns:a16="http://schemas.microsoft.com/office/drawing/2014/main" id="{ACF5E18B-292C-AA38-714B-BB81DC5F478D}"/>
              </a:ext>
            </a:extLst>
          </p:cNvPr>
          <p:cNvSpPr/>
          <p:nvPr/>
        </p:nvSpPr>
        <p:spPr>
          <a:xfrm flipH="1">
            <a:off x="2190150" y="2138514"/>
            <a:ext cx="1741239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1. Create pod with GPU </a:t>
            </a:r>
            <a:endParaRPr lang="ko-KR" altLang="en-US" sz="1000" i="1"/>
          </a:p>
        </p:txBody>
      </p:sp>
      <p:sp>
        <p:nvSpPr>
          <p:cNvPr id="77" name="Rounded Rectangle 17">
            <a:extLst>
              <a:ext uri="{FF2B5EF4-FFF2-40B4-BE49-F238E27FC236}">
                <a16:creationId xmlns:a16="http://schemas.microsoft.com/office/drawing/2014/main" id="{E40500BD-09BC-520A-D980-8FFB1B440B46}"/>
              </a:ext>
            </a:extLst>
          </p:cNvPr>
          <p:cNvSpPr/>
          <p:nvPr/>
        </p:nvSpPr>
        <p:spPr>
          <a:xfrm flipH="1">
            <a:off x="4134943" y="1299249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K8s Scheduler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5E7647A1-0305-012F-B70C-A2F9970B991D}"/>
              </a:ext>
            </a:extLst>
          </p:cNvPr>
          <p:cNvCxnSpPr>
            <a:cxnSpLocks/>
            <a:stCxn id="77" idx="1"/>
            <a:endCxn id="43" idx="2"/>
          </p:cNvCxnSpPr>
          <p:nvPr/>
        </p:nvCxnSpPr>
        <p:spPr>
          <a:xfrm flipV="1">
            <a:off x="5143055" y="598826"/>
            <a:ext cx="275199" cy="9310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사각형: 둥근 모서리 71">
            <a:extLst>
              <a:ext uri="{FF2B5EF4-FFF2-40B4-BE49-F238E27FC236}">
                <a16:creationId xmlns:a16="http://schemas.microsoft.com/office/drawing/2014/main" id="{18B5B633-731F-1EC7-0062-0F824FCBB0BD}"/>
              </a:ext>
            </a:extLst>
          </p:cNvPr>
          <p:cNvSpPr/>
          <p:nvPr/>
        </p:nvSpPr>
        <p:spPr>
          <a:xfrm flipH="1">
            <a:off x="4134943" y="883665"/>
            <a:ext cx="1138257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2. Get created pod info and </a:t>
            </a:r>
          </a:p>
          <a:p>
            <a:r>
              <a:rPr lang="en-US" altLang="ko-KR" sz="1000" i="1"/>
              <a:t>scheduling</a:t>
            </a:r>
            <a:endParaRPr lang="ko-KR" altLang="en-US" sz="1000" i="1"/>
          </a:p>
        </p:txBody>
      </p:sp>
      <p:sp>
        <p:nvSpPr>
          <p:cNvPr id="92" name="Rounded Rectangle 17">
            <a:extLst>
              <a:ext uri="{FF2B5EF4-FFF2-40B4-BE49-F238E27FC236}">
                <a16:creationId xmlns:a16="http://schemas.microsoft.com/office/drawing/2014/main" id="{E0E61386-EF74-6019-3E1D-05D6C97B661F}"/>
              </a:ext>
            </a:extLst>
          </p:cNvPr>
          <p:cNvSpPr/>
          <p:nvPr/>
        </p:nvSpPr>
        <p:spPr>
          <a:xfrm flipH="1">
            <a:off x="4914198" y="4185332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App Pod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with GPU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79D4EFDF-3696-971D-3058-DA901D08A8CB}"/>
              </a:ext>
            </a:extLst>
          </p:cNvPr>
          <p:cNvCxnSpPr>
            <a:cxnSpLocks/>
            <a:stCxn id="8" idx="2"/>
            <a:endCxn id="92" idx="0"/>
          </p:cNvCxnSpPr>
          <p:nvPr/>
        </p:nvCxnSpPr>
        <p:spPr>
          <a:xfrm>
            <a:off x="5418254" y="3518844"/>
            <a:ext cx="0" cy="6664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사각형: 둥근 모서리 71">
            <a:extLst>
              <a:ext uri="{FF2B5EF4-FFF2-40B4-BE49-F238E27FC236}">
                <a16:creationId xmlns:a16="http://schemas.microsoft.com/office/drawing/2014/main" id="{56E09EB7-568D-5187-7B3D-00479B9F13D5}"/>
              </a:ext>
            </a:extLst>
          </p:cNvPr>
          <p:cNvSpPr/>
          <p:nvPr/>
        </p:nvSpPr>
        <p:spPr>
          <a:xfrm flipH="1">
            <a:off x="3674605" y="3924936"/>
            <a:ext cx="1928787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5. Create pod with GPUs</a:t>
            </a:r>
            <a:endParaRPr lang="ko-KR" altLang="en-US" sz="1000" i="1"/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05C31C6-DBD3-DD22-34CB-185F71A4CCE5}"/>
              </a:ext>
            </a:extLst>
          </p:cNvPr>
          <p:cNvCxnSpPr>
            <a:cxnSpLocks/>
            <a:stCxn id="92" idx="3"/>
          </p:cNvCxnSpPr>
          <p:nvPr/>
        </p:nvCxnSpPr>
        <p:spPr>
          <a:xfrm flipH="1">
            <a:off x="3405903" y="4415975"/>
            <a:ext cx="1508295" cy="6712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30362FF8-3998-91C7-DB85-6A68C472B8B0}"/>
              </a:ext>
            </a:extLst>
          </p:cNvPr>
          <p:cNvCxnSpPr>
            <a:cxnSpLocks/>
            <a:stCxn id="92" idx="3"/>
          </p:cNvCxnSpPr>
          <p:nvPr/>
        </p:nvCxnSpPr>
        <p:spPr>
          <a:xfrm flipH="1" flipV="1">
            <a:off x="3312154" y="4405582"/>
            <a:ext cx="1602044" cy="1039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7">
            <a:extLst>
              <a:ext uri="{FF2B5EF4-FFF2-40B4-BE49-F238E27FC236}">
                <a16:creationId xmlns:a16="http://schemas.microsoft.com/office/drawing/2014/main" id="{BC5CD3A7-A1FF-5C75-2DDC-C8E6FA3837E5}"/>
              </a:ext>
            </a:extLst>
          </p:cNvPr>
          <p:cNvSpPr/>
          <p:nvPr/>
        </p:nvSpPr>
        <p:spPr>
          <a:xfrm flipH="1">
            <a:off x="2121390" y="4252458"/>
            <a:ext cx="1284513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1000" dirty="0">
                <a:solidFill>
                  <a:schemeClr val="tx1"/>
                </a:solidFill>
              </a:rPr>
              <a:t>NVIDIA GPUs</a:t>
            </a:r>
          </a:p>
        </p:txBody>
      </p:sp>
      <p:sp>
        <p:nvSpPr>
          <p:cNvPr id="12" name="사각형: 둥근 모서리 71">
            <a:extLst>
              <a:ext uri="{FF2B5EF4-FFF2-40B4-BE49-F238E27FC236}">
                <a16:creationId xmlns:a16="http://schemas.microsoft.com/office/drawing/2014/main" id="{A7E01AD0-9095-EDE7-78D4-286ED2796A61}"/>
              </a:ext>
            </a:extLst>
          </p:cNvPr>
          <p:cNvSpPr/>
          <p:nvPr/>
        </p:nvSpPr>
        <p:spPr>
          <a:xfrm flipH="1">
            <a:off x="4243133" y="2549630"/>
            <a:ext cx="1342130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3. Get scheduled </a:t>
            </a:r>
            <a:br>
              <a:rPr lang="en-US" altLang="ko-KR" sz="1000" i="1"/>
            </a:br>
            <a:r>
              <a:rPr lang="en-US" altLang="ko-KR" sz="1000" i="1"/>
              <a:t>pod info</a:t>
            </a:r>
          </a:p>
        </p:txBody>
      </p:sp>
    </p:spTree>
    <p:extLst>
      <p:ext uri="{BB962C8B-B14F-4D97-AF65-F5344CB8AC3E}">
        <p14:creationId xmlns:p14="http://schemas.microsoft.com/office/powerpoint/2010/main" val="3174336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6FF2-CECF-5A7E-62A1-09AB8271A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A79145C0-97F5-154E-4F19-7F2BD5F18D9D}"/>
              </a:ext>
            </a:extLst>
          </p:cNvPr>
          <p:cNvSpPr/>
          <p:nvPr/>
        </p:nvSpPr>
        <p:spPr>
          <a:xfrm flipH="1">
            <a:off x="3038666" y="2782380"/>
            <a:ext cx="2066064" cy="4612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900" b="1" dirty="0">
                <a:solidFill>
                  <a:schemeClr val="tx1"/>
                </a:solidFill>
              </a:rPr>
              <a:t>NVIDIA </a:t>
            </a:r>
            <a:r>
              <a:rPr lang="en-US" sz="900" b="1" dirty="0">
                <a:solidFill>
                  <a:schemeClr val="tx1"/>
                </a:solidFill>
              </a:rPr>
              <a:t>Device Plugin Pod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(DaemonSet)</a:t>
            </a:r>
            <a:endParaRPr lang="en-KR" sz="900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114">
            <a:extLst>
              <a:ext uri="{FF2B5EF4-FFF2-40B4-BE49-F238E27FC236}">
                <a16:creationId xmlns:a16="http://schemas.microsoft.com/office/drawing/2014/main" id="{ABB183E9-4A6C-89A5-C040-D8DBFCCCBDF9}"/>
              </a:ext>
            </a:extLst>
          </p:cNvPr>
          <p:cNvSpPr/>
          <p:nvPr/>
        </p:nvSpPr>
        <p:spPr>
          <a:xfrm>
            <a:off x="1782967" y="581379"/>
            <a:ext cx="2577504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사각형: 둥근 모서리 114">
            <a:extLst>
              <a:ext uri="{FF2B5EF4-FFF2-40B4-BE49-F238E27FC236}">
                <a16:creationId xmlns:a16="http://schemas.microsoft.com/office/drawing/2014/main" id="{48CCE502-52C7-3663-2ED7-D0FACDF4C65C}"/>
              </a:ext>
            </a:extLst>
          </p:cNvPr>
          <p:cNvSpPr/>
          <p:nvPr/>
        </p:nvSpPr>
        <p:spPr>
          <a:xfrm>
            <a:off x="4403178" y="577607"/>
            <a:ext cx="1385789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F98FD32B-CF5A-050A-CEFD-E8F041DA5A34}"/>
              </a:ext>
            </a:extLst>
          </p:cNvPr>
          <p:cNvSpPr/>
          <p:nvPr/>
        </p:nvSpPr>
        <p:spPr>
          <a:xfrm>
            <a:off x="360495" y="581379"/>
            <a:ext cx="1379765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969EA95-56F1-F30B-1E36-A10E0F712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7B6C6839-2433-2E39-232F-C4852F0EB564}"/>
              </a:ext>
            </a:extLst>
          </p:cNvPr>
          <p:cNvSpPr/>
          <p:nvPr/>
        </p:nvSpPr>
        <p:spPr>
          <a:xfrm>
            <a:off x="1830421" y="863648"/>
            <a:ext cx="2486761" cy="1662236"/>
          </a:xfrm>
          <a:prstGeom prst="roundRect">
            <a:avLst>
              <a:gd name="adj" fmla="val 402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F7E91E61-CF80-963B-B80E-4C0F74D2D3BB}"/>
              </a:ext>
            </a:extLst>
          </p:cNvPr>
          <p:cNvSpPr/>
          <p:nvPr/>
        </p:nvSpPr>
        <p:spPr>
          <a:xfrm>
            <a:off x="1918155" y="2057675"/>
            <a:ext cx="1099999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631F9CB3-DA5B-834F-A70F-936D190772A7}"/>
              </a:ext>
            </a:extLst>
          </p:cNvPr>
          <p:cNvSpPr/>
          <p:nvPr/>
        </p:nvSpPr>
        <p:spPr>
          <a:xfrm>
            <a:off x="3119755" y="2057675"/>
            <a:ext cx="1099868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/dev/nvidia1</a:t>
            </a:r>
            <a:endParaRPr lang="en-US" altLang="ko-KR" sz="90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B608FFBC-72A4-960F-DC80-3A9D0901ADFB}"/>
              </a:ext>
            </a:extLst>
          </p:cNvPr>
          <p:cNvSpPr/>
          <p:nvPr/>
        </p:nvSpPr>
        <p:spPr>
          <a:xfrm>
            <a:off x="1918155" y="1587350"/>
            <a:ext cx="2301467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CA85E9DB-3ADE-4BC3-75A3-413BE3DD5668}"/>
              </a:ext>
            </a:extLst>
          </p:cNvPr>
          <p:cNvSpPr/>
          <p:nvPr/>
        </p:nvSpPr>
        <p:spPr>
          <a:xfrm>
            <a:off x="410256" y="858168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1BEB590A-5020-46F7-7741-393B32F3636A}"/>
              </a:ext>
            </a:extLst>
          </p:cNvPr>
          <p:cNvSpPr/>
          <p:nvPr/>
        </p:nvSpPr>
        <p:spPr>
          <a:xfrm>
            <a:off x="496102" y="2047831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1C6EE609-AE1C-D6E8-DA36-9EE318769824}"/>
              </a:ext>
            </a:extLst>
          </p:cNvPr>
          <p:cNvSpPr/>
          <p:nvPr/>
        </p:nvSpPr>
        <p:spPr>
          <a:xfrm>
            <a:off x="496101" y="1577505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46" name="사각형: 둥근 모서리 114">
            <a:extLst>
              <a:ext uri="{FF2B5EF4-FFF2-40B4-BE49-F238E27FC236}">
                <a16:creationId xmlns:a16="http://schemas.microsoft.com/office/drawing/2014/main" id="{36B01A24-8E1C-0CF3-24E8-A1FBFC93A551}"/>
              </a:ext>
            </a:extLst>
          </p:cNvPr>
          <p:cNvSpPr/>
          <p:nvPr/>
        </p:nvSpPr>
        <p:spPr>
          <a:xfrm>
            <a:off x="1918155" y="1136199"/>
            <a:ext cx="2301467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NVIDIA_VISIBLE_DEVICES Env  </a:t>
            </a:r>
            <a:endParaRPr lang="en-US" altLang="ko-KR" sz="9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722717E2-10B4-371B-19ED-895DD6816C1E}"/>
              </a:ext>
            </a:extLst>
          </p:cNvPr>
          <p:cNvSpPr/>
          <p:nvPr/>
        </p:nvSpPr>
        <p:spPr>
          <a:xfrm>
            <a:off x="496101" y="1131834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AB5B78F5-8BAE-547C-1945-8583FEEEEF5F}"/>
              </a:ext>
            </a:extLst>
          </p:cNvPr>
          <p:cNvSpPr/>
          <p:nvPr/>
        </p:nvSpPr>
        <p:spPr>
          <a:xfrm>
            <a:off x="4451870" y="858168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사각형: 둥근 모서리 114">
            <a:extLst>
              <a:ext uri="{FF2B5EF4-FFF2-40B4-BE49-F238E27FC236}">
                <a16:creationId xmlns:a16="http://schemas.microsoft.com/office/drawing/2014/main" id="{CC66EAB6-DA9D-3656-7003-234C8EFE5694}"/>
              </a:ext>
            </a:extLst>
          </p:cNvPr>
          <p:cNvSpPr/>
          <p:nvPr/>
        </p:nvSpPr>
        <p:spPr>
          <a:xfrm>
            <a:off x="4537716" y="2047831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/dev/nvidia1</a:t>
            </a:r>
            <a:endParaRPr lang="en-US" altLang="ko-KR" sz="900" dirty="0"/>
          </a:p>
        </p:txBody>
      </p:sp>
      <p:sp>
        <p:nvSpPr>
          <p:cNvPr id="6" name="사각형: 둥근 모서리 114">
            <a:extLst>
              <a:ext uri="{FF2B5EF4-FFF2-40B4-BE49-F238E27FC236}">
                <a16:creationId xmlns:a16="http://schemas.microsoft.com/office/drawing/2014/main" id="{003B70B6-81D5-FD38-2F78-20BDD883F8B3}"/>
              </a:ext>
            </a:extLst>
          </p:cNvPr>
          <p:cNvSpPr/>
          <p:nvPr/>
        </p:nvSpPr>
        <p:spPr>
          <a:xfrm>
            <a:off x="4537715" y="1577505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" name="사각형: 둥근 모서리 114">
            <a:extLst>
              <a:ext uri="{FF2B5EF4-FFF2-40B4-BE49-F238E27FC236}">
                <a16:creationId xmlns:a16="http://schemas.microsoft.com/office/drawing/2014/main" id="{6992A7B4-CE46-741A-B342-2763F8BF1CE2}"/>
              </a:ext>
            </a:extLst>
          </p:cNvPr>
          <p:cNvSpPr/>
          <p:nvPr/>
        </p:nvSpPr>
        <p:spPr>
          <a:xfrm>
            <a:off x="4537715" y="1131834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9" name="사각형: 둥근 모서리 114">
            <a:extLst>
              <a:ext uri="{FF2B5EF4-FFF2-40B4-BE49-F238E27FC236}">
                <a16:creationId xmlns:a16="http://schemas.microsoft.com/office/drawing/2014/main" id="{D0E7D15F-A48A-4D54-4960-FBB096B5CC20}"/>
              </a:ext>
            </a:extLst>
          </p:cNvPr>
          <p:cNvSpPr/>
          <p:nvPr/>
        </p:nvSpPr>
        <p:spPr>
          <a:xfrm>
            <a:off x="360495" y="2782380"/>
            <a:ext cx="2577504" cy="1177659"/>
          </a:xfrm>
          <a:prstGeom prst="roundRect">
            <a:avLst>
              <a:gd name="adj" fmla="val 464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</a:t>
            </a:r>
            <a:endParaRPr lang="en-US" altLang="ko-KR" sz="1000" b="1" dirty="0"/>
          </a:p>
        </p:txBody>
      </p:sp>
      <p:sp>
        <p:nvSpPr>
          <p:cNvPr id="21" name="사각형: 둥근 모서리 114">
            <a:extLst>
              <a:ext uri="{FF2B5EF4-FFF2-40B4-BE49-F238E27FC236}">
                <a16:creationId xmlns:a16="http://schemas.microsoft.com/office/drawing/2014/main" id="{5B7E8882-F6CF-BBB4-819E-B22AB11EF023}"/>
              </a:ext>
            </a:extLst>
          </p:cNvPr>
          <p:cNvSpPr/>
          <p:nvPr/>
        </p:nvSpPr>
        <p:spPr>
          <a:xfrm>
            <a:off x="494408" y="3329336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0</a:t>
            </a:r>
            <a:endParaRPr lang="en-US" altLang="ko-KR" sz="900" dirty="0"/>
          </a:p>
        </p:txBody>
      </p:sp>
      <p:sp>
        <p:nvSpPr>
          <p:cNvPr id="22" name="사각형: 둥근 모서리 114">
            <a:extLst>
              <a:ext uri="{FF2B5EF4-FFF2-40B4-BE49-F238E27FC236}">
                <a16:creationId xmlns:a16="http://schemas.microsoft.com/office/drawing/2014/main" id="{D1D87642-8145-84CE-8D1B-F6FD2060B37A}"/>
              </a:ext>
            </a:extLst>
          </p:cNvPr>
          <p:cNvSpPr/>
          <p:nvPr/>
        </p:nvSpPr>
        <p:spPr>
          <a:xfrm>
            <a:off x="1710099" y="332933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1</a:t>
            </a:r>
            <a:endParaRPr lang="en-US" altLang="ko-KR" sz="900" dirty="0"/>
          </a:p>
        </p:txBody>
      </p:sp>
      <p:sp>
        <p:nvSpPr>
          <p:cNvPr id="26" name="사각형: 둥근 모서리 114">
            <a:extLst>
              <a:ext uri="{FF2B5EF4-FFF2-40B4-BE49-F238E27FC236}">
                <a16:creationId xmlns:a16="http://schemas.microsoft.com/office/drawing/2014/main" id="{2156C602-3756-1A87-C959-73A516234CE8}"/>
              </a:ext>
            </a:extLst>
          </p:cNvPr>
          <p:cNvSpPr/>
          <p:nvPr/>
        </p:nvSpPr>
        <p:spPr>
          <a:xfrm>
            <a:off x="494409" y="2857474"/>
            <a:ext cx="2302741" cy="383228"/>
          </a:xfrm>
          <a:prstGeom prst="roundRect">
            <a:avLst>
              <a:gd name="adj" fmla="val 17067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BCFEEE8-9894-C317-6095-766ED4E9DC5C}"/>
              </a:ext>
            </a:extLst>
          </p:cNvPr>
          <p:cNvSpPr txBox="1"/>
          <p:nvPr/>
        </p:nvSpPr>
        <p:spPr>
          <a:xfrm>
            <a:off x="1187961" y="2808890"/>
            <a:ext cx="915635" cy="23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i="1"/>
              <a:t>Bind Mount</a:t>
            </a:r>
            <a:endParaRPr kumimoji="1" lang="ko-KR" altLang="en-US" sz="1000" b="1" i="1"/>
          </a:p>
        </p:txBody>
      </p:sp>
      <p:cxnSp>
        <p:nvCxnSpPr>
          <p:cNvPr id="59" name="직선 연결선 17">
            <a:extLst>
              <a:ext uri="{FF2B5EF4-FFF2-40B4-BE49-F238E27FC236}">
                <a16:creationId xmlns:a16="http://schemas.microsoft.com/office/drawing/2014/main" id="{CC1A6527-58EA-3456-0A0B-573355BCC695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 flipH="1">
            <a:off x="1645780" y="1960733"/>
            <a:ext cx="3441291" cy="896741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17">
            <a:extLst>
              <a:ext uri="{FF2B5EF4-FFF2-40B4-BE49-F238E27FC236}">
                <a16:creationId xmlns:a16="http://schemas.microsoft.com/office/drawing/2014/main" id="{87110BCA-E8AE-1C57-054A-B218594297C3}"/>
              </a:ext>
            </a:extLst>
          </p:cNvPr>
          <p:cNvCxnSpPr>
            <a:cxnSpLocks/>
            <a:stCxn id="53" idx="2"/>
            <a:endCxn id="26" idx="0"/>
          </p:cNvCxnSpPr>
          <p:nvPr/>
        </p:nvCxnSpPr>
        <p:spPr>
          <a:xfrm flipH="1">
            <a:off x="1645780" y="1970578"/>
            <a:ext cx="1423109" cy="886896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17">
            <a:extLst>
              <a:ext uri="{FF2B5EF4-FFF2-40B4-BE49-F238E27FC236}">
                <a16:creationId xmlns:a16="http://schemas.microsoft.com/office/drawing/2014/main" id="{DE323E42-0D0F-CDA8-B3F8-F7555D5A3630}"/>
              </a:ext>
            </a:extLst>
          </p:cNvPr>
          <p:cNvCxnSpPr>
            <a:cxnSpLocks/>
            <a:stCxn id="75" idx="2"/>
            <a:endCxn id="26" idx="0"/>
          </p:cNvCxnSpPr>
          <p:nvPr/>
        </p:nvCxnSpPr>
        <p:spPr>
          <a:xfrm>
            <a:off x="1045457" y="1960733"/>
            <a:ext cx="600323" cy="896741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8EB84EC-F238-A225-346D-7465F03DE5AA}"/>
              </a:ext>
            </a:extLst>
          </p:cNvPr>
          <p:cNvSpPr txBox="1"/>
          <p:nvPr/>
        </p:nvSpPr>
        <p:spPr>
          <a:xfrm>
            <a:off x="5983495" y="1765146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podb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r>
              <a:rPr lang="en-US" sz="800" kern="0" dirty="0">
                <a:cs typeface="Al Bayan Plain" pitchFamily="2" charset="-78"/>
              </a:rPr>
              <a:t>     - name: </a:t>
            </a:r>
            <a:r>
              <a:rPr lang="en-US" altLang="ko-KR" sz="800" kern="0" dirty="0">
                <a:cs typeface="Al Bayan Plain" pitchFamily="2" charset="-78"/>
              </a:rPr>
              <a:t>containerb</a:t>
            </a:r>
            <a:endParaRPr lang="en-US" sz="800" kern="0" dirty="0">
              <a:cs typeface="Al Bayan Plain" pitchFamily="2" charset="-78"/>
            </a:endParaRP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  <p:cxnSp>
        <p:nvCxnSpPr>
          <p:cNvPr id="17" name="직선 연결선 17">
            <a:extLst>
              <a:ext uri="{FF2B5EF4-FFF2-40B4-BE49-F238E27FC236}">
                <a16:creationId xmlns:a16="http://schemas.microsoft.com/office/drawing/2014/main" id="{B6811A47-2CFA-546D-000C-F16CBB243598}"/>
              </a:ext>
            </a:extLst>
          </p:cNvPr>
          <p:cNvCxnSpPr>
            <a:cxnSpLocks/>
            <a:stCxn id="74" idx="2"/>
            <a:endCxn id="21" idx="0"/>
          </p:cNvCxnSpPr>
          <p:nvPr/>
        </p:nvCxnSpPr>
        <p:spPr>
          <a:xfrm flipH="1">
            <a:off x="1044610" y="2431059"/>
            <a:ext cx="848" cy="89827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17">
            <a:extLst>
              <a:ext uri="{FF2B5EF4-FFF2-40B4-BE49-F238E27FC236}">
                <a16:creationId xmlns:a16="http://schemas.microsoft.com/office/drawing/2014/main" id="{63BD894B-AC59-BEBF-ABD8-0ADE1B8C83F4}"/>
              </a:ext>
            </a:extLst>
          </p:cNvPr>
          <p:cNvCxnSpPr>
            <a:cxnSpLocks/>
            <a:stCxn id="48" idx="2"/>
            <a:endCxn id="21" idx="0"/>
          </p:cNvCxnSpPr>
          <p:nvPr/>
        </p:nvCxnSpPr>
        <p:spPr>
          <a:xfrm flipH="1">
            <a:off x="1044610" y="2440903"/>
            <a:ext cx="1423545" cy="88843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17">
            <a:extLst>
              <a:ext uri="{FF2B5EF4-FFF2-40B4-BE49-F238E27FC236}">
                <a16:creationId xmlns:a16="http://schemas.microsoft.com/office/drawing/2014/main" id="{9841D8AA-78D7-B8CC-CBB5-BFFFED1A791B}"/>
              </a:ext>
            </a:extLst>
          </p:cNvPr>
          <p:cNvCxnSpPr>
            <a:cxnSpLocks/>
            <a:stCxn id="49" idx="2"/>
            <a:endCxn id="22" idx="0"/>
          </p:cNvCxnSpPr>
          <p:nvPr/>
        </p:nvCxnSpPr>
        <p:spPr>
          <a:xfrm flipH="1">
            <a:off x="2251173" y="2440903"/>
            <a:ext cx="1418516" cy="88843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17">
            <a:extLst>
              <a:ext uri="{FF2B5EF4-FFF2-40B4-BE49-F238E27FC236}">
                <a16:creationId xmlns:a16="http://schemas.microsoft.com/office/drawing/2014/main" id="{668D930B-9270-F7A9-371B-EDC27FE9049C}"/>
              </a:ext>
            </a:extLst>
          </p:cNvPr>
          <p:cNvCxnSpPr>
            <a:cxnSpLocks/>
            <a:stCxn id="5" idx="2"/>
            <a:endCxn id="22" idx="0"/>
          </p:cNvCxnSpPr>
          <p:nvPr/>
        </p:nvCxnSpPr>
        <p:spPr>
          <a:xfrm flipH="1">
            <a:off x="2251173" y="2431059"/>
            <a:ext cx="2835899" cy="89827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364F56B-A63A-BD5E-D87C-7848496888A8}"/>
              </a:ext>
            </a:extLst>
          </p:cNvPr>
          <p:cNvSpPr txBox="1"/>
          <p:nvPr/>
        </p:nvSpPr>
        <p:spPr>
          <a:xfrm>
            <a:off x="5983495" y="3332173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podc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r>
              <a:rPr lang="en-US" sz="800" kern="0" dirty="0">
                <a:cs typeface="Al Bayan Plain" pitchFamily="2" charset="-78"/>
              </a:rPr>
              <a:t>     - name: </a:t>
            </a:r>
            <a:r>
              <a:rPr lang="en-US" altLang="ko-KR" sz="800" kern="0" dirty="0">
                <a:cs typeface="Al Bayan Plain" pitchFamily="2" charset="-78"/>
              </a:rPr>
              <a:t>containerc</a:t>
            </a:r>
            <a:endParaRPr lang="en-US" sz="800" kern="0" dirty="0">
              <a:cs typeface="Al Bayan Plain" pitchFamily="2" charset="-78"/>
            </a:endParaRP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D1D6834-2F15-A49A-1EC0-F6FA1A5EA25F}"/>
              </a:ext>
            </a:extLst>
          </p:cNvPr>
          <p:cNvSpPr txBox="1"/>
          <p:nvPr/>
        </p:nvSpPr>
        <p:spPr>
          <a:xfrm>
            <a:off x="5983495" y="195486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431CB4-B532-5005-0633-4EB0C1A70153}"/>
              </a:ext>
            </a:extLst>
          </p:cNvPr>
          <p:cNvSpPr txBox="1"/>
          <p:nvPr/>
        </p:nvSpPr>
        <p:spPr>
          <a:xfrm>
            <a:off x="3037349" y="3347167"/>
            <a:ext cx="1489994" cy="120032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apiVersion: v1</a:t>
            </a:r>
          </a:p>
          <a:p>
            <a:pPr algn="l"/>
            <a:r>
              <a:rPr lang="en-US" sz="800" kern="0" dirty="0" err="1">
                <a:cs typeface="Al Bayan Plain" pitchFamily="2" charset="-78"/>
              </a:rPr>
              <a:t> kind: Node</a:t>
            </a:r>
          </a:p>
          <a:p>
            <a:pPr algn="l"/>
            <a:r>
              <a:rPr lang="en-US" sz="800" kern="0" dirty="0" err="1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 err="1">
                <a:cs typeface="Al Bayan Plain" pitchFamily="2" charset="-78"/>
              </a:rPr>
              <a:t>   name: gpu-node</a:t>
            </a:r>
          </a:p>
          <a:p>
            <a:pPr algn="l"/>
            <a:r>
              <a:rPr lang="en-US" sz="800" kern="0" dirty="0" err="1">
                <a:cs typeface="Al Bayan Plain" pitchFamily="2" charset="-78"/>
              </a:rPr>
              <a:t> status: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capacity: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  nvidia.com/gpu.shared: ”4"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allocatable: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  nvidia.com/gpu.shared: ”4"</a:t>
            </a:r>
          </a:p>
        </p:txBody>
      </p:sp>
    </p:spTree>
    <p:extLst>
      <p:ext uri="{BB962C8B-B14F-4D97-AF65-F5344CB8AC3E}">
        <p14:creationId xmlns:p14="http://schemas.microsoft.com/office/powerpoint/2010/main" val="298494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3107D-C5DB-9103-9B3C-5795CFD4B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14">
            <a:extLst>
              <a:ext uri="{FF2B5EF4-FFF2-40B4-BE49-F238E27FC236}">
                <a16:creationId xmlns:a16="http://schemas.microsoft.com/office/drawing/2014/main" id="{FBE34020-AE33-BC74-4789-CA65583E47D6}"/>
              </a:ext>
            </a:extLst>
          </p:cNvPr>
          <p:cNvSpPr/>
          <p:nvPr/>
        </p:nvSpPr>
        <p:spPr>
          <a:xfrm>
            <a:off x="2195736" y="915566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0</a:t>
            </a:r>
            <a:endParaRPr lang="en-US" altLang="ko-KR" sz="900" dirty="0"/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A968D1F5-8038-DB38-2B9F-7A2AB6C32FA7}"/>
              </a:ext>
            </a:extLst>
          </p:cNvPr>
          <p:cNvSpPr/>
          <p:nvPr/>
        </p:nvSpPr>
        <p:spPr>
          <a:xfrm>
            <a:off x="3411427" y="9155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1</a:t>
            </a:r>
            <a:endParaRPr lang="en-US" altLang="ko-KR" sz="900" dirty="0"/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0A320415-CB1C-D620-AA35-D49077F996BD}"/>
              </a:ext>
            </a:extLst>
          </p:cNvPr>
          <p:cNvSpPr/>
          <p:nvPr/>
        </p:nvSpPr>
        <p:spPr>
          <a:xfrm>
            <a:off x="4608863" y="9155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2</a:t>
            </a:r>
            <a:endParaRPr lang="en-US" altLang="ko-KR" sz="900" dirty="0"/>
          </a:p>
        </p:txBody>
      </p:sp>
      <p:sp>
        <p:nvSpPr>
          <p:cNvPr id="5" name="사각형: 둥근 모서리 114">
            <a:extLst>
              <a:ext uri="{FF2B5EF4-FFF2-40B4-BE49-F238E27FC236}">
                <a16:creationId xmlns:a16="http://schemas.microsoft.com/office/drawing/2014/main" id="{472DB008-1DD0-9E06-B0F9-CA456B62C643}"/>
              </a:ext>
            </a:extLst>
          </p:cNvPr>
          <p:cNvSpPr/>
          <p:nvPr/>
        </p:nvSpPr>
        <p:spPr>
          <a:xfrm>
            <a:off x="5806299" y="9155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3</a:t>
            </a:r>
            <a:endParaRPr lang="en-US" altLang="ko-KR" sz="900" dirty="0"/>
          </a:p>
        </p:txBody>
      </p:sp>
      <p:sp>
        <p:nvSpPr>
          <p:cNvPr id="10" name="사각형: 둥근 모서리 114">
            <a:extLst>
              <a:ext uri="{FF2B5EF4-FFF2-40B4-BE49-F238E27FC236}">
                <a16:creationId xmlns:a16="http://schemas.microsoft.com/office/drawing/2014/main" id="{2B433939-4102-8288-F686-BE2D19C1DAC7}"/>
              </a:ext>
            </a:extLst>
          </p:cNvPr>
          <p:cNvSpPr/>
          <p:nvPr/>
        </p:nvSpPr>
        <p:spPr>
          <a:xfrm>
            <a:off x="2195736" y="339502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Container A</a:t>
            </a:r>
            <a:endParaRPr lang="en-US" altLang="ko-KR" sz="900" dirty="0"/>
          </a:p>
        </p:txBody>
      </p:sp>
      <p:sp>
        <p:nvSpPr>
          <p:cNvPr id="11" name="사각형: 둥근 모서리 114">
            <a:extLst>
              <a:ext uri="{FF2B5EF4-FFF2-40B4-BE49-F238E27FC236}">
                <a16:creationId xmlns:a16="http://schemas.microsoft.com/office/drawing/2014/main" id="{653A2728-A11A-7927-A790-4DBACA04C13E}"/>
              </a:ext>
            </a:extLst>
          </p:cNvPr>
          <p:cNvSpPr/>
          <p:nvPr/>
        </p:nvSpPr>
        <p:spPr>
          <a:xfrm>
            <a:off x="3411427" y="339502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A</a:t>
            </a:r>
          </a:p>
        </p:txBody>
      </p:sp>
      <p:sp>
        <p:nvSpPr>
          <p:cNvPr id="12" name="사각형: 둥근 모서리 114">
            <a:extLst>
              <a:ext uri="{FF2B5EF4-FFF2-40B4-BE49-F238E27FC236}">
                <a16:creationId xmlns:a16="http://schemas.microsoft.com/office/drawing/2014/main" id="{60041A5C-DEB8-C9D9-5052-8C1023B7BB80}"/>
              </a:ext>
            </a:extLst>
          </p:cNvPr>
          <p:cNvSpPr/>
          <p:nvPr/>
        </p:nvSpPr>
        <p:spPr>
          <a:xfrm>
            <a:off x="4608863" y="339502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A</a:t>
            </a:r>
          </a:p>
        </p:txBody>
      </p:sp>
      <p:sp>
        <p:nvSpPr>
          <p:cNvPr id="19" name="사각형: 둥근 모서리 114">
            <a:extLst>
              <a:ext uri="{FF2B5EF4-FFF2-40B4-BE49-F238E27FC236}">
                <a16:creationId xmlns:a16="http://schemas.microsoft.com/office/drawing/2014/main" id="{36C85B18-415A-CC78-78F0-D3D7C01AB421}"/>
              </a:ext>
            </a:extLst>
          </p:cNvPr>
          <p:cNvSpPr/>
          <p:nvPr/>
        </p:nvSpPr>
        <p:spPr>
          <a:xfrm>
            <a:off x="2195736" y="2715766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0</a:t>
            </a:r>
            <a:endParaRPr lang="en-US" altLang="ko-KR" sz="900" dirty="0"/>
          </a:p>
        </p:txBody>
      </p:sp>
      <p:sp>
        <p:nvSpPr>
          <p:cNvPr id="20" name="사각형: 둥근 모서리 114">
            <a:extLst>
              <a:ext uri="{FF2B5EF4-FFF2-40B4-BE49-F238E27FC236}">
                <a16:creationId xmlns:a16="http://schemas.microsoft.com/office/drawing/2014/main" id="{0C2196E9-9035-A542-4992-CD963FC5EB4D}"/>
              </a:ext>
            </a:extLst>
          </p:cNvPr>
          <p:cNvSpPr/>
          <p:nvPr/>
        </p:nvSpPr>
        <p:spPr>
          <a:xfrm>
            <a:off x="3411427" y="27157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1</a:t>
            </a:r>
            <a:endParaRPr lang="en-US" altLang="ko-KR" sz="900" dirty="0"/>
          </a:p>
        </p:txBody>
      </p:sp>
      <p:sp>
        <p:nvSpPr>
          <p:cNvPr id="21" name="사각형: 둥근 모서리 114">
            <a:extLst>
              <a:ext uri="{FF2B5EF4-FFF2-40B4-BE49-F238E27FC236}">
                <a16:creationId xmlns:a16="http://schemas.microsoft.com/office/drawing/2014/main" id="{D912EB86-D830-DA1B-099C-AA3437FFAEBA}"/>
              </a:ext>
            </a:extLst>
          </p:cNvPr>
          <p:cNvSpPr/>
          <p:nvPr/>
        </p:nvSpPr>
        <p:spPr>
          <a:xfrm>
            <a:off x="4608863" y="27157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2</a:t>
            </a:r>
            <a:endParaRPr lang="en-US" altLang="ko-KR" sz="900" dirty="0"/>
          </a:p>
        </p:txBody>
      </p:sp>
      <p:sp>
        <p:nvSpPr>
          <p:cNvPr id="22" name="사각형: 둥근 모서리 114">
            <a:extLst>
              <a:ext uri="{FF2B5EF4-FFF2-40B4-BE49-F238E27FC236}">
                <a16:creationId xmlns:a16="http://schemas.microsoft.com/office/drawing/2014/main" id="{381ED12E-5F8D-1EA1-D309-015E9F6EF447}"/>
              </a:ext>
            </a:extLst>
          </p:cNvPr>
          <p:cNvSpPr/>
          <p:nvPr/>
        </p:nvSpPr>
        <p:spPr>
          <a:xfrm>
            <a:off x="5806299" y="27157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3</a:t>
            </a:r>
            <a:endParaRPr lang="en-US" altLang="ko-KR" sz="900" dirty="0"/>
          </a:p>
        </p:txBody>
      </p:sp>
      <p:sp>
        <p:nvSpPr>
          <p:cNvPr id="23" name="사각형: 둥근 모서리 114">
            <a:extLst>
              <a:ext uri="{FF2B5EF4-FFF2-40B4-BE49-F238E27FC236}">
                <a16:creationId xmlns:a16="http://schemas.microsoft.com/office/drawing/2014/main" id="{AFA72BDC-EA8E-CCED-7869-2093591C3F90}"/>
              </a:ext>
            </a:extLst>
          </p:cNvPr>
          <p:cNvSpPr/>
          <p:nvPr/>
        </p:nvSpPr>
        <p:spPr>
          <a:xfrm>
            <a:off x="2195736" y="2139702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Container A</a:t>
            </a:r>
            <a:endParaRPr lang="en-US" altLang="ko-KR" sz="900" dirty="0"/>
          </a:p>
        </p:txBody>
      </p:sp>
      <p:sp>
        <p:nvSpPr>
          <p:cNvPr id="24" name="사각형: 둥근 모서리 114">
            <a:extLst>
              <a:ext uri="{FF2B5EF4-FFF2-40B4-BE49-F238E27FC236}">
                <a16:creationId xmlns:a16="http://schemas.microsoft.com/office/drawing/2014/main" id="{674F999E-2763-E6F3-2813-95AE754C82DB}"/>
              </a:ext>
            </a:extLst>
          </p:cNvPr>
          <p:cNvSpPr/>
          <p:nvPr/>
        </p:nvSpPr>
        <p:spPr>
          <a:xfrm>
            <a:off x="3411427" y="2139702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A</a:t>
            </a:r>
          </a:p>
        </p:txBody>
      </p:sp>
      <p:sp>
        <p:nvSpPr>
          <p:cNvPr id="25" name="사각형: 둥근 모서리 114">
            <a:extLst>
              <a:ext uri="{FF2B5EF4-FFF2-40B4-BE49-F238E27FC236}">
                <a16:creationId xmlns:a16="http://schemas.microsoft.com/office/drawing/2014/main" id="{C8F0AD3F-0DAE-1EA2-6CC7-C7580A4B2DB5}"/>
              </a:ext>
            </a:extLst>
          </p:cNvPr>
          <p:cNvSpPr/>
          <p:nvPr/>
        </p:nvSpPr>
        <p:spPr>
          <a:xfrm>
            <a:off x="4608863" y="2139702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A</a:t>
            </a:r>
          </a:p>
        </p:txBody>
      </p:sp>
      <p:sp>
        <p:nvSpPr>
          <p:cNvPr id="26" name="사각형: 둥근 모서리 114">
            <a:extLst>
              <a:ext uri="{FF2B5EF4-FFF2-40B4-BE49-F238E27FC236}">
                <a16:creationId xmlns:a16="http://schemas.microsoft.com/office/drawing/2014/main" id="{BC4FDABF-DEC3-17F1-32E3-9BCAD36F0383}"/>
              </a:ext>
            </a:extLst>
          </p:cNvPr>
          <p:cNvSpPr/>
          <p:nvPr/>
        </p:nvSpPr>
        <p:spPr>
          <a:xfrm>
            <a:off x="5806299" y="2139702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B</a:t>
            </a:r>
          </a:p>
        </p:txBody>
      </p:sp>
      <p:sp>
        <p:nvSpPr>
          <p:cNvPr id="27" name="사각형: 둥근 모서리 114">
            <a:extLst>
              <a:ext uri="{FF2B5EF4-FFF2-40B4-BE49-F238E27FC236}">
                <a16:creationId xmlns:a16="http://schemas.microsoft.com/office/drawing/2014/main" id="{1F5C6AB5-9DC3-892C-5A0E-CEC379C85AFA}"/>
              </a:ext>
            </a:extLst>
          </p:cNvPr>
          <p:cNvSpPr/>
          <p:nvPr/>
        </p:nvSpPr>
        <p:spPr>
          <a:xfrm>
            <a:off x="2195736" y="1635646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Container B</a:t>
            </a:r>
            <a:endParaRPr lang="en-US" altLang="ko-KR" sz="900" dirty="0"/>
          </a:p>
        </p:txBody>
      </p:sp>
      <p:sp>
        <p:nvSpPr>
          <p:cNvPr id="30" name="사각형: 둥근 모서리 114">
            <a:extLst>
              <a:ext uri="{FF2B5EF4-FFF2-40B4-BE49-F238E27FC236}">
                <a16:creationId xmlns:a16="http://schemas.microsoft.com/office/drawing/2014/main" id="{1650E660-E9E6-9115-FA3E-91E91A6B9CC1}"/>
              </a:ext>
            </a:extLst>
          </p:cNvPr>
          <p:cNvSpPr/>
          <p:nvPr/>
        </p:nvSpPr>
        <p:spPr>
          <a:xfrm>
            <a:off x="5806299" y="163564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B</a:t>
            </a:r>
          </a:p>
        </p:txBody>
      </p:sp>
      <p:sp>
        <p:nvSpPr>
          <p:cNvPr id="31" name="사각형: 둥근 모서리 114">
            <a:extLst>
              <a:ext uri="{FF2B5EF4-FFF2-40B4-BE49-F238E27FC236}">
                <a16:creationId xmlns:a16="http://schemas.microsoft.com/office/drawing/2014/main" id="{2E3F3140-2A4E-5966-866E-A6C456D24273}"/>
              </a:ext>
            </a:extLst>
          </p:cNvPr>
          <p:cNvSpPr/>
          <p:nvPr/>
        </p:nvSpPr>
        <p:spPr>
          <a:xfrm>
            <a:off x="2195736" y="4515966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0</a:t>
            </a:r>
            <a:endParaRPr lang="en-US" altLang="ko-KR" sz="900" dirty="0"/>
          </a:p>
        </p:txBody>
      </p:sp>
      <p:sp>
        <p:nvSpPr>
          <p:cNvPr id="32" name="사각형: 둥근 모서리 114">
            <a:extLst>
              <a:ext uri="{FF2B5EF4-FFF2-40B4-BE49-F238E27FC236}">
                <a16:creationId xmlns:a16="http://schemas.microsoft.com/office/drawing/2014/main" id="{B5D18771-12DC-E0D6-120F-98F64605BEE0}"/>
              </a:ext>
            </a:extLst>
          </p:cNvPr>
          <p:cNvSpPr/>
          <p:nvPr/>
        </p:nvSpPr>
        <p:spPr>
          <a:xfrm>
            <a:off x="3411427" y="45159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1</a:t>
            </a:r>
            <a:endParaRPr lang="en-US" altLang="ko-KR" sz="900" dirty="0"/>
          </a:p>
        </p:txBody>
      </p:sp>
      <p:sp>
        <p:nvSpPr>
          <p:cNvPr id="33" name="사각형: 둥근 모서리 114">
            <a:extLst>
              <a:ext uri="{FF2B5EF4-FFF2-40B4-BE49-F238E27FC236}">
                <a16:creationId xmlns:a16="http://schemas.microsoft.com/office/drawing/2014/main" id="{A15E7C21-D3D9-588F-5480-5CE2E6337D29}"/>
              </a:ext>
            </a:extLst>
          </p:cNvPr>
          <p:cNvSpPr/>
          <p:nvPr/>
        </p:nvSpPr>
        <p:spPr>
          <a:xfrm>
            <a:off x="4608863" y="45159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2</a:t>
            </a:r>
            <a:endParaRPr lang="en-US" altLang="ko-KR" sz="900" dirty="0"/>
          </a:p>
        </p:txBody>
      </p:sp>
      <p:sp>
        <p:nvSpPr>
          <p:cNvPr id="34" name="사각형: 둥근 모서리 114">
            <a:extLst>
              <a:ext uri="{FF2B5EF4-FFF2-40B4-BE49-F238E27FC236}">
                <a16:creationId xmlns:a16="http://schemas.microsoft.com/office/drawing/2014/main" id="{54C9F33F-1E24-77AF-4551-1F7350D86C36}"/>
              </a:ext>
            </a:extLst>
          </p:cNvPr>
          <p:cNvSpPr/>
          <p:nvPr/>
        </p:nvSpPr>
        <p:spPr>
          <a:xfrm>
            <a:off x="5806299" y="45159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3</a:t>
            </a:r>
            <a:endParaRPr lang="en-US" altLang="ko-KR" sz="900" dirty="0"/>
          </a:p>
        </p:txBody>
      </p:sp>
      <p:sp>
        <p:nvSpPr>
          <p:cNvPr id="35" name="사각형: 둥근 모서리 114">
            <a:extLst>
              <a:ext uri="{FF2B5EF4-FFF2-40B4-BE49-F238E27FC236}">
                <a16:creationId xmlns:a16="http://schemas.microsoft.com/office/drawing/2014/main" id="{E1875C8B-CDC2-9E74-12F1-34491763A27D}"/>
              </a:ext>
            </a:extLst>
          </p:cNvPr>
          <p:cNvSpPr/>
          <p:nvPr/>
        </p:nvSpPr>
        <p:spPr>
          <a:xfrm>
            <a:off x="2195736" y="3939902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Container A</a:t>
            </a:r>
            <a:endParaRPr lang="en-US" altLang="ko-KR" sz="900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7DB6F6C4-7331-41B0-C61A-CB4E03F30763}"/>
              </a:ext>
            </a:extLst>
          </p:cNvPr>
          <p:cNvSpPr/>
          <p:nvPr/>
        </p:nvSpPr>
        <p:spPr>
          <a:xfrm>
            <a:off x="3411427" y="3939902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A</a:t>
            </a:r>
          </a:p>
        </p:txBody>
      </p:sp>
      <p:sp>
        <p:nvSpPr>
          <p:cNvPr id="37" name="사각형: 둥근 모서리 114">
            <a:extLst>
              <a:ext uri="{FF2B5EF4-FFF2-40B4-BE49-F238E27FC236}">
                <a16:creationId xmlns:a16="http://schemas.microsoft.com/office/drawing/2014/main" id="{AB99C0CC-B052-CC1C-35AE-8714216CCD13}"/>
              </a:ext>
            </a:extLst>
          </p:cNvPr>
          <p:cNvSpPr/>
          <p:nvPr/>
        </p:nvSpPr>
        <p:spPr>
          <a:xfrm>
            <a:off x="4608863" y="3939902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A</a:t>
            </a:r>
          </a:p>
        </p:txBody>
      </p:sp>
      <p:sp>
        <p:nvSpPr>
          <p:cNvPr id="38" name="사각형: 둥근 모서리 114">
            <a:extLst>
              <a:ext uri="{FF2B5EF4-FFF2-40B4-BE49-F238E27FC236}">
                <a16:creationId xmlns:a16="http://schemas.microsoft.com/office/drawing/2014/main" id="{3E4E80D5-B249-3CE9-237D-5E1B180495B7}"/>
              </a:ext>
            </a:extLst>
          </p:cNvPr>
          <p:cNvSpPr/>
          <p:nvPr/>
        </p:nvSpPr>
        <p:spPr>
          <a:xfrm>
            <a:off x="5806299" y="3939902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B</a:t>
            </a:r>
          </a:p>
        </p:txBody>
      </p:sp>
      <p:sp>
        <p:nvSpPr>
          <p:cNvPr id="39" name="사각형: 둥근 모서리 114">
            <a:extLst>
              <a:ext uri="{FF2B5EF4-FFF2-40B4-BE49-F238E27FC236}">
                <a16:creationId xmlns:a16="http://schemas.microsoft.com/office/drawing/2014/main" id="{BD22C830-E490-F520-2435-67E194B0C31F}"/>
              </a:ext>
            </a:extLst>
          </p:cNvPr>
          <p:cNvSpPr/>
          <p:nvPr/>
        </p:nvSpPr>
        <p:spPr>
          <a:xfrm>
            <a:off x="2195736" y="3435846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Container B</a:t>
            </a:r>
            <a:endParaRPr lang="en-US" altLang="ko-KR" sz="900" dirty="0"/>
          </a:p>
        </p:txBody>
      </p:sp>
      <p:sp>
        <p:nvSpPr>
          <p:cNvPr id="40" name="사각형: 둥근 모서리 114">
            <a:extLst>
              <a:ext uri="{FF2B5EF4-FFF2-40B4-BE49-F238E27FC236}">
                <a16:creationId xmlns:a16="http://schemas.microsoft.com/office/drawing/2014/main" id="{5BAB0B3E-EBBB-5977-9A92-F1065BCC4053}"/>
              </a:ext>
            </a:extLst>
          </p:cNvPr>
          <p:cNvSpPr/>
          <p:nvPr/>
        </p:nvSpPr>
        <p:spPr>
          <a:xfrm>
            <a:off x="3411427" y="343584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C</a:t>
            </a:r>
          </a:p>
        </p:txBody>
      </p:sp>
      <p:sp>
        <p:nvSpPr>
          <p:cNvPr id="41" name="사각형: 둥근 모서리 114">
            <a:extLst>
              <a:ext uri="{FF2B5EF4-FFF2-40B4-BE49-F238E27FC236}">
                <a16:creationId xmlns:a16="http://schemas.microsoft.com/office/drawing/2014/main" id="{05D52B2E-F8C9-587F-6A8F-C905B23CEC52}"/>
              </a:ext>
            </a:extLst>
          </p:cNvPr>
          <p:cNvSpPr/>
          <p:nvPr/>
        </p:nvSpPr>
        <p:spPr>
          <a:xfrm>
            <a:off x="4608863" y="343584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C</a:t>
            </a:r>
          </a:p>
        </p:txBody>
      </p:sp>
      <p:sp>
        <p:nvSpPr>
          <p:cNvPr id="42" name="사각형: 둥근 모서리 114">
            <a:extLst>
              <a:ext uri="{FF2B5EF4-FFF2-40B4-BE49-F238E27FC236}">
                <a16:creationId xmlns:a16="http://schemas.microsoft.com/office/drawing/2014/main" id="{9DA0D11A-F67B-289F-3929-8877F7CA835B}"/>
              </a:ext>
            </a:extLst>
          </p:cNvPr>
          <p:cNvSpPr/>
          <p:nvPr/>
        </p:nvSpPr>
        <p:spPr>
          <a:xfrm>
            <a:off x="5806299" y="343584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B</a:t>
            </a:r>
          </a:p>
        </p:txBody>
      </p:sp>
      <p:cxnSp>
        <p:nvCxnSpPr>
          <p:cNvPr id="48" name="직선 연결선[R] 47">
            <a:extLst>
              <a:ext uri="{FF2B5EF4-FFF2-40B4-BE49-F238E27FC236}">
                <a16:creationId xmlns:a16="http://schemas.microsoft.com/office/drawing/2014/main" id="{AF0EF39C-4701-A6CB-1C32-CB812530C26A}"/>
              </a:ext>
            </a:extLst>
          </p:cNvPr>
          <p:cNvCxnSpPr>
            <a:cxnSpLocks/>
          </p:cNvCxnSpPr>
          <p:nvPr/>
        </p:nvCxnSpPr>
        <p:spPr>
          <a:xfrm>
            <a:off x="1811887" y="1467749"/>
            <a:ext cx="5507753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7D43AD5C-6ACF-B992-F36E-E3836EBAB4E0}"/>
              </a:ext>
            </a:extLst>
          </p:cNvPr>
          <p:cNvCxnSpPr>
            <a:cxnSpLocks/>
          </p:cNvCxnSpPr>
          <p:nvPr/>
        </p:nvCxnSpPr>
        <p:spPr>
          <a:xfrm>
            <a:off x="1811887" y="3258048"/>
            <a:ext cx="5507753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아래쪽 화살표[D] 55">
            <a:extLst>
              <a:ext uri="{FF2B5EF4-FFF2-40B4-BE49-F238E27FC236}">
                <a16:creationId xmlns:a16="http://schemas.microsoft.com/office/drawing/2014/main" id="{9E0B780F-4572-5FC9-2E72-8B66365D04E0}"/>
              </a:ext>
            </a:extLst>
          </p:cNvPr>
          <p:cNvSpPr/>
          <p:nvPr/>
        </p:nvSpPr>
        <p:spPr>
          <a:xfrm>
            <a:off x="4447637" y="1394682"/>
            <a:ext cx="214306" cy="182234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아래쪽 화살표[D] 56">
            <a:extLst>
              <a:ext uri="{FF2B5EF4-FFF2-40B4-BE49-F238E27FC236}">
                <a16:creationId xmlns:a16="http://schemas.microsoft.com/office/drawing/2014/main" id="{EC5A7924-0CC6-2124-B980-21D48C7C4B31}"/>
              </a:ext>
            </a:extLst>
          </p:cNvPr>
          <p:cNvSpPr/>
          <p:nvPr/>
        </p:nvSpPr>
        <p:spPr>
          <a:xfrm>
            <a:off x="4447637" y="3185674"/>
            <a:ext cx="214306" cy="182234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2978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EF3A9-3B54-6EB7-8DE9-A33F5B02F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14">
            <a:extLst>
              <a:ext uri="{FF2B5EF4-FFF2-40B4-BE49-F238E27FC236}">
                <a16:creationId xmlns:a16="http://schemas.microsoft.com/office/drawing/2014/main" id="{D1B21BD3-EC58-BA14-3238-E3C4CFDD868E}"/>
              </a:ext>
            </a:extLst>
          </p:cNvPr>
          <p:cNvSpPr/>
          <p:nvPr/>
        </p:nvSpPr>
        <p:spPr>
          <a:xfrm>
            <a:off x="79917" y="2533894"/>
            <a:ext cx="3734722" cy="1176719"/>
          </a:xfrm>
          <a:prstGeom prst="roundRect">
            <a:avLst>
              <a:gd name="adj" fmla="val 464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</a:t>
            </a:r>
            <a:endParaRPr lang="en-US" altLang="ko-KR" sz="1000" b="1" dirty="0"/>
          </a:p>
        </p:txBody>
      </p:sp>
      <p:sp>
        <p:nvSpPr>
          <p:cNvPr id="20" name="사각형: 둥근 모서리 114">
            <a:extLst>
              <a:ext uri="{FF2B5EF4-FFF2-40B4-BE49-F238E27FC236}">
                <a16:creationId xmlns:a16="http://schemas.microsoft.com/office/drawing/2014/main" id="{B1A4230A-C69F-650B-00D9-2FCFF54E9324}"/>
              </a:ext>
            </a:extLst>
          </p:cNvPr>
          <p:cNvSpPr/>
          <p:nvPr/>
        </p:nvSpPr>
        <p:spPr>
          <a:xfrm>
            <a:off x="213830" y="3080850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0</a:t>
            </a:r>
            <a:endParaRPr lang="en-US" altLang="ko-KR" sz="900" dirty="0"/>
          </a:p>
        </p:txBody>
      </p:sp>
      <p:sp>
        <p:nvSpPr>
          <p:cNvPr id="23" name="사각형: 둥근 모서리 114">
            <a:extLst>
              <a:ext uri="{FF2B5EF4-FFF2-40B4-BE49-F238E27FC236}">
                <a16:creationId xmlns:a16="http://schemas.microsoft.com/office/drawing/2014/main" id="{8CB1C715-82F0-8647-AFFD-8F4FC73A6237}"/>
              </a:ext>
            </a:extLst>
          </p:cNvPr>
          <p:cNvSpPr/>
          <p:nvPr/>
        </p:nvSpPr>
        <p:spPr>
          <a:xfrm>
            <a:off x="1429521" y="3080850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1</a:t>
            </a:r>
            <a:endParaRPr lang="en-US" altLang="ko-KR" sz="900" dirty="0"/>
          </a:p>
        </p:txBody>
      </p:sp>
      <p:sp>
        <p:nvSpPr>
          <p:cNvPr id="28" name="사각형: 둥근 모서리 114">
            <a:extLst>
              <a:ext uri="{FF2B5EF4-FFF2-40B4-BE49-F238E27FC236}">
                <a16:creationId xmlns:a16="http://schemas.microsoft.com/office/drawing/2014/main" id="{04593EA9-CEA0-FAAE-C75C-84D6B356315B}"/>
              </a:ext>
            </a:extLst>
          </p:cNvPr>
          <p:cNvSpPr/>
          <p:nvPr/>
        </p:nvSpPr>
        <p:spPr>
          <a:xfrm>
            <a:off x="213831" y="2608988"/>
            <a:ext cx="2302741" cy="383228"/>
          </a:xfrm>
          <a:prstGeom prst="roundRect">
            <a:avLst>
              <a:gd name="adj" fmla="val 17067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A9CF1F-A15F-339E-BC0C-5A8A482C5CE2}"/>
              </a:ext>
            </a:extLst>
          </p:cNvPr>
          <p:cNvSpPr txBox="1"/>
          <p:nvPr/>
        </p:nvSpPr>
        <p:spPr>
          <a:xfrm>
            <a:off x="903503" y="2560404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b="1" i="1"/>
              <a:t>Bind Mount</a:t>
            </a:r>
            <a:endParaRPr kumimoji="1" lang="ko-KR" altLang="en-US" sz="1000" b="1" i="1"/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08B2BBAD-F6C2-70CB-AAF0-F6C50F20642F}"/>
              </a:ext>
            </a:extLst>
          </p:cNvPr>
          <p:cNvSpPr/>
          <p:nvPr/>
        </p:nvSpPr>
        <p:spPr>
          <a:xfrm>
            <a:off x="79917" y="332893"/>
            <a:ext cx="2411859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5D316C-18E5-A282-0A53-0980DC3DE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7669C2EE-3F09-AAC8-35EE-C400C748321C}"/>
              </a:ext>
            </a:extLst>
          </p:cNvPr>
          <p:cNvSpPr/>
          <p:nvPr/>
        </p:nvSpPr>
        <p:spPr>
          <a:xfrm>
            <a:off x="129678" y="610622"/>
            <a:ext cx="2308660" cy="166129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1C9A6AB1-1E62-353E-83A4-376BF6BA735F}"/>
              </a:ext>
            </a:extLst>
          </p:cNvPr>
          <p:cNvSpPr/>
          <p:nvPr/>
        </p:nvSpPr>
        <p:spPr>
          <a:xfrm>
            <a:off x="215524" y="1799345"/>
            <a:ext cx="923364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3D67C98B-E5FB-0514-A6E6-8187282602BB}"/>
              </a:ext>
            </a:extLst>
          </p:cNvPr>
          <p:cNvSpPr/>
          <p:nvPr/>
        </p:nvSpPr>
        <p:spPr>
          <a:xfrm>
            <a:off x="215523" y="1329019"/>
            <a:ext cx="2129930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917BF1A4-5E40-D74F-66CE-8FE74C557D62}"/>
              </a:ext>
            </a:extLst>
          </p:cNvPr>
          <p:cNvSpPr/>
          <p:nvPr/>
        </p:nvSpPr>
        <p:spPr>
          <a:xfrm>
            <a:off x="215523" y="882313"/>
            <a:ext cx="2129929" cy="384262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NVIDIA_VISIBLE_DEVICES,</a:t>
            </a:r>
          </a:p>
          <a:p>
            <a:pPr algn="ctr"/>
            <a:r>
              <a:rPr lang="en-US" altLang="ko-KR" sz="900"/>
              <a:t>CUDA_MPS_PIPE_DIRECTORY Env  </a:t>
            </a:r>
            <a:endParaRPr lang="en-US" altLang="ko-KR" sz="900" dirty="0"/>
          </a:p>
        </p:txBody>
      </p:sp>
      <p:sp>
        <p:nvSpPr>
          <p:cNvPr id="14" name="사각형: 둥근 모서리 114">
            <a:extLst>
              <a:ext uri="{FF2B5EF4-FFF2-40B4-BE49-F238E27FC236}">
                <a16:creationId xmlns:a16="http://schemas.microsoft.com/office/drawing/2014/main" id="{D16E0A9F-4794-8E22-0A7D-A9B778DF3204}"/>
              </a:ext>
            </a:extLst>
          </p:cNvPr>
          <p:cNvSpPr/>
          <p:nvPr/>
        </p:nvSpPr>
        <p:spPr>
          <a:xfrm>
            <a:off x="4057494" y="2540715"/>
            <a:ext cx="2666781" cy="2212073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MPS Control Daemon Pod (DaemonSet)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사각형: 둥근 모서리 114">
            <a:extLst>
              <a:ext uri="{FF2B5EF4-FFF2-40B4-BE49-F238E27FC236}">
                <a16:creationId xmlns:a16="http://schemas.microsoft.com/office/drawing/2014/main" id="{4FC8AD81-C9BE-BE52-4C83-C056E89AC358}"/>
              </a:ext>
            </a:extLst>
          </p:cNvPr>
          <p:cNvSpPr/>
          <p:nvPr/>
        </p:nvSpPr>
        <p:spPr>
          <a:xfrm>
            <a:off x="4133845" y="2830537"/>
            <a:ext cx="2517544" cy="1849295"/>
          </a:xfrm>
          <a:prstGeom prst="roundRect">
            <a:avLst>
              <a:gd name="adj" fmla="val 350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CTR Container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사각형: 둥근 모서리 114">
            <a:extLst>
              <a:ext uri="{FF2B5EF4-FFF2-40B4-BE49-F238E27FC236}">
                <a16:creationId xmlns:a16="http://schemas.microsoft.com/office/drawing/2014/main" id="{B53E3247-B20C-8837-A605-5B6A035B7AD7}"/>
              </a:ext>
            </a:extLst>
          </p:cNvPr>
          <p:cNvSpPr/>
          <p:nvPr/>
        </p:nvSpPr>
        <p:spPr>
          <a:xfrm>
            <a:off x="1244690" y="1799345"/>
            <a:ext cx="1100762" cy="383228"/>
          </a:xfrm>
          <a:prstGeom prst="roundRect">
            <a:avLst>
              <a:gd name="adj" fmla="val 724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/mps/nvidia.com</a:t>
            </a:r>
            <a:br>
              <a:rPr lang="en-US" altLang="ko-KR" sz="900"/>
            </a:br>
            <a:r>
              <a:rPr lang="en-US" altLang="ko-KR" sz="900"/>
              <a:t>/gpu.shared</a:t>
            </a:r>
            <a:endParaRPr lang="en-US" altLang="ko-KR" sz="900" dirty="0"/>
          </a:p>
        </p:txBody>
      </p:sp>
      <p:sp>
        <p:nvSpPr>
          <p:cNvPr id="67" name="사각형: 둥근 모서리 114">
            <a:extLst>
              <a:ext uri="{FF2B5EF4-FFF2-40B4-BE49-F238E27FC236}">
                <a16:creationId xmlns:a16="http://schemas.microsoft.com/office/drawing/2014/main" id="{8B699257-EF13-20E1-1992-8D3DB1652E5F}"/>
              </a:ext>
            </a:extLst>
          </p:cNvPr>
          <p:cNvSpPr/>
          <p:nvPr/>
        </p:nvSpPr>
        <p:spPr>
          <a:xfrm>
            <a:off x="2629265" y="2607043"/>
            <a:ext cx="1077331" cy="383228"/>
          </a:xfrm>
          <a:prstGeom prst="roundRect">
            <a:avLst>
              <a:gd name="adj" fmla="val 12429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/run/nvidia</a:t>
            </a:r>
            <a:br>
              <a:rPr lang="en-US" altLang="ko-KR" sz="900"/>
            </a:br>
            <a:r>
              <a:rPr lang="en-US" altLang="ko-KR" sz="900"/>
              <a:t>/mps</a:t>
            </a:r>
            <a:endParaRPr lang="en-US" altLang="ko-KR" sz="900" dirty="0"/>
          </a:p>
        </p:txBody>
      </p:sp>
      <p:sp>
        <p:nvSpPr>
          <p:cNvPr id="98" name="사각형: 둥근 모서리 114">
            <a:extLst>
              <a:ext uri="{FF2B5EF4-FFF2-40B4-BE49-F238E27FC236}">
                <a16:creationId xmlns:a16="http://schemas.microsoft.com/office/drawing/2014/main" id="{676F65D6-3341-6283-D857-8557B2750927}"/>
              </a:ext>
            </a:extLst>
          </p:cNvPr>
          <p:cNvSpPr/>
          <p:nvPr/>
        </p:nvSpPr>
        <p:spPr>
          <a:xfrm>
            <a:off x="4368671" y="4221573"/>
            <a:ext cx="2025175" cy="383228"/>
          </a:xfrm>
          <a:prstGeom prst="roundRect">
            <a:avLst>
              <a:gd name="adj" fmla="val 12429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/mps/nvidia.com/gpu.shared</a:t>
            </a:r>
            <a:endParaRPr lang="en-US" altLang="ko-KR" sz="900" dirty="0"/>
          </a:p>
        </p:txBody>
      </p:sp>
      <p:sp>
        <p:nvSpPr>
          <p:cNvPr id="100" name="사각형: 둥근 모서리 114">
            <a:extLst>
              <a:ext uri="{FF2B5EF4-FFF2-40B4-BE49-F238E27FC236}">
                <a16:creationId xmlns:a16="http://schemas.microsoft.com/office/drawing/2014/main" id="{6EEA76CC-7822-C470-32C8-226EA9D2DC49}"/>
              </a:ext>
            </a:extLst>
          </p:cNvPr>
          <p:cNvSpPr/>
          <p:nvPr/>
        </p:nvSpPr>
        <p:spPr>
          <a:xfrm>
            <a:off x="4212915" y="3080850"/>
            <a:ext cx="1109675" cy="383228"/>
          </a:xfrm>
          <a:prstGeom prst="roundRect">
            <a:avLst>
              <a:gd name="adj" fmla="val 13792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mps-control-daemon</a:t>
            </a:r>
            <a:endParaRPr lang="en-US" altLang="ko-KR" sz="900" dirty="0"/>
          </a:p>
        </p:txBody>
      </p:sp>
      <p:sp>
        <p:nvSpPr>
          <p:cNvPr id="101" name="사각형: 둥근 모서리 114">
            <a:extLst>
              <a:ext uri="{FF2B5EF4-FFF2-40B4-BE49-F238E27FC236}">
                <a16:creationId xmlns:a16="http://schemas.microsoft.com/office/drawing/2014/main" id="{DDD93E1F-A691-B747-71C9-0AD17F3D1834}"/>
              </a:ext>
            </a:extLst>
          </p:cNvPr>
          <p:cNvSpPr/>
          <p:nvPr/>
        </p:nvSpPr>
        <p:spPr>
          <a:xfrm>
            <a:off x="4368671" y="3651211"/>
            <a:ext cx="2025175" cy="383228"/>
          </a:xfrm>
          <a:prstGeom prst="roundRect">
            <a:avLst>
              <a:gd name="adj" fmla="val 13792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nvidia-cuda-mps-control -d</a:t>
            </a:r>
            <a:endParaRPr lang="en-US" altLang="ko-KR" sz="900" dirty="0"/>
          </a:p>
        </p:txBody>
      </p:sp>
      <p:sp>
        <p:nvSpPr>
          <p:cNvPr id="103" name="사각형: 둥근 모서리 114">
            <a:extLst>
              <a:ext uri="{FF2B5EF4-FFF2-40B4-BE49-F238E27FC236}">
                <a16:creationId xmlns:a16="http://schemas.microsoft.com/office/drawing/2014/main" id="{A363A214-04F7-52EA-C015-82D106ADFB78}"/>
              </a:ext>
            </a:extLst>
          </p:cNvPr>
          <p:cNvSpPr/>
          <p:nvPr/>
        </p:nvSpPr>
        <p:spPr>
          <a:xfrm>
            <a:off x="5428704" y="3076223"/>
            <a:ext cx="1146283" cy="383228"/>
          </a:xfrm>
          <a:prstGeom prst="roundRect">
            <a:avLst>
              <a:gd name="adj" fmla="val 13792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nvidia-cuda-mps-server</a:t>
            </a:r>
            <a:endParaRPr lang="en-US" altLang="ko-KR" sz="900" dirty="0"/>
          </a:p>
        </p:txBody>
      </p:sp>
      <p:cxnSp>
        <p:nvCxnSpPr>
          <p:cNvPr id="104" name="직선 연결선 17">
            <a:extLst>
              <a:ext uri="{FF2B5EF4-FFF2-40B4-BE49-F238E27FC236}">
                <a16:creationId xmlns:a16="http://schemas.microsoft.com/office/drawing/2014/main" id="{D999C206-C6C8-24CC-4D74-F0A6355E11C4}"/>
              </a:ext>
            </a:extLst>
          </p:cNvPr>
          <p:cNvCxnSpPr>
            <a:cxnSpLocks/>
            <a:stCxn id="75" idx="2"/>
            <a:endCxn id="28" idx="0"/>
          </p:cNvCxnSpPr>
          <p:nvPr/>
        </p:nvCxnSpPr>
        <p:spPr>
          <a:xfrm>
            <a:off x="1280488" y="1712247"/>
            <a:ext cx="84714" cy="896741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7">
            <a:extLst>
              <a:ext uri="{FF2B5EF4-FFF2-40B4-BE49-F238E27FC236}">
                <a16:creationId xmlns:a16="http://schemas.microsoft.com/office/drawing/2014/main" id="{B5EC87A7-0798-F2A2-8B12-B00E3466041B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1365202" y="1712247"/>
            <a:ext cx="5367389" cy="896741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7">
            <a:extLst>
              <a:ext uri="{FF2B5EF4-FFF2-40B4-BE49-F238E27FC236}">
                <a16:creationId xmlns:a16="http://schemas.microsoft.com/office/drawing/2014/main" id="{E98C4E99-8FFE-F0C9-461A-CED618C72B20}"/>
              </a:ext>
            </a:extLst>
          </p:cNvPr>
          <p:cNvCxnSpPr>
            <a:cxnSpLocks/>
            <a:stCxn id="39" idx="2"/>
            <a:endCxn id="67" idx="0"/>
          </p:cNvCxnSpPr>
          <p:nvPr/>
        </p:nvCxnSpPr>
        <p:spPr>
          <a:xfrm>
            <a:off x="1795071" y="2182573"/>
            <a:ext cx="1372860" cy="42447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7">
            <a:extLst>
              <a:ext uri="{FF2B5EF4-FFF2-40B4-BE49-F238E27FC236}">
                <a16:creationId xmlns:a16="http://schemas.microsoft.com/office/drawing/2014/main" id="{CE6D9B08-46D7-9E97-5860-F16091FDF475}"/>
              </a:ext>
            </a:extLst>
          </p:cNvPr>
          <p:cNvCxnSpPr>
            <a:cxnSpLocks/>
            <a:stCxn id="98" idx="1"/>
            <a:endCxn id="67" idx="2"/>
          </p:cNvCxnSpPr>
          <p:nvPr/>
        </p:nvCxnSpPr>
        <p:spPr>
          <a:xfrm flipH="1" flipV="1">
            <a:off x="3167931" y="2990271"/>
            <a:ext cx="1200740" cy="1422916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0C6EF735-7684-2915-622A-673B65C2E37F}"/>
              </a:ext>
            </a:extLst>
          </p:cNvPr>
          <p:cNvSpPr txBox="1"/>
          <p:nvPr/>
        </p:nvSpPr>
        <p:spPr>
          <a:xfrm>
            <a:off x="2627405" y="2978233"/>
            <a:ext cx="1008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i="1"/>
              <a:t>HostPath</a:t>
            </a:r>
          </a:p>
          <a:p>
            <a:r>
              <a:rPr kumimoji="1" lang="en-US" altLang="ko-KR" sz="1000" b="1" i="1"/>
              <a:t>(Bind Mount)</a:t>
            </a:r>
            <a:endParaRPr kumimoji="1" lang="ko-KR" altLang="en-US" sz="1000" b="1" i="1"/>
          </a:p>
        </p:txBody>
      </p:sp>
      <p:cxnSp>
        <p:nvCxnSpPr>
          <p:cNvPr id="135" name="직선 연결선 17">
            <a:extLst>
              <a:ext uri="{FF2B5EF4-FFF2-40B4-BE49-F238E27FC236}">
                <a16:creationId xmlns:a16="http://schemas.microsoft.com/office/drawing/2014/main" id="{F5BB82B7-25ED-14D2-85EF-AE72233292E2}"/>
              </a:ext>
            </a:extLst>
          </p:cNvPr>
          <p:cNvCxnSpPr>
            <a:cxnSpLocks/>
            <a:stCxn id="74" idx="2"/>
            <a:endCxn id="20" idx="0"/>
          </p:cNvCxnSpPr>
          <p:nvPr/>
        </p:nvCxnSpPr>
        <p:spPr>
          <a:xfrm>
            <a:off x="677206" y="2182573"/>
            <a:ext cx="86826" cy="89827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7">
            <a:extLst>
              <a:ext uri="{FF2B5EF4-FFF2-40B4-BE49-F238E27FC236}">
                <a16:creationId xmlns:a16="http://schemas.microsoft.com/office/drawing/2014/main" id="{B625D5A1-C6BE-411F-297F-053225C0CDE7}"/>
              </a:ext>
            </a:extLst>
          </p:cNvPr>
          <p:cNvCxnSpPr>
            <a:cxnSpLocks/>
            <a:stCxn id="100" idx="2"/>
            <a:endCxn id="101" idx="0"/>
          </p:cNvCxnSpPr>
          <p:nvPr/>
        </p:nvCxnSpPr>
        <p:spPr>
          <a:xfrm>
            <a:off x="4767753" y="3464078"/>
            <a:ext cx="613506" cy="187133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7">
            <a:extLst>
              <a:ext uri="{FF2B5EF4-FFF2-40B4-BE49-F238E27FC236}">
                <a16:creationId xmlns:a16="http://schemas.microsoft.com/office/drawing/2014/main" id="{70182AC1-A01B-13BE-DCAC-21E58D3E5A10}"/>
              </a:ext>
            </a:extLst>
          </p:cNvPr>
          <p:cNvCxnSpPr>
            <a:cxnSpLocks/>
            <a:stCxn id="101" idx="0"/>
            <a:endCxn id="103" idx="2"/>
          </p:cNvCxnSpPr>
          <p:nvPr/>
        </p:nvCxnSpPr>
        <p:spPr>
          <a:xfrm flipV="1">
            <a:off x="5381259" y="3459451"/>
            <a:ext cx="620587" cy="191760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7">
            <a:extLst>
              <a:ext uri="{FF2B5EF4-FFF2-40B4-BE49-F238E27FC236}">
                <a16:creationId xmlns:a16="http://schemas.microsoft.com/office/drawing/2014/main" id="{C4359D9B-A6C1-404E-7E47-26F45D779FCB}"/>
              </a:ext>
            </a:extLst>
          </p:cNvPr>
          <p:cNvCxnSpPr>
            <a:cxnSpLocks/>
            <a:stCxn id="101" idx="2"/>
            <a:endCxn id="98" idx="0"/>
          </p:cNvCxnSpPr>
          <p:nvPr/>
        </p:nvCxnSpPr>
        <p:spPr>
          <a:xfrm>
            <a:off x="5381259" y="4034439"/>
            <a:ext cx="0" cy="187134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사각형: 둥근 모서리 114">
            <a:extLst>
              <a:ext uri="{FF2B5EF4-FFF2-40B4-BE49-F238E27FC236}">
                <a16:creationId xmlns:a16="http://schemas.microsoft.com/office/drawing/2014/main" id="{AF43CD39-0E55-586B-7667-80C24BE3A447}"/>
              </a:ext>
            </a:extLst>
          </p:cNvPr>
          <p:cNvSpPr/>
          <p:nvPr/>
        </p:nvSpPr>
        <p:spPr>
          <a:xfrm>
            <a:off x="2577644" y="332893"/>
            <a:ext cx="2411859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9" name="사각형: 둥근 모서리 114">
            <a:extLst>
              <a:ext uri="{FF2B5EF4-FFF2-40B4-BE49-F238E27FC236}">
                <a16:creationId xmlns:a16="http://schemas.microsoft.com/office/drawing/2014/main" id="{2C11317C-862D-4D9C-A010-C4F8A4BED8CD}"/>
              </a:ext>
            </a:extLst>
          </p:cNvPr>
          <p:cNvSpPr/>
          <p:nvPr/>
        </p:nvSpPr>
        <p:spPr>
          <a:xfrm>
            <a:off x="2627405" y="610622"/>
            <a:ext cx="2308660" cy="166129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0" name="사각형: 둥근 모서리 114">
            <a:extLst>
              <a:ext uri="{FF2B5EF4-FFF2-40B4-BE49-F238E27FC236}">
                <a16:creationId xmlns:a16="http://schemas.microsoft.com/office/drawing/2014/main" id="{2A5AB734-DBA3-DFAA-533A-34F9CC5850AC}"/>
              </a:ext>
            </a:extLst>
          </p:cNvPr>
          <p:cNvSpPr/>
          <p:nvPr/>
        </p:nvSpPr>
        <p:spPr>
          <a:xfrm>
            <a:off x="2713251" y="1799345"/>
            <a:ext cx="923364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191" name="사각형: 둥근 모서리 114">
            <a:extLst>
              <a:ext uri="{FF2B5EF4-FFF2-40B4-BE49-F238E27FC236}">
                <a16:creationId xmlns:a16="http://schemas.microsoft.com/office/drawing/2014/main" id="{F97D9350-C577-C570-6723-9BB54ABBAB13}"/>
              </a:ext>
            </a:extLst>
          </p:cNvPr>
          <p:cNvSpPr/>
          <p:nvPr/>
        </p:nvSpPr>
        <p:spPr>
          <a:xfrm>
            <a:off x="2713250" y="1329019"/>
            <a:ext cx="2129930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92" name="사각형: 둥근 모서리 114">
            <a:extLst>
              <a:ext uri="{FF2B5EF4-FFF2-40B4-BE49-F238E27FC236}">
                <a16:creationId xmlns:a16="http://schemas.microsoft.com/office/drawing/2014/main" id="{A207F854-372F-0C30-937D-CDD27E622A7E}"/>
              </a:ext>
            </a:extLst>
          </p:cNvPr>
          <p:cNvSpPr/>
          <p:nvPr/>
        </p:nvSpPr>
        <p:spPr>
          <a:xfrm>
            <a:off x="2713250" y="882313"/>
            <a:ext cx="2129929" cy="384262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NVIDIA_VISIBLE_DEVICES,</a:t>
            </a:r>
          </a:p>
          <a:p>
            <a:pPr algn="ctr"/>
            <a:r>
              <a:rPr lang="en-US" altLang="ko-KR" sz="900"/>
              <a:t>CUDA_MPS_PIPE_DIRECTORY Env  </a:t>
            </a:r>
            <a:endParaRPr lang="en-US" altLang="ko-KR" sz="900" dirty="0"/>
          </a:p>
        </p:txBody>
      </p:sp>
      <p:sp>
        <p:nvSpPr>
          <p:cNvPr id="193" name="사각형: 둥근 모서리 114">
            <a:extLst>
              <a:ext uri="{FF2B5EF4-FFF2-40B4-BE49-F238E27FC236}">
                <a16:creationId xmlns:a16="http://schemas.microsoft.com/office/drawing/2014/main" id="{70CEEA75-A6F0-9296-1774-FD90F1BED56C}"/>
              </a:ext>
            </a:extLst>
          </p:cNvPr>
          <p:cNvSpPr/>
          <p:nvPr/>
        </p:nvSpPr>
        <p:spPr>
          <a:xfrm>
            <a:off x="3742417" y="1799345"/>
            <a:ext cx="1100762" cy="383228"/>
          </a:xfrm>
          <a:prstGeom prst="roundRect">
            <a:avLst>
              <a:gd name="adj" fmla="val 724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/mps/nvidia.com</a:t>
            </a:r>
            <a:br>
              <a:rPr lang="en-US" altLang="ko-KR" sz="900"/>
            </a:br>
            <a:r>
              <a:rPr lang="en-US" altLang="ko-KR" sz="900"/>
              <a:t>/gpu.shared</a:t>
            </a:r>
            <a:endParaRPr lang="en-US" altLang="ko-KR" sz="900" dirty="0"/>
          </a:p>
        </p:txBody>
      </p:sp>
      <p:sp>
        <p:nvSpPr>
          <p:cNvPr id="194" name="사각형: 둥근 모서리 114">
            <a:extLst>
              <a:ext uri="{FF2B5EF4-FFF2-40B4-BE49-F238E27FC236}">
                <a16:creationId xmlns:a16="http://schemas.microsoft.com/office/drawing/2014/main" id="{3891D269-820B-A52D-1F55-D2B2D12544A2}"/>
              </a:ext>
            </a:extLst>
          </p:cNvPr>
          <p:cNvSpPr/>
          <p:nvPr/>
        </p:nvSpPr>
        <p:spPr>
          <a:xfrm>
            <a:off x="5076056" y="332893"/>
            <a:ext cx="2411859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5" name="사각형: 둥근 모서리 114">
            <a:extLst>
              <a:ext uri="{FF2B5EF4-FFF2-40B4-BE49-F238E27FC236}">
                <a16:creationId xmlns:a16="http://schemas.microsoft.com/office/drawing/2014/main" id="{E55EF9DE-BE8E-4FC9-FD1D-2C77736BDAB1}"/>
              </a:ext>
            </a:extLst>
          </p:cNvPr>
          <p:cNvSpPr/>
          <p:nvPr/>
        </p:nvSpPr>
        <p:spPr>
          <a:xfrm>
            <a:off x="5125817" y="610622"/>
            <a:ext cx="2308660" cy="166129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6" name="사각형: 둥근 모서리 114">
            <a:extLst>
              <a:ext uri="{FF2B5EF4-FFF2-40B4-BE49-F238E27FC236}">
                <a16:creationId xmlns:a16="http://schemas.microsoft.com/office/drawing/2014/main" id="{4611A614-6569-29D8-0A34-8F4F120BD670}"/>
              </a:ext>
            </a:extLst>
          </p:cNvPr>
          <p:cNvSpPr/>
          <p:nvPr/>
        </p:nvSpPr>
        <p:spPr>
          <a:xfrm>
            <a:off x="5211663" y="1799345"/>
            <a:ext cx="923364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197" name="사각형: 둥근 모서리 114">
            <a:extLst>
              <a:ext uri="{FF2B5EF4-FFF2-40B4-BE49-F238E27FC236}">
                <a16:creationId xmlns:a16="http://schemas.microsoft.com/office/drawing/2014/main" id="{F5DAE0EE-EB9F-D2A3-93D6-22BAEE7A8D27}"/>
              </a:ext>
            </a:extLst>
          </p:cNvPr>
          <p:cNvSpPr/>
          <p:nvPr/>
        </p:nvSpPr>
        <p:spPr>
          <a:xfrm>
            <a:off x="5211662" y="1329019"/>
            <a:ext cx="2129930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98" name="사각형: 둥근 모서리 114">
            <a:extLst>
              <a:ext uri="{FF2B5EF4-FFF2-40B4-BE49-F238E27FC236}">
                <a16:creationId xmlns:a16="http://schemas.microsoft.com/office/drawing/2014/main" id="{39BA9158-B82C-5320-B10C-DF4548B5D442}"/>
              </a:ext>
            </a:extLst>
          </p:cNvPr>
          <p:cNvSpPr/>
          <p:nvPr/>
        </p:nvSpPr>
        <p:spPr>
          <a:xfrm>
            <a:off x="5211662" y="882313"/>
            <a:ext cx="2129929" cy="384262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NVIDIA_VISIBLE_DEVICES,</a:t>
            </a:r>
          </a:p>
          <a:p>
            <a:pPr algn="ctr"/>
            <a:r>
              <a:rPr lang="en-US" altLang="ko-KR" sz="900"/>
              <a:t>CUDA_MPS_PIPE_DIRECTORY Env  </a:t>
            </a:r>
            <a:endParaRPr lang="en-US" altLang="ko-KR" sz="900" dirty="0"/>
          </a:p>
        </p:txBody>
      </p:sp>
      <p:sp>
        <p:nvSpPr>
          <p:cNvPr id="199" name="사각형: 둥근 모서리 114">
            <a:extLst>
              <a:ext uri="{FF2B5EF4-FFF2-40B4-BE49-F238E27FC236}">
                <a16:creationId xmlns:a16="http://schemas.microsoft.com/office/drawing/2014/main" id="{A665D701-0908-5C9E-2F48-A045066D0D8B}"/>
              </a:ext>
            </a:extLst>
          </p:cNvPr>
          <p:cNvSpPr/>
          <p:nvPr/>
        </p:nvSpPr>
        <p:spPr>
          <a:xfrm>
            <a:off x="6240829" y="1799345"/>
            <a:ext cx="1100762" cy="383228"/>
          </a:xfrm>
          <a:prstGeom prst="roundRect">
            <a:avLst>
              <a:gd name="adj" fmla="val 724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/mps/nvidia.com</a:t>
            </a:r>
            <a:br>
              <a:rPr lang="en-US" altLang="ko-KR" sz="900"/>
            </a:br>
            <a:r>
              <a:rPr lang="en-US" altLang="ko-KR" sz="900"/>
              <a:t>/gpu.shared</a:t>
            </a:r>
            <a:endParaRPr lang="en-US" altLang="ko-KR" sz="900" dirty="0"/>
          </a:p>
        </p:txBody>
      </p:sp>
      <p:cxnSp>
        <p:nvCxnSpPr>
          <p:cNvPr id="200" name="직선 연결선 17">
            <a:extLst>
              <a:ext uri="{FF2B5EF4-FFF2-40B4-BE49-F238E27FC236}">
                <a16:creationId xmlns:a16="http://schemas.microsoft.com/office/drawing/2014/main" id="{82FC1480-5555-D475-56BD-106F899EE9A3}"/>
              </a:ext>
            </a:extLst>
          </p:cNvPr>
          <p:cNvCxnSpPr>
            <a:cxnSpLocks/>
            <a:stCxn id="191" idx="2"/>
            <a:endCxn id="28" idx="0"/>
          </p:cNvCxnSpPr>
          <p:nvPr/>
        </p:nvCxnSpPr>
        <p:spPr>
          <a:xfrm flipH="1">
            <a:off x="1365202" y="1712247"/>
            <a:ext cx="2413013" cy="896741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17">
            <a:extLst>
              <a:ext uri="{FF2B5EF4-FFF2-40B4-BE49-F238E27FC236}">
                <a16:creationId xmlns:a16="http://schemas.microsoft.com/office/drawing/2014/main" id="{5EC3D497-1951-C61E-F397-9ACCF47C4394}"/>
              </a:ext>
            </a:extLst>
          </p:cNvPr>
          <p:cNvCxnSpPr>
            <a:cxnSpLocks/>
            <a:stCxn id="193" idx="2"/>
            <a:endCxn id="67" idx="0"/>
          </p:cNvCxnSpPr>
          <p:nvPr/>
        </p:nvCxnSpPr>
        <p:spPr>
          <a:xfrm flipH="1">
            <a:off x="3167931" y="2182573"/>
            <a:ext cx="1124867" cy="42447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17">
            <a:extLst>
              <a:ext uri="{FF2B5EF4-FFF2-40B4-BE49-F238E27FC236}">
                <a16:creationId xmlns:a16="http://schemas.microsoft.com/office/drawing/2014/main" id="{B830C021-788F-3A7B-E685-CFE66874920F}"/>
              </a:ext>
            </a:extLst>
          </p:cNvPr>
          <p:cNvCxnSpPr>
            <a:cxnSpLocks/>
            <a:stCxn id="199" idx="2"/>
          </p:cNvCxnSpPr>
          <p:nvPr/>
        </p:nvCxnSpPr>
        <p:spPr>
          <a:xfrm flipH="1">
            <a:off x="3167931" y="2182573"/>
            <a:ext cx="3623279" cy="42447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17">
            <a:extLst>
              <a:ext uri="{FF2B5EF4-FFF2-40B4-BE49-F238E27FC236}">
                <a16:creationId xmlns:a16="http://schemas.microsoft.com/office/drawing/2014/main" id="{0E2156C4-3328-D408-4844-F672270F4850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764032" y="2182573"/>
            <a:ext cx="2410901" cy="89827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17">
            <a:extLst>
              <a:ext uri="{FF2B5EF4-FFF2-40B4-BE49-F238E27FC236}">
                <a16:creationId xmlns:a16="http://schemas.microsoft.com/office/drawing/2014/main" id="{E7A5008F-BFFA-6AD6-A149-3A203D48CA81}"/>
              </a:ext>
            </a:extLst>
          </p:cNvPr>
          <p:cNvCxnSpPr>
            <a:cxnSpLocks/>
          </p:cNvCxnSpPr>
          <p:nvPr/>
        </p:nvCxnSpPr>
        <p:spPr>
          <a:xfrm flipH="1">
            <a:off x="1970595" y="2182573"/>
            <a:ext cx="3702750" cy="89827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A3DD0418-7D98-0CFA-1D52-45F50AC54F00}"/>
              </a:ext>
            </a:extLst>
          </p:cNvPr>
          <p:cNvSpPr txBox="1"/>
          <p:nvPr/>
        </p:nvSpPr>
        <p:spPr>
          <a:xfrm>
            <a:off x="7272691" y="3356782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podc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containerc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183C2B5-D51E-14F6-72E8-79C71E0B1C44}"/>
              </a:ext>
            </a:extLst>
          </p:cNvPr>
          <p:cNvSpPr txBox="1"/>
          <p:nvPr/>
        </p:nvSpPr>
        <p:spPr>
          <a:xfrm>
            <a:off x="7272691" y="1787122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podb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containerb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A8C3724B-C6B3-2D61-ECC0-EA85D99AFDEA}"/>
              </a:ext>
            </a:extLst>
          </p:cNvPr>
          <p:cNvSpPr txBox="1"/>
          <p:nvPr/>
        </p:nvSpPr>
        <p:spPr>
          <a:xfrm>
            <a:off x="7272691" y="229685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441C1C31-CA8C-3DA8-477C-EA34A38AA5D3}"/>
              </a:ext>
            </a:extLst>
          </p:cNvPr>
          <p:cNvSpPr/>
          <p:nvPr/>
        </p:nvSpPr>
        <p:spPr>
          <a:xfrm flipH="1">
            <a:off x="1754333" y="3799902"/>
            <a:ext cx="2066064" cy="4612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900" b="1" dirty="0">
                <a:solidFill>
                  <a:schemeClr val="tx1"/>
                </a:solidFill>
              </a:rPr>
              <a:t>NVIDIA </a:t>
            </a:r>
            <a:r>
              <a:rPr lang="en-US" sz="900" b="1" dirty="0">
                <a:solidFill>
                  <a:schemeClr val="tx1"/>
                </a:solidFill>
              </a:rPr>
              <a:t>Device Plugin Pod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(DaemonSet)</a:t>
            </a:r>
            <a:endParaRPr lang="en-KR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23B994-DA6B-AAE1-BBF8-900D60B4E169}"/>
              </a:ext>
            </a:extLst>
          </p:cNvPr>
          <p:cNvSpPr txBox="1"/>
          <p:nvPr/>
        </p:nvSpPr>
        <p:spPr>
          <a:xfrm>
            <a:off x="79917" y="3566183"/>
            <a:ext cx="1489994" cy="120032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apiVersion: v1</a:t>
            </a:r>
          </a:p>
          <a:p>
            <a:pPr algn="l"/>
            <a:r>
              <a:rPr lang="en-US" sz="800" kern="0" dirty="0" err="1">
                <a:cs typeface="Al Bayan Plain" pitchFamily="2" charset="-78"/>
              </a:rPr>
              <a:t> kind: Node</a:t>
            </a:r>
          </a:p>
          <a:p>
            <a:pPr algn="l"/>
            <a:r>
              <a:rPr lang="en-US" sz="800" kern="0" dirty="0" err="1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 err="1">
                <a:cs typeface="Al Bayan Plain" pitchFamily="2" charset="-78"/>
              </a:rPr>
              <a:t>   name: gpu-node</a:t>
            </a:r>
          </a:p>
          <a:p>
            <a:pPr algn="l"/>
            <a:r>
              <a:rPr lang="en-US" sz="800" kern="0" dirty="0" err="1">
                <a:cs typeface="Al Bayan Plain" pitchFamily="2" charset="-78"/>
              </a:rPr>
              <a:t> status: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capacity: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  nvidia.com/gpu.shared: ”4"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allocatable: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  nvidia.com/gpu.shared: “4”</a:t>
            </a:r>
          </a:p>
        </p:txBody>
      </p:sp>
    </p:spTree>
    <p:extLst>
      <p:ext uri="{BB962C8B-B14F-4D97-AF65-F5344CB8AC3E}">
        <p14:creationId xmlns:p14="http://schemas.microsoft.com/office/powerpoint/2010/main" val="1879393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91890-1803-A08E-17F1-F990F1594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D9CC815F-527C-EE0E-882D-D657105DD1E8}"/>
              </a:ext>
            </a:extLst>
          </p:cNvPr>
          <p:cNvSpPr/>
          <p:nvPr/>
        </p:nvSpPr>
        <p:spPr>
          <a:xfrm flipH="1">
            <a:off x="3951687" y="2693073"/>
            <a:ext cx="2066064" cy="4612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900" b="1" dirty="0">
                <a:solidFill>
                  <a:schemeClr val="tx1"/>
                </a:solidFill>
              </a:rPr>
              <a:t>NVIDIA </a:t>
            </a:r>
            <a:r>
              <a:rPr lang="en-US" sz="900" b="1" dirty="0">
                <a:solidFill>
                  <a:schemeClr val="tx1"/>
                </a:solidFill>
              </a:rPr>
              <a:t>Device Plugin Pod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(DaemonSet)</a:t>
            </a:r>
            <a:endParaRPr lang="en-KR" sz="900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65F7A1F3-8A1A-3FF7-26B1-5136613AF6CF}"/>
              </a:ext>
            </a:extLst>
          </p:cNvPr>
          <p:cNvSpPr/>
          <p:nvPr/>
        </p:nvSpPr>
        <p:spPr>
          <a:xfrm>
            <a:off x="43906" y="60026"/>
            <a:ext cx="2492125" cy="2464513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1160C2-C3EB-FC47-1EED-1DAB0E84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30D7E37D-8EA3-EAAE-6CB7-3495FE2FDBEA}"/>
              </a:ext>
            </a:extLst>
          </p:cNvPr>
          <p:cNvSpPr/>
          <p:nvPr/>
        </p:nvSpPr>
        <p:spPr>
          <a:xfrm>
            <a:off x="93668" y="336814"/>
            <a:ext cx="2385214" cy="2141343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FF05ED97-60E2-36FB-FCE4-D902705F8492}"/>
              </a:ext>
            </a:extLst>
          </p:cNvPr>
          <p:cNvSpPr/>
          <p:nvPr/>
        </p:nvSpPr>
        <p:spPr>
          <a:xfrm>
            <a:off x="179514" y="1526478"/>
            <a:ext cx="1066284" cy="383228"/>
          </a:xfrm>
          <a:prstGeom prst="roundRect">
            <a:avLst>
              <a:gd name="adj" fmla="val 724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/dev/nvidia-caps</a:t>
            </a:r>
            <a:br>
              <a:rPr lang="en-US" altLang="ko-KR" sz="900"/>
            </a:br>
            <a:r>
              <a:rPr lang="en-US" altLang="ko-KR" sz="900"/>
              <a:t>/nvidia-caps21</a:t>
            </a:r>
            <a:endParaRPr lang="en-US" altLang="ko-KR" sz="9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43874343-60E0-E89C-D932-118D558CCA10}"/>
              </a:ext>
            </a:extLst>
          </p:cNvPr>
          <p:cNvSpPr/>
          <p:nvPr/>
        </p:nvSpPr>
        <p:spPr>
          <a:xfrm>
            <a:off x="179513" y="1056152"/>
            <a:ext cx="2174756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9E55AE19-5E07-FC35-F880-DA6C16EFF422}"/>
              </a:ext>
            </a:extLst>
          </p:cNvPr>
          <p:cNvSpPr/>
          <p:nvPr/>
        </p:nvSpPr>
        <p:spPr>
          <a:xfrm>
            <a:off x="179512" y="610481"/>
            <a:ext cx="2174756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  <a:br>
              <a:rPr lang="en-US" altLang="ko-KR" sz="900"/>
            </a:br>
            <a:r>
              <a:rPr lang="en-US" altLang="ko-KR" sz="900"/>
              <a:t>NVIDIA_VISIBLE_DEVICES Env  </a:t>
            </a:r>
            <a:endParaRPr lang="en-US" altLang="ko-KR" sz="9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DD799BD-81DB-F04D-0B51-8E5598EE9006}"/>
              </a:ext>
            </a:extLst>
          </p:cNvPr>
          <p:cNvSpPr txBox="1"/>
          <p:nvPr/>
        </p:nvSpPr>
        <p:spPr>
          <a:xfrm>
            <a:off x="7185137" y="3389521"/>
            <a:ext cx="1618118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podc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r>
              <a:rPr lang="en-US" sz="800" kern="0" dirty="0">
                <a:cs typeface="Al Bayan Plain" pitchFamily="2" charset="-78"/>
              </a:rPr>
              <a:t>     - name: </a:t>
            </a:r>
            <a:r>
              <a:rPr lang="en-US" altLang="ko-KR" sz="800" kern="0" dirty="0">
                <a:cs typeface="Al Bayan Plain" pitchFamily="2" charset="-78"/>
              </a:rPr>
              <a:t>containerc</a:t>
            </a:r>
            <a:endParaRPr lang="en-US" sz="800" kern="0" dirty="0">
              <a:cs typeface="Al Bayan Plain" pitchFamily="2" charset="-78"/>
            </a:endParaRP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mig-1g.5b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mig-1g.5b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24" name="사각형: 둥근 모서리 114">
            <a:extLst>
              <a:ext uri="{FF2B5EF4-FFF2-40B4-BE49-F238E27FC236}">
                <a16:creationId xmlns:a16="http://schemas.microsoft.com/office/drawing/2014/main" id="{B8CF3FC4-65BE-42AC-DB7F-8FA587E0C213}"/>
              </a:ext>
            </a:extLst>
          </p:cNvPr>
          <p:cNvSpPr/>
          <p:nvPr/>
        </p:nvSpPr>
        <p:spPr>
          <a:xfrm>
            <a:off x="179514" y="1996804"/>
            <a:ext cx="2186432" cy="383228"/>
          </a:xfrm>
          <a:prstGeom prst="roundRect">
            <a:avLst>
              <a:gd name="adj" fmla="val 1242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33" name="사각형: 둥근 모서리 114">
            <a:extLst>
              <a:ext uri="{FF2B5EF4-FFF2-40B4-BE49-F238E27FC236}">
                <a16:creationId xmlns:a16="http://schemas.microsoft.com/office/drawing/2014/main" id="{9E5FB8CF-6186-A03C-C926-F30AA711695B}"/>
              </a:ext>
            </a:extLst>
          </p:cNvPr>
          <p:cNvSpPr/>
          <p:nvPr/>
        </p:nvSpPr>
        <p:spPr>
          <a:xfrm>
            <a:off x="1289704" y="1526478"/>
            <a:ext cx="1066284" cy="383228"/>
          </a:xfrm>
          <a:prstGeom prst="roundRect">
            <a:avLst>
              <a:gd name="adj" fmla="val 724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/dev/nvidia-caps</a:t>
            </a:r>
            <a:br>
              <a:rPr lang="en-US" altLang="ko-KR" sz="900"/>
            </a:br>
            <a:r>
              <a:rPr lang="en-US" altLang="ko-KR" sz="900"/>
              <a:t>/nvidia-caps22</a:t>
            </a:r>
            <a:endParaRPr lang="en-US" altLang="ko-KR" sz="900" dirty="0"/>
          </a:p>
        </p:txBody>
      </p:sp>
      <p:sp>
        <p:nvSpPr>
          <p:cNvPr id="35" name="사각형: 둥근 모서리 114">
            <a:extLst>
              <a:ext uri="{FF2B5EF4-FFF2-40B4-BE49-F238E27FC236}">
                <a16:creationId xmlns:a16="http://schemas.microsoft.com/office/drawing/2014/main" id="{03D0486A-CFBE-1B8F-2277-0E2BE95BFAE8}"/>
              </a:ext>
            </a:extLst>
          </p:cNvPr>
          <p:cNvSpPr/>
          <p:nvPr/>
        </p:nvSpPr>
        <p:spPr>
          <a:xfrm>
            <a:off x="2624752" y="60026"/>
            <a:ext cx="3590706" cy="2464513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사각형: 둥근 모서리 114">
            <a:extLst>
              <a:ext uri="{FF2B5EF4-FFF2-40B4-BE49-F238E27FC236}">
                <a16:creationId xmlns:a16="http://schemas.microsoft.com/office/drawing/2014/main" id="{93903880-EA57-8D38-2847-4EF9A8399083}"/>
              </a:ext>
            </a:extLst>
          </p:cNvPr>
          <p:cNvSpPr/>
          <p:nvPr/>
        </p:nvSpPr>
        <p:spPr>
          <a:xfrm>
            <a:off x="2674513" y="336814"/>
            <a:ext cx="3490939" cy="2141343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사각형: 둥근 모서리 114">
            <a:extLst>
              <a:ext uri="{FF2B5EF4-FFF2-40B4-BE49-F238E27FC236}">
                <a16:creationId xmlns:a16="http://schemas.microsoft.com/office/drawing/2014/main" id="{6E34BF00-A8B7-76B0-E8C6-35C6A67EE23C}"/>
              </a:ext>
            </a:extLst>
          </p:cNvPr>
          <p:cNvSpPr/>
          <p:nvPr/>
        </p:nvSpPr>
        <p:spPr>
          <a:xfrm>
            <a:off x="2760360" y="1526478"/>
            <a:ext cx="1066284" cy="383228"/>
          </a:xfrm>
          <a:prstGeom prst="roundRect">
            <a:avLst>
              <a:gd name="adj" fmla="val 724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/dev/nvidia-caps</a:t>
            </a:r>
            <a:br>
              <a:rPr lang="en-US" altLang="ko-KR" sz="900"/>
            </a:br>
            <a:r>
              <a:rPr lang="en-US" altLang="ko-KR" sz="900"/>
              <a:t>/nvidia-caps30</a:t>
            </a:r>
            <a:endParaRPr lang="en-US" altLang="ko-KR" sz="900" dirty="0"/>
          </a:p>
        </p:txBody>
      </p:sp>
      <p:sp>
        <p:nvSpPr>
          <p:cNvPr id="40" name="사각형: 둥근 모서리 114">
            <a:extLst>
              <a:ext uri="{FF2B5EF4-FFF2-40B4-BE49-F238E27FC236}">
                <a16:creationId xmlns:a16="http://schemas.microsoft.com/office/drawing/2014/main" id="{53B805E3-C8F5-5F6B-F293-18C9DEDA198C}"/>
              </a:ext>
            </a:extLst>
          </p:cNvPr>
          <p:cNvSpPr/>
          <p:nvPr/>
        </p:nvSpPr>
        <p:spPr>
          <a:xfrm>
            <a:off x="2760358" y="1056152"/>
            <a:ext cx="3302478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41" name="사각형: 둥근 모서리 114">
            <a:extLst>
              <a:ext uri="{FF2B5EF4-FFF2-40B4-BE49-F238E27FC236}">
                <a16:creationId xmlns:a16="http://schemas.microsoft.com/office/drawing/2014/main" id="{2E144784-2DC1-0CC5-AE67-82CB64FD4DF7}"/>
              </a:ext>
            </a:extLst>
          </p:cNvPr>
          <p:cNvSpPr/>
          <p:nvPr/>
        </p:nvSpPr>
        <p:spPr>
          <a:xfrm>
            <a:off x="2760358" y="610481"/>
            <a:ext cx="3302478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NVIDIA_VISIBLE_DEVICES Env  </a:t>
            </a:r>
            <a:endParaRPr lang="en-US" altLang="ko-KR" sz="900" dirty="0"/>
          </a:p>
        </p:txBody>
      </p:sp>
      <p:sp>
        <p:nvSpPr>
          <p:cNvPr id="42" name="사각형: 둥근 모서리 114">
            <a:extLst>
              <a:ext uri="{FF2B5EF4-FFF2-40B4-BE49-F238E27FC236}">
                <a16:creationId xmlns:a16="http://schemas.microsoft.com/office/drawing/2014/main" id="{86CDFBC8-FF87-A17B-26A0-A6E739193F68}"/>
              </a:ext>
            </a:extLst>
          </p:cNvPr>
          <p:cNvSpPr/>
          <p:nvPr/>
        </p:nvSpPr>
        <p:spPr>
          <a:xfrm>
            <a:off x="2760360" y="1996804"/>
            <a:ext cx="3306578" cy="383228"/>
          </a:xfrm>
          <a:prstGeom prst="roundRect">
            <a:avLst>
              <a:gd name="adj" fmla="val 1242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43" name="사각형: 둥근 모서리 114">
            <a:extLst>
              <a:ext uri="{FF2B5EF4-FFF2-40B4-BE49-F238E27FC236}">
                <a16:creationId xmlns:a16="http://schemas.microsoft.com/office/drawing/2014/main" id="{F5F466C6-795B-4A78-3DDD-7B26CAC1DD75}"/>
              </a:ext>
            </a:extLst>
          </p:cNvPr>
          <p:cNvSpPr/>
          <p:nvPr/>
        </p:nvSpPr>
        <p:spPr>
          <a:xfrm>
            <a:off x="3880507" y="1526478"/>
            <a:ext cx="1066284" cy="383228"/>
          </a:xfrm>
          <a:prstGeom prst="roundRect">
            <a:avLst>
              <a:gd name="adj" fmla="val 724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/dev/nvidia-caps</a:t>
            </a:r>
            <a:br>
              <a:rPr lang="en-US" altLang="ko-KR" sz="900"/>
            </a:br>
            <a:r>
              <a:rPr lang="en-US" altLang="ko-KR" sz="900"/>
              <a:t>/nvidia-caps31</a:t>
            </a:r>
            <a:endParaRPr lang="en-US" altLang="ko-KR" sz="900" dirty="0"/>
          </a:p>
        </p:txBody>
      </p:sp>
      <p:sp>
        <p:nvSpPr>
          <p:cNvPr id="44" name="사각형: 둥근 모서리 114">
            <a:extLst>
              <a:ext uri="{FF2B5EF4-FFF2-40B4-BE49-F238E27FC236}">
                <a16:creationId xmlns:a16="http://schemas.microsoft.com/office/drawing/2014/main" id="{270FE9AE-BB98-C842-FB54-9F53F173CD04}"/>
              </a:ext>
            </a:extLst>
          </p:cNvPr>
          <p:cNvSpPr/>
          <p:nvPr/>
        </p:nvSpPr>
        <p:spPr>
          <a:xfrm>
            <a:off x="4996552" y="1526478"/>
            <a:ext cx="1066284" cy="383228"/>
          </a:xfrm>
          <a:prstGeom prst="roundRect">
            <a:avLst>
              <a:gd name="adj" fmla="val 724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/dev/nvidia-caps</a:t>
            </a:r>
            <a:br>
              <a:rPr lang="en-US" altLang="ko-KR" sz="900"/>
            </a:br>
            <a:r>
              <a:rPr lang="en-US" altLang="ko-KR" sz="900"/>
              <a:t>/nvidia-caps32</a:t>
            </a:r>
            <a:endParaRPr lang="en-US" altLang="ko-KR" sz="900" dirty="0"/>
          </a:p>
        </p:txBody>
      </p:sp>
      <p:sp>
        <p:nvSpPr>
          <p:cNvPr id="9" name="사각형: 둥근 모서리 114">
            <a:extLst>
              <a:ext uri="{FF2B5EF4-FFF2-40B4-BE49-F238E27FC236}">
                <a16:creationId xmlns:a16="http://schemas.microsoft.com/office/drawing/2014/main" id="{BFA1BDBB-A396-A062-6C9F-0F76A9AB1ABB}"/>
              </a:ext>
            </a:extLst>
          </p:cNvPr>
          <p:cNvSpPr/>
          <p:nvPr/>
        </p:nvSpPr>
        <p:spPr>
          <a:xfrm>
            <a:off x="20290" y="2694812"/>
            <a:ext cx="3860217" cy="2264369"/>
          </a:xfrm>
          <a:prstGeom prst="roundRect">
            <a:avLst>
              <a:gd name="adj" fmla="val 22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</a:t>
            </a:r>
            <a:endParaRPr lang="en-US" altLang="ko-KR" sz="1000" b="1" dirty="0"/>
          </a:p>
        </p:txBody>
      </p:sp>
      <p:sp>
        <p:nvSpPr>
          <p:cNvPr id="12" name="사각형: 둥근 모서리 114">
            <a:extLst>
              <a:ext uri="{FF2B5EF4-FFF2-40B4-BE49-F238E27FC236}">
                <a16:creationId xmlns:a16="http://schemas.microsoft.com/office/drawing/2014/main" id="{C7E8C59F-D6F9-F850-854C-565A25E87889}"/>
              </a:ext>
            </a:extLst>
          </p:cNvPr>
          <p:cNvSpPr/>
          <p:nvPr/>
        </p:nvSpPr>
        <p:spPr>
          <a:xfrm>
            <a:off x="132859" y="4343733"/>
            <a:ext cx="2744745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GPU 0</a:t>
            </a:r>
            <a:endParaRPr lang="en-US" altLang="ko-KR" sz="900" dirty="0"/>
          </a:p>
        </p:txBody>
      </p:sp>
      <p:sp>
        <p:nvSpPr>
          <p:cNvPr id="13" name="사각형: 둥근 모서리 114">
            <a:extLst>
              <a:ext uri="{FF2B5EF4-FFF2-40B4-BE49-F238E27FC236}">
                <a16:creationId xmlns:a16="http://schemas.microsoft.com/office/drawing/2014/main" id="{FBA5DA3A-3C17-ED7E-3CB4-1626401FA50D}"/>
              </a:ext>
            </a:extLst>
          </p:cNvPr>
          <p:cNvSpPr/>
          <p:nvPr/>
        </p:nvSpPr>
        <p:spPr>
          <a:xfrm>
            <a:off x="137917" y="3306888"/>
            <a:ext cx="853220" cy="383228"/>
          </a:xfrm>
          <a:prstGeom prst="roundRect">
            <a:avLst>
              <a:gd name="adj" fmla="val 142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Compute Instance</a:t>
            </a:r>
          </a:p>
          <a:p>
            <a:pPr algn="ctr"/>
            <a:r>
              <a:rPr lang="en-US" altLang="ko-KR" sz="900"/>
              <a:t>4g.20gb  </a:t>
            </a:r>
          </a:p>
        </p:txBody>
      </p:sp>
      <p:sp>
        <p:nvSpPr>
          <p:cNvPr id="26" name="사각형: 둥근 모서리 114">
            <a:extLst>
              <a:ext uri="{FF2B5EF4-FFF2-40B4-BE49-F238E27FC236}">
                <a16:creationId xmlns:a16="http://schemas.microsoft.com/office/drawing/2014/main" id="{FCE85E77-3D27-710D-A18E-7CC2CF02A4F4}"/>
              </a:ext>
            </a:extLst>
          </p:cNvPr>
          <p:cNvSpPr/>
          <p:nvPr/>
        </p:nvSpPr>
        <p:spPr>
          <a:xfrm>
            <a:off x="129640" y="2784565"/>
            <a:ext cx="3672147" cy="383228"/>
          </a:xfrm>
          <a:prstGeom prst="roundRect">
            <a:avLst>
              <a:gd name="adj" fmla="val 17067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4A17903-EB26-06D6-8717-3660632235CF}"/>
              </a:ext>
            </a:extLst>
          </p:cNvPr>
          <p:cNvSpPr txBox="1"/>
          <p:nvPr/>
        </p:nvSpPr>
        <p:spPr>
          <a:xfrm>
            <a:off x="1519303" y="2733858"/>
            <a:ext cx="9156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b="1" i="1"/>
              <a:t>Bind Mount</a:t>
            </a:r>
            <a:endParaRPr kumimoji="1" lang="ko-KR" altLang="en-US" sz="1000" b="1" i="1"/>
          </a:p>
        </p:txBody>
      </p:sp>
      <p:sp>
        <p:nvSpPr>
          <p:cNvPr id="11" name="사각형: 둥근 모서리 114">
            <a:extLst>
              <a:ext uri="{FF2B5EF4-FFF2-40B4-BE49-F238E27FC236}">
                <a16:creationId xmlns:a16="http://schemas.microsoft.com/office/drawing/2014/main" id="{C08EBDD6-8711-6942-ED3A-863DC37E2462}"/>
              </a:ext>
            </a:extLst>
          </p:cNvPr>
          <p:cNvSpPr/>
          <p:nvPr/>
        </p:nvSpPr>
        <p:spPr>
          <a:xfrm>
            <a:off x="139735" y="3826997"/>
            <a:ext cx="853220" cy="383228"/>
          </a:xfrm>
          <a:prstGeom prst="roundRect">
            <a:avLst>
              <a:gd name="adj" fmla="val 142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GPU Instance</a:t>
            </a:r>
          </a:p>
          <a:p>
            <a:pPr algn="ctr"/>
            <a:r>
              <a:rPr lang="en-US" altLang="ko-KR" sz="900"/>
              <a:t>4g.20gb  </a:t>
            </a:r>
            <a:endParaRPr lang="en-US" altLang="ko-KR" sz="900" dirty="0"/>
          </a:p>
        </p:txBody>
      </p:sp>
      <p:sp>
        <p:nvSpPr>
          <p:cNvPr id="14" name="사각형: 둥근 모서리 114">
            <a:extLst>
              <a:ext uri="{FF2B5EF4-FFF2-40B4-BE49-F238E27FC236}">
                <a16:creationId xmlns:a16="http://schemas.microsoft.com/office/drawing/2014/main" id="{4B715DC8-2F0F-21FD-099A-FD1DA2C9B2C4}"/>
              </a:ext>
            </a:extLst>
          </p:cNvPr>
          <p:cNvSpPr/>
          <p:nvPr/>
        </p:nvSpPr>
        <p:spPr>
          <a:xfrm>
            <a:off x="1080134" y="3306888"/>
            <a:ext cx="853220" cy="383228"/>
          </a:xfrm>
          <a:prstGeom prst="roundRect">
            <a:avLst>
              <a:gd name="adj" fmla="val 142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Compute Instance</a:t>
            </a:r>
          </a:p>
          <a:p>
            <a:pPr algn="ctr"/>
            <a:r>
              <a:rPr lang="en-US" altLang="ko-KR" sz="900" dirty="0"/>
              <a:t>1c.2g.10gb</a:t>
            </a:r>
          </a:p>
        </p:txBody>
      </p:sp>
      <p:sp>
        <p:nvSpPr>
          <p:cNvPr id="15" name="사각형: 둥근 모서리 114">
            <a:extLst>
              <a:ext uri="{FF2B5EF4-FFF2-40B4-BE49-F238E27FC236}">
                <a16:creationId xmlns:a16="http://schemas.microsoft.com/office/drawing/2014/main" id="{A76A45D7-7E45-A23C-B5CF-548FC9D504C8}"/>
              </a:ext>
            </a:extLst>
          </p:cNvPr>
          <p:cNvSpPr/>
          <p:nvPr/>
        </p:nvSpPr>
        <p:spPr>
          <a:xfrm>
            <a:off x="2024383" y="3306888"/>
            <a:ext cx="853220" cy="383228"/>
          </a:xfrm>
          <a:prstGeom prst="roundRect">
            <a:avLst>
              <a:gd name="adj" fmla="val 142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Compute Instance</a:t>
            </a:r>
            <a:br>
              <a:rPr lang="en-US" altLang="ko-KR" sz="900"/>
            </a:br>
            <a:r>
              <a:rPr lang="en-US" altLang="ko-KR" sz="900"/>
              <a:t>1c.2g.10gb</a:t>
            </a:r>
          </a:p>
        </p:txBody>
      </p:sp>
      <p:sp>
        <p:nvSpPr>
          <p:cNvPr id="16" name="사각형: 둥근 모서리 114">
            <a:extLst>
              <a:ext uri="{FF2B5EF4-FFF2-40B4-BE49-F238E27FC236}">
                <a16:creationId xmlns:a16="http://schemas.microsoft.com/office/drawing/2014/main" id="{A4E47099-5EDB-2940-8054-4F2DB48ED524}"/>
              </a:ext>
            </a:extLst>
          </p:cNvPr>
          <p:cNvSpPr/>
          <p:nvPr/>
        </p:nvSpPr>
        <p:spPr>
          <a:xfrm>
            <a:off x="1080134" y="3826997"/>
            <a:ext cx="1797470" cy="383228"/>
          </a:xfrm>
          <a:prstGeom prst="roundRect">
            <a:avLst>
              <a:gd name="adj" fmla="val 142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GPU Instance</a:t>
            </a:r>
          </a:p>
          <a:p>
            <a:pPr algn="ctr"/>
            <a:r>
              <a:rPr lang="en-US" altLang="ko-KR" sz="900"/>
              <a:t>2g.10gb  </a:t>
            </a:r>
            <a:endParaRPr lang="en-US" altLang="ko-KR" sz="900" dirty="0"/>
          </a:p>
        </p:txBody>
      </p:sp>
      <p:sp>
        <p:nvSpPr>
          <p:cNvPr id="18" name="사각형: 둥근 모서리 114">
            <a:extLst>
              <a:ext uri="{FF2B5EF4-FFF2-40B4-BE49-F238E27FC236}">
                <a16:creationId xmlns:a16="http://schemas.microsoft.com/office/drawing/2014/main" id="{619218D3-3A62-C12B-104C-85BBA248A538}"/>
              </a:ext>
            </a:extLst>
          </p:cNvPr>
          <p:cNvSpPr/>
          <p:nvPr/>
        </p:nvSpPr>
        <p:spPr>
          <a:xfrm>
            <a:off x="2948568" y="4343733"/>
            <a:ext cx="853220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1</a:t>
            </a:r>
            <a:endParaRPr lang="en-US" altLang="ko-KR" sz="900" dirty="0"/>
          </a:p>
        </p:txBody>
      </p:sp>
      <p:sp>
        <p:nvSpPr>
          <p:cNvPr id="19" name="사각형: 둥근 모서리 114">
            <a:extLst>
              <a:ext uri="{FF2B5EF4-FFF2-40B4-BE49-F238E27FC236}">
                <a16:creationId xmlns:a16="http://schemas.microsoft.com/office/drawing/2014/main" id="{D04840AA-8BCE-C2C8-153F-9874E47AEB61}"/>
              </a:ext>
            </a:extLst>
          </p:cNvPr>
          <p:cNvSpPr/>
          <p:nvPr/>
        </p:nvSpPr>
        <p:spPr>
          <a:xfrm>
            <a:off x="2948568" y="3306888"/>
            <a:ext cx="853220" cy="383228"/>
          </a:xfrm>
          <a:prstGeom prst="roundRect">
            <a:avLst>
              <a:gd name="adj" fmla="val 142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Compute Instance</a:t>
            </a:r>
            <a:br>
              <a:rPr lang="en-US" altLang="ko-KR" sz="900"/>
            </a:br>
            <a:r>
              <a:rPr lang="en-US" altLang="ko-KR" sz="900"/>
              <a:t>1g.5gb </a:t>
            </a:r>
            <a:endParaRPr lang="en-US" altLang="ko-KR" sz="900" dirty="0"/>
          </a:p>
        </p:txBody>
      </p:sp>
      <p:sp>
        <p:nvSpPr>
          <p:cNvPr id="20" name="사각형: 둥근 모서리 114">
            <a:extLst>
              <a:ext uri="{FF2B5EF4-FFF2-40B4-BE49-F238E27FC236}">
                <a16:creationId xmlns:a16="http://schemas.microsoft.com/office/drawing/2014/main" id="{C1E2AD8F-7E2E-9EA8-408C-34DEFDC48E20}"/>
              </a:ext>
            </a:extLst>
          </p:cNvPr>
          <p:cNvSpPr/>
          <p:nvPr/>
        </p:nvSpPr>
        <p:spPr>
          <a:xfrm>
            <a:off x="2948567" y="3826997"/>
            <a:ext cx="853220" cy="383228"/>
          </a:xfrm>
          <a:prstGeom prst="roundRect">
            <a:avLst>
              <a:gd name="adj" fmla="val 142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GPU Instance</a:t>
            </a:r>
          </a:p>
          <a:p>
            <a:pPr algn="ctr"/>
            <a:r>
              <a:rPr lang="en-US" altLang="ko-KR" sz="900"/>
              <a:t>1g.5gb  </a:t>
            </a:r>
            <a:endParaRPr lang="en-US" altLang="ko-KR" sz="900" dirty="0"/>
          </a:p>
        </p:txBody>
      </p:sp>
      <p:cxnSp>
        <p:nvCxnSpPr>
          <p:cNvPr id="56" name="직선 연결선 17">
            <a:extLst>
              <a:ext uri="{FF2B5EF4-FFF2-40B4-BE49-F238E27FC236}">
                <a16:creationId xmlns:a16="http://schemas.microsoft.com/office/drawing/2014/main" id="{9E39FF66-72F8-131E-384F-0BF689CC5C03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566345" y="4210225"/>
            <a:ext cx="938887" cy="133508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17">
            <a:extLst>
              <a:ext uri="{FF2B5EF4-FFF2-40B4-BE49-F238E27FC236}">
                <a16:creationId xmlns:a16="http://schemas.microsoft.com/office/drawing/2014/main" id="{9A169D25-509E-6318-293D-851ECF92057B}"/>
              </a:ext>
            </a:extLst>
          </p:cNvPr>
          <p:cNvCxnSpPr>
            <a:cxnSpLocks/>
            <a:stCxn id="16" idx="2"/>
            <a:endCxn id="12" idx="0"/>
          </p:cNvCxnSpPr>
          <p:nvPr/>
        </p:nvCxnSpPr>
        <p:spPr>
          <a:xfrm flipH="1">
            <a:off x="1505232" y="4210225"/>
            <a:ext cx="473637" cy="133508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17">
            <a:extLst>
              <a:ext uri="{FF2B5EF4-FFF2-40B4-BE49-F238E27FC236}">
                <a16:creationId xmlns:a16="http://schemas.microsoft.com/office/drawing/2014/main" id="{0C13C9F1-3B17-AE6A-5E39-D369347AE3CB}"/>
              </a:ext>
            </a:extLst>
          </p:cNvPr>
          <p:cNvCxnSpPr>
            <a:cxnSpLocks/>
            <a:stCxn id="13" idx="2"/>
            <a:endCxn id="11" idx="0"/>
          </p:cNvCxnSpPr>
          <p:nvPr/>
        </p:nvCxnSpPr>
        <p:spPr>
          <a:xfrm>
            <a:off x="564528" y="3690116"/>
            <a:ext cx="1817" cy="136881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17">
            <a:extLst>
              <a:ext uri="{FF2B5EF4-FFF2-40B4-BE49-F238E27FC236}">
                <a16:creationId xmlns:a16="http://schemas.microsoft.com/office/drawing/2014/main" id="{4898AD93-491D-7696-D834-C84884EE62D8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1506744" y="3690116"/>
            <a:ext cx="472125" cy="136881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17">
            <a:extLst>
              <a:ext uri="{FF2B5EF4-FFF2-40B4-BE49-F238E27FC236}">
                <a16:creationId xmlns:a16="http://schemas.microsoft.com/office/drawing/2014/main" id="{0B67D6B1-CD7E-7193-912E-2B02EF1CD103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1978869" y="3690116"/>
            <a:ext cx="472125" cy="136881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17">
            <a:extLst>
              <a:ext uri="{FF2B5EF4-FFF2-40B4-BE49-F238E27FC236}">
                <a16:creationId xmlns:a16="http://schemas.microsoft.com/office/drawing/2014/main" id="{E78ED4A4-5423-B21D-B216-A01DBF46384E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3375177" y="3690116"/>
            <a:ext cx="1" cy="136881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17">
            <a:extLst>
              <a:ext uri="{FF2B5EF4-FFF2-40B4-BE49-F238E27FC236}">
                <a16:creationId xmlns:a16="http://schemas.microsoft.com/office/drawing/2014/main" id="{5CA1D19C-FEF5-11C4-78E2-4E73E38C8101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>
            <a:off x="3375177" y="4210225"/>
            <a:ext cx="1" cy="133508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사각형: 둥근 모서리 114">
            <a:extLst>
              <a:ext uri="{FF2B5EF4-FFF2-40B4-BE49-F238E27FC236}">
                <a16:creationId xmlns:a16="http://schemas.microsoft.com/office/drawing/2014/main" id="{CAF42AFE-6D81-11B2-1326-4BAAD5D26040}"/>
              </a:ext>
            </a:extLst>
          </p:cNvPr>
          <p:cNvSpPr/>
          <p:nvPr/>
        </p:nvSpPr>
        <p:spPr>
          <a:xfrm>
            <a:off x="6314971" y="60026"/>
            <a:ext cx="2492125" cy="2464513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7" name="사각형: 둥근 모서리 114">
            <a:extLst>
              <a:ext uri="{FF2B5EF4-FFF2-40B4-BE49-F238E27FC236}">
                <a16:creationId xmlns:a16="http://schemas.microsoft.com/office/drawing/2014/main" id="{8F698185-2627-2867-DF2C-717BB73F4B61}"/>
              </a:ext>
            </a:extLst>
          </p:cNvPr>
          <p:cNvSpPr/>
          <p:nvPr/>
        </p:nvSpPr>
        <p:spPr>
          <a:xfrm>
            <a:off x="6364733" y="336814"/>
            <a:ext cx="2385214" cy="2141343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8" name="사각형: 둥근 모서리 114">
            <a:extLst>
              <a:ext uri="{FF2B5EF4-FFF2-40B4-BE49-F238E27FC236}">
                <a16:creationId xmlns:a16="http://schemas.microsoft.com/office/drawing/2014/main" id="{9F65E0BD-04F1-4AC3-D943-DEF7C293E46A}"/>
              </a:ext>
            </a:extLst>
          </p:cNvPr>
          <p:cNvSpPr/>
          <p:nvPr/>
        </p:nvSpPr>
        <p:spPr>
          <a:xfrm>
            <a:off x="6450579" y="1526478"/>
            <a:ext cx="1066284" cy="383228"/>
          </a:xfrm>
          <a:prstGeom prst="roundRect">
            <a:avLst>
              <a:gd name="adj" fmla="val 724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/dev/nvidia-caps</a:t>
            </a:r>
            <a:br>
              <a:rPr lang="en-US" altLang="ko-KR" sz="900"/>
            </a:br>
            <a:r>
              <a:rPr lang="en-US" altLang="ko-KR" sz="900"/>
              <a:t>/nvidia-caps84</a:t>
            </a:r>
            <a:endParaRPr lang="en-US" altLang="ko-KR" sz="900" dirty="0"/>
          </a:p>
        </p:txBody>
      </p:sp>
      <p:sp>
        <p:nvSpPr>
          <p:cNvPr id="99" name="사각형: 둥근 모서리 114">
            <a:extLst>
              <a:ext uri="{FF2B5EF4-FFF2-40B4-BE49-F238E27FC236}">
                <a16:creationId xmlns:a16="http://schemas.microsoft.com/office/drawing/2014/main" id="{0635ADC0-7F28-5896-230A-C9A1CD04945D}"/>
              </a:ext>
            </a:extLst>
          </p:cNvPr>
          <p:cNvSpPr/>
          <p:nvPr/>
        </p:nvSpPr>
        <p:spPr>
          <a:xfrm>
            <a:off x="6450578" y="1056152"/>
            <a:ext cx="2174756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00" name="사각형: 둥근 모서리 114">
            <a:extLst>
              <a:ext uri="{FF2B5EF4-FFF2-40B4-BE49-F238E27FC236}">
                <a16:creationId xmlns:a16="http://schemas.microsoft.com/office/drawing/2014/main" id="{E3EECF0D-B8C6-83D4-9B2B-1411291BF65E}"/>
              </a:ext>
            </a:extLst>
          </p:cNvPr>
          <p:cNvSpPr/>
          <p:nvPr/>
        </p:nvSpPr>
        <p:spPr>
          <a:xfrm>
            <a:off x="6450577" y="610481"/>
            <a:ext cx="2174756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  <a:br>
              <a:rPr lang="en-US" altLang="ko-KR" sz="900"/>
            </a:br>
            <a:r>
              <a:rPr lang="en-US" altLang="ko-KR" sz="900"/>
              <a:t>NVIDIA_VISIBLE_DEVICES Env  </a:t>
            </a:r>
            <a:endParaRPr lang="en-US" altLang="ko-KR" sz="900" dirty="0"/>
          </a:p>
        </p:txBody>
      </p:sp>
      <p:sp>
        <p:nvSpPr>
          <p:cNvPr id="101" name="사각형: 둥근 모서리 114">
            <a:extLst>
              <a:ext uri="{FF2B5EF4-FFF2-40B4-BE49-F238E27FC236}">
                <a16:creationId xmlns:a16="http://schemas.microsoft.com/office/drawing/2014/main" id="{51B83E2A-D63D-A64E-975D-34F6AB753267}"/>
              </a:ext>
            </a:extLst>
          </p:cNvPr>
          <p:cNvSpPr/>
          <p:nvPr/>
        </p:nvSpPr>
        <p:spPr>
          <a:xfrm>
            <a:off x="6450579" y="1996804"/>
            <a:ext cx="2186432" cy="383228"/>
          </a:xfrm>
          <a:prstGeom prst="roundRect">
            <a:avLst>
              <a:gd name="adj" fmla="val 1242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/dev/nvidia1</a:t>
            </a:r>
            <a:endParaRPr lang="en-US" altLang="ko-KR" sz="900" dirty="0"/>
          </a:p>
        </p:txBody>
      </p:sp>
      <p:sp>
        <p:nvSpPr>
          <p:cNvPr id="102" name="사각형: 둥근 모서리 114">
            <a:extLst>
              <a:ext uri="{FF2B5EF4-FFF2-40B4-BE49-F238E27FC236}">
                <a16:creationId xmlns:a16="http://schemas.microsoft.com/office/drawing/2014/main" id="{7E9F3259-0B3A-08CA-3861-3F84FAA9BBC0}"/>
              </a:ext>
            </a:extLst>
          </p:cNvPr>
          <p:cNvSpPr/>
          <p:nvPr/>
        </p:nvSpPr>
        <p:spPr>
          <a:xfrm>
            <a:off x="7560769" y="1526478"/>
            <a:ext cx="1066284" cy="383228"/>
          </a:xfrm>
          <a:prstGeom prst="roundRect">
            <a:avLst>
              <a:gd name="adj" fmla="val 724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/dev/nvidia-caps</a:t>
            </a:r>
            <a:br>
              <a:rPr lang="en-US" altLang="ko-KR" sz="900"/>
            </a:br>
            <a:r>
              <a:rPr lang="en-US" altLang="ko-KR" sz="900"/>
              <a:t>/nvidia-caps85</a:t>
            </a:r>
            <a:endParaRPr lang="en-US" altLang="ko-KR" sz="9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A1EAEC4-2096-6996-39AA-D0F068BB55AD}"/>
              </a:ext>
            </a:extLst>
          </p:cNvPr>
          <p:cNvSpPr txBox="1"/>
          <p:nvPr/>
        </p:nvSpPr>
        <p:spPr>
          <a:xfrm>
            <a:off x="5568412" y="3389521"/>
            <a:ext cx="1618118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podb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r>
              <a:rPr lang="en-US" sz="800" kern="0" dirty="0">
                <a:cs typeface="Al Bayan Plain" pitchFamily="2" charset="-78"/>
              </a:rPr>
              <a:t>     - name: </a:t>
            </a:r>
            <a:r>
              <a:rPr lang="en-US" altLang="ko-KR" sz="800" kern="0" dirty="0">
                <a:cs typeface="Al Bayan Plain" pitchFamily="2" charset="-78"/>
              </a:rPr>
              <a:t>containerb</a:t>
            </a:r>
            <a:endParaRPr lang="en-US" sz="800" kern="0" dirty="0">
              <a:cs typeface="Al Bayan Plain" pitchFamily="2" charset="-78"/>
            </a:endParaRP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nvidia.com/mig-2g.10b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nvidia.com/mig-2g.10b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  <p:cxnSp>
        <p:nvCxnSpPr>
          <p:cNvPr id="107" name="직선 연결선 17">
            <a:extLst>
              <a:ext uri="{FF2B5EF4-FFF2-40B4-BE49-F238E27FC236}">
                <a16:creationId xmlns:a16="http://schemas.microsoft.com/office/drawing/2014/main" id="{4BEEEFC9-8ED5-45DE-4A0B-B078EF3DFA37}"/>
              </a:ext>
            </a:extLst>
          </p:cNvPr>
          <p:cNvCxnSpPr>
            <a:cxnSpLocks/>
            <a:stCxn id="75" idx="2"/>
            <a:endCxn id="26" idx="0"/>
          </p:cNvCxnSpPr>
          <p:nvPr/>
        </p:nvCxnSpPr>
        <p:spPr>
          <a:xfrm>
            <a:off x="1266891" y="1439380"/>
            <a:ext cx="698823" cy="1345185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7">
            <a:extLst>
              <a:ext uri="{FF2B5EF4-FFF2-40B4-BE49-F238E27FC236}">
                <a16:creationId xmlns:a16="http://schemas.microsoft.com/office/drawing/2014/main" id="{675AA3C7-F90E-C72C-4BC5-D56FA5A5B6AD}"/>
              </a:ext>
            </a:extLst>
          </p:cNvPr>
          <p:cNvCxnSpPr>
            <a:cxnSpLocks/>
            <a:stCxn id="40" idx="2"/>
            <a:endCxn id="26" idx="0"/>
          </p:cNvCxnSpPr>
          <p:nvPr/>
        </p:nvCxnSpPr>
        <p:spPr>
          <a:xfrm flipH="1">
            <a:off x="1965714" y="1439380"/>
            <a:ext cx="2445883" cy="1345185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7">
            <a:extLst>
              <a:ext uri="{FF2B5EF4-FFF2-40B4-BE49-F238E27FC236}">
                <a16:creationId xmlns:a16="http://schemas.microsoft.com/office/drawing/2014/main" id="{675421FB-B94D-C078-1151-95907404F92A}"/>
              </a:ext>
            </a:extLst>
          </p:cNvPr>
          <p:cNvCxnSpPr>
            <a:cxnSpLocks/>
            <a:stCxn id="99" idx="2"/>
            <a:endCxn id="26" idx="0"/>
          </p:cNvCxnSpPr>
          <p:nvPr/>
        </p:nvCxnSpPr>
        <p:spPr>
          <a:xfrm flipH="1">
            <a:off x="1965714" y="1439380"/>
            <a:ext cx="5572242" cy="1345185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7">
            <a:extLst>
              <a:ext uri="{FF2B5EF4-FFF2-40B4-BE49-F238E27FC236}">
                <a16:creationId xmlns:a16="http://schemas.microsoft.com/office/drawing/2014/main" id="{CB7FBDE3-E718-0577-A9D0-7BE41064A37C}"/>
              </a:ext>
            </a:extLst>
          </p:cNvPr>
          <p:cNvCxnSpPr>
            <a:cxnSpLocks/>
            <a:stCxn id="24" idx="2"/>
            <a:endCxn id="12" idx="0"/>
          </p:cNvCxnSpPr>
          <p:nvPr/>
        </p:nvCxnSpPr>
        <p:spPr>
          <a:xfrm>
            <a:off x="1272730" y="2380032"/>
            <a:ext cx="232502" cy="196370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7">
            <a:extLst>
              <a:ext uri="{FF2B5EF4-FFF2-40B4-BE49-F238E27FC236}">
                <a16:creationId xmlns:a16="http://schemas.microsoft.com/office/drawing/2014/main" id="{22F6FE0C-F4F8-FB2C-4BCF-72F215F83E56}"/>
              </a:ext>
            </a:extLst>
          </p:cNvPr>
          <p:cNvCxnSpPr>
            <a:cxnSpLocks/>
            <a:stCxn id="42" idx="2"/>
            <a:endCxn id="12" idx="0"/>
          </p:cNvCxnSpPr>
          <p:nvPr/>
        </p:nvCxnSpPr>
        <p:spPr>
          <a:xfrm flipH="1">
            <a:off x="1505232" y="2380032"/>
            <a:ext cx="2908417" cy="196370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7">
            <a:extLst>
              <a:ext uri="{FF2B5EF4-FFF2-40B4-BE49-F238E27FC236}">
                <a16:creationId xmlns:a16="http://schemas.microsoft.com/office/drawing/2014/main" id="{34B1B4B6-38CC-DF3F-12BF-8BF107BB8DCF}"/>
              </a:ext>
            </a:extLst>
          </p:cNvPr>
          <p:cNvCxnSpPr>
            <a:cxnSpLocks/>
            <a:stCxn id="101" idx="2"/>
            <a:endCxn id="18" idx="0"/>
          </p:cNvCxnSpPr>
          <p:nvPr/>
        </p:nvCxnSpPr>
        <p:spPr>
          <a:xfrm flipH="1">
            <a:off x="3375178" y="2380032"/>
            <a:ext cx="4168617" cy="196370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7">
            <a:extLst>
              <a:ext uri="{FF2B5EF4-FFF2-40B4-BE49-F238E27FC236}">
                <a16:creationId xmlns:a16="http://schemas.microsoft.com/office/drawing/2014/main" id="{2B1F95D0-489E-D999-7680-E11B71BD8965}"/>
              </a:ext>
            </a:extLst>
          </p:cNvPr>
          <p:cNvCxnSpPr>
            <a:cxnSpLocks/>
            <a:stCxn id="74" idx="2"/>
            <a:endCxn id="11" idx="0"/>
          </p:cNvCxnSpPr>
          <p:nvPr/>
        </p:nvCxnSpPr>
        <p:spPr>
          <a:xfrm flipH="1">
            <a:off x="566345" y="1909706"/>
            <a:ext cx="146311" cy="1917291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7">
            <a:extLst>
              <a:ext uri="{FF2B5EF4-FFF2-40B4-BE49-F238E27FC236}">
                <a16:creationId xmlns:a16="http://schemas.microsoft.com/office/drawing/2014/main" id="{23F7B28B-3DB5-AAF9-D16C-5744868FF662}"/>
              </a:ext>
            </a:extLst>
          </p:cNvPr>
          <p:cNvCxnSpPr>
            <a:cxnSpLocks/>
            <a:stCxn id="33" idx="2"/>
            <a:endCxn id="13" idx="0"/>
          </p:cNvCxnSpPr>
          <p:nvPr/>
        </p:nvCxnSpPr>
        <p:spPr>
          <a:xfrm flipH="1">
            <a:off x="564527" y="1909706"/>
            <a:ext cx="1258319" cy="1397182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7">
            <a:extLst>
              <a:ext uri="{FF2B5EF4-FFF2-40B4-BE49-F238E27FC236}">
                <a16:creationId xmlns:a16="http://schemas.microsoft.com/office/drawing/2014/main" id="{4CC9B48A-3F99-0ACB-DA8B-EA6A4AB0F212}"/>
              </a:ext>
            </a:extLst>
          </p:cNvPr>
          <p:cNvCxnSpPr>
            <a:cxnSpLocks/>
            <a:stCxn id="39" idx="2"/>
            <a:endCxn id="16" idx="0"/>
          </p:cNvCxnSpPr>
          <p:nvPr/>
        </p:nvCxnSpPr>
        <p:spPr>
          <a:xfrm flipH="1">
            <a:off x="1978869" y="1909706"/>
            <a:ext cx="1314633" cy="1917291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7">
            <a:extLst>
              <a:ext uri="{FF2B5EF4-FFF2-40B4-BE49-F238E27FC236}">
                <a16:creationId xmlns:a16="http://schemas.microsoft.com/office/drawing/2014/main" id="{F5E3A352-920E-8E55-580A-30EA21403AC8}"/>
              </a:ext>
            </a:extLst>
          </p:cNvPr>
          <p:cNvCxnSpPr>
            <a:cxnSpLocks/>
            <a:stCxn id="98" idx="2"/>
            <a:endCxn id="20" idx="0"/>
          </p:cNvCxnSpPr>
          <p:nvPr/>
        </p:nvCxnSpPr>
        <p:spPr>
          <a:xfrm flipH="1">
            <a:off x="3375177" y="1909706"/>
            <a:ext cx="3608544" cy="1917291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7">
            <a:extLst>
              <a:ext uri="{FF2B5EF4-FFF2-40B4-BE49-F238E27FC236}">
                <a16:creationId xmlns:a16="http://schemas.microsoft.com/office/drawing/2014/main" id="{F93B3923-4E0E-5AC6-4B24-D8522EBD3BD0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1505232" y="1909706"/>
            <a:ext cx="2908417" cy="1397182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7">
            <a:extLst>
              <a:ext uri="{FF2B5EF4-FFF2-40B4-BE49-F238E27FC236}">
                <a16:creationId xmlns:a16="http://schemas.microsoft.com/office/drawing/2014/main" id="{35DD2D09-A247-1B17-8C4E-72F2D1D77C1B}"/>
              </a:ext>
            </a:extLst>
          </p:cNvPr>
          <p:cNvCxnSpPr>
            <a:cxnSpLocks/>
            <a:stCxn id="44" idx="2"/>
            <a:endCxn id="15" idx="0"/>
          </p:cNvCxnSpPr>
          <p:nvPr/>
        </p:nvCxnSpPr>
        <p:spPr>
          <a:xfrm flipH="1">
            <a:off x="2450993" y="1909706"/>
            <a:ext cx="3078701" cy="1397182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7">
            <a:extLst>
              <a:ext uri="{FF2B5EF4-FFF2-40B4-BE49-F238E27FC236}">
                <a16:creationId xmlns:a16="http://schemas.microsoft.com/office/drawing/2014/main" id="{5E8578DB-D57F-F2C4-84FB-F2B8B3618613}"/>
              </a:ext>
            </a:extLst>
          </p:cNvPr>
          <p:cNvCxnSpPr>
            <a:cxnSpLocks/>
            <a:stCxn id="102" idx="2"/>
            <a:endCxn id="19" idx="0"/>
          </p:cNvCxnSpPr>
          <p:nvPr/>
        </p:nvCxnSpPr>
        <p:spPr>
          <a:xfrm flipH="1">
            <a:off x="3375178" y="1909706"/>
            <a:ext cx="4718733" cy="1397182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54DCD25-6A49-7685-580C-4A87FCD5ED4A}"/>
              </a:ext>
            </a:extLst>
          </p:cNvPr>
          <p:cNvSpPr txBox="1"/>
          <p:nvPr/>
        </p:nvSpPr>
        <p:spPr>
          <a:xfrm>
            <a:off x="3950442" y="3269022"/>
            <a:ext cx="1489994" cy="169277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apiVersion: v1</a:t>
            </a:r>
          </a:p>
          <a:p>
            <a:pPr algn="l"/>
            <a:r>
              <a:rPr lang="en-US" sz="800" kern="0" dirty="0" err="1">
                <a:cs typeface="Al Bayan Plain" pitchFamily="2" charset="-78"/>
              </a:rPr>
              <a:t> kind: Node</a:t>
            </a:r>
          </a:p>
          <a:p>
            <a:pPr algn="l"/>
            <a:r>
              <a:rPr lang="en-US" sz="800" kern="0" dirty="0" err="1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 err="1">
                <a:cs typeface="Al Bayan Plain" pitchFamily="2" charset="-78"/>
              </a:rPr>
              <a:t>   name: gpu-node</a:t>
            </a:r>
          </a:p>
          <a:p>
            <a:pPr algn="l"/>
            <a:r>
              <a:rPr lang="en-US" sz="800" kern="0" dirty="0" err="1">
                <a:cs typeface="Al Bayan Plain" pitchFamily="2" charset="-78"/>
              </a:rPr>
              <a:t> status: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capacity: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  nvidia.com/mig-4g.20b: ”1”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  nvidia.com/mig-2g.10b: “2”</a:t>
            </a:r>
            <a:b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</a:b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  nvidia.com/mig-1g.5b: “1”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allocatable: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  nvidia.com/mig-4g.20b: ”1”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  nvidia.com/mig-2g.10b: “2”</a:t>
            </a:r>
          </a:p>
          <a:p>
            <a:pPr algn="l"/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     nvidia.com/mig-1g.5b: “1”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23C595-5DF2-55DA-9D1B-02C0FAA6AE54}"/>
              </a:ext>
            </a:extLst>
          </p:cNvPr>
          <p:cNvSpPr txBox="1"/>
          <p:nvPr/>
        </p:nvSpPr>
        <p:spPr>
          <a:xfrm>
            <a:off x="6377471" y="2598297"/>
            <a:ext cx="1618118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nvidia.com/mig-4g.20b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nvidia.com/mig-4g.20b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</p:spTree>
    <p:extLst>
      <p:ext uri="{BB962C8B-B14F-4D97-AF65-F5344CB8AC3E}">
        <p14:creationId xmlns:p14="http://schemas.microsoft.com/office/powerpoint/2010/main" val="3114190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29654-FCDE-BE44-D146-40F0538EA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349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F1E00-5E8B-93A0-52CD-98B879A7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114">
            <a:extLst>
              <a:ext uri="{FF2B5EF4-FFF2-40B4-BE49-F238E27FC236}">
                <a16:creationId xmlns:a16="http://schemas.microsoft.com/office/drawing/2014/main" id="{825DDAC9-E5BC-B139-D15B-23EE9FB86269}"/>
              </a:ext>
            </a:extLst>
          </p:cNvPr>
          <p:cNvSpPr/>
          <p:nvPr/>
        </p:nvSpPr>
        <p:spPr>
          <a:xfrm>
            <a:off x="4981274" y="796958"/>
            <a:ext cx="1385789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E83FC04E-D617-C709-548D-97339681F98D}"/>
              </a:ext>
            </a:extLst>
          </p:cNvPr>
          <p:cNvSpPr/>
          <p:nvPr/>
        </p:nvSpPr>
        <p:spPr>
          <a:xfrm>
            <a:off x="899592" y="800730"/>
            <a:ext cx="4006850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8343815-DCE6-C21B-708E-A60A5AC25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C9687FE2-721F-7235-9A12-2AC37A777B17}"/>
              </a:ext>
            </a:extLst>
          </p:cNvPr>
          <p:cNvSpPr/>
          <p:nvPr/>
        </p:nvSpPr>
        <p:spPr>
          <a:xfrm>
            <a:off x="2369518" y="1082999"/>
            <a:ext cx="2486761" cy="1662236"/>
          </a:xfrm>
          <a:prstGeom prst="roundRect">
            <a:avLst>
              <a:gd name="adj" fmla="val 402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C0E26AC5-FBBB-291B-A6C8-567652106E5C}"/>
              </a:ext>
            </a:extLst>
          </p:cNvPr>
          <p:cNvSpPr/>
          <p:nvPr/>
        </p:nvSpPr>
        <p:spPr>
          <a:xfrm>
            <a:off x="2457252" y="2277026"/>
            <a:ext cx="1099999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/dev/nvidia1</a:t>
            </a:r>
            <a:endParaRPr lang="en-US" altLang="ko-KR" sz="90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510A6535-9887-43EE-0C67-B2827A75AC7B}"/>
              </a:ext>
            </a:extLst>
          </p:cNvPr>
          <p:cNvSpPr/>
          <p:nvPr/>
        </p:nvSpPr>
        <p:spPr>
          <a:xfrm>
            <a:off x="3658852" y="2277026"/>
            <a:ext cx="1099868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/dev/nvidia2</a:t>
            </a:r>
            <a:endParaRPr lang="en-US" altLang="ko-KR" sz="90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71033B57-26E5-6B2B-8B71-0E46E4E3F0A1}"/>
              </a:ext>
            </a:extLst>
          </p:cNvPr>
          <p:cNvSpPr/>
          <p:nvPr/>
        </p:nvSpPr>
        <p:spPr>
          <a:xfrm>
            <a:off x="2457252" y="1806701"/>
            <a:ext cx="2301467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25CDD1E3-9315-D51F-9571-CC8A7908D989}"/>
              </a:ext>
            </a:extLst>
          </p:cNvPr>
          <p:cNvSpPr/>
          <p:nvPr/>
        </p:nvSpPr>
        <p:spPr>
          <a:xfrm>
            <a:off x="949353" y="1077519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40CC7315-BF09-00D7-6857-B89DBB3C408D}"/>
              </a:ext>
            </a:extLst>
          </p:cNvPr>
          <p:cNvSpPr/>
          <p:nvPr/>
        </p:nvSpPr>
        <p:spPr>
          <a:xfrm>
            <a:off x="1035199" y="2267182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498A0D3B-5A1B-235C-C8D7-54AF76EA39A2}"/>
              </a:ext>
            </a:extLst>
          </p:cNvPr>
          <p:cNvSpPr/>
          <p:nvPr/>
        </p:nvSpPr>
        <p:spPr>
          <a:xfrm>
            <a:off x="1035198" y="1796856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46" name="사각형: 둥근 모서리 114">
            <a:extLst>
              <a:ext uri="{FF2B5EF4-FFF2-40B4-BE49-F238E27FC236}">
                <a16:creationId xmlns:a16="http://schemas.microsoft.com/office/drawing/2014/main" id="{86481CAE-EC4F-BCE2-8F2C-121976E2494F}"/>
              </a:ext>
            </a:extLst>
          </p:cNvPr>
          <p:cNvSpPr/>
          <p:nvPr/>
        </p:nvSpPr>
        <p:spPr>
          <a:xfrm>
            <a:off x="2457252" y="1355550"/>
            <a:ext cx="2301467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NVIDIA_VISIBLE_DEVICES Env  </a:t>
            </a:r>
            <a:endParaRPr lang="en-US" altLang="ko-KR" sz="9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95F0BA97-CEC4-024B-1E28-8DFE7096FBAA}"/>
              </a:ext>
            </a:extLst>
          </p:cNvPr>
          <p:cNvSpPr/>
          <p:nvPr/>
        </p:nvSpPr>
        <p:spPr>
          <a:xfrm>
            <a:off x="1035198" y="1351185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21920BF4-81B6-B16C-2F75-845075122437}"/>
              </a:ext>
            </a:extLst>
          </p:cNvPr>
          <p:cNvSpPr/>
          <p:nvPr/>
        </p:nvSpPr>
        <p:spPr>
          <a:xfrm>
            <a:off x="5029966" y="1077519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사각형: 둥근 모서리 114">
            <a:extLst>
              <a:ext uri="{FF2B5EF4-FFF2-40B4-BE49-F238E27FC236}">
                <a16:creationId xmlns:a16="http://schemas.microsoft.com/office/drawing/2014/main" id="{5E4DCA84-52F0-9EF3-80B5-9B7A61E628C0}"/>
              </a:ext>
            </a:extLst>
          </p:cNvPr>
          <p:cNvSpPr/>
          <p:nvPr/>
        </p:nvSpPr>
        <p:spPr>
          <a:xfrm>
            <a:off x="5115812" y="2267182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/dev/nvidia3</a:t>
            </a:r>
            <a:endParaRPr lang="en-US" altLang="ko-KR" sz="900" dirty="0"/>
          </a:p>
        </p:txBody>
      </p:sp>
      <p:sp>
        <p:nvSpPr>
          <p:cNvPr id="6" name="사각형: 둥근 모서리 114">
            <a:extLst>
              <a:ext uri="{FF2B5EF4-FFF2-40B4-BE49-F238E27FC236}">
                <a16:creationId xmlns:a16="http://schemas.microsoft.com/office/drawing/2014/main" id="{9700EDC6-922B-FC3F-8B8C-DE0DE03817B4}"/>
              </a:ext>
            </a:extLst>
          </p:cNvPr>
          <p:cNvSpPr/>
          <p:nvPr/>
        </p:nvSpPr>
        <p:spPr>
          <a:xfrm>
            <a:off x="5115811" y="1796856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" name="사각형: 둥근 모서리 114">
            <a:extLst>
              <a:ext uri="{FF2B5EF4-FFF2-40B4-BE49-F238E27FC236}">
                <a16:creationId xmlns:a16="http://schemas.microsoft.com/office/drawing/2014/main" id="{6529AFB2-9C76-6D1B-9888-2AA144467676}"/>
              </a:ext>
            </a:extLst>
          </p:cNvPr>
          <p:cNvSpPr/>
          <p:nvPr/>
        </p:nvSpPr>
        <p:spPr>
          <a:xfrm>
            <a:off x="5115811" y="1351185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EC7DE01-DC3C-0519-36F5-7532710FAC98}"/>
              </a:ext>
            </a:extLst>
          </p:cNvPr>
          <p:cNvGrpSpPr/>
          <p:nvPr/>
        </p:nvGrpSpPr>
        <p:grpSpPr>
          <a:xfrm>
            <a:off x="902721" y="3003798"/>
            <a:ext cx="3309239" cy="1177659"/>
            <a:chOff x="902721" y="3003798"/>
            <a:chExt cx="5045722" cy="1177659"/>
          </a:xfrm>
        </p:grpSpPr>
        <p:sp>
          <p:nvSpPr>
            <p:cNvPr id="9" name="사각형: 둥근 모서리 114">
              <a:extLst>
                <a:ext uri="{FF2B5EF4-FFF2-40B4-BE49-F238E27FC236}">
                  <a16:creationId xmlns:a16="http://schemas.microsoft.com/office/drawing/2014/main" id="{6A10BEDB-BAA8-178C-B0D0-489783E4C3F0}"/>
                </a:ext>
              </a:extLst>
            </p:cNvPr>
            <p:cNvSpPr/>
            <p:nvPr/>
          </p:nvSpPr>
          <p:spPr>
            <a:xfrm>
              <a:off x="902721" y="3003798"/>
              <a:ext cx="5045722" cy="1177659"/>
            </a:xfrm>
            <a:prstGeom prst="roundRect">
              <a:avLst>
                <a:gd name="adj" fmla="val 4649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altLang="ko-KR" sz="1000" b="1"/>
                <a:t>Host</a:t>
              </a:r>
              <a:endParaRPr lang="en-US" altLang="ko-KR" sz="1000" b="1" dirty="0"/>
            </a:p>
          </p:txBody>
        </p:sp>
        <p:sp>
          <p:nvSpPr>
            <p:cNvPr id="12" name="사각형: 둥근 모서리 114">
              <a:extLst>
                <a:ext uri="{FF2B5EF4-FFF2-40B4-BE49-F238E27FC236}">
                  <a16:creationId xmlns:a16="http://schemas.microsoft.com/office/drawing/2014/main" id="{2E76C0E0-83A1-AE12-CA6A-888A23ABDC58}"/>
                </a:ext>
              </a:extLst>
            </p:cNvPr>
            <p:cNvSpPr/>
            <p:nvPr/>
          </p:nvSpPr>
          <p:spPr>
            <a:xfrm>
              <a:off x="1002111" y="3544142"/>
              <a:ext cx="1077331" cy="383228"/>
            </a:xfrm>
            <a:prstGeom prst="roundRect">
              <a:avLst>
                <a:gd name="adj" fmla="val 14292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NVIDIA</a:t>
              </a:r>
            </a:p>
            <a:p>
              <a:pPr algn="ctr"/>
              <a:r>
                <a:rPr lang="en-US" altLang="ko-KR" sz="900"/>
                <a:t>GPU 0</a:t>
              </a:r>
              <a:endParaRPr lang="en-US" altLang="ko-KR" sz="900" dirty="0"/>
            </a:p>
          </p:txBody>
        </p:sp>
        <p:sp>
          <p:nvSpPr>
            <p:cNvPr id="13" name="사각형: 둥근 모서리 114">
              <a:extLst>
                <a:ext uri="{FF2B5EF4-FFF2-40B4-BE49-F238E27FC236}">
                  <a16:creationId xmlns:a16="http://schemas.microsoft.com/office/drawing/2014/main" id="{66FE3E33-D653-BAA4-2D19-194A003CEA97}"/>
                </a:ext>
              </a:extLst>
            </p:cNvPr>
            <p:cNvSpPr/>
            <p:nvPr/>
          </p:nvSpPr>
          <p:spPr>
            <a:xfrm>
              <a:off x="2262090" y="3544142"/>
              <a:ext cx="1077331" cy="383228"/>
            </a:xfrm>
            <a:prstGeom prst="roundRect">
              <a:avLst>
                <a:gd name="adj" fmla="val 14292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NVIDIA</a:t>
              </a:r>
            </a:p>
            <a:p>
              <a:pPr algn="ctr"/>
              <a:r>
                <a:rPr lang="en-US" altLang="ko-KR" sz="900"/>
                <a:t>GPU 1</a:t>
              </a:r>
              <a:endParaRPr lang="en-US" altLang="ko-KR" sz="900" dirty="0"/>
            </a:p>
          </p:txBody>
        </p:sp>
        <p:sp>
          <p:nvSpPr>
            <p:cNvPr id="18" name="사각형: 둥근 모서리 114">
              <a:extLst>
                <a:ext uri="{FF2B5EF4-FFF2-40B4-BE49-F238E27FC236}">
                  <a16:creationId xmlns:a16="http://schemas.microsoft.com/office/drawing/2014/main" id="{580EBE27-F976-919B-31BA-D4972F45643C}"/>
                </a:ext>
              </a:extLst>
            </p:cNvPr>
            <p:cNvSpPr/>
            <p:nvPr/>
          </p:nvSpPr>
          <p:spPr>
            <a:xfrm>
              <a:off x="3522068" y="3544142"/>
              <a:ext cx="1077331" cy="383228"/>
            </a:xfrm>
            <a:prstGeom prst="roundRect">
              <a:avLst>
                <a:gd name="adj" fmla="val 12529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NVIDIA</a:t>
              </a:r>
            </a:p>
            <a:p>
              <a:pPr algn="ctr"/>
              <a:r>
                <a:rPr lang="en-US" altLang="ko-KR" sz="900"/>
                <a:t>GPU 2</a:t>
              </a:r>
              <a:endParaRPr lang="en-US" altLang="ko-KR" sz="900" dirty="0"/>
            </a:p>
          </p:txBody>
        </p:sp>
        <p:sp>
          <p:nvSpPr>
            <p:cNvPr id="19" name="사각형: 둥근 모서리 114">
              <a:extLst>
                <a:ext uri="{FF2B5EF4-FFF2-40B4-BE49-F238E27FC236}">
                  <a16:creationId xmlns:a16="http://schemas.microsoft.com/office/drawing/2014/main" id="{CC8A618C-3D2E-1DD8-B658-EA66BE30FF98}"/>
                </a:ext>
              </a:extLst>
            </p:cNvPr>
            <p:cNvSpPr/>
            <p:nvPr/>
          </p:nvSpPr>
          <p:spPr>
            <a:xfrm>
              <a:off x="4782047" y="3544142"/>
              <a:ext cx="1077331" cy="383228"/>
            </a:xfrm>
            <a:prstGeom prst="roundRect">
              <a:avLst>
                <a:gd name="adj" fmla="val 16055"/>
              </a:avLst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NVIDIA</a:t>
              </a:r>
            </a:p>
            <a:p>
              <a:pPr algn="ctr"/>
              <a:r>
                <a:rPr lang="en-US" altLang="ko-KR" sz="900"/>
                <a:t>GPU 3</a:t>
              </a:r>
              <a:endParaRPr lang="en-US" altLang="ko-KR" sz="900" dirty="0"/>
            </a:p>
          </p:txBody>
        </p:sp>
        <p:sp>
          <p:nvSpPr>
            <p:cNvPr id="26" name="사각형: 둥근 모서리 114">
              <a:extLst>
                <a:ext uri="{FF2B5EF4-FFF2-40B4-BE49-F238E27FC236}">
                  <a16:creationId xmlns:a16="http://schemas.microsoft.com/office/drawing/2014/main" id="{032570D8-DB81-26C1-2394-167F1DD6A497}"/>
                </a:ext>
              </a:extLst>
            </p:cNvPr>
            <p:cNvSpPr/>
            <p:nvPr/>
          </p:nvSpPr>
          <p:spPr>
            <a:xfrm>
              <a:off x="997295" y="3078892"/>
              <a:ext cx="4862083" cy="383228"/>
            </a:xfrm>
            <a:prstGeom prst="roundRect">
              <a:avLst>
                <a:gd name="adj" fmla="val 17067"/>
              </a:avLst>
            </a:prstGeom>
            <a:solidFill>
              <a:schemeClr val="bg2">
                <a:lumMod val="90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NVIDIA CUDA Lib/Toolkit</a:t>
              </a:r>
              <a:endParaRPr lang="en-US" altLang="ko-KR" sz="900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12700C5E-BF68-4CA4-03F3-892183B3D734}"/>
                </a:ext>
              </a:extLst>
            </p:cNvPr>
            <p:cNvSpPr txBox="1"/>
            <p:nvPr/>
          </p:nvSpPr>
          <p:spPr>
            <a:xfrm>
              <a:off x="2730287" y="3023958"/>
              <a:ext cx="13961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000" b="1" i="1"/>
                <a:t>Bind Mount</a:t>
              </a:r>
              <a:endParaRPr kumimoji="1" lang="ko-KR" altLang="en-US" sz="1000" b="1" i="1"/>
            </a:p>
          </p:txBody>
        </p:sp>
      </p:grpSp>
      <p:cxnSp>
        <p:nvCxnSpPr>
          <p:cNvPr id="59" name="직선 연결선 17">
            <a:extLst>
              <a:ext uri="{FF2B5EF4-FFF2-40B4-BE49-F238E27FC236}">
                <a16:creationId xmlns:a16="http://schemas.microsoft.com/office/drawing/2014/main" id="{F7C32C09-9EA9-5FDC-C506-9A13C5D07531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 flipH="1">
            <a:off x="2559147" y="2180084"/>
            <a:ext cx="3106020" cy="898808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17">
            <a:extLst>
              <a:ext uri="{FF2B5EF4-FFF2-40B4-BE49-F238E27FC236}">
                <a16:creationId xmlns:a16="http://schemas.microsoft.com/office/drawing/2014/main" id="{0ADB267D-A187-3EFA-5887-7282A94B7981}"/>
              </a:ext>
            </a:extLst>
          </p:cNvPr>
          <p:cNvCxnSpPr>
            <a:cxnSpLocks/>
            <a:stCxn id="53" idx="2"/>
            <a:endCxn id="26" idx="0"/>
          </p:cNvCxnSpPr>
          <p:nvPr/>
        </p:nvCxnSpPr>
        <p:spPr>
          <a:xfrm flipH="1">
            <a:off x="2559147" y="2189929"/>
            <a:ext cx="1048839" cy="888963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17">
            <a:extLst>
              <a:ext uri="{FF2B5EF4-FFF2-40B4-BE49-F238E27FC236}">
                <a16:creationId xmlns:a16="http://schemas.microsoft.com/office/drawing/2014/main" id="{8D3EEB16-608B-9DD8-F752-5EFCD4849E73}"/>
              </a:ext>
            </a:extLst>
          </p:cNvPr>
          <p:cNvCxnSpPr>
            <a:cxnSpLocks/>
            <a:stCxn id="75" idx="2"/>
            <a:endCxn id="26" idx="0"/>
          </p:cNvCxnSpPr>
          <p:nvPr/>
        </p:nvCxnSpPr>
        <p:spPr>
          <a:xfrm>
            <a:off x="1584554" y="2180084"/>
            <a:ext cx="974593" cy="898808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418D0D6-E6A3-7FDF-E34E-FC8A2EF35926}"/>
              </a:ext>
            </a:extLst>
          </p:cNvPr>
          <p:cNvSpPr txBox="1"/>
          <p:nvPr/>
        </p:nvSpPr>
        <p:spPr>
          <a:xfrm>
            <a:off x="6561999" y="2885931"/>
            <a:ext cx="16652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podb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containerc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0557327-AE45-B5E9-E12D-687EA676EE13}"/>
              </a:ext>
            </a:extLst>
          </p:cNvPr>
          <p:cNvSpPr txBox="1"/>
          <p:nvPr/>
        </p:nvSpPr>
        <p:spPr>
          <a:xfrm>
            <a:off x="6561999" y="577607"/>
            <a:ext cx="1665290" cy="230832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cs typeface="Al Bayan Plain" pitchFamily="2" charset="-78"/>
              </a:rPr>
              <a:t>     - name: containerb</a:t>
            </a:r>
          </a:p>
          <a:p>
            <a:r>
              <a:rPr lang="en-US" altLang="ko-KR" sz="800" kern="0" dirty="0">
                <a:cs typeface="Al Bayan Plain" pitchFamily="2" charset="-78"/>
              </a:rPr>
              <a:t>       resources: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  <p:cxnSp>
        <p:nvCxnSpPr>
          <p:cNvPr id="41" name="직선 연결선 17">
            <a:extLst>
              <a:ext uri="{FF2B5EF4-FFF2-40B4-BE49-F238E27FC236}">
                <a16:creationId xmlns:a16="http://schemas.microsoft.com/office/drawing/2014/main" id="{A7D40BF8-6AE1-C2C0-E902-E0C28803C2FA}"/>
              </a:ext>
            </a:extLst>
          </p:cNvPr>
          <p:cNvCxnSpPr>
            <a:cxnSpLocks/>
            <a:stCxn id="74" idx="2"/>
            <a:endCxn id="12" idx="0"/>
          </p:cNvCxnSpPr>
          <p:nvPr/>
        </p:nvCxnSpPr>
        <p:spPr>
          <a:xfrm flipH="1">
            <a:off x="1321190" y="2650410"/>
            <a:ext cx="263365" cy="89373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17">
            <a:extLst>
              <a:ext uri="{FF2B5EF4-FFF2-40B4-BE49-F238E27FC236}">
                <a16:creationId xmlns:a16="http://schemas.microsoft.com/office/drawing/2014/main" id="{C3927926-1F64-F657-8553-6BA5CE00D9CC}"/>
              </a:ext>
            </a:extLst>
          </p:cNvPr>
          <p:cNvCxnSpPr>
            <a:cxnSpLocks/>
            <a:stCxn id="48" idx="2"/>
            <a:endCxn id="13" idx="0"/>
          </p:cNvCxnSpPr>
          <p:nvPr/>
        </p:nvCxnSpPr>
        <p:spPr>
          <a:xfrm flipH="1">
            <a:off x="2147548" y="2660254"/>
            <a:ext cx="859704" cy="88388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17">
            <a:extLst>
              <a:ext uri="{FF2B5EF4-FFF2-40B4-BE49-F238E27FC236}">
                <a16:creationId xmlns:a16="http://schemas.microsoft.com/office/drawing/2014/main" id="{54439B38-6631-9FE9-7B0A-6504AA32C16B}"/>
              </a:ext>
            </a:extLst>
          </p:cNvPr>
          <p:cNvCxnSpPr>
            <a:cxnSpLocks/>
            <a:stCxn id="49" idx="2"/>
            <a:endCxn id="18" idx="0"/>
          </p:cNvCxnSpPr>
          <p:nvPr/>
        </p:nvCxnSpPr>
        <p:spPr>
          <a:xfrm flipH="1">
            <a:off x="2973905" y="2660254"/>
            <a:ext cx="1234881" cy="88388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17">
            <a:extLst>
              <a:ext uri="{FF2B5EF4-FFF2-40B4-BE49-F238E27FC236}">
                <a16:creationId xmlns:a16="http://schemas.microsoft.com/office/drawing/2014/main" id="{5127910D-3D64-BC60-1467-3BB03BB28E5D}"/>
              </a:ext>
            </a:extLst>
          </p:cNvPr>
          <p:cNvSpPr/>
          <p:nvPr/>
        </p:nvSpPr>
        <p:spPr>
          <a:xfrm flipH="1">
            <a:off x="4300998" y="3006129"/>
            <a:ext cx="2066064" cy="4612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900" b="1" dirty="0">
                <a:solidFill>
                  <a:schemeClr val="tx1"/>
                </a:solidFill>
              </a:rPr>
              <a:t>NVIDIA </a:t>
            </a:r>
            <a:r>
              <a:rPr lang="en-US" sz="900" b="1" dirty="0">
                <a:solidFill>
                  <a:schemeClr val="tx1"/>
                </a:solidFill>
              </a:rPr>
              <a:t>Device Plugin Pod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(DaemonSet)</a:t>
            </a:r>
            <a:endParaRPr lang="en-KR" sz="900" dirty="0">
              <a:solidFill>
                <a:schemeClr val="tx1"/>
              </a:solidFill>
            </a:endParaRPr>
          </a:p>
        </p:txBody>
      </p:sp>
      <p:cxnSp>
        <p:nvCxnSpPr>
          <p:cNvPr id="28" name="직선 연결선 17">
            <a:extLst>
              <a:ext uri="{FF2B5EF4-FFF2-40B4-BE49-F238E27FC236}">
                <a16:creationId xmlns:a16="http://schemas.microsoft.com/office/drawing/2014/main" id="{44855E26-A0EB-90CE-741F-ABD6A7AC33BE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>
          <a:xfrm flipH="1">
            <a:off x="3800263" y="2650410"/>
            <a:ext cx="1864905" cy="89373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709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AA7F6-8051-C321-7BCF-C80C6E8F8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7">
            <a:extLst>
              <a:ext uri="{FF2B5EF4-FFF2-40B4-BE49-F238E27FC236}">
                <a16:creationId xmlns:a16="http://schemas.microsoft.com/office/drawing/2014/main" id="{6611259A-482D-25D7-CD89-36B036D468A7}"/>
              </a:ext>
            </a:extLst>
          </p:cNvPr>
          <p:cNvSpPr/>
          <p:nvPr/>
        </p:nvSpPr>
        <p:spPr>
          <a:xfrm flipH="1">
            <a:off x="971602" y="2507913"/>
            <a:ext cx="5112568" cy="2368093"/>
          </a:xfrm>
          <a:prstGeom prst="roundRect">
            <a:avLst>
              <a:gd name="adj" fmla="val 5713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t"/>
          <a:lstStyle/>
          <a:p>
            <a:r>
              <a:rPr lang="en-US" sz="1000" b="1" dirty="0">
                <a:solidFill>
                  <a:schemeClr val="tx1"/>
                </a:solidFill>
              </a:rPr>
              <a:t>NVIDIA 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GPU Node</a:t>
            </a:r>
            <a:endParaRPr lang="en-KR" sz="1000" b="1" dirty="0">
              <a:solidFill>
                <a:schemeClr val="tx1"/>
              </a:solidFill>
            </a:endParaRP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A6555BDE-45ED-E71C-8987-9B3EC5DEF013}"/>
              </a:ext>
            </a:extLst>
          </p:cNvPr>
          <p:cNvGrpSpPr/>
          <p:nvPr/>
        </p:nvGrpSpPr>
        <p:grpSpPr>
          <a:xfrm flipH="1">
            <a:off x="1852107" y="4031119"/>
            <a:ext cx="1463038" cy="605106"/>
            <a:chOff x="4854687" y="4196486"/>
            <a:chExt cx="1463038" cy="702501"/>
          </a:xfrm>
          <a:solidFill>
            <a:schemeClr val="bg1"/>
          </a:solidFill>
        </p:grpSpPr>
        <p:sp>
          <p:nvSpPr>
            <p:cNvPr id="3" name="Rounded Rectangle 3">
              <a:extLst>
                <a:ext uri="{FF2B5EF4-FFF2-40B4-BE49-F238E27FC236}">
                  <a16:creationId xmlns:a16="http://schemas.microsoft.com/office/drawing/2014/main" id="{84B340B1-E2B4-61E4-B8FD-603C8817031A}"/>
                </a:ext>
              </a:extLst>
            </p:cNvPr>
            <p:cNvSpPr/>
            <p:nvPr/>
          </p:nvSpPr>
          <p:spPr>
            <a:xfrm>
              <a:off x="5033212" y="4196486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4" name="Rounded Rectangle 7">
              <a:extLst>
                <a:ext uri="{FF2B5EF4-FFF2-40B4-BE49-F238E27FC236}">
                  <a16:creationId xmlns:a16="http://schemas.microsoft.com/office/drawing/2014/main" id="{B61E4CD6-DEBA-BED2-C91B-A600225C4619}"/>
                </a:ext>
              </a:extLst>
            </p:cNvPr>
            <p:cNvSpPr/>
            <p:nvPr/>
          </p:nvSpPr>
          <p:spPr>
            <a:xfrm>
              <a:off x="4945445" y="4276371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5" name="Rounded Rectangle 16">
              <a:extLst>
                <a:ext uri="{FF2B5EF4-FFF2-40B4-BE49-F238E27FC236}">
                  <a16:creationId xmlns:a16="http://schemas.microsoft.com/office/drawing/2014/main" id="{7B23931A-38FA-7188-BAFF-85BA01829336}"/>
                </a:ext>
              </a:extLst>
            </p:cNvPr>
            <p:cNvSpPr/>
            <p:nvPr/>
          </p:nvSpPr>
          <p:spPr>
            <a:xfrm>
              <a:off x="4854687" y="4363456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</p:grp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DB4219DC-8AEA-EAAB-957C-F6C6CC994D4E}"/>
              </a:ext>
            </a:extLst>
          </p:cNvPr>
          <p:cNvSpPr/>
          <p:nvPr/>
        </p:nvSpPr>
        <p:spPr>
          <a:xfrm flipH="1">
            <a:off x="1619670" y="3057559"/>
            <a:ext cx="1786232" cy="4612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altLang="ko-KR" sz="1000" b="1" dirty="0">
                <a:solidFill>
                  <a:schemeClr val="tx1"/>
                </a:solidFill>
              </a:rPr>
              <a:t>NVIDIA </a:t>
            </a:r>
            <a:r>
              <a:rPr lang="en-US" altLang="ko-KR" sz="1000" b="1" dirty="0">
                <a:solidFill>
                  <a:schemeClr val="tx1"/>
                </a:solidFill>
              </a:rPr>
              <a:t>Device Plugin Pod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(DaemonSet)</a:t>
            </a:r>
            <a:endParaRPr lang="en-KR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10672D32-3D3D-B765-7FFF-B840BCB35D1B}"/>
              </a:ext>
            </a:extLst>
          </p:cNvPr>
          <p:cNvSpPr/>
          <p:nvPr/>
        </p:nvSpPr>
        <p:spPr>
          <a:xfrm flipH="1">
            <a:off x="4914198" y="3057559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kubelet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9454949-DC9F-9D2C-70B8-E627FEFF5CF7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512786" y="3518844"/>
            <a:ext cx="250859" cy="733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A3A073F-E0D7-F49B-01BC-96E034A74543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2512786" y="3518844"/>
            <a:ext cx="160102" cy="6560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6668389-6BFF-E0B5-A8FB-1F24FC8C5AC7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>
            <a:off x="2512786" y="3518844"/>
            <a:ext cx="69344" cy="5810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9329A3C-2D0D-B245-2CF2-ABD412C9289F}"/>
              </a:ext>
            </a:extLst>
          </p:cNvPr>
          <p:cNvCxnSpPr>
            <a:cxnSpLocks/>
            <a:stCxn id="7" idx="2"/>
            <a:endCxn id="3" idx="0"/>
          </p:cNvCxnSpPr>
          <p:nvPr/>
        </p:nvCxnSpPr>
        <p:spPr>
          <a:xfrm flipH="1">
            <a:off x="2494363" y="3518844"/>
            <a:ext cx="18423" cy="5122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A983EF3-CC32-97C2-9CA0-AAF1984D355D}"/>
              </a:ext>
            </a:extLst>
          </p:cNvPr>
          <p:cNvCxnSpPr>
            <a:cxnSpLocks/>
          </p:cNvCxnSpPr>
          <p:nvPr/>
        </p:nvCxnSpPr>
        <p:spPr>
          <a:xfrm>
            <a:off x="3405903" y="3180670"/>
            <a:ext cx="15082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A58519B-5634-E144-A9DA-1AB8A42B80B7}"/>
              </a:ext>
            </a:extLst>
          </p:cNvPr>
          <p:cNvSpPr txBox="1"/>
          <p:nvPr/>
        </p:nvSpPr>
        <p:spPr>
          <a:xfrm flipH="1">
            <a:off x="1331374" y="3578665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i="1"/>
              <a:t>2. Scan &amp; </a:t>
            </a:r>
            <a:br>
              <a:rPr kumimoji="1" lang="en-US" altLang="ko-KR" sz="1000" i="1"/>
            </a:br>
            <a:r>
              <a:rPr kumimoji="1" lang="en-US" altLang="ko-KR" sz="1000" i="1"/>
              <a:t>health check GPU</a:t>
            </a:r>
            <a:endParaRPr kumimoji="1" lang="ko-KR" altLang="en-US" sz="1000" i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055501-C648-95BC-F7A8-D530DA3CE78B}"/>
              </a:ext>
            </a:extLst>
          </p:cNvPr>
          <p:cNvSpPr txBox="1"/>
          <p:nvPr/>
        </p:nvSpPr>
        <p:spPr>
          <a:xfrm flipH="1">
            <a:off x="1632578" y="2507913"/>
            <a:ext cx="1992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i="1"/>
              <a:t>1. Start gRPC server</a:t>
            </a:r>
            <a:br>
              <a:rPr kumimoji="1" lang="en-US" altLang="ko-KR" sz="1000" i="1"/>
            </a:br>
            <a:r>
              <a:rPr kumimoji="1" lang="en-US" altLang="ko-KR" sz="1000" i="1"/>
              <a:t>with /var/lib/kubelet/</a:t>
            </a:r>
            <a:br>
              <a:rPr kumimoji="1" lang="en-US" altLang="ko-KR" sz="1000" i="1"/>
            </a:br>
            <a:r>
              <a:rPr kumimoji="1" lang="en-US" altLang="ko-KR" sz="1000" i="1"/>
              <a:t>device-plugins/nvidia-gpu.sock</a:t>
            </a:r>
            <a:endParaRPr kumimoji="1" lang="ko-KR" altLang="en-US" sz="1000" i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A5BBBE-A7E3-F858-FFA8-617C53D231F6}"/>
              </a:ext>
            </a:extLst>
          </p:cNvPr>
          <p:cNvSpPr txBox="1"/>
          <p:nvPr/>
        </p:nvSpPr>
        <p:spPr>
          <a:xfrm flipH="1">
            <a:off x="3707909" y="2506068"/>
            <a:ext cx="21423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3. </a:t>
            </a:r>
            <a:r>
              <a:rPr kumimoji="1" lang="en-US" altLang="ko-KR" sz="1000" b="1" i="1"/>
              <a:t>Register() </a:t>
            </a:r>
            <a:r>
              <a:rPr kumimoji="1" lang="en-US" altLang="ko-KR" sz="1000" i="1"/>
              <a:t>GPUs</a:t>
            </a:r>
          </a:p>
          <a:p>
            <a:r>
              <a:rPr kumimoji="1" lang="en-US" altLang="ko-KR" sz="1000" i="1"/>
              <a:t>via </a:t>
            </a:r>
            <a:r>
              <a:rPr lang="en" altLang="ko-KR" sz="1000"/>
              <a:t>/var/lib/kubelet/device-plugins/kubelet.sock</a:t>
            </a:r>
            <a:endParaRPr kumimoji="1" lang="en-US" altLang="ko-KR" sz="1000" i="1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A71C7FD-7BB2-8631-E674-057A8A6EFDD1}"/>
              </a:ext>
            </a:extLst>
          </p:cNvPr>
          <p:cNvCxnSpPr>
            <a:cxnSpLocks/>
          </p:cNvCxnSpPr>
          <p:nvPr/>
        </p:nvCxnSpPr>
        <p:spPr>
          <a:xfrm>
            <a:off x="3405903" y="3363838"/>
            <a:ext cx="150829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1965CFA-8671-8615-1CEE-8175AE678D2D}"/>
              </a:ext>
            </a:extLst>
          </p:cNvPr>
          <p:cNvSpPr txBox="1"/>
          <p:nvPr/>
        </p:nvSpPr>
        <p:spPr>
          <a:xfrm flipH="1">
            <a:off x="3359028" y="3366346"/>
            <a:ext cx="203132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i="1"/>
              <a:t>4. </a:t>
            </a:r>
            <a:r>
              <a:rPr kumimoji="1" lang="en-US" altLang="ko-KR" sz="1000" b="1" i="1"/>
              <a:t>ListAndWatch()</a:t>
            </a:r>
            <a:r>
              <a:rPr kumimoji="1" lang="ko-KR" altLang="en-US" sz="1000" i="1"/>
              <a:t> </a:t>
            </a:r>
            <a:r>
              <a:rPr kumimoji="1" lang="en-US" altLang="ko-KR" sz="1000" i="1"/>
              <a:t>GPUs</a:t>
            </a:r>
            <a:endParaRPr kumimoji="1" lang="en-US" altLang="ko-KR" sz="1000" b="1" i="1"/>
          </a:p>
          <a:p>
            <a:r>
              <a:rPr kumimoji="1" lang="en-US" altLang="ko-KR" sz="1000" i="1"/>
              <a:t>via var/lib/kubelet/</a:t>
            </a:r>
            <a:br>
              <a:rPr kumimoji="1" lang="en-US" altLang="ko-KR" sz="1000" i="1"/>
            </a:br>
            <a:r>
              <a:rPr kumimoji="1" lang="en-US" altLang="ko-KR" sz="1000" i="1"/>
              <a:t>device-plugins/nvidia-gpu.sock</a:t>
            </a:r>
            <a:endParaRPr kumimoji="1" lang="ko-KR" altLang="en-US" sz="1000" i="1"/>
          </a:p>
        </p:txBody>
      </p:sp>
      <p:sp>
        <p:nvSpPr>
          <p:cNvPr id="43" name="Rounded Rectangle 17">
            <a:extLst>
              <a:ext uri="{FF2B5EF4-FFF2-40B4-BE49-F238E27FC236}">
                <a16:creationId xmlns:a16="http://schemas.microsoft.com/office/drawing/2014/main" id="{F88BFAD8-60BF-3883-5151-F0910D5EE0BE}"/>
              </a:ext>
            </a:extLst>
          </p:cNvPr>
          <p:cNvSpPr/>
          <p:nvPr/>
        </p:nvSpPr>
        <p:spPr>
          <a:xfrm flipH="1">
            <a:off x="4914198" y="137541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K8s API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Server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AE31CE26-3152-253F-5A2E-22A17ACB4F73}"/>
              </a:ext>
            </a:extLst>
          </p:cNvPr>
          <p:cNvCxnSpPr>
            <a:cxnSpLocks/>
            <a:stCxn id="8" idx="0"/>
            <a:endCxn id="43" idx="2"/>
          </p:cNvCxnSpPr>
          <p:nvPr/>
        </p:nvCxnSpPr>
        <p:spPr>
          <a:xfrm flipV="1">
            <a:off x="5418254" y="598826"/>
            <a:ext cx="0" cy="24587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7">
            <a:extLst>
              <a:ext uri="{FF2B5EF4-FFF2-40B4-BE49-F238E27FC236}">
                <a16:creationId xmlns:a16="http://schemas.microsoft.com/office/drawing/2014/main" id="{957BED16-F5A6-7421-042E-BB58FE694CEA}"/>
              </a:ext>
            </a:extLst>
          </p:cNvPr>
          <p:cNvSpPr/>
          <p:nvPr/>
        </p:nvSpPr>
        <p:spPr>
          <a:xfrm flipH="1">
            <a:off x="2121390" y="4252458"/>
            <a:ext cx="1284513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1000" dirty="0">
                <a:solidFill>
                  <a:schemeClr val="tx1"/>
                </a:solidFill>
              </a:rPr>
              <a:t>NVIDIA GPUs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4B6C0A-F5DF-81C8-A2CD-9221244E8117}"/>
              </a:ext>
            </a:extLst>
          </p:cNvPr>
          <p:cNvSpPr txBox="1"/>
          <p:nvPr/>
        </p:nvSpPr>
        <p:spPr>
          <a:xfrm flipH="1">
            <a:off x="4139961" y="1168060"/>
            <a:ext cx="1278293" cy="121571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kern="0" dirty="0" err="1">
                <a:cs typeface="Al Bayan Plain" pitchFamily="2" charset="-78"/>
              </a:rPr>
              <a:t> </a:t>
            </a:r>
            <a:r>
              <a:rPr lang="en-US" sz="900" kern="0" dirty="0" err="1">
                <a:cs typeface="Al Bayan Plain" pitchFamily="2" charset="-78"/>
              </a:rPr>
              <a:t>apiVersion</a:t>
            </a:r>
            <a:r>
              <a:rPr lang="en-US" sz="9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kind: Node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…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status: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allocatable:</a:t>
            </a:r>
          </a:p>
          <a:p>
            <a:pPr algn="l"/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     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"4"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capacity:</a:t>
            </a:r>
          </a:p>
          <a:p>
            <a:pPr algn="l"/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     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"4"</a:t>
            </a:r>
          </a:p>
        </p:txBody>
      </p:sp>
      <p:sp>
        <p:nvSpPr>
          <p:cNvPr id="13" name="사각형: 둥근 모서리 71">
            <a:extLst>
              <a:ext uri="{FF2B5EF4-FFF2-40B4-BE49-F238E27FC236}">
                <a16:creationId xmlns:a16="http://schemas.microsoft.com/office/drawing/2014/main" id="{21BC8884-C843-0082-6279-43CE0A1AB725}"/>
              </a:ext>
            </a:extLst>
          </p:cNvPr>
          <p:cNvSpPr/>
          <p:nvPr/>
        </p:nvSpPr>
        <p:spPr>
          <a:xfrm flipH="1">
            <a:off x="3817499" y="704099"/>
            <a:ext cx="1741239" cy="460362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5. Patch node’s allocatable and capacity</a:t>
            </a:r>
          </a:p>
          <a:p>
            <a:pPr algn="ctr"/>
            <a:r>
              <a:rPr lang="en-US" altLang="ko-KR" sz="1000" i="1"/>
              <a:t>with GPU </a:t>
            </a:r>
            <a:endParaRPr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4291432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4DA07-F9E1-1B35-570C-D21621D5E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1D9540A0-5832-B3D2-F3A4-EFB71C87B7FD}"/>
              </a:ext>
            </a:extLst>
          </p:cNvPr>
          <p:cNvSpPr/>
          <p:nvPr/>
        </p:nvSpPr>
        <p:spPr>
          <a:xfrm flipH="1">
            <a:off x="971602" y="2507913"/>
            <a:ext cx="5112568" cy="2368093"/>
          </a:xfrm>
          <a:prstGeom prst="roundRect">
            <a:avLst>
              <a:gd name="adj" fmla="val 5713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t"/>
          <a:lstStyle/>
          <a:p>
            <a:r>
              <a:rPr lang="en-US" sz="1000" b="1" dirty="0">
                <a:solidFill>
                  <a:schemeClr val="tx1"/>
                </a:solidFill>
              </a:rPr>
              <a:t>NVIDIA 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GPU Node</a:t>
            </a:r>
            <a:endParaRPr lang="en-KR" sz="1000" b="1" dirty="0">
              <a:solidFill>
                <a:schemeClr val="tx1"/>
              </a:solidFill>
            </a:endParaRP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7B1DF9E6-936D-3F00-FE45-4C76CFFECB39}"/>
              </a:ext>
            </a:extLst>
          </p:cNvPr>
          <p:cNvGrpSpPr/>
          <p:nvPr/>
        </p:nvGrpSpPr>
        <p:grpSpPr>
          <a:xfrm flipH="1">
            <a:off x="1852107" y="4031119"/>
            <a:ext cx="1463038" cy="605106"/>
            <a:chOff x="4854687" y="4196486"/>
            <a:chExt cx="1463038" cy="702501"/>
          </a:xfrm>
          <a:solidFill>
            <a:schemeClr val="bg1"/>
          </a:solidFill>
        </p:grpSpPr>
        <p:sp>
          <p:nvSpPr>
            <p:cNvPr id="3" name="Rounded Rectangle 3">
              <a:extLst>
                <a:ext uri="{FF2B5EF4-FFF2-40B4-BE49-F238E27FC236}">
                  <a16:creationId xmlns:a16="http://schemas.microsoft.com/office/drawing/2014/main" id="{02190007-E32B-2CAC-B9AD-5BF20D1A6AF1}"/>
                </a:ext>
              </a:extLst>
            </p:cNvPr>
            <p:cNvSpPr/>
            <p:nvPr/>
          </p:nvSpPr>
          <p:spPr>
            <a:xfrm>
              <a:off x="5033212" y="4196486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4" name="Rounded Rectangle 7">
              <a:extLst>
                <a:ext uri="{FF2B5EF4-FFF2-40B4-BE49-F238E27FC236}">
                  <a16:creationId xmlns:a16="http://schemas.microsoft.com/office/drawing/2014/main" id="{73937539-F115-AF94-4405-1CFD1C14AA0F}"/>
                </a:ext>
              </a:extLst>
            </p:cNvPr>
            <p:cNvSpPr/>
            <p:nvPr/>
          </p:nvSpPr>
          <p:spPr>
            <a:xfrm>
              <a:off x="4945445" y="4276371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5" name="Rounded Rectangle 16">
              <a:extLst>
                <a:ext uri="{FF2B5EF4-FFF2-40B4-BE49-F238E27FC236}">
                  <a16:creationId xmlns:a16="http://schemas.microsoft.com/office/drawing/2014/main" id="{971DA250-3B1D-43D3-1DC0-0ECA5AA7828F}"/>
                </a:ext>
              </a:extLst>
            </p:cNvPr>
            <p:cNvSpPr/>
            <p:nvPr/>
          </p:nvSpPr>
          <p:spPr>
            <a:xfrm>
              <a:off x="4854687" y="4363456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</p:grp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A9C0EEA8-96CC-01E5-DAA5-FE776CCF33F9}"/>
              </a:ext>
            </a:extLst>
          </p:cNvPr>
          <p:cNvSpPr/>
          <p:nvPr/>
        </p:nvSpPr>
        <p:spPr>
          <a:xfrm flipH="1">
            <a:off x="1619672" y="3057559"/>
            <a:ext cx="1786231" cy="4612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1000" b="1" dirty="0">
                <a:solidFill>
                  <a:schemeClr val="tx1"/>
                </a:solidFill>
              </a:rPr>
              <a:t>NVIDIA </a:t>
            </a:r>
            <a:r>
              <a:rPr lang="en-US" sz="1000" b="1" dirty="0">
                <a:solidFill>
                  <a:schemeClr val="tx1"/>
                </a:solidFill>
              </a:rPr>
              <a:t>Device Plugin Pod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(DaemonSet)</a:t>
            </a:r>
            <a:endParaRPr lang="en-KR" sz="1000" dirty="0">
              <a:solidFill>
                <a:schemeClr val="tx1"/>
              </a:solidFill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2A342A9-1FC3-60A7-8B01-0A46C53B22A8}"/>
              </a:ext>
            </a:extLst>
          </p:cNvPr>
          <p:cNvSpPr/>
          <p:nvPr/>
        </p:nvSpPr>
        <p:spPr>
          <a:xfrm flipH="1">
            <a:off x="4914198" y="3057559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kubelet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B1AFB24-5DC4-94EA-BE61-10EC0FB40774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512787" y="3518844"/>
            <a:ext cx="250859" cy="733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732B598-0C86-31A4-EE39-061F7C245FA4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2512787" y="3518844"/>
            <a:ext cx="160101" cy="6560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4CC34E5-D402-092B-0024-5893EFCE1C0F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>
            <a:off x="2512787" y="3518844"/>
            <a:ext cx="69343" cy="5810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BFD7D84-847B-6742-F720-3284ACE143E2}"/>
              </a:ext>
            </a:extLst>
          </p:cNvPr>
          <p:cNvCxnSpPr>
            <a:cxnSpLocks/>
            <a:stCxn id="7" idx="2"/>
            <a:endCxn id="3" idx="0"/>
          </p:cNvCxnSpPr>
          <p:nvPr/>
        </p:nvCxnSpPr>
        <p:spPr>
          <a:xfrm flipH="1">
            <a:off x="2494363" y="3518844"/>
            <a:ext cx="18424" cy="5122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0DDFF86-352E-D8DE-3964-29A0119B6378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>
            <a:off x="3405903" y="3288202"/>
            <a:ext cx="150829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2E5679E-5FE6-526C-143A-1898FC6B7A15}"/>
              </a:ext>
            </a:extLst>
          </p:cNvPr>
          <p:cNvSpPr txBox="1"/>
          <p:nvPr/>
        </p:nvSpPr>
        <p:spPr>
          <a:xfrm flipH="1">
            <a:off x="3405875" y="3281918"/>
            <a:ext cx="1992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i="1"/>
              <a:t>4. </a:t>
            </a:r>
            <a:r>
              <a:rPr kumimoji="1" lang="en-US" altLang="ko-KR" sz="1000" b="1" i="1"/>
              <a:t>Allocate() </a:t>
            </a:r>
            <a:r>
              <a:rPr kumimoji="1" lang="en-US" altLang="ko-KR" sz="1000" i="1"/>
              <a:t>GPUs</a:t>
            </a:r>
          </a:p>
          <a:p>
            <a:r>
              <a:rPr kumimoji="1" lang="en-US" altLang="ko-KR" sz="1000" i="1"/>
              <a:t>via var/lib/kubelet/</a:t>
            </a:r>
            <a:br>
              <a:rPr kumimoji="1" lang="en-US" altLang="ko-KR" sz="1000" i="1"/>
            </a:br>
            <a:r>
              <a:rPr kumimoji="1" lang="en-US" altLang="ko-KR" sz="1000" i="1"/>
              <a:t>device-plugins/nvidia-gpu.sock</a:t>
            </a:r>
            <a:endParaRPr kumimoji="1" lang="ko-KR" altLang="en-US" sz="1000" i="1"/>
          </a:p>
        </p:txBody>
      </p:sp>
      <p:sp>
        <p:nvSpPr>
          <p:cNvPr id="43" name="Rounded Rectangle 17">
            <a:extLst>
              <a:ext uri="{FF2B5EF4-FFF2-40B4-BE49-F238E27FC236}">
                <a16:creationId xmlns:a16="http://schemas.microsoft.com/office/drawing/2014/main" id="{F7C0F947-823F-26FA-AEEA-3FA32684CA18}"/>
              </a:ext>
            </a:extLst>
          </p:cNvPr>
          <p:cNvSpPr/>
          <p:nvPr/>
        </p:nvSpPr>
        <p:spPr>
          <a:xfrm flipH="1">
            <a:off x="4914198" y="137541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K8s API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Server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7C15E4E-E0AE-8B1C-8437-FAACEBB28163}"/>
              </a:ext>
            </a:extLst>
          </p:cNvPr>
          <p:cNvCxnSpPr>
            <a:cxnSpLocks/>
            <a:stCxn id="8" idx="0"/>
            <a:endCxn id="43" idx="2"/>
          </p:cNvCxnSpPr>
          <p:nvPr/>
        </p:nvCxnSpPr>
        <p:spPr>
          <a:xfrm flipV="1">
            <a:off x="5418254" y="598826"/>
            <a:ext cx="0" cy="24587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17">
            <a:extLst>
              <a:ext uri="{FF2B5EF4-FFF2-40B4-BE49-F238E27FC236}">
                <a16:creationId xmlns:a16="http://schemas.microsoft.com/office/drawing/2014/main" id="{E7DD95E7-784A-CD0D-2507-D779D5A07064}"/>
              </a:ext>
            </a:extLst>
          </p:cNvPr>
          <p:cNvSpPr/>
          <p:nvPr/>
        </p:nvSpPr>
        <p:spPr>
          <a:xfrm flipH="1">
            <a:off x="1187625" y="137541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Kubernetes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Client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A172685D-0233-C1B8-A986-D14506C5AB19}"/>
              </a:ext>
            </a:extLst>
          </p:cNvPr>
          <p:cNvCxnSpPr>
            <a:cxnSpLocks/>
            <a:stCxn id="60" idx="1"/>
            <a:endCxn id="43" idx="3"/>
          </p:cNvCxnSpPr>
          <p:nvPr/>
        </p:nvCxnSpPr>
        <p:spPr>
          <a:xfrm>
            <a:off x="2195737" y="368184"/>
            <a:ext cx="271846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747EC56-AFD2-8F1A-F48A-FF26289F2AAB}"/>
              </a:ext>
            </a:extLst>
          </p:cNvPr>
          <p:cNvSpPr txBox="1"/>
          <p:nvPr/>
        </p:nvSpPr>
        <p:spPr>
          <a:xfrm>
            <a:off x="2304962" y="367545"/>
            <a:ext cx="1512536" cy="176971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kern="0" dirty="0" err="1">
                <a:cs typeface="Al Bayan Plain" pitchFamily="2" charset="-78"/>
              </a:rPr>
              <a:t> </a:t>
            </a:r>
            <a:r>
              <a:rPr lang="en-US" sz="900" kern="0" dirty="0" err="1">
                <a:cs typeface="Al Bayan Plain" pitchFamily="2" charset="-78"/>
              </a:rPr>
              <a:t>apiVersion</a:t>
            </a:r>
            <a:r>
              <a:rPr lang="en-US" sz="9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name: pod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- name: gpu-app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  <p:sp>
        <p:nvSpPr>
          <p:cNvPr id="70" name="사각형: 둥근 모서리 71">
            <a:extLst>
              <a:ext uri="{FF2B5EF4-FFF2-40B4-BE49-F238E27FC236}">
                <a16:creationId xmlns:a16="http://schemas.microsoft.com/office/drawing/2014/main" id="{8E3D8FDE-6AB7-9FA1-50A2-1AB04CF15F25}"/>
              </a:ext>
            </a:extLst>
          </p:cNvPr>
          <p:cNvSpPr/>
          <p:nvPr/>
        </p:nvSpPr>
        <p:spPr>
          <a:xfrm flipH="1">
            <a:off x="2190150" y="2138514"/>
            <a:ext cx="1741239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1. Create pod with GPU </a:t>
            </a:r>
            <a:endParaRPr lang="ko-KR" altLang="en-US" sz="1000" i="1"/>
          </a:p>
        </p:txBody>
      </p:sp>
      <p:sp>
        <p:nvSpPr>
          <p:cNvPr id="77" name="Rounded Rectangle 17">
            <a:extLst>
              <a:ext uri="{FF2B5EF4-FFF2-40B4-BE49-F238E27FC236}">
                <a16:creationId xmlns:a16="http://schemas.microsoft.com/office/drawing/2014/main" id="{DEE9C36F-4F12-5470-C712-A1B128A8D038}"/>
              </a:ext>
            </a:extLst>
          </p:cNvPr>
          <p:cNvSpPr/>
          <p:nvPr/>
        </p:nvSpPr>
        <p:spPr>
          <a:xfrm flipH="1">
            <a:off x="4134943" y="1299249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K8s Scheduler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EB5F4D7C-C77B-2DF2-15E8-B16EC6E1DD84}"/>
              </a:ext>
            </a:extLst>
          </p:cNvPr>
          <p:cNvCxnSpPr>
            <a:cxnSpLocks/>
            <a:stCxn id="77" idx="1"/>
            <a:endCxn id="43" idx="2"/>
          </p:cNvCxnSpPr>
          <p:nvPr/>
        </p:nvCxnSpPr>
        <p:spPr>
          <a:xfrm flipV="1">
            <a:off x="5143055" y="598826"/>
            <a:ext cx="275199" cy="9310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사각형: 둥근 모서리 71">
            <a:extLst>
              <a:ext uri="{FF2B5EF4-FFF2-40B4-BE49-F238E27FC236}">
                <a16:creationId xmlns:a16="http://schemas.microsoft.com/office/drawing/2014/main" id="{8F8C26DA-8B4F-A0A7-FD09-D05F1B3F290E}"/>
              </a:ext>
            </a:extLst>
          </p:cNvPr>
          <p:cNvSpPr/>
          <p:nvPr/>
        </p:nvSpPr>
        <p:spPr>
          <a:xfrm flipH="1">
            <a:off x="4134943" y="883665"/>
            <a:ext cx="1138257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2. Get created pod info and </a:t>
            </a:r>
          </a:p>
          <a:p>
            <a:r>
              <a:rPr lang="en-US" altLang="ko-KR" sz="1000" i="1"/>
              <a:t>scheduling</a:t>
            </a:r>
            <a:endParaRPr lang="ko-KR" altLang="en-US" sz="1000" i="1"/>
          </a:p>
        </p:txBody>
      </p:sp>
      <p:sp>
        <p:nvSpPr>
          <p:cNvPr id="92" name="Rounded Rectangle 17">
            <a:extLst>
              <a:ext uri="{FF2B5EF4-FFF2-40B4-BE49-F238E27FC236}">
                <a16:creationId xmlns:a16="http://schemas.microsoft.com/office/drawing/2014/main" id="{D1053CA3-F1E5-F192-3A20-218768BC3A12}"/>
              </a:ext>
            </a:extLst>
          </p:cNvPr>
          <p:cNvSpPr/>
          <p:nvPr/>
        </p:nvSpPr>
        <p:spPr>
          <a:xfrm flipH="1">
            <a:off x="4914198" y="4185332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App Pod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with GPU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39851C75-AA5A-DDF3-33F3-74E62AD1AB69}"/>
              </a:ext>
            </a:extLst>
          </p:cNvPr>
          <p:cNvCxnSpPr>
            <a:cxnSpLocks/>
            <a:stCxn id="8" idx="2"/>
            <a:endCxn id="92" idx="0"/>
          </p:cNvCxnSpPr>
          <p:nvPr/>
        </p:nvCxnSpPr>
        <p:spPr>
          <a:xfrm>
            <a:off x="5418254" y="3518844"/>
            <a:ext cx="0" cy="6664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사각형: 둥근 모서리 71">
            <a:extLst>
              <a:ext uri="{FF2B5EF4-FFF2-40B4-BE49-F238E27FC236}">
                <a16:creationId xmlns:a16="http://schemas.microsoft.com/office/drawing/2014/main" id="{A96B39A0-68A4-112B-7170-413E9601EE55}"/>
              </a:ext>
            </a:extLst>
          </p:cNvPr>
          <p:cNvSpPr/>
          <p:nvPr/>
        </p:nvSpPr>
        <p:spPr>
          <a:xfrm flipH="1">
            <a:off x="3674605" y="3924936"/>
            <a:ext cx="1928787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5. Create pod with GPUs</a:t>
            </a:r>
            <a:endParaRPr lang="ko-KR" altLang="en-US" sz="1000" i="1"/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B5AD7FCA-112C-4935-08A9-A85B503D524A}"/>
              </a:ext>
            </a:extLst>
          </p:cNvPr>
          <p:cNvCxnSpPr>
            <a:cxnSpLocks/>
            <a:stCxn id="92" idx="3"/>
          </p:cNvCxnSpPr>
          <p:nvPr/>
        </p:nvCxnSpPr>
        <p:spPr>
          <a:xfrm flipH="1">
            <a:off x="3405903" y="4415975"/>
            <a:ext cx="1508295" cy="6712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44B1AD14-E4E1-C272-3383-3AC4C2571F7A}"/>
              </a:ext>
            </a:extLst>
          </p:cNvPr>
          <p:cNvCxnSpPr>
            <a:cxnSpLocks/>
            <a:stCxn id="92" idx="3"/>
          </p:cNvCxnSpPr>
          <p:nvPr/>
        </p:nvCxnSpPr>
        <p:spPr>
          <a:xfrm flipH="1" flipV="1">
            <a:off x="3312154" y="4405582"/>
            <a:ext cx="1602044" cy="1039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7">
            <a:extLst>
              <a:ext uri="{FF2B5EF4-FFF2-40B4-BE49-F238E27FC236}">
                <a16:creationId xmlns:a16="http://schemas.microsoft.com/office/drawing/2014/main" id="{7C4AB90A-CA2C-3C8D-1528-A575515AA312}"/>
              </a:ext>
            </a:extLst>
          </p:cNvPr>
          <p:cNvSpPr/>
          <p:nvPr/>
        </p:nvSpPr>
        <p:spPr>
          <a:xfrm flipH="1">
            <a:off x="2121390" y="4252458"/>
            <a:ext cx="1284513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1000" dirty="0">
                <a:solidFill>
                  <a:schemeClr val="tx1"/>
                </a:solidFill>
              </a:rPr>
              <a:t>NVIDIA GPUs</a:t>
            </a:r>
          </a:p>
        </p:txBody>
      </p:sp>
      <p:sp>
        <p:nvSpPr>
          <p:cNvPr id="12" name="사각형: 둥근 모서리 71">
            <a:extLst>
              <a:ext uri="{FF2B5EF4-FFF2-40B4-BE49-F238E27FC236}">
                <a16:creationId xmlns:a16="http://schemas.microsoft.com/office/drawing/2014/main" id="{E140313A-619A-9975-056D-4CE718CB5D3C}"/>
              </a:ext>
            </a:extLst>
          </p:cNvPr>
          <p:cNvSpPr/>
          <p:nvPr/>
        </p:nvSpPr>
        <p:spPr>
          <a:xfrm flipH="1">
            <a:off x="4243133" y="2549630"/>
            <a:ext cx="1342130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3. Get scheduled </a:t>
            </a:r>
            <a:br>
              <a:rPr lang="en-US" altLang="ko-KR" sz="1000" i="1"/>
            </a:br>
            <a:r>
              <a:rPr lang="en-US" altLang="ko-KR" sz="1000" i="1"/>
              <a:t>pod info</a:t>
            </a:r>
          </a:p>
        </p:txBody>
      </p:sp>
    </p:spTree>
    <p:extLst>
      <p:ext uri="{BB962C8B-B14F-4D97-AF65-F5344CB8AC3E}">
        <p14:creationId xmlns:p14="http://schemas.microsoft.com/office/powerpoint/2010/main" val="566499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AA86A-E9CB-245B-9DAD-9D74D9794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1E3E624D-0628-9016-3AB2-33783428702B}"/>
              </a:ext>
            </a:extLst>
          </p:cNvPr>
          <p:cNvSpPr/>
          <p:nvPr/>
        </p:nvSpPr>
        <p:spPr>
          <a:xfrm flipH="1">
            <a:off x="3038666" y="2782380"/>
            <a:ext cx="2066064" cy="4612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900" b="1" dirty="0">
                <a:solidFill>
                  <a:schemeClr val="tx1"/>
                </a:solidFill>
              </a:rPr>
              <a:t>NVIDIA </a:t>
            </a:r>
            <a:r>
              <a:rPr lang="en-US" sz="900" b="1" dirty="0">
                <a:solidFill>
                  <a:schemeClr val="tx1"/>
                </a:solidFill>
              </a:rPr>
              <a:t>Device Plugin Pod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(DaemonSet)</a:t>
            </a:r>
            <a:endParaRPr lang="en-KR" sz="900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114">
            <a:extLst>
              <a:ext uri="{FF2B5EF4-FFF2-40B4-BE49-F238E27FC236}">
                <a16:creationId xmlns:a16="http://schemas.microsoft.com/office/drawing/2014/main" id="{4048C73E-9CF9-0A8D-B71D-F601807ED4F7}"/>
              </a:ext>
            </a:extLst>
          </p:cNvPr>
          <p:cNvSpPr/>
          <p:nvPr/>
        </p:nvSpPr>
        <p:spPr>
          <a:xfrm>
            <a:off x="1782967" y="581379"/>
            <a:ext cx="2577504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사각형: 둥근 모서리 114">
            <a:extLst>
              <a:ext uri="{FF2B5EF4-FFF2-40B4-BE49-F238E27FC236}">
                <a16:creationId xmlns:a16="http://schemas.microsoft.com/office/drawing/2014/main" id="{E3A8EF73-92E2-43E3-10DA-75B66F541FAD}"/>
              </a:ext>
            </a:extLst>
          </p:cNvPr>
          <p:cNvSpPr/>
          <p:nvPr/>
        </p:nvSpPr>
        <p:spPr>
          <a:xfrm>
            <a:off x="4403178" y="577607"/>
            <a:ext cx="1385789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05FE377A-6F3C-B231-8678-FA1CF4CD1B30}"/>
              </a:ext>
            </a:extLst>
          </p:cNvPr>
          <p:cNvSpPr/>
          <p:nvPr/>
        </p:nvSpPr>
        <p:spPr>
          <a:xfrm>
            <a:off x="360495" y="581379"/>
            <a:ext cx="1379765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F617B0-7565-8475-5424-880BF1EB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D5CBD832-24B9-6CFC-7428-1A47D4087F5D}"/>
              </a:ext>
            </a:extLst>
          </p:cNvPr>
          <p:cNvSpPr/>
          <p:nvPr/>
        </p:nvSpPr>
        <p:spPr>
          <a:xfrm>
            <a:off x="1830421" y="863648"/>
            <a:ext cx="2486761" cy="1662236"/>
          </a:xfrm>
          <a:prstGeom prst="roundRect">
            <a:avLst>
              <a:gd name="adj" fmla="val 402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3FE9E9AB-4041-D131-83CB-0C9610ABE743}"/>
              </a:ext>
            </a:extLst>
          </p:cNvPr>
          <p:cNvSpPr/>
          <p:nvPr/>
        </p:nvSpPr>
        <p:spPr>
          <a:xfrm>
            <a:off x="1918155" y="2057675"/>
            <a:ext cx="1099999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521F8619-DBFA-8775-1873-AE8056665AC5}"/>
              </a:ext>
            </a:extLst>
          </p:cNvPr>
          <p:cNvSpPr/>
          <p:nvPr/>
        </p:nvSpPr>
        <p:spPr>
          <a:xfrm>
            <a:off x="3119755" y="2057675"/>
            <a:ext cx="1099868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/dev/nvidia1</a:t>
            </a:r>
            <a:endParaRPr lang="en-US" altLang="ko-KR" sz="90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791E1D60-EE2B-3EAB-C208-BDC0E4B1EF19}"/>
              </a:ext>
            </a:extLst>
          </p:cNvPr>
          <p:cNvSpPr/>
          <p:nvPr/>
        </p:nvSpPr>
        <p:spPr>
          <a:xfrm>
            <a:off x="1918155" y="1587350"/>
            <a:ext cx="2301467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599FD2AC-2B09-9371-C692-45C0924E724B}"/>
              </a:ext>
            </a:extLst>
          </p:cNvPr>
          <p:cNvSpPr/>
          <p:nvPr/>
        </p:nvSpPr>
        <p:spPr>
          <a:xfrm>
            <a:off x="410256" y="858168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EF23BEA4-FD9C-54C4-D405-5BADDF69F5CA}"/>
              </a:ext>
            </a:extLst>
          </p:cNvPr>
          <p:cNvSpPr/>
          <p:nvPr/>
        </p:nvSpPr>
        <p:spPr>
          <a:xfrm>
            <a:off x="496102" y="2047831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C433E8C4-7921-F1C9-CAA6-53FD7380AABD}"/>
              </a:ext>
            </a:extLst>
          </p:cNvPr>
          <p:cNvSpPr/>
          <p:nvPr/>
        </p:nvSpPr>
        <p:spPr>
          <a:xfrm>
            <a:off x="496101" y="1577505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46" name="사각형: 둥근 모서리 114">
            <a:extLst>
              <a:ext uri="{FF2B5EF4-FFF2-40B4-BE49-F238E27FC236}">
                <a16:creationId xmlns:a16="http://schemas.microsoft.com/office/drawing/2014/main" id="{EDEDD285-C4D7-443A-40E3-260CA315DA00}"/>
              </a:ext>
            </a:extLst>
          </p:cNvPr>
          <p:cNvSpPr/>
          <p:nvPr/>
        </p:nvSpPr>
        <p:spPr>
          <a:xfrm>
            <a:off x="1918155" y="1136199"/>
            <a:ext cx="2301467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NVIDIA_VISIBLE_DEVICES Env  </a:t>
            </a:r>
            <a:endParaRPr lang="en-US" altLang="ko-KR" sz="9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3574EFC5-8423-AE50-7A10-9AF089074BC4}"/>
              </a:ext>
            </a:extLst>
          </p:cNvPr>
          <p:cNvSpPr/>
          <p:nvPr/>
        </p:nvSpPr>
        <p:spPr>
          <a:xfrm>
            <a:off x="496101" y="1131834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4C03E175-CCA6-4578-C8FC-3954247E0067}"/>
              </a:ext>
            </a:extLst>
          </p:cNvPr>
          <p:cNvSpPr/>
          <p:nvPr/>
        </p:nvSpPr>
        <p:spPr>
          <a:xfrm>
            <a:off x="4451870" y="858168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사각형: 둥근 모서리 114">
            <a:extLst>
              <a:ext uri="{FF2B5EF4-FFF2-40B4-BE49-F238E27FC236}">
                <a16:creationId xmlns:a16="http://schemas.microsoft.com/office/drawing/2014/main" id="{BF3BFFEE-B259-995E-E072-DEC304C79190}"/>
              </a:ext>
            </a:extLst>
          </p:cNvPr>
          <p:cNvSpPr/>
          <p:nvPr/>
        </p:nvSpPr>
        <p:spPr>
          <a:xfrm>
            <a:off x="4537716" y="2047831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/dev/nvidia1</a:t>
            </a:r>
            <a:endParaRPr lang="en-US" altLang="ko-KR" sz="900" dirty="0"/>
          </a:p>
        </p:txBody>
      </p:sp>
      <p:sp>
        <p:nvSpPr>
          <p:cNvPr id="6" name="사각형: 둥근 모서리 114">
            <a:extLst>
              <a:ext uri="{FF2B5EF4-FFF2-40B4-BE49-F238E27FC236}">
                <a16:creationId xmlns:a16="http://schemas.microsoft.com/office/drawing/2014/main" id="{FF8B47FF-377A-3F59-16D1-70B2BDD56764}"/>
              </a:ext>
            </a:extLst>
          </p:cNvPr>
          <p:cNvSpPr/>
          <p:nvPr/>
        </p:nvSpPr>
        <p:spPr>
          <a:xfrm>
            <a:off x="4537715" y="1577505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" name="사각형: 둥근 모서리 114">
            <a:extLst>
              <a:ext uri="{FF2B5EF4-FFF2-40B4-BE49-F238E27FC236}">
                <a16:creationId xmlns:a16="http://schemas.microsoft.com/office/drawing/2014/main" id="{BAEEEA34-CEA6-5E3F-FA61-7104CC5A489B}"/>
              </a:ext>
            </a:extLst>
          </p:cNvPr>
          <p:cNvSpPr/>
          <p:nvPr/>
        </p:nvSpPr>
        <p:spPr>
          <a:xfrm>
            <a:off x="4537715" y="1131834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9" name="사각형: 둥근 모서리 114">
            <a:extLst>
              <a:ext uri="{FF2B5EF4-FFF2-40B4-BE49-F238E27FC236}">
                <a16:creationId xmlns:a16="http://schemas.microsoft.com/office/drawing/2014/main" id="{E96F7C22-18AA-2485-44FC-4B5024D6E0A2}"/>
              </a:ext>
            </a:extLst>
          </p:cNvPr>
          <p:cNvSpPr/>
          <p:nvPr/>
        </p:nvSpPr>
        <p:spPr>
          <a:xfrm>
            <a:off x="360495" y="2782380"/>
            <a:ext cx="2577504" cy="1177659"/>
          </a:xfrm>
          <a:prstGeom prst="roundRect">
            <a:avLst>
              <a:gd name="adj" fmla="val 464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</a:t>
            </a:r>
            <a:endParaRPr lang="en-US" altLang="ko-KR" sz="1000" b="1" dirty="0"/>
          </a:p>
        </p:txBody>
      </p:sp>
      <p:sp>
        <p:nvSpPr>
          <p:cNvPr id="21" name="사각형: 둥근 모서리 114">
            <a:extLst>
              <a:ext uri="{FF2B5EF4-FFF2-40B4-BE49-F238E27FC236}">
                <a16:creationId xmlns:a16="http://schemas.microsoft.com/office/drawing/2014/main" id="{A0ADAA87-4A6C-FEC2-D19D-9B8C2B7F15F1}"/>
              </a:ext>
            </a:extLst>
          </p:cNvPr>
          <p:cNvSpPr/>
          <p:nvPr/>
        </p:nvSpPr>
        <p:spPr>
          <a:xfrm>
            <a:off x="494408" y="3329336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0</a:t>
            </a:r>
            <a:endParaRPr lang="en-US" altLang="ko-KR" sz="900" dirty="0"/>
          </a:p>
        </p:txBody>
      </p:sp>
      <p:sp>
        <p:nvSpPr>
          <p:cNvPr id="22" name="사각형: 둥근 모서리 114">
            <a:extLst>
              <a:ext uri="{FF2B5EF4-FFF2-40B4-BE49-F238E27FC236}">
                <a16:creationId xmlns:a16="http://schemas.microsoft.com/office/drawing/2014/main" id="{675B6598-01B4-9A2F-C6CC-11B677B4E3B4}"/>
              </a:ext>
            </a:extLst>
          </p:cNvPr>
          <p:cNvSpPr/>
          <p:nvPr/>
        </p:nvSpPr>
        <p:spPr>
          <a:xfrm>
            <a:off x="1710099" y="332933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1</a:t>
            </a:r>
            <a:endParaRPr lang="en-US" altLang="ko-KR" sz="900" dirty="0"/>
          </a:p>
        </p:txBody>
      </p:sp>
      <p:sp>
        <p:nvSpPr>
          <p:cNvPr id="26" name="사각형: 둥근 모서리 114">
            <a:extLst>
              <a:ext uri="{FF2B5EF4-FFF2-40B4-BE49-F238E27FC236}">
                <a16:creationId xmlns:a16="http://schemas.microsoft.com/office/drawing/2014/main" id="{3EE52477-8246-5066-3160-AD5214855811}"/>
              </a:ext>
            </a:extLst>
          </p:cNvPr>
          <p:cNvSpPr/>
          <p:nvPr/>
        </p:nvSpPr>
        <p:spPr>
          <a:xfrm>
            <a:off x="494409" y="2857474"/>
            <a:ext cx="2302741" cy="383228"/>
          </a:xfrm>
          <a:prstGeom prst="roundRect">
            <a:avLst>
              <a:gd name="adj" fmla="val 17067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8FFAF8C-6E67-6955-B79A-13D1F36CB99D}"/>
              </a:ext>
            </a:extLst>
          </p:cNvPr>
          <p:cNvSpPr txBox="1"/>
          <p:nvPr/>
        </p:nvSpPr>
        <p:spPr>
          <a:xfrm>
            <a:off x="1187961" y="2808890"/>
            <a:ext cx="915635" cy="23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i="1"/>
              <a:t>Bind Mount</a:t>
            </a:r>
            <a:endParaRPr kumimoji="1" lang="ko-KR" altLang="en-US" sz="1000" b="1" i="1"/>
          </a:p>
        </p:txBody>
      </p:sp>
      <p:cxnSp>
        <p:nvCxnSpPr>
          <p:cNvPr id="59" name="직선 연결선 17">
            <a:extLst>
              <a:ext uri="{FF2B5EF4-FFF2-40B4-BE49-F238E27FC236}">
                <a16:creationId xmlns:a16="http://schemas.microsoft.com/office/drawing/2014/main" id="{FC331326-BD5D-686E-0247-C7AE3148F464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 flipH="1">
            <a:off x="1645780" y="1960733"/>
            <a:ext cx="3441291" cy="896741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17">
            <a:extLst>
              <a:ext uri="{FF2B5EF4-FFF2-40B4-BE49-F238E27FC236}">
                <a16:creationId xmlns:a16="http://schemas.microsoft.com/office/drawing/2014/main" id="{4FEFAF23-9142-9C60-5216-75255D623FCE}"/>
              </a:ext>
            </a:extLst>
          </p:cNvPr>
          <p:cNvCxnSpPr>
            <a:cxnSpLocks/>
            <a:stCxn id="53" idx="2"/>
            <a:endCxn id="26" idx="0"/>
          </p:cNvCxnSpPr>
          <p:nvPr/>
        </p:nvCxnSpPr>
        <p:spPr>
          <a:xfrm flipH="1">
            <a:off x="1645780" y="1970578"/>
            <a:ext cx="1423109" cy="886896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17">
            <a:extLst>
              <a:ext uri="{FF2B5EF4-FFF2-40B4-BE49-F238E27FC236}">
                <a16:creationId xmlns:a16="http://schemas.microsoft.com/office/drawing/2014/main" id="{96A15ADD-5548-93F8-BB2F-DD1E2254CEEE}"/>
              </a:ext>
            </a:extLst>
          </p:cNvPr>
          <p:cNvCxnSpPr>
            <a:cxnSpLocks/>
            <a:stCxn id="75" idx="2"/>
            <a:endCxn id="26" idx="0"/>
          </p:cNvCxnSpPr>
          <p:nvPr/>
        </p:nvCxnSpPr>
        <p:spPr>
          <a:xfrm>
            <a:off x="1045457" y="1960733"/>
            <a:ext cx="600323" cy="896741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A14D667A-C005-49AD-E607-A1E98C2253E3}"/>
              </a:ext>
            </a:extLst>
          </p:cNvPr>
          <p:cNvSpPr txBox="1"/>
          <p:nvPr/>
        </p:nvSpPr>
        <p:spPr>
          <a:xfrm>
            <a:off x="5983495" y="1765146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podb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r>
              <a:rPr lang="en-US" sz="800" kern="0" dirty="0">
                <a:cs typeface="Al Bayan Plain" pitchFamily="2" charset="-78"/>
              </a:rPr>
              <a:t>     - name: </a:t>
            </a:r>
            <a:r>
              <a:rPr lang="en-US" altLang="ko-KR" sz="800" kern="0" dirty="0">
                <a:cs typeface="Al Bayan Plain" pitchFamily="2" charset="-78"/>
              </a:rPr>
              <a:t>containerb</a:t>
            </a:r>
            <a:endParaRPr lang="en-US" sz="800" kern="0" dirty="0">
              <a:cs typeface="Al Bayan Plain" pitchFamily="2" charset="-78"/>
            </a:endParaRP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  <p:cxnSp>
        <p:nvCxnSpPr>
          <p:cNvPr id="17" name="직선 연결선 17">
            <a:extLst>
              <a:ext uri="{FF2B5EF4-FFF2-40B4-BE49-F238E27FC236}">
                <a16:creationId xmlns:a16="http://schemas.microsoft.com/office/drawing/2014/main" id="{04B258D7-658D-1668-DBE2-DD597C61EB88}"/>
              </a:ext>
            </a:extLst>
          </p:cNvPr>
          <p:cNvCxnSpPr>
            <a:cxnSpLocks/>
            <a:stCxn id="74" idx="2"/>
            <a:endCxn id="21" idx="0"/>
          </p:cNvCxnSpPr>
          <p:nvPr/>
        </p:nvCxnSpPr>
        <p:spPr>
          <a:xfrm flipH="1">
            <a:off x="1044610" y="2431059"/>
            <a:ext cx="848" cy="89827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17">
            <a:extLst>
              <a:ext uri="{FF2B5EF4-FFF2-40B4-BE49-F238E27FC236}">
                <a16:creationId xmlns:a16="http://schemas.microsoft.com/office/drawing/2014/main" id="{3DA9E6DB-4604-3F2E-C61E-70E974B08BDB}"/>
              </a:ext>
            </a:extLst>
          </p:cNvPr>
          <p:cNvCxnSpPr>
            <a:cxnSpLocks/>
            <a:stCxn id="48" idx="2"/>
            <a:endCxn id="21" idx="0"/>
          </p:cNvCxnSpPr>
          <p:nvPr/>
        </p:nvCxnSpPr>
        <p:spPr>
          <a:xfrm flipH="1">
            <a:off x="1044610" y="2440903"/>
            <a:ext cx="1423545" cy="88843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17">
            <a:extLst>
              <a:ext uri="{FF2B5EF4-FFF2-40B4-BE49-F238E27FC236}">
                <a16:creationId xmlns:a16="http://schemas.microsoft.com/office/drawing/2014/main" id="{53F9C523-359F-EB2D-6FB7-5FDA439B8716}"/>
              </a:ext>
            </a:extLst>
          </p:cNvPr>
          <p:cNvCxnSpPr>
            <a:cxnSpLocks/>
            <a:stCxn id="49" idx="2"/>
            <a:endCxn id="22" idx="0"/>
          </p:cNvCxnSpPr>
          <p:nvPr/>
        </p:nvCxnSpPr>
        <p:spPr>
          <a:xfrm flipH="1">
            <a:off x="2251173" y="2440903"/>
            <a:ext cx="1418516" cy="88843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17">
            <a:extLst>
              <a:ext uri="{FF2B5EF4-FFF2-40B4-BE49-F238E27FC236}">
                <a16:creationId xmlns:a16="http://schemas.microsoft.com/office/drawing/2014/main" id="{3739A9B2-F850-76CC-F696-53C5303C48ED}"/>
              </a:ext>
            </a:extLst>
          </p:cNvPr>
          <p:cNvCxnSpPr>
            <a:cxnSpLocks/>
            <a:stCxn id="5" idx="2"/>
            <a:endCxn id="22" idx="0"/>
          </p:cNvCxnSpPr>
          <p:nvPr/>
        </p:nvCxnSpPr>
        <p:spPr>
          <a:xfrm flipH="1">
            <a:off x="2251173" y="2431059"/>
            <a:ext cx="2835899" cy="89827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A721FEC-6AC5-A8BC-D5E0-981C96DB3001}"/>
              </a:ext>
            </a:extLst>
          </p:cNvPr>
          <p:cNvSpPr txBox="1"/>
          <p:nvPr/>
        </p:nvSpPr>
        <p:spPr>
          <a:xfrm>
            <a:off x="5983495" y="3332173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podc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r>
              <a:rPr lang="en-US" sz="800" kern="0" dirty="0">
                <a:cs typeface="Al Bayan Plain" pitchFamily="2" charset="-78"/>
              </a:rPr>
              <a:t>     - name: </a:t>
            </a:r>
            <a:r>
              <a:rPr lang="en-US" altLang="ko-KR" sz="800" kern="0" dirty="0">
                <a:cs typeface="Al Bayan Plain" pitchFamily="2" charset="-78"/>
              </a:rPr>
              <a:t>containerc</a:t>
            </a:r>
            <a:endParaRPr lang="en-US" sz="800" kern="0" dirty="0">
              <a:cs typeface="Al Bayan Plain" pitchFamily="2" charset="-78"/>
            </a:endParaRP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BE1C44-3720-9F16-D03B-EE63CA6C65BA}"/>
              </a:ext>
            </a:extLst>
          </p:cNvPr>
          <p:cNvSpPr txBox="1"/>
          <p:nvPr/>
        </p:nvSpPr>
        <p:spPr>
          <a:xfrm>
            <a:off x="5983495" y="195486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</p:spTree>
    <p:extLst>
      <p:ext uri="{BB962C8B-B14F-4D97-AF65-F5344CB8AC3E}">
        <p14:creationId xmlns:p14="http://schemas.microsoft.com/office/powerpoint/2010/main" val="3507458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AA842-CE9A-E232-0E57-6584AEEB8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14">
            <a:extLst>
              <a:ext uri="{FF2B5EF4-FFF2-40B4-BE49-F238E27FC236}">
                <a16:creationId xmlns:a16="http://schemas.microsoft.com/office/drawing/2014/main" id="{D441EE16-E02D-E341-D59B-3751A162735B}"/>
              </a:ext>
            </a:extLst>
          </p:cNvPr>
          <p:cNvSpPr/>
          <p:nvPr/>
        </p:nvSpPr>
        <p:spPr>
          <a:xfrm>
            <a:off x="2195736" y="915566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0</a:t>
            </a:r>
            <a:endParaRPr lang="en-US" altLang="ko-KR" sz="900" dirty="0"/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B50F68E8-9AF4-E585-6E18-2A3E08D6ACC6}"/>
              </a:ext>
            </a:extLst>
          </p:cNvPr>
          <p:cNvSpPr/>
          <p:nvPr/>
        </p:nvSpPr>
        <p:spPr>
          <a:xfrm>
            <a:off x="3411427" y="9155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1</a:t>
            </a:r>
            <a:endParaRPr lang="en-US" altLang="ko-KR" sz="900" dirty="0"/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DB69F9D1-2C2F-1B1F-2B2A-1FBE85D4EF9D}"/>
              </a:ext>
            </a:extLst>
          </p:cNvPr>
          <p:cNvSpPr/>
          <p:nvPr/>
        </p:nvSpPr>
        <p:spPr>
          <a:xfrm>
            <a:off x="4608863" y="9155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2</a:t>
            </a:r>
            <a:endParaRPr lang="en-US" altLang="ko-KR" sz="900" dirty="0"/>
          </a:p>
        </p:txBody>
      </p:sp>
      <p:sp>
        <p:nvSpPr>
          <p:cNvPr id="5" name="사각형: 둥근 모서리 114">
            <a:extLst>
              <a:ext uri="{FF2B5EF4-FFF2-40B4-BE49-F238E27FC236}">
                <a16:creationId xmlns:a16="http://schemas.microsoft.com/office/drawing/2014/main" id="{39BA1B6D-8B37-709D-BA7B-5E77651D750E}"/>
              </a:ext>
            </a:extLst>
          </p:cNvPr>
          <p:cNvSpPr/>
          <p:nvPr/>
        </p:nvSpPr>
        <p:spPr>
          <a:xfrm>
            <a:off x="5806299" y="9155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3</a:t>
            </a:r>
            <a:endParaRPr lang="en-US" altLang="ko-KR" sz="900" dirty="0"/>
          </a:p>
        </p:txBody>
      </p:sp>
      <p:sp>
        <p:nvSpPr>
          <p:cNvPr id="10" name="사각형: 둥근 모서리 114">
            <a:extLst>
              <a:ext uri="{FF2B5EF4-FFF2-40B4-BE49-F238E27FC236}">
                <a16:creationId xmlns:a16="http://schemas.microsoft.com/office/drawing/2014/main" id="{132CCA9E-A255-E89C-BBFF-53693169C7F5}"/>
              </a:ext>
            </a:extLst>
          </p:cNvPr>
          <p:cNvSpPr/>
          <p:nvPr/>
        </p:nvSpPr>
        <p:spPr>
          <a:xfrm>
            <a:off x="2195736" y="339502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Container A</a:t>
            </a:r>
            <a:endParaRPr lang="en-US" altLang="ko-KR" sz="900" dirty="0"/>
          </a:p>
        </p:txBody>
      </p:sp>
      <p:sp>
        <p:nvSpPr>
          <p:cNvPr id="11" name="사각형: 둥근 모서리 114">
            <a:extLst>
              <a:ext uri="{FF2B5EF4-FFF2-40B4-BE49-F238E27FC236}">
                <a16:creationId xmlns:a16="http://schemas.microsoft.com/office/drawing/2014/main" id="{396BBF3F-B17A-0939-5745-CFFD1A93C42D}"/>
              </a:ext>
            </a:extLst>
          </p:cNvPr>
          <p:cNvSpPr/>
          <p:nvPr/>
        </p:nvSpPr>
        <p:spPr>
          <a:xfrm>
            <a:off x="3411427" y="339502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A</a:t>
            </a:r>
          </a:p>
        </p:txBody>
      </p:sp>
      <p:sp>
        <p:nvSpPr>
          <p:cNvPr id="12" name="사각형: 둥근 모서리 114">
            <a:extLst>
              <a:ext uri="{FF2B5EF4-FFF2-40B4-BE49-F238E27FC236}">
                <a16:creationId xmlns:a16="http://schemas.microsoft.com/office/drawing/2014/main" id="{6A15E7FB-D424-3C10-3A0E-10826727B70C}"/>
              </a:ext>
            </a:extLst>
          </p:cNvPr>
          <p:cNvSpPr/>
          <p:nvPr/>
        </p:nvSpPr>
        <p:spPr>
          <a:xfrm>
            <a:off x="4608863" y="339502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A</a:t>
            </a:r>
          </a:p>
        </p:txBody>
      </p:sp>
      <p:sp>
        <p:nvSpPr>
          <p:cNvPr id="19" name="사각형: 둥근 모서리 114">
            <a:extLst>
              <a:ext uri="{FF2B5EF4-FFF2-40B4-BE49-F238E27FC236}">
                <a16:creationId xmlns:a16="http://schemas.microsoft.com/office/drawing/2014/main" id="{71DC9396-BB32-C368-FEB8-2BFED662A7EC}"/>
              </a:ext>
            </a:extLst>
          </p:cNvPr>
          <p:cNvSpPr/>
          <p:nvPr/>
        </p:nvSpPr>
        <p:spPr>
          <a:xfrm>
            <a:off x="2195736" y="2715766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0</a:t>
            </a:r>
            <a:endParaRPr lang="en-US" altLang="ko-KR" sz="900" dirty="0"/>
          </a:p>
        </p:txBody>
      </p:sp>
      <p:sp>
        <p:nvSpPr>
          <p:cNvPr id="20" name="사각형: 둥근 모서리 114">
            <a:extLst>
              <a:ext uri="{FF2B5EF4-FFF2-40B4-BE49-F238E27FC236}">
                <a16:creationId xmlns:a16="http://schemas.microsoft.com/office/drawing/2014/main" id="{7194DAE6-0140-5DC2-70E1-10A9DD81CE32}"/>
              </a:ext>
            </a:extLst>
          </p:cNvPr>
          <p:cNvSpPr/>
          <p:nvPr/>
        </p:nvSpPr>
        <p:spPr>
          <a:xfrm>
            <a:off x="3411427" y="27157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1</a:t>
            </a:r>
            <a:endParaRPr lang="en-US" altLang="ko-KR" sz="900" dirty="0"/>
          </a:p>
        </p:txBody>
      </p:sp>
      <p:sp>
        <p:nvSpPr>
          <p:cNvPr id="21" name="사각형: 둥근 모서리 114">
            <a:extLst>
              <a:ext uri="{FF2B5EF4-FFF2-40B4-BE49-F238E27FC236}">
                <a16:creationId xmlns:a16="http://schemas.microsoft.com/office/drawing/2014/main" id="{A36BC44E-DB10-4A05-4B41-B2CA371F6FA4}"/>
              </a:ext>
            </a:extLst>
          </p:cNvPr>
          <p:cNvSpPr/>
          <p:nvPr/>
        </p:nvSpPr>
        <p:spPr>
          <a:xfrm>
            <a:off x="4608863" y="27157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2</a:t>
            </a:r>
            <a:endParaRPr lang="en-US" altLang="ko-KR" sz="900" dirty="0"/>
          </a:p>
        </p:txBody>
      </p:sp>
      <p:sp>
        <p:nvSpPr>
          <p:cNvPr id="22" name="사각형: 둥근 모서리 114">
            <a:extLst>
              <a:ext uri="{FF2B5EF4-FFF2-40B4-BE49-F238E27FC236}">
                <a16:creationId xmlns:a16="http://schemas.microsoft.com/office/drawing/2014/main" id="{72551D58-2B59-07A8-517C-5AE58395D3D9}"/>
              </a:ext>
            </a:extLst>
          </p:cNvPr>
          <p:cNvSpPr/>
          <p:nvPr/>
        </p:nvSpPr>
        <p:spPr>
          <a:xfrm>
            <a:off x="5806299" y="27157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3</a:t>
            </a:r>
            <a:endParaRPr lang="en-US" altLang="ko-KR" sz="900" dirty="0"/>
          </a:p>
        </p:txBody>
      </p:sp>
      <p:sp>
        <p:nvSpPr>
          <p:cNvPr id="23" name="사각형: 둥근 모서리 114">
            <a:extLst>
              <a:ext uri="{FF2B5EF4-FFF2-40B4-BE49-F238E27FC236}">
                <a16:creationId xmlns:a16="http://schemas.microsoft.com/office/drawing/2014/main" id="{88F3AE78-B231-8039-2E6D-E3ED9B174B0B}"/>
              </a:ext>
            </a:extLst>
          </p:cNvPr>
          <p:cNvSpPr/>
          <p:nvPr/>
        </p:nvSpPr>
        <p:spPr>
          <a:xfrm>
            <a:off x="2195736" y="2139702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Container A</a:t>
            </a:r>
            <a:endParaRPr lang="en-US" altLang="ko-KR" sz="900" dirty="0"/>
          </a:p>
        </p:txBody>
      </p:sp>
      <p:sp>
        <p:nvSpPr>
          <p:cNvPr id="24" name="사각형: 둥근 모서리 114">
            <a:extLst>
              <a:ext uri="{FF2B5EF4-FFF2-40B4-BE49-F238E27FC236}">
                <a16:creationId xmlns:a16="http://schemas.microsoft.com/office/drawing/2014/main" id="{14F05339-026B-DD6B-5594-1BB1CC879334}"/>
              </a:ext>
            </a:extLst>
          </p:cNvPr>
          <p:cNvSpPr/>
          <p:nvPr/>
        </p:nvSpPr>
        <p:spPr>
          <a:xfrm>
            <a:off x="3411427" y="2139702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A</a:t>
            </a:r>
          </a:p>
        </p:txBody>
      </p:sp>
      <p:sp>
        <p:nvSpPr>
          <p:cNvPr id="25" name="사각형: 둥근 모서리 114">
            <a:extLst>
              <a:ext uri="{FF2B5EF4-FFF2-40B4-BE49-F238E27FC236}">
                <a16:creationId xmlns:a16="http://schemas.microsoft.com/office/drawing/2014/main" id="{BD94E180-1C0A-CE83-CFD1-4D1FAF67512C}"/>
              </a:ext>
            </a:extLst>
          </p:cNvPr>
          <p:cNvSpPr/>
          <p:nvPr/>
        </p:nvSpPr>
        <p:spPr>
          <a:xfrm>
            <a:off x="4608863" y="2139702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A</a:t>
            </a:r>
          </a:p>
        </p:txBody>
      </p:sp>
      <p:sp>
        <p:nvSpPr>
          <p:cNvPr id="26" name="사각형: 둥근 모서리 114">
            <a:extLst>
              <a:ext uri="{FF2B5EF4-FFF2-40B4-BE49-F238E27FC236}">
                <a16:creationId xmlns:a16="http://schemas.microsoft.com/office/drawing/2014/main" id="{3E38626B-25D1-59C6-52CD-506D414B18B9}"/>
              </a:ext>
            </a:extLst>
          </p:cNvPr>
          <p:cNvSpPr/>
          <p:nvPr/>
        </p:nvSpPr>
        <p:spPr>
          <a:xfrm>
            <a:off x="5806299" y="2139702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B</a:t>
            </a:r>
          </a:p>
        </p:txBody>
      </p:sp>
      <p:sp>
        <p:nvSpPr>
          <p:cNvPr id="27" name="사각형: 둥근 모서리 114">
            <a:extLst>
              <a:ext uri="{FF2B5EF4-FFF2-40B4-BE49-F238E27FC236}">
                <a16:creationId xmlns:a16="http://schemas.microsoft.com/office/drawing/2014/main" id="{7D03FA8F-9C02-28E0-F234-DC95DE4F39B6}"/>
              </a:ext>
            </a:extLst>
          </p:cNvPr>
          <p:cNvSpPr/>
          <p:nvPr/>
        </p:nvSpPr>
        <p:spPr>
          <a:xfrm>
            <a:off x="2195736" y="1635646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Container B</a:t>
            </a:r>
            <a:endParaRPr lang="en-US" altLang="ko-KR" sz="900" dirty="0"/>
          </a:p>
        </p:txBody>
      </p:sp>
      <p:sp>
        <p:nvSpPr>
          <p:cNvPr id="30" name="사각형: 둥근 모서리 114">
            <a:extLst>
              <a:ext uri="{FF2B5EF4-FFF2-40B4-BE49-F238E27FC236}">
                <a16:creationId xmlns:a16="http://schemas.microsoft.com/office/drawing/2014/main" id="{C24FBDC4-9AB0-CAEC-DBD2-0FCC662540CE}"/>
              </a:ext>
            </a:extLst>
          </p:cNvPr>
          <p:cNvSpPr/>
          <p:nvPr/>
        </p:nvSpPr>
        <p:spPr>
          <a:xfrm>
            <a:off x="5806299" y="163564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B</a:t>
            </a:r>
          </a:p>
        </p:txBody>
      </p:sp>
      <p:sp>
        <p:nvSpPr>
          <p:cNvPr id="31" name="사각형: 둥근 모서리 114">
            <a:extLst>
              <a:ext uri="{FF2B5EF4-FFF2-40B4-BE49-F238E27FC236}">
                <a16:creationId xmlns:a16="http://schemas.microsoft.com/office/drawing/2014/main" id="{5D3928B9-96D2-53F6-8377-C9A692D0CE46}"/>
              </a:ext>
            </a:extLst>
          </p:cNvPr>
          <p:cNvSpPr/>
          <p:nvPr/>
        </p:nvSpPr>
        <p:spPr>
          <a:xfrm>
            <a:off x="2195736" y="4515966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0</a:t>
            </a:r>
            <a:endParaRPr lang="en-US" altLang="ko-KR" sz="900" dirty="0"/>
          </a:p>
        </p:txBody>
      </p:sp>
      <p:sp>
        <p:nvSpPr>
          <p:cNvPr id="32" name="사각형: 둥근 모서리 114">
            <a:extLst>
              <a:ext uri="{FF2B5EF4-FFF2-40B4-BE49-F238E27FC236}">
                <a16:creationId xmlns:a16="http://schemas.microsoft.com/office/drawing/2014/main" id="{0051B698-9AB0-FD30-08C2-3DEA8B43BB48}"/>
              </a:ext>
            </a:extLst>
          </p:cNvPr>
          <p:cNvSpPr/>
          <p:nvPr/>
        </p:nvSpPr>
        <p:spPr>
          <a:xfrm>
            <a:off x="3411427" y="45159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1</a:t>
            </a:r>
            <a:endParaRPr lang="en-US" altLang="ko-KR" sz="900" dirty="0"/>
          </a:p>
        </p:txBody>
      </p:sp>
      <p:sp>
        <p:nvSpPr>
          <p:cNvPr id="33" name="사각형: 둥근 모서리 114">
            <a:extLst>
              <a:ext uri="{FF2B5EF4-FFF2-40B4-BE49-F238E27FC236}">
                <a16:creationId xmlns:a16="http://schemas.microsoft.com/office/drawing/2014/main" id="{53256A68-C51F-0BFC-204E-A077D6636BBD}"/>
              </a:ext>
            </a:extLst>
          </p:cNvPr>
          <p:cNvSpPr/>
          <p:nvPr/>
        </p:nvSpPr>
        <p:spPr>
          <a:xfrm>
            <a:off x="4608863" y="45159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2</a:t>
            </a:r>
            <a:endParaRPr lang="en-US" altLang="ko-KR" sz="900" dirty="0"/>
          </a:p>
        </p:txBody>
      </p:sp>
      <p:sp>
        <p:nvSpPr>
          <p:cNvPr id="34" name="사각형: 둥근 모서리 114">
            <a:extLst>
              <a:ext uri="{FF2B5EF4-FFF2-40B4-BE49-F238E27FC236}">
                <a16:creationId xmlns:a16="http://schemas.microsoft.com/office/drawing/2014/main" id="{01450A29-4D0F-7AE7-856C-7C824BD6B765}"/>
              </a:ext>
            </a:extLst>
          </p:cNvPr>
          <p:cNvSpPr/>
          <p:nvPr/>
        </p:nvSpPr>
        <p:spPr>
          <a:xfrm>
            <a:off x="5806299" y="451596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3</a:t>
            </a:r>
            <a:endParaRPr lang="en-US" altLang="ko-KR" sz="900" dirty="0"/>
          </a:p>
        </p:txBody>
      </p:sp>
      <p:sp>
        <p:nvSpPr>
          <p:cNvPr id="35" name="사각형: 둥근 모서리 114">
            <a:extLst>
              <a:ext uri="{FF2B5EF4-FFF2-40B4-BE49-F238E27FC236}">
                <a16:creationId xmlns:a16="http://schemas.microsoft.com/office/drawing/2014/main" id="{33388685-F920-5B1C-704C-8E9C1EF590B2}"/>
              </a:ext>
            </a:extLst>
          </p:cNvPr>
          <p:cNvSpPr/>
          <p:nvPr/>
        </p:nvSpPr>
        <p:spPr>
          <a:xfrm>
            <a:off x="2195736" y="3939902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Container A</a:t>
            </a:r>
            <a:endParaRPr lang="en-US" altLang="ko-KR" sz="900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9501389E-56E7-BE7D-8C3B-D0F829A3C729}"/>
              </a:ext>
            </a:extLst>
          </p:cNvPr>
          <p:cNvSpPr/>
          <p:nvPr/>
        </p:nvSpPr>
        <p:spPr>
          <a:xfrm>
            <a:off x="3411427" y="3939902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A</a:t>
            </a:r>
          </a:p>
        </p:txBody>
      </p:sp>
      <p:sp>
        <p:nvSpPr>
          <p:cNvPr id="37" name="사각형: 둥근 모서리 114">
            <a:extLst>
              <a:ext uri="{FF2B5EF4-FFF2-40B4-BE49-F238E27FC236}">
                <a16:creationId xmlns:a16="http://schemas.microsoft.com/office/drawing/2014/main" id="{9CD2D0C2-4A78-69B6-38D7-564C24E5D642}"/>
              </a:ext>
            </a:extLst>
          </p:cNvPr>
          <p:cNvSpPr/>
          <p:nvPr/>
        </p:nvSpPr>
        <p:spPr>
          <a:xfrm>
            <a:off x="4608863" y="3939902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A</a:t>
            </a:r>
          </a:p>
        </p:txBody>
      </p:sp>
      <p:sp>
        <p:nvSpPr>
          <p:cNvPr id="38" name="사각형: 둥근 모서리 114">
            <a:extLst>
              <a:ext uri="{FF2B5EF4-FFF2-40B4-BE49-F238E27FC236}">
                <a16:creationId xmlns:a16="http://schemas.microsoft.com/office/drawing/2014/main" id="{C3CC2ED7-CAA4-055A-7FEF-6FEDFC53907F}"/>
              </a:ext>
            </a:extLst>
          </p:cNvPr>
          <p:cNvSpPr/>
          <p:nvPr/>
        </p:nvSpPr>
        <p:spPr>
          <a:xfrm>
            <a:off x="5806299" y="3939902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B</a:t>
            </a:r>
          </a:p>
        </p:txBody>
      </p:sp>
      <p:sp>
        <p:nvSpPr>
          <p:cNvPr id="39" name="사각형: 둥근 모서리 114">
            <a:extLst>
              <a:ext uri="{FF2B5EF4-FFF2-40B4-BE49-F238E27FC236}">
                <a16:creationId xmlns:a16="http://schemas.microsoft.com/office/drawing/2014/main" id="{88C06B36-106F-7EC9-E550-B1886EEBC58A}"/>
              </a:ext>
            </a:extLst>
          </p:cNvPr>
          <p:cNvSpPr/>
          <p:nvPr/>
        </p:nvSpPr>
        <p:spPr>
          <a:xfrm>
            <a:off x="2195736" y="3435846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Container B</a:t>
            </a:r>
            <a:endParaRPr lang="en-US" altLang="ko-KR" sz="900" dirty="0"/>
          </a:p>
        </p:txBody>
      </p:sp>
      <p:sp>
        <p:nvSpPr>
          <p:cNvPr id="40" name="사각형: 둥근 모서리 114">
            <a:extLst>
              <a:ext uri="{FF2B5EF4-FFF2-40B4-BE49-F238E27FC236}">
                <a16:creationId xmlns:a16="http://schemas.microsoft.com/office/drawing/2014/main" id="{4D62A999-053C-0888-820A-6FC123B5EF57}"/>
              </a:ext>
            </a:extLst>
          </p:cNvPr>
          <p:cNvSpPr/>
          <p:nvPr/>
        </p:nvSpPr>
        <p:spPr>
          <a:xfrm>
            <a:off x="3411427" y="343584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C</a:t>
            </a:r>
          </a:p>
        </p:txBody>
      </p:sp>
      <p:sp>
        <p:nvSpPr>
          <p:cNvPr id="41" name="사각형: 둥근 모서리 114">
            <a:extLst>
              <a:ext uri="{FF2B5EF4-FFF2-40B4-BE49-F238E27FC236}">
                <a16:creationId xmlns:a16="http://schemas.microsoft.com/office/drawing/2014/main" id="{608E827B-9EFA-E546-B5F0-29AF0B57E749}"/>
              </a:ext>
            </a:extLst>
          </p:cNvPr>
          <p:cNvSpPr/>
          <p:nvPr/>
        </p:nvSpPr>
        <p:spPr>
          <a:xfrm>
            <a:off x="4608863" y="343584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C</a:t>
            </a:r>
          </a:p>
        </p:txBody>
      </p:sp>
      <p:sp>
        <p:nvSpPr>
          <p:cNvPr id="42" name="사각형: 둥근 모서리 114">
            <a:extLst>
              <a:ext uri="{FF2B5EF4-FFF2-40B4-BE49-F238E27FC236}">
                <a16:creationId xmlns:a16="http://schemas.microsoft.com/office/drawing/2014/main" id="{9039072B-A829-38D5-23C2-5E8F61F825D2}"/>
              </a:ext>
            </a:extLst>
          </p:cNvPr>
          <p:cNvSpPr/>
          <p:nvPr/>
        </p:nvSpPr>
        <p:spPr>
          <a:xfrm>
            <a:off x="5806299" y="343584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Container B</a:t>
            </a:r>
          </a:p>
        </p:txBody>
      </p:sp>
      <p:cxnSp>
        <p:nvCxnSpPr>
          <p:cNvPr id="48" name="직선 연결선[R] 47">
            <a:extLst>
              <a:ext uri="{FF2B5EF4-FFF2-40B4-BE49-F238E27FC236}">
                <a16:creationId xmlns:a16="http://schemas.microsoft.com/office/drawing/2014/main" id="{3C890D7B-52F8-2897-44BB-9877B0E262E8}"/>
              </a:ext>
            </a:extLst>
          </p:cNvPr>
          <p:cNvCxnSpPr>
            <a:cxnSpLocks/>
          </p:cNvCxnSpPr>
          <p:nvPr/>
        </p:nvCxnSpPr>
        <p:spPr>
          <a:xfrm>
            <a:off x="1811887" y="1467749"/>
            <a:ext cx="5507753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83E36088-622C-4B68-1457-51C482A466A0}"/>
              </a:ext>
            </a:extLst>
          </p:cNvPr>
          <p:cNvCxnSpPr>
            <a:cxnSpLocks/>
          </p:cNvCxnSpPr>
          <p:nvPr/>
        </p:nvCxnSpPr>
        <p:spPr>
          <a:xfrm>
            <a:off x="1811887" y="3258048"/>
            <a:ext cx="5507753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아래쪽 화살표[D] 55">
            <a:extLst>
              <a:ext uri="{FF2B5EF4-FFF2-40B4-BE49-F238E27FC236}">
                <a16:creationId xmlns:a16="http://schemas.microsoft.com/office/drawing/2014/main" id="{F4E799CC-4F5A-8C91-6DAA-2989B77BE1E6}"/>
              </a:ext>
            </a:extLst>
          </p:cNvPr>
          <p:cNvSpPr/>
          <p:nvPr/>
        </p:nvSpPr>
        <p:spPr>
          <a:xfrm>
            <a:off x="4447637" y="1394682"/>
            <a:ext cx="214306" cy="182234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아래쪽 화살표[D] 56">
            <a:extLst>
              <a:ext uri="{FF2B5EF4-FFF2-40B4-BE49-F238E27FC236}">
                <a16:creationId xmlns:a16="http://schemas.microsoft.com/office/drawing/2014/main" id="{1060E29E-675B-9949-8503-D16AA383D05D}"/>
              </a:ext>
            </a:extLst>
          </p:cNvPr>
          <p:cNvSpPr/>
          <p:nvPr/>
        </p:nvSpPr>
        <p:spPr>
          <a:xfrm>
            <a:off x="4447637" y="3185674"/>
            <a:ext cx="214306" cy="182234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8896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0A3F9-C4C4-1EE1-036D-8B446AE0E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14">
            <a:extLst>
              <a:ext uri="{FF2B5EF4-FFF2-40B4-BE49-F238E27FC236}">
                <a16:creationId xmlns:a16="http://schemas.microsoft.com/office/drawing/2014/main" id="{CBD0A3AC-60E3-282C-E585-5A722674C3FB}"/>
              </a:ext>
            </a:extLst>
          </p:cNvPr>
          <p:cNvSpPr/>
          <p:nvPr/>
        </p:nvSpPr>
        <p:spPr>
          <a:xfrm>
            <a:off x="79917" y="2533894"/>
            <a:ext cx="3734722" cy="1176719"/>
          </a:xfrm>
          <a:prstGeom prst="roundRect">
            <a:avLst>
              <a:gd name="adj" fmla="val 464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</a:t>
            </a:r>
            <a:endParaRPr lang="en-US" altLang="ko-KR" sz="1000" b="1" dirty="0"/>
          </a:p>
        </p:txBody>
      </p:sp>
      <p:sp>
        <p:nvSpPr>
          <p:cNvPr id="20" name="사각형: 둥근 모서리 114">
            <a:extLst>
              <a:ext uri="{FF2B5EF4-FFF2-40B4-BE49-F238E27FC236}">
                <a16:creationId xmlns:a16="http://schemas.microsoft.com/office/drawing/2014/main" id="{14584CE6-554F-1B13-FB80-DC6980E150FA}"/>
              </a:ext>
            </a:extLst>
          </p:cNvPr>
          <p:cNvSpPr/>
          <p:nvPr/>
        </p:nvSpPr>
        <p:spPr>
          <a:xfrm>
            <a:off x="213830" y="3080850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0</a:t>
            </a:r>
            <a:endParaRPr lang="en-US" altLang="ko-KR" sz="900" dirty="0"/>
          </a:p>
        </p:txBody>
      </p:sp>
      <p:sp>
        <p:nvSpPr>
          <p:cNvPr id="23" name="사각형: 둥근 모서리 114">
            <a:extLst>
              <a:ext uri="{FF2B5EF4-FFF2-40B4-BE49-F238E27FC236}">
                <a16:creationId xmlns:a16="http://schemas.microsoft.com/office/drawing/2014/main" id="{C85FA3CD-4319-EB72-1289-BF03C2A23724}"/>
              </a:ext>
            </a:extLst>
          </p:cNvPr>
          <p:cNvSpPr/>
          <p:nvPr/>
        </p:nvSpPr>
        <p:spPr>
          <a:xfrm>
            <a:off x="1429521" y="3080850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1</a:t>
            </a:r>
            <a:endParaRPr lang="en-US" altLang="ko-KR" sz="900" dirty="0"/>
          </a:p>
        </p:txBody>
      </p:sp>
      <p:sp>
        <p:nvSpPr>
          <p:cNvPr id="28" name="사각형: 둥근 모서리 114">
            <a:extLst>
              <a:ext uri="{FF2B5EF4-FFF2-40B4-BE49-F238E27FC236}">
                <a16:creationId xmlns:a16="http://schemas.microsoft.com/office/drawing/2014/main" id="{E0465E95-B424-0FE2-1783-319DA6826E9E}"/>
              </a:ext>
            </a:extLst>
          </p:cNvPr>
          <p:cNvSpPr/>
          <p:nvPr/>
        </p:nvSpPr>
        <p:spPr>
          <a:xfrm>
            <a:off x="213831" y="2608988"/>
            <a:ext cx="2302741" cy="383228"/>
          </a:xfrm>
          <a:prstGeom prst="roundRect">
            <a:avLst>
              <a:gd name="adj" fmla="val 17067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3EB6B2-4677-88F6-0B00-D4BB53F5D487}"/>
              </a:ext>
            </a:extLst>
          </p:cNvPr>
          <p:cNvSpPr txBox="1"/>
          <p:nvPr/>
        </p:nvSpPr>
        <p:spPr>
          <a:xfrm>
            <a:off x="903503" y="2560404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b="1" i="1"/>
              <a:t>Bind Mount</a:t>
            </a:r>
            <a:endParaRPr kumimoji="1" lang="ko-KR" altLang="en-US" sz="1000" b="1" i="1"/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5D0101DE-4568-65BC-4701-F71DAD8169E2}"/>
              </a:ext>
            </a:extLst>
          </p:cNvPr>
          <p:cNvSpPr/>
          <p:nvPr/>
        </p:nvSpPr>
        <p:spPr>
          <a:xfrm>
            <a:off x="79917" y="332893"/>
            <a:ext cx="2411859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BFF117-F571-362C-CD41-BDC92BE0E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06403877-3819-3524-B186-F13B58F05216}"/>
              </a:ext>
            </a:extLst>
          </p:cNvPr>
          <p:cNvSpPr/>
          <p:nvPr/>
        </p:nvSpPr>
        <p:spPr>
          <a:xfrm>
            <a:off x="129678" y="610622"/>
            <a:ext cx="2308660" cy="166129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D83C1767-96BA-D1B0-599F-EF48FBACC7E4}"/>
              </a:ext>
            </a:extLst>
          </p:cNvPr>
          <p:cNvSpPr/>
          <p:nvPr/>
        </p:nvSpPr>
        <p:spPr>
          <a:xfrm>
            <a:off x="215524" y="1799345"/>
            <a:ext cx="923364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F2675AC4-5496-ABBB-0022-BAD3CAC80ECB}"/>
              </a:ext>
            </a:extLst>
          </p:cNvPr>
          <p:cNvSpPr/>
          <p:nvPr/>
        </p:nvSpPr>
        <p:spPr>
          <a:xfrm>
            <a:off x="215523" y="1329019"/>
            <a:ext cx="2129930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C3C2CB3D-8B4E-9B1D-6334-D5910B6975E6}"/>
              </a:ext>
            </a:extLst>
          </p:cNvPr>
          <p:cNvSpPr/>
          <p:nvPr/>
        </p:nvSpPr>
        <p:spPr>
          <a:xfrm>
            <a:off x="215523" y="882313"/>
            <a:ext cx="2129929" cy="384262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NVIDIA_VISIBLE_DEVICES,</a:t>
            </a:r>
          </a:p>
          <a:p>
            <a:pPr algn="ctr"/>
            <a:r>
              <a:rPr lang="en-US" altLang="ko-KR" sz="900"/>
              <a:t>CUDA_MPS_PIPE_DIRECTORY Env  </a:t>
            </a:r>
            <a:endParaRPr lang="en-US" altLang="ko-KR" sz="900" dirty="0"/>
          </a:p>
        </p:txBody>
      </p:sp>
      <p:sp>
        <p:nvSpPr>
          <p:cNvPr id="14" name="사각형: 둥근 모서리 114">
            <a:extLst>
              <a:ext uri="{FF2B5EF4-FFF2-40B4-BE49-F238E27FC236}">
                <a16:creationId xmlns:a16="http://schemas.microsoft.com/office/drawing/2014/main" id="{C1333DE9-CC03-4AA3-4871-9D69FAD69266}"/>
              </a:ext>
            </a:extLst>
          </p:cNvPr>
          <p:cNvSpPr/>
          <p:nvPr/>
        </p:nvSpPr>
        <p:spPr>
          <a:xfrm>
            <a:off x="4057494" y="2540715"/>
            <a:ext cx="2666781" cy="2212073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MPS Control Daemon Pod (DaemonSet)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사각형: 둥근 모서리 114">
            <a:extLst>
              <a:ext uri="{FF2B5EF4-FFF2-40B4-BE49-F238E27FC236}">
                <a16:creationId xmlns:a16="http://schemas.microsoft.com/office/drawing/2014/main" id="{2B02FDE5-F935-7173-A765-21F7CDD4FFAC}"/>
              </a:ext>
            </a:extLst>
          </p:cNvPr>
          <p:cNvSpPr/>
          <p:nvPr/>
        </p:nvSpPr>
        <p:spPr>
          <a:xfrm>
            <a:off x="4133845" y="2830537"/>
            <a:ext cx="2517544" cy="1849295"/>
          </a:xfrm>
          <a:prstGeom prst="roundRect">
            <a:avLst>
              <a:gd name="adj" fmla="val 350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CTR Container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사각형: 둥근 모서리 114">
            <a:extLst>
              <a:ext uri="{FF2B5EF4-FFF2-40B4-BE49-F238E27FC236}">
                <a16:creationId xmlns:a16="http://schemas.microsoft.com/office/drawing/2014/main" id="{3E3F84A8-855F-96AA-77E4-EE853604BB95}"/>
              </a:ext>
            </a:extLst>
          </p:cNvPr>
          <p:cNvSpPr/>
          <p:nvPr/>
        </p:nvSpPr>
        <p:spPr>
          <a:xfrm>
            <a:off x="1244690" y="1799345"/>
            <a:ext cx="1100762" cy="383228"/>
          </a:xfrm>
          <a:prstGeom prst="roundRect">
            <a:avLst>
              <a:gd name="adj" fmla="val 724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/mps/nvidia.com</a:t>
            </a:r>
            <a:br>
              <a:rPr lang="en-US" altLang="ko-KR" sz="900"/>
            </a:br>
            <a:r>
              <a:rPr lang="en-US" altLang="ko-KR" sz="900"/>
              <a:t>/gpu.shared</a:t>
            </a:r>
            <a:endParaRPr lang="en-US" altLang="ko-KR" sz="900" dirty="0"/>
          </a:p>
        </p:txBody>
      </p:sp>
      <p:sp>
        <p:nvSpPr>
          <p:cNvPr id="67" name="사각형: 둥근 모서리 114">
            <a:extLst>
              <a:ext uri="{FF2B5EF4-FFF2-40B4-BE49-F238E27FC236}">
                <a16:creationId xmlns:a16="http://schemas.microsoft.com/office/drawing/2014/main" id="{34B16ACD-E0FC-4887-5569-04368DC859EE}"/>
              </a:ext>
            </a:extLst>
          </p:cNvPr>
          <p:cNvSpPr/>
          <p:nvPr/>
        </p:nvSpPr>
        <p:spPr>
          <a:xfrm>
            <a:off x="2629265" y="2607043"/>
            <a:ext cx="1077331" cy="383228"/>
          </a:xfrm>
          <a:prstGeom prst="roundRect">
            <a:avLst>
              <a:gd name="adj" fmla="val 12429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/run/nvidia</a:t>
            </a:r>
            <a:br>
              <a:rPr lang="en-US" altLang="ko-KR" sz="900"/>
            </a:br>
            <a:r>
              <a:rPr lang="en-US" altLang="ko-KR" sz="900"/>
              <a:t>/mps</a:t>
            </a:r>
            <a:endParaRPr lang="en-US" altLang="ko-KR" sz="900" dirty="0"/>
          </a:p>
        </p:txBody>
      </p:sp>
      <p:sp>
        <p:nvSpPr>
          <p:cNvPr id="98" name="사각형: 둥근 모서리 114">
            <a:extLst>
              <a:ext uri="{FF2B5EF4-FFF2-40B4-BE49-F238E27FC236}">
                <a16:creationId xmlns:a16="http://schemas.microsoft.com/office/drawing/2014/main" id="{FFB548B0-413F-15C7-DD15-66B6007E16ED}"/>
              </a:ext>
            </a:extLst>
          </p:cNvPr>
          <p:cNvSpPr/>
          <p:nvPr/>
        </p:nvSpPr>
        <p:spPr>
          <a:xfrm>
            <a:off x="4368671" y="4221573"/>
            <a:ext cx="2025175" cy="383228"/>
          </a:xfrm>
          <a:prstGeom prst="roundRect">
            <a:avLst>
              <a:gd name="adj" fmla="val 12429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/mps/nvidia.com/gpu.shared</a:t>
            </a:r>
            <a:endParaRPr lang="en-US" altLang="ko-KR" sz="900" dirty="0"/>
          </a:p>
        </p:txBody>
      </p:sp>
      <p:sp>
        <p:nvSpPr>
          <p:cNvPr id="100" name="사각형: 둥근 모서리 114">
            <a:extLst>
              <a:ext uri="{FF2B5EF4-FFF2-40B4-BE49-F238E27FC236}">
                <a16:creationId xmlns:a16="http://schemas.microsoft.com/office/drawing/2014/main" id="{C5A930EF-2DFA-FAF0-6037-E2B78EE39BF4}"/>
              </a:ext>
            </a:extLst>
          </p:cNvPr>
          <p:cNvSpPr/>
          <p:nvPr/>
        </p:nvSpPr>
        <p:spPr>
          <a:xfrm>
            <a:off x="4212915" y="3080850"/>
            <a:ext cx="1109675" cy="383228"/>
          </a:xfrm>
          <a:prstGeom prst="roundRect">
            <a:avLst>
              <a:gd name="adj" fmla="val 13792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mps-control-daemon</a:t>
            </a:r>
            <a:endParaRPr lang="en-US" altLang="ko-KR" sz="900" dirty="0"/>
          </a:p>
        </p:txBody>
      </p:sp>
      <p:sp>
        <p:nvSpPr>
          <p:cNvPr id="101" name="사각형: 둥근 모서리 114">
            <a:extLst>
              <a:ext uri="{FF2B5EF4-FFF2-40B4-BE49-F238E27FC236}">
                <a16:creationId xmlns:a16="http://schemas.microsoft.com/office/drawing/2014/main" id="{FB9DA8DD-E343-6461-B18F-947846CDE73B}"/>
              </a:ext>
            </a:extLst>
          </p:cNvPr>
          <p:cNvSpPr/>
          <p:nvPr/>
        </p:nvSpPr>
        <p:spPr>
          <a:xfrm>
            <a:off x="4368671" y="3651211"/>
            <a:ext cx="2025175" cy="383228"/>
          </a:xfrm>
          <a:prstGeom prst="roundRect">
            <a:avLst>
              <a:gd name="adj" fmla="val 13792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nvidia-cuda-mps-control -d</a:t>
            </a:r>
            <a:endParaRPr lang="en-US" altLang="ko-KR" sz="900" dirty="0"/>
          </a:p>
        </p:txBody>
      </p:sp>
      <p:sp>
        <p:nvSpPr>
          <p:cNvPr id="103" name="사각형: 둥근 모서리 114">
            <a:extLst>
              <a:ext uri="{FF2B5EF4-FFF2-40B4-BE49-F238E27FC236}">
                <a16:creationId xmlns:a16="http://schemas.microsoft.com/office/drawing/2014/main" id="{639E25AB-635E-02A4-1321-1D10549F162C}"/>
              </a:ext>
            </a:extLst>
          </p:cNvPr>
          <p:cNvSpPr/>
          <p:nvPr/>
        </p:nvSpPr>
        <p:spPr>
          <a:xfrm>
            <a:off x="5428704" y="3076223"/>
            <a:ext cx="1146283" cy="383228"/>
          </a:xfrm>
          <a:prstGeom prst="roundRect">
            <a:avLst>
              <a:gd name="adj" fmla="val 13792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nvidia-cuda-mps-server</a:t>
            </a:r>
            <a:endParaRPr lang="en-US" altLang="ko-KR" sz="900" dirty="0"/>
          </a:p>
        </p:txBody>
      </p:sp>
      <p:cxnSp>
        <p:nvCxnSpPr>
          <p:cNvPr id="104" name="직선 연결선 17">
            <a:extLst>
              <a:ext uri="{FF2B5EF4-FFF2-40B4-BE49-F238E27FC236}">
                <a16:creationId xmlns:a16="http://schemas.microsoft.com/office/drawing/2014/main" id="{AD66F5B3-A853-AD27-FE5D-BD476063A373}"/>
              </a:ext>
            </a:extLst>
          </p:cNvPr>
          <p:cNvCxnSpPr>
            <a:cxnSpLocks/>
            <a:stCxn id="75" idx="2"/>
            <a:endCxn id="28" idx="0"/>
          </p:cNvCxnSpPr>
          <p:nvPr/>
        </p:nvCxnSpPr>
        <p:spPr>
          <a:xfrm>
            <a:off x="1280488" y="1712247"/>
            <a:ext cx="84714" cy="896741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7">
            <a:extLst>
              <a:ext uri="{FF2B5EF4-FFF2-40B4-BE49-F238E27FC236}">
                <a16:creationId xmlns:a16="http://schemas.microsoft.com/office/drawing/2014/main" id="{67F0D12F-EA28-A1B5-DF7E-5C1F235550DA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1365202" y="1712247"/>
            <a:ext cx="5367389" cy="896741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7">
            <a:extLst>
              <a:ext uri="{FF2B5EF4-FFF2-40B4-BE49-F238E27FC236}">
                <a16:creationId xmlns:a16="http://schemas.microsoft.com/office/drawing/2014/main" id="{565873BF-146D-02A6-FC5D-7D7E8D380DBE}"/>
              </a:ext>
            </a:extLst>
          </p:cNvPr>
          <p:cNvCxnSpPr>
            <a:cxnSpLocks/>
            <a:stCxn id="39" idx="2"/>
            <a:endCxn id="67" idx="0"/>
          </p:cNvCxnSpPr>
          <p:nvPr/>
        </p:nvCxnSpPr>
        <p:spPr>
          <a:xfrm>
            <a:off x="1795071" y="2182573"/>
            <a:ext cx="1372860" cy="42447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7">
            <a:extLst>
              <a:ext uri="{FF2B5EF4-FFF2-40B4-BE49-F238E27FC236}">
                <a16:creationId xmlns:a16="http://schemas.microsoft.com/office/drawing/2014/main" id="{7182EFAC-9F4F-3493-F763-D0105741EBFF}"/>
              </a:ext>
            </a:extLst>
          </p:cNvPr>
          <p:cNvCxnSpPr>
            <a:cxnSpLocks/>
            <a:stCxn id="98" idx="1"/>
            <a:endCxn id="67" idx="2"/>
          </p:cNvCxnSpPr>
          <p:nvPr/>
        </p:nvCxnSpPr>
        <p:spPr>
          <a:xfrm flipH="1" flipV="1">
            <a:off x="3167931" y="2990271"/>
            <a:ext cx="1200740" cy="1422916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0A8B1AD4-F8B2-1F3F-6981-3466BC4E3617}"/>
              </a:ext>
            </a:extLst>
          </p:cNvPr>
          <p:cNvSpPr txBox="1"/>
          <p:nvPr/>
        </p:nvSpPr>
        <p:spPr>
          <a:xfrm>
            <a:off x="2627405" y="2978233"/>
            <a:ext cx="1008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i="1"/>
              <a:t>HostPath</a:t>
            </a:r>
          </a:p>
          <a:p>
            <a:r>
              <a:rPr kumimoji="1" lang="en-US" altLang="ko-KR" sz="1000" b="1" i="1"/>
              <a:t>(Bind Mount)</a:t>
            </a:r>
            <a:endParaRPr kumimoji="1" lang="ko-KR" altLang="en-US" sz="1000" b="1" i="1"/>
          </a:p>
        </p:txBody>
      </p:sp>
      <p:cxnSp>
        <p:nvCxnSpPr>
          <p:cNvPr id="135" name="직선 연결선 17">
            <a:extLst>
              <a:ext uri="{FF2B5EF4-FFF2-40B4-BE49-F238E27FC236}">
                <a16:creationId xmlns:a16="http://schemas.microsoft.com/office/drawing/2014/main" id="{F3423B00-1F67-7796-50EC-A649AD6F7B2E}"/>
              </a:ext>
            </a:extLst>
          </p:cNvPr>
          <p:cNvCxnSpPr>
            <a:cxnSpLocks/>
            <a:stCxn id="74" idx="2"/>
            <a:endCxn id="20" idx="0"/>
          </p:cNvCxnSpPr>
          <p:nvPr/>
        </p:nvCxnSpPr>
        <p:spPr>
          <a:xfrm>
            <a:off x="677206" y="2182573"/>
            <a:ext cx="86826" cy="89827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7">
            <a:extLst>
              <a:ext uri="{FF2B5EF4-FFF2-40B4-BE49-F238E27FC236}">
                <a16:creationId xmlns:a16="http://schemas.microsoft.com/office/drawing/2014/main" id="{89B41CB5-EB01-75EB-8365-AC5636087605}"/>
              </a:ext>
            </a:extLst>
          </p:cNvPr>
          <p:cNvCxnSpPr>
            <a:cxnSpLocks/>
            <a:stCxn id="100" idx="2"/>
            <a:endCxn id="101" idx="0"/>
          </p:cNvCxnSpPr>
          <p:nvPr/>
        </p:nvCxnSpPr>
        <p:spPr>
          <a:xfrm>
            <a:off x="4767753" y="3464078"/>
            <a:ext cx="613506" cy="187133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7">
            <a:extLst>
              <a:ext uri="{FF2B5EF4-FFF2-40B4-BE49-F238E27FC236}">
                <a16:creationId xmlns:a16="http://schemas.microsoft.com/office/drawing/2014/main" id="{81F5E7B5-EA44-09D5-6777-435F2BB85796}"/>
              </a:ext>
            </a:extLst>
          </p:cNvPr>
          <p:cNvCxnSpPr>
            <a:cxnSpLocks/>
            <a:stCxn id="101" idx="0"/>
            <a:endCxn id="103" idx="2"/>
          </p:cNvCxnSpPr>
          <p:nvPr/>
        </p:nvCxnSpPr>
        <p:spPr>
          <a:xfrm flipV="1">
            <a:off x="5381259" y="3459451"/>
            <a:ext cx="620587" cy="191760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7">
            <a:extLst>
              <a:ext uri="{FF2B5EF4-FFF2-40B4-BE49-F238E27FC236}">
                <a16:creationId xmlns:a16="http://schemas.microsoft.com/office/drawing/2014/main" id="{61B21FB7-E52C-8DAB-B7E4-9AD4F9C3B872}"/>
              </a:ext>
            </a:extLst>
          </p:cNvPr>
          <p:cNvCxnSpPr>
            <a:cxnSpLocks/>
            <a:stCxn id="101" idx="2"/>
            <a:endCxn id="98" idx="0"/>
          </p:cNvCxnSpPr>
          <p:nvPr/>
        </p:nvCxnSpPr>
        <p:spPr>
          <a:xfrm>
            <a:off x="5381259" y="4034439"/>
            <a:ext cx="0" cy="187134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사각형: 둥근 모서리 114">
            <a:extLst>
              <a:ext uri="{FF2B5EF4-FFF2-40B4-BE49-F238E27FC236}">
                <a16:creationId xmlns:a16="http://schemas.microsoft.com/office/drawing/2014/main" id="{350CE5FF-BC1E-B8A8-9E0D-AF04500FDDC9}"/>
              </a:ext>
            </a:extLst>
          </p:cNvPr>
          <p:cNvSpPr/>
          <p:nvPr/>
        </p:nvSpPr>
        <p:spPr>
          <a:xfrm>
            <a:off x="2577644" y="332893"/>
            <a:ext cx="2411859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9" name="사각형: 둥근 모서리 114">
            <a:extLst>
              <a:ext uri="{FF2B5EF4-FFF2-40B4-BE49-F238E27FC236}">
                <a16:creationId xmlns:a16="http://schemas.microsoft.com/office/drawing/2014/main" id="{632E7E5A-C22D-F98C-B152-DA13BB3C7C08}"/>
              </a:ext>
            </a:extLst>
          </p:cNvPr>
          <p:cNvSpPr/>
          <p:nvPr/>
        </p:nvSpPr>
        <p:spPr>
          <a:xfrm>
            <a:off x="2627405" y="610622"/>
            <a:ext cx="2308660" cy="166129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0" name="사각형: 둥근 모서리 114">
            <a:extLst>
              <a:ext uri="{FF2B5EF4-FFF2-40B4-BE49-F238E27FC236}">
                <a16:creationId xmlns:a16="http://schemas.microsoft.com/office/drawing/2014/main" id="{9B25489B-309C-B321-A31D-F12D8F5E0B8E}"/>
              </a:ext>
            </a:extLst>
          </p:cNvPr>
          <p:cNvSpPr/>
          <p:nvPr/>
        </p:nvSpPr>
        <p:spPr>
          <a:xfrm>
            <a:off x="2713251" y="1799345"/>
            <a:ext cx="923364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191" name="사각형: 둥근 모서리 114">
            <a:extLst>
              <a:ext uri="{FF2B5EF4-FFF2-40B4-BE49-F238E27FC236}">
                <a16:creationId xmlns:a16="http://schemas.microsoft.com/office/drawing/2014/main" id="{6436A047-B90B-89E8-295D-D639CDE5A5A1}"/>
              </a:ext>
            </a:extLst>
          </p:cNvPr>
          <p:cNvSpPr/>
          <p:nvPr/>
        </p:nvSpPr>
        <p:spPr>
          <a:xfrm>
            <a:off x="2713250" y="1329019"/>
            <a:ext cx="2129930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92" name="사각형: 둥근 모서리 114">
            <a:extLst>
              <a:ext uri="{FF2B5EF4-FFF2-40B4-BE49-F238E27FC236}">
                <a16:creationId xmlns:a16="http://schemas.microsoft.com/office/drawing/2014/main" id="{6500E41B-15D3-1112-89A5-EA6BCA515F62}"/>
              </a:ext>
            </a:extLst>
          </p:cNvPr>
          <p:cNvSpPr/>
          <p:nvPr/>
        </p:nvSpPr>
        <p:spPr>
          <a:xfrm>
            <a:off x="2713250" y="882313"/>
            <a:ext cx="2129929" cy="384262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NVIDIA_VISIBLE_DEVICES,</a:t>
            </a:r>
          </a:p>
          <a:p>
            <a:pPr algn="ctr"/>
            <a:r>
              <a:rPr lang="en-US" altLang="ko-KR" sz="900"/>
              <a:t>CUDA_MPS_PIPE_DIRECTORY Env  </a:t>
            </a:r>
            <a:endParaRPr lang="en-US" altLang="ko-KR" sz="900" dirty="0"/>
          </a:p>
        </p:txBody>
      </p:sp>
      <p:sp>
        <p:nvSpPr>
          <p:cNvPr id="193" name="사각형: 둥근 모서리 114">
            <a:extLst>
              <a:ext uri="{FF2B5EF4-FFF2-40B4-BE49-F238E27FC236}">
                <a16:creationId xmlns:a16="http://schemas.microsoft.com/office/drawing/2014/main" id="{8CDD1C28-21CD-F03B-A3BC-5A8C93B54E96}"/>
              </a:ext>
            </a:extLst>
          </p:cNvPr>
          <p:cNvSpPr/>
          <p:nvPr/>
        </p:nvSpPr>
        <p:spPr>
          <a:xfrm>
            <a:off x="3742417" y="1799345"/>
            <a:ext cx="1100762" cy="383228"/>
          </a:xfrm>
          <a:prstGeom prst="roundRect">
            <a:avLst>
              <a:gd name="adj" fmla="val 724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/mps/nvidia.com</a:t>
            </a:r>
            <a:br>
              <a:rPr lang="en-US" altLang="ko-KR" sz="900"/>
            </a:br>
            <a:r>
              <a:rPr lang="en-US" altLang="ko-KR" sz="900"/>
              <a:t>/gpu.shared</a:t>
            </a:r>
            <a:endParaRPr lang="en-US" altLang="ko-KR" sz="900" dirty="0"/>
          </a:p>
        </p:txBody>
      </p:sp>
      <p:sp>
        <p:nvSpPr>
          <p:cNvPr id="194" name="사각형: 둥근 모서리 114">
            <a:extLst>
              <a:ext uri="{FF2B5EF4-FFF2-40B4-BE49-F238E27FC236}">
                <a16:creationId xmlns:a16="http://schemas.microsoft.com/office/drawing/2014/main" id="{04CDF107-06D5-296B-91D9-92C2BCCE884B}"/>
              </a:ext>
            </a:extLst>
          </p:cNvPr>
          <p:cNvSpPr/>
          <p:nvPr/>
        </p:nvSpPr>
        <p:spPr>
          <a:xfrm>
            <a:off x="5076056" y="332893"/>
            <a:ext cx="2411859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5" name="사각형: 둥근 모서리 114">
            <a:extLst>
              <a:ext uri="{FF2B5EF4-FFF2-40B4-BE49-F238E27FC236}">
                <a16:creationId xmlns:a16="http://schemas.microsoft.com/office/drawing/2014/main" id="{A688DD5B-A28B-0DA8-0997-AD541A8A24DD}"/>
              </a:ext>
            </a:extLst>
          </p:cNvPr>
          <p:cNvSpPr/>
          <p:nvPr/>
        </p:nvSpPr>
        <p:spPr>
          <a:xfrm>
            <a:off x="5125817" y="610622"/>
            <a:ext cx="2308660" cy="166129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6" name="사각형: 둥근 모서리 114">
            <a:extLst>
              <a:ext uri="{FF2B5EF4-FFF2-40B4-BE49-F238E27FC236}">
                <a16:creationId xmlns:a16="http://schemas.microsoft.com/office/drawing/2014/main" id="{24759F45-B9CC-5982-3D6A-79A9106ED776}"/>
              </a:ext>
            </a:extLst>
          </p:cNvPr>
          <p:cNvSpPr/>
          <p:nvPr/>
        </p:nvSpPr>
        <p:spPr>
          <a:xfrm>
            <a:off x="5211663" y="1799345"/>
            <a:ext cx="923364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197" name="사각형: 둥근 모서리 114">
            <a:extLst>
              <a:ext uri="{FF2B5EF4-FFF2-40B4-BE49-F238E27FC236}">
                <a16:creationId xmlns:a16="http://schemas.microsoft.com/office/drawing/2014/main" id="{DC3CC8AF-D94F-FCA7-F117-557BAC6DA440}"/>
              </a:ext>
            </a:extLst>
          </p:cNvPr>
          <p:cNvSpPr/>
          <p:nvPr/>
        </p:nvSpPr>
        <p:spPr>
          <a:xfrm>
            <a:off x="5211662" y="1329019"/>
            <a:ext cx="2129930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98" name="사각형: 둥근 모서리 114">
            <a:extLst>
              <a:ext uri="{FF2B5EF4-FFF2-40B4-BE49-F238E27FC236}">
                <a16:creationId xmlns:a16="http://schemas.microsoft.com/office/drawing/2014/main" id="{679B8555-0F3F-770A-8022-F662D0A857DC}"/>
              </a:ext>
            </a:extLst>
          </p:cNvPr>
          <p:cNvSpPr/>
          <p:nvPr/>
        </p:nvSpPr>
        <p:spPr>
          <a:xfrm>
            <a:off x="5211662" y="882313"/>
            <a:ext cx="2129929" cy="384262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NVIDIA_VISIBLE_DEVICES,</a:t>
            </a:r>
          </a:p>
          <a:p>
            <a:pPr algn="ctr"/>
            <a:r>
              <a:rPr lang="en-US" altLang="ko-KR" sz="900"/>
              <a:t>CUDA_MPS_PIPE_DIRECTORY Env  </a:t>
            </a:r>
            <a:endParaRPr lang="en-US" altLang="ko-KR" sz="900" dirty="0"/>
          </a:p>
        </p:txBody>
      </p:sp>
      <p:sp>
        <p:nvSpPr>
          <p:cNvPr id="199" name="사각형: 둥근 모서리 114">
            <a:extLst>
              <a:ext uri="{FF2B5EF4-FFF2-40B4-BE49-F238E27FC236}">
                <a16:creationId xmlns:a16="http://schemas.microsoft.com/office/drawing/2014/main" id="{891C13EE-F5D6-0C8D-8475-A047F5002169}"/>
              </a:ext>
            </a:extLst>
          </p:cNvPr>
          <p:cNvSpPr/>
          <p:nvPr/>
        </p:nvSpPr>
        <p:spPr>
          <a:xfrm>
            <a:off x="6240829" y="1799345"/>
            <a:ext cx="1100762" cy="383228"/>
          </a:xfrm>
          <a:prstGeom prst="roundRect">
            <a:avLst>
              <a:gd name="adj" fmla="val 724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/mps/nvidia.com</a:t>
            </a:r>
            <a:br>
              <a:rPr lang="en-US" altLang="ko-KR" sz="900"/>
            </a:br>
            <a:r>
              <a:rPr lang="en-US" altLang="ko-KR" sz="900"/>
              <a:t>/gpu.shared</a:t>
            </a:r>
            <a:endParaRPr lang="en-US" altLang="ko-KR" sz="900" dirty="0"/>
          </a:p>
        </p:txBody>
      </p:sp>
      <p:cxnSp>
        <p:nvCxnSpPr>
          <p:cNvPr id="200" name="직선 연결선 17">
            <a:extLst>
              <a:ext uri="{FF2B5EF4-FFF2-40B4-BE49-F238E27FC236}">
                <a16:creationId xmlns:a16="http://schemas.microsoft.com/office/drawing/2014/main" id="{DF155F68-BD50-502B-83EF-22A43E1220C2}"/>
              </a:ext>
            </a:extLst>
          </p:cNvPr>
          <p:cNvCxnSpPr>
            <a:cxnSpLocks/>
            <a:stCxn id="191" idx="2"/>
            <a:endCxn id="28" idx="0"/>
          </p:cNvCxnSpPr>
          <p:nvPr/>
        </p:nvCxnSpPr>
        <p:spPr>
          <a:xfrm flipH="1">
            <a:off x="1365202" y="1712247"/>
            <a:ext cx="2413013" cy="896741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17">
            <a:extLst>
              <a:ext uri="{FF2B5EF4-FFF2-40B4-BE49-F238E27FC236}">
                <a16:creationId xmlns:a16="http://schemas.microsoft.com/office/drawing/2014/main" id="{04964D9A-2A3D-05B3-A0D6-A67CD0B49AE6}"/>
              </a:ext>
            </a:extLst>
          </p:cNvPr>
          <p:cNvCxnSpPr>
            <a:cxnSpLocks/>
            <a:stCxn id="193" idx="2"/>
            <a:endCxn id="67" idx="0"/>
          </p:cNvCxnSpPr>
          <p:nvPr/>
        </p:nvCxnSpPr>
        <p:spPr>
          <a:xfrm flipH="1">
            <a:off x="3167931" y="2182573"/>
            <a:ext cx="1124867" cy="42447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17">
            <a:extLst>
              <a:ext uri="{FF2B5EF4-FFF2-40B4-BE49-F238E27FC236}">
                <a16:creationId xmlns:a16="http://schemas.microsoft.com/office/drawing/2014/main" id="{E72C03D6-DE60-4122-5A96-FA35614B198E}"/>
              </a:ext>
            </a:extLst>
          </p:cNvPr>
          <p:cNvCxnSpPr>
            <a:cxnSpLocks/>
            <a:stCxn id="199" idx="2"/>
          </p:cNvCxnSpPr>
          <p:nvPr/>
        </p:nvCxnSpPr>
        <p:spPr>
          <a:xfrm flipH="1">
            <a:off x="3167931" y="2182573"/>
            <a:ext cx="3623279" cy="42447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17">
            <a:extLst>
              <a:ext uri="{FF2B5EF4-FFF2-40B4-BE49-F238E27FC236}">
                <a16:creationId xmlns:a16="http://schemas.microsoft.com/office/drawing/2014/main" id="{C2C80C3F-1E47-A4BE-D310-6274AD0F2819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764032" y="2182573"/>
            <a:ext cx="2410901" cy="89827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17">
            <a:extLst>
              <a:ext uri="{FF2B5EF4-FFF2-40B4-BE49-F238E27FC236}">
                <a16:creationId xmlns:a16="http://schemas.microsoft.com/office/drawing/2014/main" id="{16F18C2D-8D42-46F5-FB2B-783E8622097E}"/>
              </a:ext>
            </a:extLst>
          </p:cNvPr>
          <p:cNvCxnSpPr>
            <a:cxnSpLocks/>
          </p:cNvCxnSpPr>
          <p:nvPr/>
        </p:nvCxnSpPr>
        <p:spPr>
          <a:xfrm flipH="1">
            <a:off x="1970595" y="2182573"/>
            <a:ext cx="3702750" cy="89827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13498372-FE78-3073-9F28-1E837ABE678B}"/>
              </a:ext>
            </a:extLst>
          </p:cNvPr>
          <p:cNvSpPr txBox="1"/>
          <p:nvPr/>
        </p:nvSpPr>
        <p:spPr>
          <a:xfrm>
            <a:off x="7272691" y="3356782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podc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containerc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17972A1F-36B2-3B8A-99A2-C47AD3493FF8}"/>
              </a:ext>
            </a:extLst>
          </p:cNvPr>
          <p:cNvSpPr txBox="1"/>
          <p:nvPr/>
        </p:nvSpPr>
        <p:spPr>
          <a:xfrm>
            <a:off x="7272691" y="1787122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podb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containerb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A9E15BC-F47A-49EB-155D-9A256065E00F}"/>
              </a:ext>
            </a:extLst>
          </p:cNvPr>
          <p:cNvSpPr txBox="1"/>
          <p:nvPr/>
        </p:nvSpPr>
        <p:spPr>
          <a:xfrm>
            <a:off x="7272691" y="229685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878C64E5-0E41-3D0E-5C58-F16E0D755EBB}"/>
              </a:ext>
            </a:extLst>
          </p:cNvPr>
          <p:cNvSpPr/>
          <p:nvPr/>
        </p:nvSpPr>
        <p:spPr>
          <a:xfrm flipH="1">
            <a:off x="1754333" y="3799902"/>
            <a:ext cx="2066064" cy="4612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900" b="1" dirty="0">
                <a:solidFill>
                  <a:schemeClr val="tx1"/>
                </a:solidFill>
              </a:rPr>
              <a:t>NVIDIA </a:t>
            </a:r>
            <a:r>
              <a:rPr lang="en-US" sz="900" b="1" dirty="0">
                <a:solidFill>
                  <a:schemeClr val="tx1"/>
                </a:solidFill>
              </a:rPr>
              <a:t>Device Plugin Pod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(DaemonSet)</a:t>
            </a:r>
            <a:endParaRPr lang="en-KR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512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60B60-8F79-12BE-D896-371CE1E5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23335FF9-F8B3-BEB2-BDD3-FE729BE35612}"/>
              </a:ext>
            </a:extLst>
          </p:cNvPr>
          <p:cNvSpPr/>
          <p:nvPr/>
        </p:nvSpPr>
        <p:spPr>
          <a:xfrm flipH="1">
            <a:off x="3951687" y="2693073"/>
            <a:ext cx="2066064" cy="4612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900" b="1" dirty="0">
                <a:solidFill>
                  <a:schemeClr val="tx1"/>
                </a:solidFill>
              </a:rPr>
              <a:t>NVIDIA </a:t>
            </a:r>
            <a:r>
              <a:rPr lang="en-US" sz="900" b="1" dirty="0">
                <a:solidFill>
                  <a:schemeClr val="tx1"/>
                </a:solidFill>
              </a:rPr>
              <a:t>Device Plugin Pod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(DaemonSet)</a:t>
            </a:r>
            <a:endParaRPr lang="en-KR" sz="900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8AFCA7C8-79CD-7814-7C02-55C29ECF3B10}"/>
              </a:ext>
            </a:extLst>
          </p:cNvPr>
          <p:cNvSpPr/>
          <p:nvPr/>
        </p:nvSpPr>
        <p:spPr>
          <a:xfrm>
            <a:off x="43906" y="60026"/>
            <a:ext cx="2492125" cy="2464513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55F481-A742-A388-C5F4-071D9DFF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B27B6C70-A035-2331-DE51-EE30C6D2F79D}"/>
              </a:ext>
            </a:extLst>
          </p:cNvPr>
          <p:cNvSpPr/>
          <p:nvPr/>
        </p:nvSpPr>
        <p:spPr>
          <a:xfrm>
            <a:off x="93668" y="336814"/>
            <a:ext cx="2385214" cy="2141343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96111976-6581-4105-664C-5E7829F09967}"/>
              </a:ext>
            </a:extLst>
          </p:cNvPr>
          <p:cNvSpPr/>
          <p:nvPr/>
        </p:nvSpPr>
        <p:spPr>
          <a:xfrm>
            <a:off x="179514" y="1526478"/>
            <a:ext cx="1066284" cy="383228"/>
          </a:xfrm>
          <a:prstGeom prst="roundRect">
            <a:avLst>
              <a:gd name="adj" fmla="val 724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/dev/nvidia-caps</a:t>
            </a:r>
            <a:br>
              <a:rPr lang="en-US" altLang="ko-KR" sz="900"/>
            </a:br>
            <a:r>
              <a:rPr lang="en-US" altLang="ko-KR" sz="900"/>
              <a:t>/nvidia-caps21</a:t>
            </a:r>
            <a:endParaRPr lang="en-US" altLang="ko-KR" sz="9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C10C4DDF-05AD-2371-CFF6-27458DA4FAF3}"/>
              </a:ext>
            </a:extLst>
          </p:cNvPr>
          <p:cNvSpPr/>
          <p:nvPr/>
        </p:nvSpPr>
        <p:spPr>
          <a:xfrm>
            <a:off x="179513" y="1056152"/>
            <a:ext cx="2174756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A734FB63-698C-9558-052A-54ACAD84D3F5}"/>
              </a:ext>
            </a:extLst>
          </p:cNvPr>
          <p:cNvSpPr/>
          <p:nvPr/>
        </p:nvSpPr>
        <p:spPr>
          <a:xfrm>
            <a:off x="179512" y="610481"/>
            <a:ext cx="2174756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  <a:br>
              <a:rPr lang="en-US" altLang="ko-KR" sz="900"/>
            </a:br>
            <a:r>
              <a:rPr lang="en-US" altLang="ko-KR" sz="900"/>
              <a:t>NVIDIA_VISIBLE_DEVICES Env  </a:t>
            </a:r>
            <a:endParaRPr lang="en-US" altLang="ko-KR" sz="9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6AFF4AB-84F3-579B-9D64-C792BA1477CB}"/>
              </a:ext>
            </a:extLst>
          </p:cNvPr>
          <p:cNvSpPr txBox="1"/>
          <p:nvPr/>
        </p:nvSpPr>
        <p:spPr>
          <a:xfrm>
            <a:off x="7185137" y="3389521"/>
            <a:ext cx="1618118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podc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r>
              <a:rPr lang="en-US" sz="800" kern="0" dirty="0">
                <a:cs typeface="Al Bayan Plain" pitchFamily="2" charset="-78"/>
              </a:rPr>
              <a:t>     - name: </a:t>
            </a:r>
            <a:r>
              <a:rPr lang="en-US" altLang="ko-KR" sz="800" kern="0" dirty="0">
                <a:cs typeface="Al Bayan Plain" pitchFamily="2" charset="-78"/>
              </a:rPr>
              <a:t>containerc</a:t>
            </a:r>
            <a:endParaRPr lang="en-US" sz="800" kern="0" dirty="0">
              <a:cs typeface="Al Bayan Plain" pitchFamily="2" charset="-78"/>
            </a:endParaRP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mig-1g.5b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mig-1g.5b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24" name="사각형: 둥근 모서리 114">
            <a:extLst>
              <a:ext uri="{FF2B5EF4-FFF2-40B4-BE49-F238E27FC236}">
                <a16:creationId xmlns:a16="http://schemas.microsoft.com/office/drawing/2014/main" id="{0B8000E3-A644-EF84-D683-E55831F86984}"/>
              </a:ext>
            </a:extLst>
          </p:cNvPr>
          <p:cNvSpPr/>
          <p:nvPr/>
        </p:nvSpPr>
        <p:spPr>
          <a:xfrm>
            <a:off x="179514" y="1996804"/>
            <a:ext cx="2186432" cy="383228"/>
          </a:xfrm>
          <a:prstGeom prst="roundRect">
            <a:avLst>
              <a:gd name="adj" fmla="val 1242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33" name="사각형: 둥근 모서리 114">
            <a:extLst>
              <a:ext uri="{FF2B5EF4-FFF2-40B4-BE49-F238E27FC236}">
                <a16:creationId xmlns:a16="http://schemas.microsoft.com/office/drawing/2014/main" id="{78D93BAB-9182-D271-FFB9-67C8416A70D0}"/>
              </a:ext>
            </a:extLst>
          </p:cNvPr>
          <p:cNvSpPr/>
          <p:nvPr/>
        </p:nvSpPr>
        <p:spPr>
          <a:xfrm>
            <a:off x="1289704" y="1526478"/>
            <a:ext cx="1066284" cy="383228"/>
          </a:xfrm>
          <a:prstGeom prst="roundRect">
            <a:avLst>
              <a:gd name="adj" fmla="val 724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/dev/nvidia-caps</a:t>
            </a:r>
            <a:br>
              <a:rPr lang="en-US" altLang="ko-KR" sz="900"/>
            </a:br>
            <a:r>
              <a:rPr lang="en-US" altLang="ko-KR" sz="900"/>
              <a:t>/nvidia-caps22</a:t>
            </a:r>
            <a:endParaRPr lang="en-US" altLang="ko-KR" sz="900" dirty="0"/>
          </a:p>
        </p:txBody>
      </p:sp>
      <p:sp>
        <p:nvSpPr>
          <p:cNvPr id="35" name="사각형: 둥근 모서리 114">
            <a:extLst>
              <a:ext uri="{FF2B5EF4-FFF2-40B4-BE49-F238E27FC236}">
                <a16:creationId xmlns:a16="http://schemas.microsoft.com/office/drawing/2014/main" id="{4D2F06A6-F950-6EA7-C6FA-6037481575CB}"/>
              </a:ext>
            </a:extLst>
          </p:cNvPr>
          <p:cNvSpPr/>
          <p:nvPr/>
        </p:nvSpPr>
        <p:spPr>
          <a:xfrm>
            <a:off x="2624752" y="60026"/>
            <a:ext cx="3590706" cy="2464513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사각형: 둥근 모서리 114">
            <a:extLst>
              <a:ext uri="{FF2B5EF4-FFF2-40B4-BE49-F238E27FC236}">
                <a16:creationId xmlns:a16="http://schemas.microsoft.com/office/drawing/2014/main" id="{5AE886E2-2E1F-5D76-B2B7-15EF216EDAB3}"/>
              </a:ext>
            </a:extLst>
          </p:cNvPr>
          <p:cNvSpPr/>
          <p:nvPr/>
        </p:nvSpPr>
        <p:spPr>
          <a:xfrm>
            <a:off x="2674513" y="336814"/>
            <a:ext cx="3490939" cy="2141343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사각형: 둥근 모서리 114">
            <a:extLst>
              <a:ext uri="{FF2B5EF4-FFF2-40B4-BE49-F238E27FC236}">
                <a16:creationId xmlns:a16="http://schemas.microsoft.com/office/drawing/2014/main" id="{33842F2F-4EEB-7C9C-4901-4584D6E15E39}"/>
              </a:ext>
            </a:extLst>
          </p:cNvPr>
          <p:cNvSpPr/>
          <p:nvPr/>
        </p:nvSpPr>
        <p:spPr>
          <a:xfrm>
            <a:off x="2760360" y="1526478"/>
            <a:ext cx="1066284" cy="383228"/>
          </a:xfrm>
          <a:prstGeom prst="roundRect">
            <a:avLst>
              <a:gd name="adj" fmla="val 724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/dev/nvidia-caps</a:t>
            </a:r>
            <a:br>
              <a:rPr lang="en-US" altLang="ko-KR" sz="900"/>
            </a:br>
            <a:r>
              <a:rPr lang="en-US" altLang="ko-KR" sz="900"/>
              <a:t>/nvidia-caps30</a:t>
            </a:r>
            <a:endParaRPr lang="en-US" altLang="ko-KR" sz="900" dirty="0"/>
          </a:p>
        </p:txBody>
      </p:sp>
      <p:sp>
        <p:nvSpPr>
          <p:cNvPr id="40" name="사각형: 둥근 모서리 114">
            <a:extLst>
              <a:ext uri="{FF2B5EF4-FFF2-40B4-BE49-F238E27FC236}">
                <a16:creationId xmlns:a16="http://schemas.microsoft.com/office/drawing/2014/main" id="{818D3D80-D87A-A8BF-1BFA-CFFDDF54224B}"/>
              </a:ext>
            </a:extLst>
          </p:cNvPr>
          <p:cNvSpPr/>
          <p:nvPr/>
        </p:nvSpPr>
        <p:spPr>
          <a:xfrm>
            <a:off x="2760358" y="1056152"/>
            <a:ext cx="3302478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41" name="사각형: 둥근 모서리 114">
            <a:extLst>
              <a:ext uri="{FF2B5EF4-FFF2-40B4-BE49-F238E27FC236}">
                <a16:creationId xmlns:a16="http://schemas.microsoft.com/office/drawing/2014/main" id="{AB5A979C-FCD0-BCFC-7129-9E77AF286B00}"/>
              </a:ext>
            </a:extLst>
          </p:cNvPr>
          <p:cNvSpPr/>
          <p:nvPr/>
        </p:nvSpPr>
        <p:spPr>
          <a:xfrm>
            <a:off x="2760358" y="610481"/>
            <a:ext cx="3302478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NVIDIA_VISIBLE_DEVICES Env  </a:t>
            </a:r>
            <a:endParaRPr lang="en-US" altLang="ko-KR" sz="900" dirty="0"/>
          </a:p>
        </p:txBody>
      </p:sp>
      <p:sp>
        <p:nvSpPr>
          <p:cNvPr id="42" name="사각형: 둥근 모서리 114">
            <a:extLst>
              <a:ext uri="{FF2B5EF4-FFF2-40B4-BE49-F238E27FC236}">
                <a16:creationId xmlns:a16="http://schemas.microsoft.com/office/drawing/2014/main" id="{457A8346-C518-222C-227C-D5E3478ECE12}"/>
              </a:ext>
            </a:extLst>
          </p:cNvPr>
          <p:cNvSpPr/>
          <p:nvPr/>
        </p:nvSpPr>
        <p:spPr>
          <a:xfrm>
            <a:off x="2760360" y="1996804"/>
            <a:ext cx="3306578" cy="383228"/>
          </a:xfrm>
          <a:prstGeom prst="roundRect">
            <a:avLst>
              <a:gd name="adj" fmla="val 1242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43" name="사각형: 둥근 모서리 114">
            <a:extLst>
              <a:ext uri="{FF2B5EF4-FFF2-40B4-BE49-F238E27FC236}">
                <a16:creationId xmlns:a16="http://schemas.microsoft.com/office/drawing/2014/main" id="{9786327C-D148-6662-C323-F7E7EF209C62}"/>
              </a:ext>
            </a:extLst>
          </p:cNvPr>
          <p:cNvSpPr/>
          <p:nvPr/>
        </p:nvSpPr>
        <p:spPr>
          <a:xfrm>
            <a:off x="3880507" y="1526478"/>
            <a:ext cx="1066284" cy="383228"/>
          </a:xfrm>
          <a:prstGeom prst="roundRect">
            <a:avLst>
              <a:gd name="adj" fmla="val 724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/dev/nvidia-caps</a:t>
            </a:r>
            <a:br>
              <a:rPr lang="en-US" altLang="ko-KR" sz="900"/>
            </a:br>
            <a:r>
              <a:rPr lang="en-US" altLang="ko-KR" sz="900"/>
              <a:t>/nvidia-caps31</a:t>
            </a:r>
            <a:endParaRPr lang="en-US" altLang="ko-KR" sz="900" dirty="0"/>
          </a:p>
        </p:txBody>
      </p:sp>
      <p:sp>
        <p:nvSpPr>
          <p:cNvPr id="44" name="사각형: 둥근 모서리 114">
            <a:extLst>
              <a:ext uri="{FF2B5EF4-FFF2-40B4-BE49-F238E27FC236}">
                <a16:creationId xmlns:a16="http://schemas.microsoft.com/office/drawing/2014/main" id="{8607056F-2116-A88E-8375-0AAA68BDE6B6}"/>
              </a:ext>
            </a:extLst>
          </p:cNvPr>
          <p:cNvSpPr/>
          <p:nvPr/>
        </p:nvSpPr>
        <p:spPr>
          <a:xfrm>
            <a:off x="4996552" y="1526478"/>
            <a:ext cx="1066284" cy="383228"/>
          </a:xfrm>
          <a:prstGeom prst="roundRect">
            <a:avLst>
              <a:gd name="adj" fmla="val 724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/dev/nvidia-caps</a:t>
            </a:r>
            <a:br>
              <a:rPr lang="en-US" altLang="ko-KR" sz="900"/>
            </a:br>
            <a:r>
              <a:rPr lang="en-US" altLang="ko-KR" sz="900"/>
              <a:t>/nvidia-caps32</a:t>
            </a:r>
            <a:endParaRPr lang="en-US" altLang="ko-KR" sz="9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A1FFC6-96DF-4510-7FDD-7EECF2E95B51}"/>
              </a:ext>
            </a:extLst>
          </p:cNvPr>
          <p:cNvSpPr txBox="1"/>
          <p:nvPr/>
        </p:nvSpPr>
        <p:spPr>
          <a:xfrm>
            <a:off x="3951687" y="3389521"/>
            <a:ext cx="1618118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nvidia.com/mig-4g.20b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nvidia.com/mig-4g.20b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9" name="사각형: 둥근 모서리 114">
            <a:extLst>
              <a:ext uri="{FF2B5EF4-FFF2-40B4-BE49-F238E27FC236}">
                <a16:creationId xmlns:a16="http://schemas.microsoft.com/office/drawing/2014/main" id="{53FDCA80-9CD6-CA2D-EEEE-CD7B8297AC2A}"/>
              </a:ext>
            </a:extLst>
          </p:cNvPr>
          <p:cNvSpPr/>
          <p:nvPr/>
        </p:nvSpPr>
        <p:spPr>
          <a:xfrm>
            <a:off x="20290" y="2694812"/>
            <a:ext cx="3860217" cy="2264369"/>
          </a:xfrm>
          <a:prstGeom prst="roundRect">
            <a:avLst>
              <a:gd name="adj" fmla="val 225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</a:t>
            </a:r>
            <a:endParaRPr lang="en-US" altLang="ko-KR" sz="1000" b="1" dirty="0"/>
          </a:p>
        </p:txBody>
      </p:sp>
      <p:sp>
        <p:nvSpPr>
          <p:cNvPr id="12" name="사각형: 둥근 모서리 114">
            <a:extLst>
              <a:ext uri="{FF2B5EF4-FFF2-40B4-BE49-F238E27FC236}">
                <a16:creationId xmlns:a16="http://schemas.microsoft.com/office/drawing/2014/main" id="{9F9B033A-F769-3870-643A-E2F0219569F0}"/>
              </a:ext>
            </a:extLst>
          </p:cNvPr>
          <p:cNvSpPr/>
          <p:nvPr/>
        </p:nvSpPr>
        <p:spPr>
          <a:xfrm>
            <a:off x="132859" y="4343733"/>
            <a:ext cx="2744745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GPU 0</a:t>
            </a:r>
            <a:endParaRPr lang="en-US" altLang="ko-KR" sz="900" dirty="0"/>
          </a:p>
        </p:txBody>
      </p:sp>
      <p:sp>
        <p:nvSpPr>
          <p:cNvPr id="13" name="사각형: 둥근 모서리 114">
            <a:extLst>
              <a:ext uri="{FF2B5EF4-FFF2-40B4-BE49-F238E27FC236}">
                <a16:creationId xmlns:a16="http://schemas.microsoft.com/office/drawing/2014/main" id="{584CEE36-407D-B6C1-FAF3-5BB6A0D3B282}"/>
              </a:ext>
            </a:extLst>
          </p:cNvPr>
          <p:cNvSpPr/>
          <p:nvPr/>
        </p:nvSpPr>
        <p:spPr>
          <a:xfrm>
            <a:off x="137917" y="3306888"/>
            <a:ext cx="853220" cy="383228"/>
          </a:xfrm>
          <a:prstGeom prst="roundRect">
            <a:avLst>
              <a:gd name="adj" fmla="val 142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Compute Instance</a:t>
            </a:r>
          </a:p>
          <a:p>
            <a:pPr algn="ctr"/>
            <a:r>
              <a:rPr lang="en-US" altLang="ko-KR" sz="900"/>
              <a:t>4g.20gb  </a:t>
            </a:r>
          </a:p>
        </p:txBody>
      </p:sp>
      <p:sp>
        <p:nvSpPr>
          <p:cNvPr id="26" name="사각형: 둥근 모서리 114">
            <a:extLst>
              <a:ext uri="{FF2B5EF4-FFF2-40B4-BE49-F238E27FC236}">
                <a16:creationId xmlns:a16="http://schemas.microsoft.com/office/drawing/2014/main" id="{493A1D04-6716-06C0-87A7-098708E4BA43}"/>
              </a:ext>
            </a:extLst>
          </p:cNvPr>
          <p:cNvSpPr/>
          <p:nvPr/>
        </p:nvSpPr>
        <p:spPr>
          <a:xfrm>
            <a:off x="129640" y="2784565"/>
            <a:ext cx="3672147" cy="383228"/>
          </a:xfrm>
          <a:prstGeom prst="roundRect">
            <a:avLst>
              <a:gd name="adj" fmla="val 17067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F04F90B-F5B6-1DBA-563F-76C8742DDB12}"/>
              </a:ext>
            </a:extLst>
          </p:cNvPr>
          <p:cNvSpPr txBox="1"/>
          <p:nvPr/>
        </p:nvSpPr>
        <p:spPr>
          <a:xfrm>
            <a:off x="1519303" y="2733858"/>
            <a:ext cx="9156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b="1" i="1"/>
              <a:t>Bind Mount</a:t>
            </a:r>
            <a:endParaRPr kumimoji="1" lang="ko-KR" altLang="en-US" sz="1000" b="1" i="1"/>
          </a:p>
        </p:txBody>
      </p:sp>
      <p:sp>
        <p:nvSpPr>
          <p:cNvPr id="11" name="사각형: 둥근 모서리 114">
            <a:extLst>
              <a:ext uri="{FF2B5EF4-FFF2-40B4-BE49-F238E27FC236}">
                <a16:creationId xmlns:a16="http://schemas.microsoft.com/office/drawing/2014/main" id="{07036A52-3D70-C051-1290-A70C66938F40}"/>
              </a:ext>
            </a:extLst>
          </p:cNvPr>
          <p:cNvSpPr/>
          <p:nvPr/>
        </p:nvSpPr>
        <p:spPr>
          <a:xfrm>
            <a:off x="139735" y="3826997"/>
            <a:ext cx="853220" cy="383228"/>
          </a:xfrm>
          <a:prstGeom prst="roundRect">
            <a:avLst>
              <a:gd name="adj" fmla="val 142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GPU Instance</a:t>
            </a:r>
          </a:p>
          <a:p>
            <a:pPr algn="ctr"/>
            <a:r>
              <a:rPr lang="en-US" altLang="ko-KR" sz="900"/>
              <a:t>4g.20gb  </a:t>
            </a:r>
            <a:endParaRPr lang="en-US" altLang="ko-KR" sz="900" dirty="0"/>
          </a:p>
        </p:txBody>
      </p:sp>
      <p:sp>
        <p:nvSpPr>
          <p:cNvPr id="14" name="사각형: 둥근 모서리 114">
            <a:extLst>
              <a:ext uri="{FF2B5EF4-FFF2-40B4-BE49-F238E27FC236}">
                <a16:creationId xmlns:a16="http://schemas.microsoft.com/office/drawing/2014/main" id="{8790A3D6-8BF8-2296-CF1C-F0EE7EAD32E7}"/>
              </a:ext>
            </a:extLst>
          </p:cNvPr>
          <p:cNvSpPr/>
          <p:nvPr/>
        </p:nvSpPr>
        <p:spPr>
          <a:xfrm>
            <a:off x="1080134" y="3306888"/>
            <a:ext cx="853220" cy="383228"/>
          </a:xfrm>
          <a:prstGeom prst="roundRect">
            <a:avLst>
              <a:gd name="adj" fmla="val 142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Compute Instance</a:t>
            </a:r>
          </a:p>
          <a:p>
            <a:pPr algn="ctr"/>
            <a:r>
              <a:rPr lang="en-US" altLang="ko-KR" sz="900" dirty="0"/>
              <a:t>1c.2g.10gb</a:t>
            </a:r>
          </a:p>
        </p:txBody>
      </p:sp>
      <p:sp>
        <p:nvSpPr>
          <p:cNvPr id="15" name="사각형: 둥근 모서리 114">
            <a:extLst>
              <a:ext uri="{FF2B5EF4-FFF2-40B4-BE49-F238E27FC236}">
                <a16:creationId xmlns:a16="http://schemas.microsoft.com/office/drawing/2014/main" id="{25786B8B-D2E6-BD29-B99D-E9DEB27D306A}"/>
              </a:ext>
            </a:extLst>
          </p:cNvPr>
          <p:cNvSpPr/>
          <p:nvPr/>
        </p:nvSpPr>
        <p:spPr>
          <a:xfrm>
            <a:off x="2024383" y="3306888"/>
            <a:ext cx="853220" cy="383228"/>
          </a:xfrm>
          <a:prstGeom prst="roundRect">
            <a:avLst>
              <a:gd name="adj" fmla="val 142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Compute Instance</a:t>
            </a:r>
            <a:br>
              <a:rPr lang="en-US" altLang="ko-KR" sz="900"/>
            </a:br>
            <a:r>
              <a:rPr lang="en-US" altLang="ko-KR" sz="900"/>
              <a:t>1c.2g.10gb</a:t>
            </a:r>
          </a:p>
        </p:txBody>
      </p:sp>
      <p:sp>
        <p:nvSpPr>
          <p:cNvPr id="16" name="사각형: 둥근 모서리 114">
            <a:extLst>
              <a:ext uri="{FF2B5EF4-FFF2-40B4-BE49-F238E27FC236}">
                <a16:creationId xmlns:a16="http://schemas.microsoft.com/office/drawing/2014/main" id="{570D836F-97DD-11DC-9C0D-7B6694868972}"/>
              </a:ext>
            </a:extLst>
          </p:cNvPr>
          <p:cNvSpPr/>
          <p:nvPr/>
        </p:nvSpPr>
        <p:spPr>
          <a:xfrm>
            <a:off x="1080134" y="3826997"/>
            <a:ext cx="1797470" cy="383228"/>
          </a:xfrm>
          <a:prstGeom prst="roundRect">
            <a:avLst>
              <a:gd name="adj" fmla="val 142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GPU Instance</a:t>
            </a:r>
          </a:p>
          <a:p>
            <a:pPr algn="ctr"/>
            <a:r>
              <a:rPr lang="en-US" altLang="ko-KR" sz="900"/>
              <a:t>2g.10gb  </a:t>
            </a:r>
            <a:endParaRPr lang="en-US" altLang="ko-KR" sz="900" dirty="0"/>
          </a:p>
        </p:txBody>
      </p:sp>
      <p:sp>
        <p:nvSpPr>
          <p:cNvPr id="18" name="사각형: 둥근 모서리 114">
            <a:extLst>
              <a:ext uri="{FF2B5EF4-FFF2-40B4-BE49-F238E27FC236}">
                <a16:creationId xmlns:a16="http://schemas.microsoft.com/office/drawing/2014/main" id="{4498602F-998B-EE70-2B16-9471704E0B51}"/>
              </a:ext>
            </a:extLst>
          </p:cNvPr>
          <p:cNvSpPr/>
          <p:nvPr/>
        </p:nvSpPr>
        <p:spPr>
          <a:xfrm>
            <a:off x="2948568" y="4343733"/>
            <a:ext cx="853220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1</a:t>
            </a:r>
            <a:endParaRPr lang="en-US" altLang="ko-KR" sz="900" dirty="0"/>
          </a:p>
        </p:txBody>
      </p:sp>
      <p:sp>
        <p:nvSpPr>
          <p:cNvPr id="19" name="사각형: 둥근 모서리 114">
            <a:extLst>
              <a:ext uri="{FF2B5EF4-FFF2-40B4-BE49-F238E27FC236}">
                <a16:creationId xmlns:a16="http://schemas.microsoft.com/office/drawing/2014/main" id="{CA67F6ED-3004-C04A-F30D-B242D3A45579}"/>
              </a:ext>
            </a:extLst>
          </p:cNvPr>
          <p:cNvSpPr/>
          <p:nvPr/>
        </p:nvSpPr>
        <p:spPr>
          <a:xfrm>
            <a:off x="2948568" y="3306888"/>
            <a:ext cx="853220" cy="383228"/>
          </a:xfrm>
          <a:prstGeom prst="roundRect">
            <a:avLst>
              <a:gd name="adj" fmla="val 1429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Compute Instance</a:t>
            </a:r>
            <a:br>
              <a:rPr lang="en-US" altLang="ko-KR" sz="900"/>
            </a:br>
            <a:r>
              <a:rPr lang="en-US" altLang="ko-KR" sz="900"/>
              <a:t>1g.5gb </a:t>
            </a:r>
            <a:endParaRPr lang="en-US" altLang="ko-KR" sz="900" dirty="0"/>
          </a:p>
        </p:txBody>
      </p:sp>
      <p:sp>
        <p:nvSpPr>
          <p:cNvPr id="20" name="사각형: 둥근 모서리 114">
            <a:extLst>
              <a:ext uri="{FF2B5EF4-FFF2-40B4-BE49-F238E27FC236}">
                <a16:creationId xmlns:a16="http://schemas.microsoft.com/office/drawing/2014/main" id="{2A84AF97-FCD7-14C2-8B12-7A02AFAAB734}"/>
              </a:ext>
            </a:extLst>
          </p:cNvPr>
          <p:cNvSpPr/>
          <p:nvPr/>
        </p:nvSpPr>
        <p:spPr>
          <a:xfrm>
            <a:off x="2948567" y="3826997"/>
            <a:ext cx="853220" cy="383228"/>
          </a:xfrm>
          <a:prstGeom prst="roundRect">
            <a:avLst>
              <a:gd name="adj" fmla="val 1429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GPU Instance</a:t>
            </a:r>
          </a:p>
          <a:p>
            <a:pPr algn="ctr"/>
            <a:r>
              <a:rPr lang="en-US" altLang="ko-KR" sz="900"/>
              <a:t>1g.5gb  </a:t>
            </a:r>
            <a:endParaRPr lang="en-US" altLang="ko-KR" sz="900" dirty="0"/>
          </a:p>
        </p:txBody>
      </p:sp>
      <p:cxnSp>
        <p:nvCxnSpPr>
          <p:cNvPr id="56" name="직선 연결선 17">
            <a:extLst>
              <a:ext uri="{FF2B5EF4-FFF2-40B4-BE49-F238E27FC236}">
                <a16:creationId xmlns:a16="http://schemas.microsoft.com/office/drawing/2014/main" id="{D46A5B03-2F37-EA73-EBCC-20BA1A6286E1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566345" y="4210225"/>
            <a:ext cx="938887" cy="133508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17">
            <a:extLst>
              <a:ext uri="{FF2B5EF4-FFF2-40B4-BE49-F238E27FC236}">
                <a16:creationId xmlns:a16="http://schemas.microsoft.com/office/drawing/2014/main" id="{5CB86614-5563-E7BD-5561-A2CB77503DF4}"/>
              </a:ext>
            </a:extLst>
          </p:cNvPr>
          <p:cNvCxnSpPr>
            <a:cxnSpLocks/>
            <a:stCxn id="16" idx="2"/>
            <a:endCxn id="12" idx="0"/>
          </p:cNvCxnSpPr>
          <p:nvPr/>
        </p:nvCxnSpPr>
        <p:spPr>
          <a:xfrm flipH="1">
            <a:off x="1505232" y="4210225"/>
            <a:ext cx="473637" cy="133508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17">
            <a:extLst>
              <a:ext uri="{FF2B5EF4-FFF2-40B4-BE49-F238E27FC236}">
                <a16:creationId xmlns:a16="http://schemas.microsoft.com/office/drawing/2014/main" id="{3F16F3CA-EFA8-5129-8C5D-B22C721BCBF5}"/>
              </a:ext>
            </a:extLst>
          </p:cNvPr>
          <p:cNvCxnSpPr>
            <a:cxnSpLocks/>
            <a:stCxn id="13" idx="2"/>
            <a:endCxn id="11" idx="0"/>
          </p:cNvCxnSpPr>
          <p:nvPr/>
        </p:nvCxnSpPr>
        <p:spPr>
          <a:xfrm>
            <a:off x="564528" y="3690116"/>
            <a:ext cx="1817" cy="136881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17">
            <a:extLst>
              <a:ext uri="{FF2B5EF4-FFF2-40B4-BE49-F238E27FC236}">
                <a16:creationId xmlns:a16="http://schemas.microsoft.com/office/drawing/2014/main" id="{60F84649-EE75-3851-161B-BCC4F16CA314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1506744" y="3690116"/>
            <a:ext cx="472125" cy="136881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17">
            <a:extLst>
              <a:ext uri="{FF2B5EF4-FFF2-40B4-BE49-F238E27FC236}">
                <a16:creationId xmlns:a16="http://schemas.microsoft.com/office/drawing/2014/main" id="{DD913F1F-8925-0CCD-6EA7-C78C36A83287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1978869" y="3690116"/>
            <a:ext cx="472125" cy="136881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17">
            <a:extLst>
              <a:ext uri="{FF2B5EF4-FFF2-40B4-BE49-F238E27FC236}">
                <a16:creationId xmlns:a16="http://schemas.microsoft.com/office/drawing/2014/main" id="{930B366B-62A9-B9BD-6917-1B5FDF59BCDB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3375177" y="3690116"/>
            <a:ext cx="1" cy="136881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17">
            <a:extLst>
              <a:ext uri="{FF2B5EF4-FFF2-40B4-BE49-F238E27FC236}">
                <a16:creationId xmlns:a16="http://schemas.microsoft.com/office/drawing/2014/main" id="{E59EBD19-F49B-A819-608A-1636B0B41447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>
            <a:off x="3375177" y="4210225"/>
            <a:ext cx="1" cy="133508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사각형: 둥근 모서리 114">
            <a:extLst>
              <a:ext uri="{FF2B5EF4-FFF2-40B4-BE49-F238E27FC236}">
                <a16:creationId xmlns:a16="http://schemas.microsoft.com/office/drawing/2014/main" id="{569A902B-68A5-BDB3-3E1D-75F75631BE2C}"/>
              </a:ext>
            </a:extLst>
          </p:cNvPr>
          <p:cNvSpPr/>
          <p:nvPr/>
        </p:nvSpPr>
        <p:spPr>
          <a:xfrm>
            <a:off x="6314971" y="60026"/>
            <a:ext cx="2492125" cy="2464513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7" name="사각형: 둥근 모서리 114">
            <a:extLst>
              <a:ext uri="{FF2B5EF4-FFF2-40B4-BE49-F238E27FC236}">
                <a16:creationId xmlns:a16="http://schemas.microsoft.com/office/drawing/2014/main" id="{AAB703E4-2AB5-00C2-4ACF-AB6BBEF88C9B}"/>
              </a:ext>
            </a:extLst>
          </p:cNvPr>
          <p:cNvSpPr/>
          <p:nvPr/>
        </p:nvSpPr>
        <p:spPr>
          <a:xfrm>
            <a:off x="6364733" y="336814"/>
            <a:ext cx="2385214" cy="2141343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8" name="사각형: 둥근 모서리 114">
            <a:extLst>
              <a:ext uri="{FF2B5EF4-FFF2-40B4-BE49-F238E27FC236}">
                <a16:creationId xmlns:a16="http://schemas.microsoft.com/office/drawing/2014/main" id="{5033B7F9-681B-806D-5A63-61839878347D}"/>
              </a:ext>
            </a:extLst>
          </p:cNvPr>
          <p:cNvSpPr/>
          <p:nvPr/>
        </p:nvSpPr>
        <p:spPr>
          <a:xfrm>
            <a:off x="6450579" y="1526478"/>
            <a:ext cx="1066284" cy="383228"/>
          </a:xfrm>
          <a:prstGeom prst="roundRect">
            <a:avLst>
              <a:gd name="adj" fmla="val 724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/dev/nvidia-caps</a:t>
            </a:r>
            <a:br>
              <a:rPr lang="en-US" altLang="ko-KR" sz="900"/>
            </a:br>
            <a:r>
              <a:rPr lang="en-US" altLang="ko-KR" sz="900"/>
              <a:t>/nvidia-caps84</a:t>
            </a:r>
            <a:endParaRPr lang="en-US" altLang="ko-KR" sz="900" dirty="0"/>
          </a:p>
        </p:txBody>
      </p:sp>
      <p:sp>
        <p:nvSpPr>
          <p:cNvPr id="99" name="사각형: 둥근 모서리 114">
            <a:extLst>
              <a:ext uri="{FF2B5EF4-FFF2-40B4-BE49-F238E27FC236}">
                <a16:creationId xmlns:a16="http://schemas.microsoft.com/office/drawing/2014/main" id="{EAB36863-D8ED-173F-100D-AC1872DDB74A}"/>
              </a:ext>
            </a:extLst>
          </p:cNvPr>
          <p:cNvSpPr/>
          <p:nvPr/>
        </p:nvSpPr>
        <p:spPr>
          <a:xfrm>
            <a:off x="6450578" y="1056152"/>
            <a:ext cx="2174756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00" name="사각형: 둥근 모서리 114">
            <a:extLst>
              <a:ext uri="{FF2B5EF4-FFF2-40B4-BE49-F238E27FC236}">
                <a16:creationId xmlns:a16="http://schemas.microsoft.com/office/drawing/2014/main" id="{7857C122-12B5-3706-A5C5-94F79C4A8ED1}"/>
              </a:ext>
            </a:extLst>
          </p:cNvPr>
          <p:cNvSpPr/>
          <p:nvPr/>
        </p:nvSpPr>
        <p:spPr>
          <a:xfrm>
            <a:off x="6450577" y="610481"/>
            <a:ext cx="2174756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  <a:br>
              <a:rPr lang="en-US" altLang="ko-KR" sz="900"/>
            </a:br>
            <a:r>
              <a:rPr lang="en-US" altLang="ko-KR" sz="900"/>
              <a:t>NVIDIA_VISIBLE_DEVICES Env  </a:t>
            </a:r>
            <a:endParaRPr lang="en-US" altLang="ko-KR" sz="900" dirty="0"/>
          </a:p>
        </p:txBody>
      </p:sp>
      <p:sp>
        <p:nvSpPr>
          <p:cNvPr id="101" name="사각형: 둥근 모서리 114">
            <a:extLst>
              <a:ext uri="{FF2B5EF4-FFF2-40B4-BE49-F238E27FC236}">
                <a16:creationId xmlns:a16="http://schemas.microsoft.com/office/drawing/2014/main" id="{45A9FECA-3CC2-3AFB-D2F2-F0495E800E37}"/>
              </a:ext>
            </a:extLst>
          </p:cNvPr>
          <p:cNvSpPr/>
          <p:nvPr/>
        </p:nvSpPr>
        <p:spPr>
          <a:xfrm>
            <a:off x="6450579" y="1996804"/>
            <a:ext cx="2186432" cy="383228"/>
          </a:xfrm>
          <a:prstGeom prst="roundRect">
            <a:avLst>
              <a:gd name="adj" fmla="val 1242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/dev/nvidia1</a:t>
            </a:r>
            <a:endParaRPr lang="en-US" altLang="ko-KR" sz="900" dirty="0"/>
          </a:p>
        </p:txBody>
      </p:sp>
      <p:sp>
        <p:nvSpPr>
          <p:cNvPr id="102" name="사각형: 둥근 모서리 114">
            <a:extLst>
              <a:ext uri="{FF2B5EF4-FFF2-40B4-BE49-F238E27FC236}">
                <a16:creationId xmlns:a16="http://schemas.microsoft.com/office/drawing/2014/main" id="{A3BE07EC-2D6F-1D64-4115-C21F755D21F4}"/>
              </a:ext>
            </a:extLst>
          </p:cNvPr>
          <p:cNvSpPr/>
          <p:nvPr/>
        </p:nvSpPr>
        <p:spPr>
          <a:xfrm>
            <a:off x="7560769" y="1526478"/>
            <a:ext cx="1066284" cy="383228"/>
          </a:xfrm>
          <a:prstGeom prst="roundRect">
            <a:avLst>
              <a:gd name="adj" fmla="val 7242"/>
            </a:avLst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/dev/nvidia-caps</a:t>
            </a:r>
            <a:br>
              <a:rPr lang="en-US" altLang="ko-KR" sz="900"/>
            </a:br>
            <a:r>
              <a:rPr lang="en-US" altLang="ko-KR" sz="900"/>
              <a:t>/nvidia-caps85</a:t>
            </a:r>
            <a:endParaRPr lang="en-US" altLang="ko-KR" sz="9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0D0D7E-19C8-2323-9E80-8A71AA503E53}"/>
              </a:ext>
            </a:extLst>
          </p:cNvPr>
          <p:cNvSpPr txBox="1"/>
          <p:nvPr/>
        </p:nvSpPr>
        <p:spPr>
          <a:xfrm>
            <a:off x="5568412" y="3389521"/>
            <a:ext cx="1618118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podb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r>
              <a:rPr lang="en-US" sz="800" kern="0" dirty="0">
                <a:cs typeface="Al Bayan Plain" pitchFamily="2" charset="-78"/>
              </a:rPr>
              <a:t>     - name: </a:t>
            </a:r>
            <a:r>
              <a:rPr lang="en-US" altLang="ko-KR" sz="800" kern="0" dirty="0">
                <a:cs typeface="Al Bayan Plain" pitchFamily="2" charset="-78"/>
              </a:rPr>
              <a:t>containerb</a:t>
            </a:r>
            <a:endParaRPr lang="en-US" sz="800" kern="0" dirty="0">
              <a:cs typeface="Al Bayan Plain" pitchFamily="2" charset="-78"/>
            </a:endParaRP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nvidia.com/mig-2g.10b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nvidia.com/mig-2g.10b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  <p:cxnSp>
        <p:nvCxnSpPr>
          <p:cNvPr id="107" name="직선 연결선 17">
            <a:extLst>
              <a:ext uri="{FF2B5EF4-FFF2-40B4-BE49-F238E27FC236}">
                <a16:creationId xmlns:a16="http://schemas.microsoft.com/office/drawing/2014/main" id="{D2DDC1AD-526E-1FAE-6807-3476824437AE}"/>
              </a:ext>
            </a:extLst>
          </p:cNvPr>
          <p:cNvCxnSpPr>
            <a:cxnSpLocks/>
            <a:stCxn id="75" idx="2"/>
            <a:endCxn id="26" idx="0"/>
          </p:cNvCxnSpPr>
          <p:nvPr/>
        </p:nvCxnSpPr>
        <p:spPr>
          <a:xfrm>
            <a:off x="1266891" y="1439380"/>
            <a:ext cx="698823" cy="1345185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7">
            <a:extLst>
              <a:ext uri="{FF2B5EF4-FFF2-40B4-BE49-F238E27FC236}">
                <a16:creationId xmlns:a16="http://schemas.microsoft.com/office/drawing/2014/main" id="{4E86ADFE-C369-A8B2-3A1C-CC3C0485CB50}"/>
              </a:ext>
            </a:extLst>
          </p:cNvPr>
          <p:cNvCxnSpPr>
            <a:cxnSpLocks/>
            <a:stCxn id="40" idx="2"/>
            <a:endCxn id="26" idx="0"/>
          </p:cNvCxnSpPr>
          <p:nvPr/>
        </p:nvCxnSpPr>
        <p:spPr>
          <a:xfrm flipH="1">
            <a:off x="1965714" y="1439380"/>
            <a:ext cx="2445883" cy="1345185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7">
            <a:extLst>
              <a:ext uri="{FF2B5EF4-FFF2-40B4-BE49-F238E27FC236}">
                <a16:creationId xmlns:a16="http://schemas.microsoft.com/office/drawing/2014/main" id="{E129FE32-3978-32B1-7E47-7C8B0D53F540}"/>
              </a:ext>
            </a:extLst>
          </p:cNvPr>
          <p:cNvCxnSpPr>
            <a:cxnSpLocks/>
            <a:stCxn id="99" idx="2"/>
            <a:endCxn id="26" idx="0"/>
          </p:cNvCxnSpPr>
          <p:nvPr/>
        </p:nvCxnSpPr>
        <p:spPr>
          <a:xfrm flipH="1">
            <a:off x="1965714" y="1439380"/>
            <a:ext cx="5572242" cy="1345185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7">
            <a:extLst>
              <a:ext uri="{FF2B5EF4-FFF2-40B4-BE49-F238E27FC236}">
                <a16:creationId xmlns:a16="http://schemas.microsoft.com/office/drawing/2014/main" id="{A0A40D2E-DE18-2DCB-BF21-F6E84D099837}"/>
              </a:ext>
            </a:extLst>
          </p:cNvPr>
          <p:cNvCxnSpPr>
            <a:cxnSpLocks/>
            <a:stCxn id="24" idx="2"/>
            <a:endCxn id="12" idx="0"/>
          </p:cNvCxnSpPr>
          <p:nvPr/>
        </p:nvCxnSpPr>
        <p:spPr>
          <a:xfrm>
            <a:off x="1272730" y="2380032"/>
            <a:ext cx="232502" cy="196370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7">
            <a:extLst>
              <a:ext uri="{FF2B5EF4-FFF2-40B4-BE49-F238E27FC236}">
                <a16:creationId xmlns:a16="http://schemas.microsoft.com/office/drawing/2014/main" id="{EF1478AE-680C-88F7-5635-A5001B37367E}"/>
              </a:ext>
            </a:extLst>
          </p:cNvPr>
          <p:cNvCxnSpPr>
            <a:cxnSpLocks/>
            <a:stCxn id="42" idx="2"/>
            <a:endCxn id="12" idx="0"/>
          </p:cNvCxnSpPr>
          <p:nvPr/>
        </p:nvCxnSpPr>
        <p:spPr>
          <a:xfrm flipH="1">
            <a:off x="1505232" y="2380032"/>
            <a:ext cx="2908417" cy="196370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7">
            <a:extLst>
              <a:ext uri="{FF2B5EF4-FFF2-40B4-BE49-F238E27FC236}">
                <a16:creationId xmlns:a16="http://schemas.microsoft.com/office/drawing/2014/main" id="{F1C910D3-FDF4-7C34-D81C-76ED5A0C1BBA}"/>
              </a:ext>
            </a:extLst>
          </p:cNvPr>
          <p:cNvCxnSpPr>
            <a:cxnSpLocks/>
            <a:stCxn id="101" idx="2"/>
            <a:endCxn id="18" idx="0"/>
          </p:cNvCxnSpPr>
          <p:nvPr/>
        </p:nvCxnSpPr>
        <p:spPr>
          <a:xfrm flipH="1">
            <a:off x="3375178" y="2380032"/>
            <a:ext cx="4168617" cy="1963701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7">
            <a:extLst>
              <a:ext uri="{FF2B5EF4-FFF2-40B4-BE49-F238E27FC236}">
                <a16:creationId xmlns:a16="http://schemas.microsoft.com/office/drawing/2014/main" id="{E07B0A35-DAFD-38B9-4277-081F4A0EBC69}"/>
              </a:ext>
            </a:extLst>
          </p:cNvPr>
          <p:cNvCxnSpPr>
            <a:cxnSpLocks/>
            <a:stCxn id="74" idx="2"/>
            <a:endCxn id="11" idx="0"/>
          </p:cNvCxnSpPr>
          <p:nvPr/>
        </p:nvCxnSpPr>
        <p:spPr>
          <a:xfrm flipH="1">
            <a:off x="566345" y="1909706"/>
            <a:ext cx="146311" cy="1917291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7">
            <a:extLst>
              <a:ext uri="{FF2B5EF4-FFF2-40B4-BE49-F238E27FC236}">
                <a16:creationId xmlns:a16="http://schemas.microsoft.com/office/drawing/2014/main" id="{97E28649-D121-571B-31D8-C1D30EBFE674}"/>
              </a:ext>
            </a:extLst>
          </p:cNvPr>
          <p:cNvCxnSpPr>
            <a:cxnSpLocks/>
            <a:stCxn id="33" idx="2"/>
            <a:endCxn id="13" idx="0"/>
          </p:cNvCxnSpPr>
          <p:nvPr/>
        </p:nvCxnSpPr>
        <p:spPr>
          <a:xfrm flipH="1">
            <a:off x="564527" y="1909706"/>
            <a:ext cx="1258319" cy="1397182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7">
            <a:extLst>
              <a:ext uri="{FF2B5EF4-FFF2-40B4-BE49-F238E27FC236}">
                <a16:creationId xmlns:a16="http://schemas.microsoft.com/office/drawing/2014/main" id="{16E3F696-4E91-B8D7-EF0B-5274DA19DFAF}"/>
              </a:ext>
            </a:extLst>
          </p:cNvPr>
          <p:cNvCxnSpPr>
            <a:cxnSpLocks/>
            <a:stCxn id="39" idx="2"/>
            <a:endCxn id="16" idx="0"/>
          </p:cNvCxnSpPr>
          <p:nvPr/>
        </p:nvCxnSpPr>
        <p:spPr>
          <a:xfrm flipH="1">
            <a:off x="1978869" y="1909706"/>
            <a:ext cx="1314633" cy="1917291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7">
            <a:extLst>
              <a:ext uri="{FF2B5EF4-FFF2-40B4-BE49-F238E27FC236}">
                <a16:creationId xmlns:a16="http://schemas.microsoft.com/office/drawing/2014/main" id="{50933849-9415-4EFB-08F3-1623BCA1E69F}"/>
              </a:ext>
            </a:extLst>
          </p:cNvPr>
          <p:cNvCxnSpPr>
            <a:cxnSpLocks/>
            <a:stCxn id="98" idx="2"/>
            <a:endCxn id="20" idx="0"/>
          </p:cNvCxnSpPr>
          <p:nvPr/>
        </p:nvCxnSpPr>
        <p:spPr>
          <a:xfrm flipH="1">
            <a:off x="3375177" y="1909706"/>
            <a:ext cx="3608544" cy="1917291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7">
            <a:extLst>
              <a:ext uri="{FF2B5EF4-FFF2-40B4-BE49-F238E27FC236}">
                <a16:creationId xmlns:a16="http://schemas.microsoft.com/office/drawing/2014/main" id="{AB0B62CA-AFB1-FCD4-3689-25C8AEE877D0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1505232" y="1909706"/>
            <a:ext cx="2908417" cy="1397182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7">
            <a:extLst>
              <a:ext uri="{FF2B5EF4-FFF2-40B4-BE49-F238E27FC236}">
                <a16:creationId xmlns:a16="http://schemas.microsoft.com/office/drawing/2014/main" id="{0A746BDF-CBD5-1BEC-F128-F216462E0CE7}"/>
              </a:ext>
            </a:extLst>
          </p:cNvPr>
          <p:cNvCxnSpPr>
            <a:cxnSpLocks/>
            <a:stCxn id="44" idx="2"/>
            <a:endCxn id="15" idx="0"/>
          </p:cNvCxnSpPr>
          <p:nvPr/>
        </p:nvCxnSpPr>
        <p:spPr>
          <a:xfrm flipH="1">
            <a:off x="2450993" y="1909706"/>
            <a:ext cx="3078701" cy="1397182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7">
            <a:extLst>
              <a:ext uri="{FF2B5EF4-FFF2-40B4-BE49-F238E27FC236}">
                <a16:creationId xmlns:a16="http://schemas.microsoft.com/office/drawing/2014/main" id="{415D208B-74F1-9B6D-2071-96B492E56C77}"/>
              </a:ext>
            </a:extLst>
          </p:cNvPr>
          <p:cNvCxnSpPr>
            <a:cxnSpLocks/>
            <a:stCxn id="102" idx="2"/>
            <a:endCxn id="19" idx="0"/>
          </p:cNvCxnSpPr>
          <p:nvPr/>
        </p:nvCxnSpPr>
        <p:spPr>
          <a:xfrm flipH="1">
            <a:off x="3375178" y="1909706"/>
            <a:ext cx="4718733" cy="1397182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876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B7BFB-B67A-5C8C-BEE6-0FBF678B8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874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83035-F4F8-430C-11F6-1C1D3DC19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114">
            <a:extLst>
              <a:ext uri="{FF2B5EF4-FFF2-40B4-BE49-F238E27FC236}">
                <a16:creationId xmlns:a16="http://schemas.microsoft.com/office/drawing/2014/main" id="{3BC0CA0E-E1A6-E46C-8CEA-7B0413406445}"/>
              </a:ext>
            </a:extLst>
          </p:cNvPr>
          <p:cNvSpPr/>
          <p:nvPr/>
        </p:nvSpPr>
        <p:spPr>
          <a:xfrm>
            <a:off x="4981274" y="796958"/>
            <a:ext cx="1385789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844E6D60-39D2-FAD0-A545-A1E6EF5A5327}"/>
              </a:ext>
            </a:extLst>
          </p:cNvPr>
          <p:cNvSpPr/>
          <p:nvPr/>
        </p:nvSpPr>
        <p:spPr>
          <a:xfrm>
            <a:off x="899592" y="800730"/>
            <a:ext cx="4006850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F03375D-5CC8-9FA4-F900-6D7D7F90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B1F3BAC6-7EE6-F106-9ACD-B15996E2562F}"/>
              </a:ext>
            </a:extLst>
          </p:cNvPr>
          <p:cNvSpPr/>
          <p:nvPr/>
        </p:nvSpPr>
        <p:spPr>
          <a:xfrm>
            <a:off x="2369518" y="1082999"/>
            <a:ext cx="2486761" cy="1662236"/>
          </a:xfrm>
          <a:prstGeom prst="roundRect">
            <a:avLst>
              <a:gd name="adj" fmla="val 402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52568EDC-CDE4-9D59-124B-BE04BF69EA8B}"/>
              </a:ext>
            </a:extLst>
          </p:cNvPr>
          <p:cNvSpPr/>
          <p:nvPr/>
        </p:nvSpPr>
        <p:spPr>
          <a:xfrm>
            <a:off x="2457252" y="2277026"/>
            <a:ext cx="1099999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/dev/nvidia1</a:t>
            </a:r>
            <a:endParaRPr lang="en-US" altLang="ko-KR" sz="90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1BB97E77-6BE8-FD15-7523-813F99BDAB40}"/>
              </a:ext>
            </a:extLst>
          </p:cNvPr>
          <p:cNvSpPr/>
          <p:nvPr/>
        </p:nvSpPr>
        <p:spPr>
          <a:xfrm>
            <a:off x="3658852" y="2277026"/>
            <a:ext cx="1099868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/dev/nvidia2</a:t>
            </a:r>
            <a:endParaRPr lang="en-US" altLang="ko-KR" sz="90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CED71234-BD4D-81AF-AA02-6F7BC980AC52}"/>
              </a:ext>
            </a:extLst>
          </p:cNvPr>
          <p:cNvSpPr/>
          <p:nvPr/>
        </p:nvSpPr>
        <p:spPr>
          <a:xfrm>
            <a:off x="2457252" y="1806701"/>
            <a:ext cx="2301467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146A5A02-44B0-1AD9-F281-E09B28CA9450}"/>
              </a:ext>
            </a:extLst>
          </p:cNvPr>
          <p:cNvSpPr/>
          <p:nvPr/>
        </p:nvSpPr>
        <p:spPr>
          <a:xfrm>
            <a:off x="949353" y="1077519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FDE6BC78-64EB-22B1-17E0-5C635F39F5B5}"/>
              </a:ext>
            </a:extLst>
          </p:cNvPr>
          <p:cNvSpPr/>
          <p:nvPr/>
        </p:nvSpPr>
        <p:spPr>
          <a:xfrm>
            <a:off x="1035199" y="2267182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/dev/nvidia0</a:t>
            </a:r>
            <a:endParaRPr lang="en-US" altLang="ko-KR" sz="9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7C84C3FF-92C8-A4DE-463F-284F1ED056DA}"/>
              </a:ext>
            </a:extLst>
          </p:cNvPr>
          <p:cNvSpPr/>
          <p:nvPr/>
        </p:nvSpPr>
        <p:spPr>
          <a:xfrm>
            <a:off x="1035198" y="1796856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46" name="사각형: 둥근 모서리 114">
            <a:extLst>
              <a:ext uri="{FF2B5EF4-FFF2-40B4-BE49-F238E27FC236}">
                <a16:creationId xmlns:a16="http://schemas.microsoft.com/office/drawing/2014/main" id="{A8B22632-77D0-7228-C472-5E12C25C3942}"/>
              </a:ext>
            </a:extLst>
          </p:cNvPr>
          <p:cNvSpPr/>
          <p:nvPr/>
        </p:nvSpPr>
        <p:spPr>
          <a:xfrm>
            <a:off x="2457252" y="1355550"/>
            <a:ext cx="2301467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NVIDIA_VISIBLE_DEVICES Env  </a:t>
            </a:r>
            <a:endParaRPr lang="en-US" altLang="ko-KR" sz="9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DE52A461-26C7-C784-7AF5-E923F5A88FE1}"/>
              </a:ext>
            </a:extLst>
          </p:cNvPr>
          <p:cNvSpPr/>
          <p:nvPr/>
        </p:nvSpPr>
        <p:spPr>
          <a:xfrm>
            <a:off x="1035198" y="1351185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A833BD88-7A76-A7C0-7505-109390921473}"/>
              </a:ext>
            </a:extLst>
          </p:cNvPr>
          <p:cNvSpPr/>
          <p:nvPr/>
        </p:nvSpPr>
        <p:spPr>
          <a:xfrm>
            <a:off x="5029966" y="1077519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사각형: 둥근 모서리 114">
            <a:extLst>
              <a:ext uri="{FF2B5EF4-FFF2-40B4-BE49-F238E27FC236}">
                <a16:creationId xmlns:a16="http://schemas.microsoft.com/office/drawing/2014/main" id="{73635CB4-3B1E-7FBA-5919-5F08ABA7CE26}"/>
              </a:ext>
            </a:extLst>
          </p:cNvPr>
          <p:cNvSpPr/>
          <p:nvPr/>
        </p:nvSpPr>
        <p:spPr>
          <a:xfrm>
            <a:off x="5115812" y="2267182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/dev/nvidia3</a:t>
            </a:r>
            <a:endParaRPr lang="en-US" altLang="ko-KR" sz="900" dirty="0"/>
          </a:p>
        </p:txBody>
      </p:sp>
      <p:sp>
        <p:nvSpPr>
          <p:cNvPr id="6" name="사각형: 둥근 모서리 114">
            <a:extLst>
              <a:ext uri="{FF2B5EF4-FFF2-40B4-BE49-F238E27FC236}">
                <a16:creationId xmlns:a16="http://schemas.microsoft.com/office/drawing/2014/main" id="{CA19FB7F-D092-91AE-15D6-59436B53AA0D}"/>
              </a:ext>
            </a:extLst>
          </p:cNvPr>
          <p:cNvSpPr/>
          <p:nvPr/>
        </p:nvSpPr>
        <p:spPr>
          <a:xfrm>
            <a:off x="5115811" y="1796856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" name="사각형: 둥근 모서리 114">
            <a:extLst>
              <a:ext uri="{FF2B5EF4-FFF2-40B4-BE49-F238E27FC236}">
                <a16:creationId xmlns:a16="http://schemas.microsoft.com/office/drawing/2014/main" id="{17C27B79-C217-806E-D199-1D91FC493896}"/>
              </a:ext>
            </a:extLst>
          </p:cNvPr>
          <p:cNvSpPr/>
          <p:nvPr/>
        </p:nvSpPr>
        <p:spPr>
          <a:xfrm>
            <a:off x="5115811" y="1351185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9" name="사각형: 둥근 모서리 114">
            <a:extLst>
              <a:ext uri="{FF2B5EF4-FFF2-40B4-BE49-F238E27FC236}">
                <a16:creationId xmlns:a16="http://schemas.microsoft.com/office/drawing/2014/main" id="{8EDE7A4D-2EE9-8C2C-C2E9-BC88ABB9C2D0}"/>
              </a:ext>
            </a:extLst>
          </p:cNvPr>
          <p:cNvSpPr/>
          <p:nvPr/>
        </p:nvSpPr>
        <p:spPr>
          <a:xfrm>
            <a:off x="1110454" y="3003798"/>
            <a:ext cx="5045722" cy="1177659"/>
          </a:xfrm>
          <a:prstGeom prst="roundRect">
            <a:avLst>
              <a:gd name="adj" fmla="val 464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</a:t>
            </a:r>
            <a:endParaRPr lang="en-US" altLang="ko-KR" sz="1000" b="1" dirty="0"/>
          </a:p>
        </p:txBody>
      </p:sp>
      <p:sp>
        <p:nvSpPr>
          <p:cNvPr id="12" name="사각형: 둥근 모서리 114">
            <a:extLst>
              <a:ext uri="{FF2B5EF4-FFF2-40B4-BE49-F238E27FC236}">
                <a16:creationId xmlns:a16="http://schemas.microsoft.com/office/drawing/2014/main" id="{6A7FB9C0-DF97-94C8-A3A0-D91DD5BEEEB7}"/>
              </a:ext>
            </a:extLst>
          </p:cNvPr>
          <p:cNvSpPr/>
          <p:nvPr/>
        </p:nvSpPr>
        <p:spPr>
          <a:xfrm>
            <a:off x="1209844" y="3544142"/>
            <a:ext cx="1077331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0</a:t>
            </a:r>
            <a:endParaRPr lang="en-US" altLang="ko-KR" sz="900" dirty="0"/>
          </a:p>
        </p:txBody>
      </p:sp>
      <p:sp>
        <p:nvSpPr>
          <p:cNvPr id="13" name="사각형: 둥근 모서리 114">
            <a:extLst>
              <a:ext uri="{FF2B5EF4-FFF2-40B4-BE49-F238E27FC236}">
                <a16:creationId xmlns:a16="http://schemas.microsoft.com/office/drawing/2014/main" id="{37B741F2-B496-AFC7-EFE5-EDD6495B14AB}"/>
              </a:ext>
            </a:extLst>
          </p:cNvPr>
          <p:cNvSpPr/>
          <p:nvPr/>
        </p:nvSpPr>
        <p:spPr>
          <a:xfrm>
            <a:off x="2469823" y="3544142"/>
            <a:ext cx="1077331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1</a:t>
            </a:r>
            <a:endParaRPr lang="en-US" altLang="ko-KR" sz="900" dirty="0"/>
          </a:p>
        </p:txBody>
      </p:sp>
      <p:sp>
        <p:nvSpPr>
          <p:cNvPr id="18" name="사각형: 둥근 모서리 114">
            <a:extLst>
              <a:ext uri="{FF2B5EF4-FFF2-40B4-BE49-F238E27FC236}">
                <a16:creationId xmlns:a16="http://schemas.microsoft.com/office/drawing/2014/main" id="{AD168DAA-E38B-40CF-0D65-CA499B1F2926}"/>
              </a:ext>
            </a:extLst>
          </p:cNvPr>
          <p:cNvSpPr/>
          <p:nvPr/>
        </p:nvSpPr>
        <p:spPr>
          <a:xfrm>
            <a:off x="3729801" y="3544142"/>
            <a:ext cx="1077331" cy="383228"/>
          </a:xfrm>
          <a:prstGeom prst="roundRect">
            <a:avLst>
              <a:gd name="adj" fmla="val 1252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2</a:t>
            </a:r>
            <a:endParaRPr lang="en-US" altLang="ko-KR" sz="900" dirty="0"/>
          </a:p>
        </p:txBody>
      </p:sp>
      <p:sp>
        <p:nvSpPr>
          <p:cNvPr id="19" name="사각형: 둥근 모서리 114">
            <a:extLst>
              <a:ext uri="{FF2B5EF4-FFF2-40B4-BE49-F238E27FC236}">
                <a16:creationId xmlns:a16="http://schemas.microsoft.com/office/drawing/2014/main" id="{70882C88-3E1F-AE1B-85EC-3B436F5FA12D}"/>
              </a:ext>
            </a:extLst>
          </p:cNvPr>
          <p:cNvSpPr/>
          <p:nvPr/>
        </p:nvSpPr>
        <p:spPr>
          <a:xfrm>
            <a:off x="4989780" y="3544142"/>
            <a:ext cx="1077331" cy="383228"/>
          </a:xfrm>
          <a:prstGeom prst="roundRect">
            <a:avLst>
              <a:gd name="adj" fmla="val 1605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</a:t>
            </a:r>
          </a:p>
          <a:p>
            <a:pPr algn="ctr"/>
            <a:r>
              <a:rPr lang="en-US" altLang="ko-KR" sz="900"/>
              <a:t>GPU 3</a:t>
            </a:r>
            <a:endParaRPr lang="en-US" altLang="ko-KR" sz="900" dirty="0"/>
          </a:p>
        </p:txBody>
      </p:sp>
      <p:sp>
        <p:nvSpPr>
          <p:cNvPr id="26" name="사각형: 둥근 모서리 114">
            <a:extLst>
              <a:ext uri="{FF2B5EF4-FFF2-40B4-BE49-F238E27FC236}">
                <a16:creationId xmlns:a16="http://schemas.microsoft.com/office/drawing/2014/main" id="{C3C17EBB-A5EE-849C-0987-9AD0E7FEF413}"/>
              </a:ext>
            </a:extLst>
          </p:cNvPr>
          <p:cNvSpPr/>
          <p:nvPr/>
        </p:nvSpPr>
        <p:spPr>
          <a:xfrm>
            <a:off x="1205028" y="3078892"/>
            <a:ext cx="4862083" cy="383228"/>
          </a:xfrm>
          <a:prstGeom prst="roundRect">
            <a:avLst>
              <a:gd name="adj" fmla="val 17067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AF72278-DFAE-6241-3137-0F15372D8E51}"/>
              </a:ext>
            </a:extLst>
          </p:cNvPr>
          <p:cNvSpPr txBox="1"/>
          <p:nvPr/>
        </p:nvSpPr>
        <p:spPr>
          <a:xfrm>
            <a:off x="3178253" y="3023958"/>
            <a:ext cx="915635" cy="23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i="1"/>
              <a:t>Bind Mount</a:t>
            </a:r>
            <a:endParaRPr kumimoji="1" lang="ko-KR" altLang="en-US" sz="1000" b="1" i="1"/>
          </a:p>
        </p:txBody>
      </p:sp>
      <p:cxnSp>
        <p:nvCxnSpPr>
          <p:cNvPr id="59" name="직선 연결선 17">
            <a:extLst>
              <a:ext uri="{FF2B5EF4-FFF2-40B4-BE49-F238E27FC236}">
                <a16:creationId xmlns:a16="http://schemas.microsoft.com/office/drawing/2014/main" id="{0902E648-5E7B-A6DD-E6BA-9278DB5A95FE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 flipH="1">
            <a:off x="3636070" y="2180084"/>
            <a:ext cx="2029097" cy="898808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17">
            <a:extLst>
              <a:ext uri="{FF2B5EF4-FFF2-40B4-BE49-F238E27FC236}">
                <a16:creationId xmlns:a16="http://schemas.microsoft.com/office/drawing/2014/main" id="{6591C010-7620-1304-3B6A-7D3C1B8B27F3}"/>
              </a:ext>
            </a:extLst>
          </p:cNvPr>
          <p:cNvCxnSpPr>
            <a:cxnSpLocks/>
            <a:stCxn id="53" idx="2"/>
            <a:endCxn id="26" idx="0"/>
          </p:cNvCxnSpPr>
          <p:nvPr/>
        </p:nvCxnSpPr>
        <p:spPr>
          <a:xfrm>
            <a:off x="3607986" y="2189929"/>
            <a:ext cx="28084" cy="888963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17">
            <a:extLst>
              <a:ext uri="{FF2B5EF4-FFF2-40B4-BE49-F238E27FC236}">
                <a16:creationId xmlns:a16="http://schemas.microsoft.com/office/drawing/2014/main" id="{9936B8BD-46FC-C794-F6C7-338193F6D2D5}"/>
              </a:ext>
            </a:extLst>
          </p:cNvPr>
          <p:cNvCxnSpPr>
            <a:cxnSpLocks/>
            <a:stCxn id="75" idx="2"/>
            <a:endCxn id="26" idx="0"/>
          </p:cNvCxnSpPr>
          <p:nvPr/>
        </p:nvCxnSpPr>
        <p:spPr>
          <a:xfrm>
            <a:off x="1584554" y="2180084"/>
            <a:ext cx="2051516" cy="898808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ED5A720-5416-D456-0539-97460321FAB4}"/>
              </a:ext>
            </a:extLst>
          </p:cNvPr>
          <p:cNvSpPr txBox="1"/>
          <p:nvPr/>
        </p:nvSpPr>
        <p:spPr>
          <a:xfrm>
            <a:off x="6561999" y="2885931"/>
            <a:ext cx="16652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podb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containerc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D4AA98-4DEB-E8FC-57CC-87D37FDFCD61}"/>
              </a:ext>
            </a:extLst>
          </p:cNvPr>
          <p:cNvSpPr txBox="1"/>
          <p:nvPr/>
        </p:nvSpPr>
        <p:spPr>
          <a:xfrm>
            <a:off x="6561999" y="577607"/>
            <a:ext cx="1665290" cy="230832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cs typeface="Al Bayan Plain" pitchFamily="2" charset="-78"/>
              </a:rPr>
              <a:t>     - name: containerb</a:t>
            </a:r>
          </a:p>
          <a:p>
            <a:r>
              <a:rPr lang="en-US" altLang="ko-KR" sz="800" kern="0" dirty="0">
                <a:cs typeface="Al Bayan Plain" pitchFamily="2" charset="-78"/>
              </a:rPr>
              <a:t>       resources: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  <p:cxnSp>
        <p:nvCxnSpPr>
          <p:cNvPr id="41" name="직선 연결선 17">
            <a:extLst>
              <a:ext uri="{FF2B5EF4-FFF2-40B4-BE49-F238E27FC236}">
                <a16:creationId xmlns:a16="http://schemas.microsoft.com/office/drawing/2014/main" id="{781A32A1-AA73-8D8B-0BAC-D0E7A05926CB}"/>
              </a:ext>
            </a:extLst>
          </p:cNvPr>
          <p:cNvCxnSpPr>
            <a:cxnSpLocks/>
            <a:stCxn id="74" idx="2"/>
            <a:endCxn id="12" idx="0"/>
          </p:cNvCxnSpPr>
          <p:nvPr/>
        </p:nvCxnSpPr>
        <p:spPr>
          <a:xfrm>
            <a:off x="1584555" y="2650410"/>
            <a:ext cx="163955" cy="89373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17">
            <a:extLst>
              <a:ext uri="{FF2B5EF4-FFF2-40B4-BE49-F238E27FC236}">
                <a16:creationId xmlns:a16="http://schemas.microsoft.com/office/drawing/2014/main" id="{BB9AC36B-64F2-1F83-9682-930BCCDE3D2B}"/>
              </a:ext>
            </a:extLst>
          </p:cNvPr>
          <p:cNvCxnSpPr>
            <a:cxnSpLocks/>
            <a:stCxn id="48" idx="2"/>
            <a:endCxn id="13" idx="0"/>
          </p:cNvCxnSpPr>
          <p:nvPr/>
        </p:nvCxnSpPr>
        <p:spPr>
          <a:xfrm>
            <a:off x="3007252" y="2660254"/>
            <a:ext cx="1237" cy="88388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17">
            <a:extLst>
              <a:ext uri="{FF2B5EF4-FFF2-40B4-BE49-F238E27FC236}">
                <a16:creationId xmlns:a16="http://schemas.microsoft.com/office/drawing/2014/main" id="{AF759C52-B321-1C35-D771-A8B1100829FD}"/>
              </a:ext>
            </a:extLst>
          </p:cNvPr>
          <p:cNvCxnSpPr>
            <a:cxnSpLocks/>
            <a:stCxn id="49" idx="2"/>
            <a:endCxn id="18" idx="0"/>
          </p:cNvCxnSpPr>
          <p:nvPr/>
        </p:nvCxnSpPr>
        <p:spPr>
          <a:xfrm>
            <a:off x="4208786" y="2660254"/>
            <a:ext cx="59681" cy="88388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17">
            <a:extLst>
              <a:ext uri="{FF2B5EF4-FFF2-40B4-BE49-F238E27FC236}">
                <a16:creationId xmlns:a16="http://schemas.microsoft.com/office/drawing/2014/main" id="{85E03CE4-DB2E-2F95-02D1-36AAF202AED1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5528446" y="2168302"/>
            <a:ext cx="136722" cy="137584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896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3B3C3-F894-4CAA-AEFE-4DDAC2B43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114">
            <a:extLst>
              <a:ext uri="{FF2B5EF4-FFF2-40B4-BE49-F238E27FC236}">
                <a16:creationId xmlns:a16="http://schemas.microsoft.com/office/drawing/2014/main" id="{737D6A97-872F-88A0-07B7-8EA56477F817}"/>
              </a:ext>
            </a:extLst>
          </p:cNvPr>
          <p:cNvSpPr/>
          <p:nvPr/>
        </p:nvSpPr>
        <p:spPr>
          <a:xfrm>
            <a:off x="4981274" y="577607"/>
            <a:ext cx="1385789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4C2A11D7-9D68-19CB-2AEF-9AAC879E8A09}"/>
              </a:ext>
            </a:extLst>
          </p:cNvPr>
          <p:cNvSpPr/>
          <p:nvPr/>
        </p:nvSpPr>
        <p:spPr>
          <a:xfrm>
            <a:off x="899592" y="581379"/>
            <a:ext cx="4006850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53EA01-1334-DA3C-3B0F-856C3DE26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8E975B45-FDD3-670E-EA85-51DD13627C6C}"/>
              </a:ext>
            </a:extLst>
          </p:cNvPr>
          <p:cNvSpPr/>
          <p:nvPr/>
        </p:nvSpPr>
        <p:spPr>
          <a:xfrm>
            <a:off x="2369518" y="863648"/>
            <a:ext cx="2486761" cy="1662236"/>
          </a:xfrm>
          <a:prstGeom prst="roundRect">
            <a:avLst>
              <a:gd name="adj" fmla="val 402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B128BA0B-1F5E-2D33-9FC9-A186950F2C2C}"/>
              </a:ext>
            </a:extLst>
          </p:cNvPr>
          <p:cNvSpPr/>
          <p:nvPr/>
        </p:nvSpPr>
        <p:spPr>
          <a:xfrm>
            <a:off x="2457252" y="2057675"/>
            <a:ext cx="1099999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76035757-6A6C-A00F-BB54-6AC081316FAE}"/>
              </a:ext>
            </a:extLst>
          </p:cNvPr>
          <p:cNvSpPr/>
          <p:nvPr/>
        </p:nvSpPr>
        <p:spPr>
          <a:xfrm>
            <a:off x="3658852" y="2057675"/>
            <a:ext cx="1099868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/dev/nvidia2</a:t>
            </a:r>
            <a:endParaRPr lang="en-US" altLang="ko-KR" sz="100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1FBA3070-F185-308E-5230-BA40D1C0A30B}"/>
              </a:ext>
            </a:extLst>
          </p:cNvPr>
          <p:cNvSpPr/>
          <p:nvPr/>
        </p:nvSpPr>
        <p:spPr>
          <a:xfrm>
            <a:off x="2457252" y="1587350"/>
            <a:ext cx="2301467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A7539727-9419-2D0C-A4F5-FE987B6999F0}"/>
              </a:ext>
            </a:extLst>
          </p:cNvPr>
          <p:cNvSpPr/>
          <p:nvPr/>
        </p:nvSpPr>
        <p:spPr>
          <a:xfrm>
            <a:off x="949353" y="858168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93D9EBCD-F207-6D47-E947-063FD36A5DF3}"/>
              </a:ext>
            </a:extLst>
          </p:cNvPr>
          <p:cNvSpPr/>
          <p:nvPr/>
        </p:nvSpPr>
        <p:spPr>
          <a:xfrm>
            <a:off x="1035199" y="2047831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8E27558B-AB3A-92C2-EFC3-E11BB285D5B3}"/>
              </a:ext>
            </a:extLst>
          </p:cNvPr>
          <p:cNvSpPr/>
          <p:nvPr/>
        </p:nvSpPr>
        <p:spPr>
          <a:xfrm>
            <a:off x="1035198" y="1577505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46" name="사각형: 둥근 모서리 114">
            <a:extLst>
              <a:ext uri="{FF2B5EF4-FFF2-40B4-BE49-F238E27FC236}">
                <a16:creationId xmlns:a16="http://schemas.microsoft.com/office/drawing/2014/main" id="{53D274A3-A9C0-7B4E-1530-5A2BBC9BC2D7}"/>
              </a:ext>
            </a:extLst>
          </p:cNvPr>
          <p:cNvSpPr/>
          <p:nvPr/>
        </p:nvSpPr>
        <p:spPr>
          <a:xfrm>
            <a:off x="2457252" y="1136199"/>
            <a:ext cx="2301467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NVIDIA_VISIBLE_DEVICES Env  </a:t>
            </a:r>
            <a:endParaRPr lang="en-US" altLang="ko-KR" sz="9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C01296C7-B053-06FD-F653-5667ECB99ED9}"/>
              </a:ext>
            </a:extLst>
          </p:cNvPr>
          <p:cNvSpPr/>
          <p:nvPr/>
        </p:nvSpPr>
        <p:spPr>
          <a:xfrm>
            <a:off x="1035198" y="1131834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10F4639E-DAA4-C86C-4BEE-FB6C688098AF}"/>
              </a:ext>
            </a:extLst>
          </p:cNvPr>
          <p:cNvSpPr/>
          <p:nvPr/>
        </p:nvSpPr>
        <p:spPr>
          <a:xfrm>
            <a:off x="5029966" y="858168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사각형: 둥근 모서리 114">
            <a:extLst>
              <a:ext uri="{FF2B5EF4-FFF2-40B4-BE49-F238E27FC236}">
                <a16:creationId xmlns:a16="http://schemas.microsoft.com/office/drawing/2014/main" id="{E8FAD095-B07C-CDE3-AD1A-201EF98683EF}"/>
              </a:ext>
            </a:extLst>
          </p:cNvPr>
          <p:cNvSpPr/>
          <p:nvPr/>
        </p:nvSpPr>
        <p:spPr>
          <a:xfrm>
            <a:off x="5115812" y="2047831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/dev/nvidia3</a:t>
            </a:r>
            <a:endParaRPr lang="en-US" altLang="ko-KR" sz="1000" dirty="0"/>
          </a:p>
        </p:txBody>
      </p:sp>
      <p:sp>
        <p:nvSpPr>
          <p:cNvPr id="6" name="사각형: 둥근 모서리 114">
            <a:extLst>
              <a:ext uri="{FF2B5EF4-FFF2-40B4-BE49-F238E27FC236}">
                <a16:creationId xmlns:a16="http://schemas.microsoft.com/office/drawing/2014/main" id="{43930940-5A30-8457-6839-528320BB515E}"/>
              </a:ext>
            </a:extLst>
          </p:cNvPr>
          <p:cNvSpPr/>
          <p:nvPr/>
        </p:nvSpPr>
        <p:spPr>
          <a:xfrm>
            <a:off x="5115811" y="1577505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" name="사각형: 둥근 모서리 114">
            <a:extLst>
              <a:ext uri="{FF2B5EF4-FFF2-40B4-BE49-F238E27FC236}">
                <a16:creationId xmlns:a16="http://schemas.microsoft.com/office/drawing/2014/main" id="{AD40FC01-8122-4ED8-EA54-089363DA9E04}"/>
              </a:ext>
            </a:extLst>
          </p:cNvPr>
          <p:cNvSpPr/>
          <p:nvPr/>
        </p:nvSpPr>
        <p:spPr>
          <a:xfrm>
            <a:off x="5115811" y="1131834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9" name="사각형: 둥근 모서리 114">
            <a:extLst>
              <a:ext uri="{FF2B5EF4-FFF2-40B4-BE49-F238E27FC236}">
                <a16:creationId xmlns:a16="http://schemas.microsoft.com/office/drawing/2014/main" id="{753D8BCB-C06A-0F02-7527-B601EF619B9D}"/>
              </a:ext>
            </a:extLst>
          </p:cNvPr>
          <p:cNvSpPr/>
          <p:nvPr/>
        </p:nvSpPr>
        <p:spPr>
          <a:xfrm>
            <a:off x="1110454" y="2784447"/>
            <a:ext cx="5045722" cy="1660433"/>
          </a:xfrm>
          <a:prstGeom prst="roundRect">
            <a:avLst>
              <a:gd name="adj" fmla="val 464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</a:t>
            </a:r>
            <a:endParaRPr lang="en-US" altLang="ko-KR" sz="1000" b="1" dirty="0"/>
          </a:p>
        </p:txBody>
      </p:sp>
      <p:sp>
        <p:nvSpPr>
          <p:cNvPr id="12" name="사각형: 둥근 모서리 114">
            <a:extLst>
              <a:ext uri="{FF2B5EF4-FFF2-40B4-BE49-F238E27FC236}">
                <a16:creationId xmlns:a16="http://schemas.microsoft.com/office/drawing/2014/main" id="{408373CE-78A2-AE3B-6181-92492D1BCDC5}"/>
              </a:ext>
            </a:extLst>
          </p:cNvPr>
          <p:cNvSpPr/>
          <p:nvPr/>
        </p:nvSpPr>
        <p:spPr>
          <a:xfrm>
            <a:off x="1209844" y="3806899"/>
            <a:ext cx="1077331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0</a:t>
            </a:r>
            <a:endParaRPr lang="en-US" altLang="ko-KR" sz="1000" dirty="0"/>
          </a:p>
        </p:txBody>
      </p:sp>
      <p:sp>
        <p:nvSpPr>
          <p:cNvPr id="13" name="사각형: 둥근 모서리 114">
            <a:extLst>
              <a:ext uri="{FF2B5EF4-FFF2-40B4-BE49-F238E27FC236}">
                <a16:creationId xmlns:a16="http://schemas.microsoft.com/office/drawing/2014/main" id="{F2BDFFD5-56E3-F1B4-91C6-CC42BF4F86B6}"/>
              </a:ext>
            </a:extLst>
          </p:cNvPr>
          <p:cNvSpPr/>
          <p:nvPr/>
        </p:nvSpPr>
        <p:spPr>
          <a:xfrm>
            <a:off x="2469823" y="3806899"/>
            <a:ext cx="1077331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1</a:t>
            </a:r>
            <a:endParaRPr lang="en-US" altLang="ko-KR" sz="1000" dirty="0"/>
          </a:p>
        </p:txBody>
      </p:sp>
      <p:sp>
        <p:nvSpPr>
          <p:cNvPr id="18" name="사각형: 둥근 모서리 114">
            <a:extLst>
              <a:ext uri="{FF2B5EF4-FFF2-40B4-BE49-F238E27FC236}">
                <a16:creationId xmlns:a16="http://schemas.microsoft.com/office/drawing/2014/main" id="{D4147002-D8BA-197F-E6C3-F2E7E2CFD514}"/>
              </a:ext>
            </a:extLst>
          </p:cNvPr>
          <p:cNvSpPr/>
          <p:nvPr/>
        </p:nvSpPr>
        <p:spPr>
          <a:xfrm>
            <a:off x="3729801" y="3806899"/>
            <a:ext cx="1077331" cy="383228"/>
          </a:xfrm>
          <a:prstGeom prst="roundRect">
            <a:avLst>
              <a:gd name="adj" fmla="val 1252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2</a:t>
            </a:r>
            <a:endParaRPr lang="en-US" altLang="ko-KR" sz="1000" dirty="0"/>
          </a:p>
        </p:txBody>
      </p:sp>
      <p:sp>
        <p:nvSpPr>
          <p:cNvPr id="19" name="사각형: 둥근 모서리 114">
            <a:extLst>
              <a:ext uri="{FF2B5EF4-FFF2-40B4-BE49-F238E27FC236}">
                <a16:creationId xmlns:a16="http://schemas.microsoft.com/office/drawing/2014/main" id="{C34E1114-8364-366C-64F5-1F38CEFCD0EA}"/>
              </a:ext>
            </a:extLst>
          </p:cNvPr>
          <p:cNvSpPr/>
          <p:nvPr/>
        </p:nvSpPr>
        <p:spPr>
          <a:xfrm>
            <a:off x="4989780" y="3806899"/>
            <a:ext cx="1077331" cy="383228"/>
          </a:xfrm>
          <a:prstGeom prst="roundRect">
            <a:avLst>
              <a:gd name="adj" fmla="val 1605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3</a:t>
            </a:r>
            <a:endParaRPr lang="en-US" altLang="ko-KR" sz="1000" dirty="0"/>
          </a:p>
        </p:txBody>
      </p:sp>
      <p:sp>
        <p:nvSpPr>
          <p:cNvPr id="21" name="사각형: 둥근 모서리 114">
            <a:extLst>
              <a:ext uri="{FF2B5EF4-FFF2-40B4-BE49-F238E27FC236}">
                <a16:creationId xmlns:a16="http://schemas.microsoft.com/office/drawing/2014/main" id="{4AC33A05-5EBB-CD92-F4E4-2BAE11039200}"/>
              </a:ext>
            </a:extLst>
          </p:cNvPr>
          <p:cNvSpPr/>
          <p:nvPr/>
        </p:nvSpPr>
        <p:spPr>
          <a:xfrm>
            <a:off x="1205028" y="3331403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22" name="사각형: 둥근 모서리 114">
            <a:extLst>
              <a:ext uri="{FF2B5EF4-FFF2-40B4-BE49-F238E27FC236}">
                <a16:creationId xmlns:a16="http://schemas.microsoft.com/office/drawing/2014/main" id="{8D507708-071A-63C9-70D9-DC839F6EEBA5}"/>
              </a:ext>
            </a:extLst>
          </p:cNvPr>
          <p:cNvSpPr/>
          <p:nvPr/>
        </p:nvSpPr>
        <p:spPr>
          <a:xfrm>
            <a:off x="2469823" y="3331403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23" name="사각형: 둥근 모서리 114">
            <a:extLst>
              <a:ext uri="{FF2B5EF4-FFF2-40B4-BE49-F238E27FC236}">
                <a16:creationId xmlns:a16="http://schemas.microsoft.com/office/drawing/2014/main" id="{E6490341-282A-D25C-2909-9FEA227E4AA2}"/>
              </a:ext>
            </a:extLst>
          </p:cNvPr>
          <p:cNvSpPr/>
          <p:nvPr/>
        </p:nvSpPr>
        <p:spPr>
          <a:xfrm>
            <a:off x="3729801" y="3331403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/dev/nvidia2</a:t>
            </a:r>
            <a:endParaRPr lang="en-US" altLang="ko-KR" sz="1000" dirty="0"/>
          </a:p>
        </p:txBody>
      </p:sp>
      <p:sp>
        <p:nvSpPr>
          <p:cNvPr id="24" name="사각형: 둥근 모서리 114">
            <a:extLst>
              <a:ext uri="{FF2B5EF4-FFF2-40B4-BE49-F238E27FC236}">
                <a16:creationId xmlns:a16="http://schemas.microsoft.com/office/drawing/2014/main" id="{00207B77-6AB3-E8FC-9853-8DC73FEF123C}"/>
              </a:ext>
            </a:extLst>
          </p:cNvPr>
          <p:cNvSpPr/>
          <p:nvPr/>
        </p:nvSpPr>
        <p:spPr>
          <a:xfrm>
            <a:off x="4984271" y="3331403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/dev/nvidia3</a:t>
            </a:r>
            <a:endParaRPr lang="en-US" altLang="ko-KR" sz="1000" dirty="0"/>
          </a:p>
        </p:txBody>
      </p:sp>
      <p:cxnSp>
        <p:nvCxnSpPr>
          <p:cNvPr id="25" name="직선 연결선 20">
            <a:extLst>
              <a:ext uri="{FF2B5EF4-FFF2-40B4-BE49-F238E27FC236}">
                <a16:creationId xmlns:a16="http://schemas.microsoft.com/office/drawing/2014/main" id="{AC923568-23CF-BA95-B57A-B06FF27F8618}"/>
              </a:ext>
            </a:extLst>
          </p:cNvPr>
          <p:cNvCxnSpPr>
            <a:cxnSpLocks/>
            <a:stCxn id="22" idx="2"/>
            <a:endCxn id="13" idx="0"/>
          </p:cNvCxnSpPr>
          <p:nvPr/>
        </p:nvCxnSpPr>
        <p:spPr>
          <a:xfrm flipH="1">
            <a:off x="3008489" y="3714631"/>
            <a:ext cx="2408" cy="9226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114">
            <a:extLst>
              <a:ext uri="{FF2B5EF4-FFF2-40B4-BE49-F238E27FC236}">
                <a16:creationId xmlns:a16="http://schemas.microsoft.com/office/drawing/2014/main" id="{FEE6CEAC-4111-8CA7-0F1D-440AC34EF4FF}"/>
              </a:ext>
            </a:extLst>
          </p:cNvPr>
          <p:cNvSpPr/>
          <p:nvPr/>
        </p:nvSpPr>
        <p:spPr>
          <a:xfrm>
            <a:off x="1205028" y="2859541"/>
            <a:ext cx="4862083" cy="383228"/>
          </a:xfrm>
          <a:prstGeom prst="roundRect">
            <a:avLst>
              <a:gd name="adj" fmla="val 17067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cxnSp>
        <p:nvCxnSpPr>
          <p:cNvPr id="27" name="직선 연결선 17">
            <a:extLst>
              <a:ext uri="{FF2B5EF4-FFF2-40B4-BE49-F238E27FC236}">
                <a16:creationId xmlns:a16="http://schemas.microsoft.com/office/drawing/2014/main" id="{1F60D6FD-4822-2004-7416-BBC5E4045D71}"/>
              </a:ext>
            </a:extLst>
          </p:cNvPr>
          <p:cNvCxnSpPr>
            <a:cxnSpLocks/>
            <a:stCxn id="21" idx="2"/>
            <a:endCxn id="12" idx="0"/>
          </p:cNvCxnSpPr>
          <p:nvPr/>
        </p:nvCxnSpPr>
        <p:spPr>
          <a:xfrm>
            <a:off x="1746102" y="3714631"/>
            <a:ext cx="2408" cy="9226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17">
            <a:extLst>
              <a:ext uri="{FF2B5EF4-FFF2-40B4-BE49-F238E27FC236}">
                <a16:creationId xmlns:a16="http://schemas.microsoft.com/office/drawing/2014/main" id="{816F2FD6-001C-5203-2CE8-87101DA4315A}"/>
              </a:ext>
            </a:extLst>
          </p:cNvPr>
          <p:cNvCxnSpPr>
            <a:cxnSpLocks/>
            <a:stCxn id="23" idx="2"/>
            <a:endCxn id="18" idx="0"/>
          </p:cNvCxnSpPr>
          <p:nvPr/>
        </p:nvCxnSpPr>
        <p:spPr>
          <a:xfrm flipH="1">
            <a:off x="4268467" y="3714631"/>
            <a:ext cx="2408" cy="9226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6">
            <a:extLst>
              <a:ext uri="{FF2B5EF4-FFF2-40B4-BE49-F238E27FC236}">
                <a16:creationId xmlns:a16="http://schemas.microsoft.com/office/drawing/2014/main" id="{BA9723F4-0DB5-94DE-EEF7-E7C7D5862DF1}"/>
              </a:ext>
            </a:extLst>
          </p:cNvPr>
          <p:cNvCxnSpPr>
            <a:cxnSpLocks/>
            <a:stCxn id="24" idx="2"/>
            <a:endCxn id="19" idx="0"/>
          </p:cNvCxnSpPr>
          <p:nvPr/>
        </p:nvCxnSpPr>
        <p:spPr>
          <a:xfrm>
            <a:off x="5525345" y="3714631"/>
            <a:ext cx="3101" cy="9226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011709D4-2DA8-5985-A4E2-A2A0857159AC}"/>
              </a:ext>
            </a:extLst>
          </p:cNvPr>
          <p:cNvSpPr txBox="1"/>
          <p:nvPr/>
        </p:nvSpPr>
        <p:spPr>
          <a:xfrm>
            <a:off x="3178253" y="2804607"/>
            <a:ext cx="915635" cy="23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i="1"/>
              <a:t>Bind Mount</a:t>
            </a:r>
            <a:endParaRPr kumimoji="1" lang="ko-KR" altLang="en-US" sz="1000" b="1" i="1"/>
          </a:p>
        </p:txBody>
      </p:sp>
      <p:cxnSp>
        <p:nvCxnSpPr>
          <p:cNvPr id="59" name="직선 연결선 17">
            <a:extLst>
              <a:ext uri="{FF2B5EF4-FFF2-40B4-BE49-F238E27FC236}">
                <a16:creationId xmlns:a16="http://schemas.microsoft.com/office/drawing/2014/main" id="{7431C8CE-28EA-7BAD-66D6-A12B60E6FCA1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 flipH="1">
            <a:off x="3636070" y="1960733"/>
            <a:ext cx="2029097" cy="898808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17">
            <a:extLst>
              <a:ext uri="{FF2B5EF4-FFF2-40B4-BE49-F238E27FC236}">
                <a16:creationId xmlns:a16="http://schemas.microsoft.com/office/drawing/2014/main" id="{B9BB333C-1ABE-E729-2864-FBC02C57A950}"/>
              </a:ext>
            </a:extLst>
          </p:cNvPr>
          <p:cNvCxnSpPr>
            <a:cxnSpLocks/>
            <a:stCxn id="53" idx="2"/>
            <a:endCxn id="26" idx="0"/>
          </p:cNvCxnSpPr>
          <p:nvPr/>
        </p:nvCxnSpPr>
        <p:spPr>
          <a:xfrm>
            <a:off x="3607986" y="1970578"/>
            <a:ext cx="28084" cy="888963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17">
            <a:extLst>
              <a:ext uri="{FF2B5EF4-FFF2-40B4-BE49-F238E27FC236}">
                <a16:creationId xmlns:a16="http://schemas.microsoft.com/office/drawing/2014/main" id="{460ED0A1-46C8-32DD-2724-36334F4F16F7}"/>
              </a:ext>
            </a:extLst>
          </p:cNvPr>
          <p:cNvCxnSpPr>
            <a:cxnSpLocks/>
            <a:stCxn id="75" idx="2"/>
            <a:endCxn id="26" idx="0"/>
          </p:cNvCxnSpPr>
          <p:nvPr/>
        </p:nvCxnSpPr>
        <p:spPr>
          <a:xfrm>
            <a:off x="1584554" y="1960733"/>
            <a:ext cx="2051516" cy="898808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DFEE2B2-0CBA-A4E3-AD16-F3DA2ACD2359}"/>
              </a:ext>
            </a:extLst>
          </p:cNvPr>
          <p:cNvSpPr txBox="1"/>
          <p:nvPr/>
        </p:nvSpPr>
        <p:spPr>
          <a:xfrm>
            <a:off x="6561999" y="2885931"/>
            <a:ext cx="16652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podb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containerc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C4E05BB-1DB9-23A3-1E00-E160BF73D74D}"/>
              </a:ext>
            </a:extLst>
          </p:cNvPr>
          <p:cNvSpPr txBox="1"/>
          <p:nvPr/>
        </p:nvSpPr>
        <p:spPr>
          <a:xfrm>
            <a:off x="6561999" y="577607"/>
            <a:ext cx="1665290" cy="230832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cs typeface="Al Bayan Plain" pitchFamily="2" charset="-78"/>
              </a:rPr>
              <a:t>     - name: containerb</a:t>
            </a:r>
          </a:p>
          <a:p>
            <a:r>
              <a:rPr lang="en-US" altLang="ko-KR" sz="800" kern="0" dirty="0">
                <a:cs typeface="Al Bayan Plain" pitchFamily="2" charset="-78"/>
              </a:rPr>
              <a:t>       resources: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  <p:cxnSp>
        <p:nvCxnSpPr>
          <p:cNvPr id="41" name="직선 연결선 17">
            <a:extLst>
              <a:ext uri="{FF2B5EF4-FFF2-40B4-BE49-F238E27FC236}">
                <a16:creationId xmlns:a16="http://schemas.microsoft.com/office/drawing/2014/main" id="{E637129B-A17F-2E26-9852-6E716C190570}"/>
              </a:ext>
            </a:extLst>
          </p:cNvPr>
          <p:cNvCxnSpPr>
            <a:cxnSpLocks/>
            <a:stCxn id="74" idx="2"/>
            <a:endCxn id="21" idx="0"/>
          </p:cNvCxnSpPr>
          <p:nvPr/>
        </p:nvCxnSpPr>
        <p:spPr>
          <a:xfrm>
            <a:off x="1584555" y="2431059"/>
            <a:ext cx="161547" cy="90034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17">
            <a:extLst>
              <a:ext uri="{FF2B5EF4-FFF2-40B4-BE49-F238E27FC236}">
                <a16:creationId xmlns:a16="http://schemas.microsoft.com/office/drawing/2014/main" id="{69574E8C-3B36-BEA9-178A-9C9D33BD400C}"/>
              </a:ext>
            </a:extLst>
          </p:cNvPr>
          <p:cNvCxnSpPr>
            <a:cxnSpLocks/>
            <a:stCxn id="48" idx="2"/>
            <a:endCxn id="22" idx="0"/>
          </p:cNvCxnSpPr>
          <p:nvPr/>
        </p:nvCxnSpPr>
        <p:spPr>
          <a:xfrm>
            <a:off x="3007252" y="2440903"/>
            <a:ext cx="3645" cy="8905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17">
            <a:extLst>
              <a:ext uri="{FF2B5EF4-FFF2-40B4-BE49-F238E27FC236}">
                <a16:creationId xmlns:a16="http://schemas.microsoft.com/office/drawing/2014/main" id="{AAE8B400-C7C8-13DE-5125-044A3566461A}"/>
              </a:ext>
            </a:extLst>
          </p:cNvPr>
          <p:cNvCxnSpPr>
            <a:cxnSpLocks/>
            <a:stCxn id="49" idx="2"/>
            <a:endCxn id="23" idx="0"/>
          </p:cNvCxnSpPr>
          <p:nvPr/>
        </p:nvCxnSpPr>
        <p:spPr>
          <a:xfrm>
            <a:off x="4208786" y="2440903"/>
            <a:ext cx="62089" cy="89050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17">
            <a:extLst>
              <a:ext uri="{FF2B5EF4-FFF2-40B4-BE49-F238E27FC236}">
                <a16:creationId xmlns:a16="http://schemas.microsoft.com/office/drawing/2014/main" id="{31258EEB-34FF-B66D-E6AB-93D4825576F2}"/>
              </a:ext>
            </a:extLst>
          </p:cNvPr>
          <p:cNvCxnSpPr>
            <a:cxnSpLocks/>
            <a:stCxn id="5" idx="2"/>
            <a:endCxn id="24" idx="0"/>
          </p:cNvCxnSpPr>
          <p:nvPr/>
        </p:nvCxnSpPr>
        <p:spPr>
          <a:xfrm flipH="1">
            <a:off x="5525345" y="2431059"/>
            <a:ext cx="139823" cy="90034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686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1F72E-21E1-827F-01E6-84EA46824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7">
            <a:extLst>
              <a:ext uri="{FF2B5EF4-FFF2-40B4-BE49-F238E27FC236}">
                <a16:creationId xmlns:a16="http://schemas.microsoft.com/office/drawing/2014/main" id="{D35994A4-8E8E-54A2-E8FE-897E3E51F7F2}"/>
              </a:ext>
            </a:extLst>
          </p:cNvPr>
          <p:cNvSpPr/>
          <p:nvPr/>
        </p:nvSpPr>
        <p:spPr>
          <a:xfrm flipH="1">
            <a:off x="971602" y="2507913"/>
            <a:ext cx="5112568" cy="2368093"/>
          </a:xfrm>
          <a:prstGeom prst="roundRect">
            <a:avLst>
              <a:gd name="adj" fmla="val 5713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t"/>
          <a:lstStyle/>
          <a:p>
            <a:r>
              <a:rPr lang="en-US" sz="1000" b="1" dirty="0">
                <a:solidFill>
                  <a:schemeClr val="tx1"/>
                </a:solidFill>
              </a:rPr>
              <a:t>NVIDIA 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GPU Node</a:t>
            </a:r>
            <a:endParaRPr lang="en-KR" sz="1000" b="1" dirty="0">
              <a:solidFill>
                <a:schemeClr val="tx1"/>
              </a:solidFill>
            </a:endParaRP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1CC004DF-852C-AF4C-F18D-2905D3F2033A}"/>
              </a:ext>
            </a:extLst>
          </p:cNvPr>
          <p:cNvGrpSpPr/>
          <p:nvPr/>
        </p:nvGrpSpPr>
        <p:grpSpPr>
          <a:xfrm flipH="1">
            <a:off x="1852107" y="4031119"/>
            <a:ext cx="1463038" cy="605106"/>
            <a:chOff x="4854687" y="4196486"/>
            <a:chExt cx="1463038" cy="702501"/>
          </a:xfrm>
          <a:solidFill>
            <a:schemeClr val="bg1"/>
          </a:solidFill>
        </p:grpSpPr>
        <p:sp>
          <p:nvSpPr>
            <p:cNvPr id="3" name="Rounded Rectangle 3">
              <a:extLst>
                <a:ext uri="{FF2B5EF4-FFF2-40B4-BE49-F238E27FC236}">
                  <a16:creationId xmlns:a16="http://schemas.microsoft.com/office/drawing/2014/main" id="{95F918CE-EC24-C4E8-9D4B-D1C168CAB146}"/>
                </a:ext>
              </a:extLst>
            </p:cNvPr>
            <p:cNvSpPr/>
            <p:nvPr/>
          </p:nvSpPr>
          <p:spPr>
            <a:xfrm>
              <a:off x="5033212" y="4196486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4" name="Rounded Rectangle 7">
              <a:extLst>
                <a:ext uri="{FF2B5EF4-FFF2-40B4-BE49-F238E27FC236}">
                  <a16:creationId xmlns:a16="http://schemas.microsoft.com/office/drawing/2014/main" id="{BA9B2352-9192-4A10-C160-BC1FF97EAE6B}"/>
                </a:ext>
              </a:extLst>
            </p:cNvPr>
            <p:cNvSpPr/>
            <p:nvPr/>
          </p:nvSpPr>
          <p:spPr>
            <a:xfrm>
              <a:off x="4945445" y="4276371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5" name="Rounded Rectangle 16">
              <a:extLst>
                <a:ext uri="{FF2B5EF4-FFF2-40B4-BE49-F238E27FC236}">
                  <a16:creationId xmlns:a16="http://schemas.microsoft.com/office/drawing/2014/main" id="{DA578191-FB7B-B663-D9CC-4FC850562E12}"/>
                </a:ext>
              </a:extLst>
            </p:cNvPr>
            <p:cNvSpPr/>
            <p:nvPr/>
          </p:nvSpPr>
          <p:spPr>
            <a:xfrm>
              <a:off x="4854687" y="4363456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</p:grp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C7503AE5-0BC4-2753-36A4-6EC92F8648A4}"/>
              </a:ext>
            </a:extLst>
          </p:cNvPr>
          <p:cNvSpPr/>
          <p:nvPr/>
        </p:nvSpPr>
        <p:spPr>
          <a:xfrm flipH="1">
            <a:off x="1852107" y="3057559"/>
            <a:ext cx="1553796" cy="46128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1000" dirty="0">
                <a:solidFill>
                  <a:schemeClr val="tx1"/>
                </a:solidFill>
              </a:rPr>
              <a:t>NVIDIA </a:t>
            </a:r>
            <a:r>
              <a:rPr lang="en-US" sz="1000" dirty="0">
                <a:solidFill>
                  <a:schemeClr val="tx1"/>
                </a:solidFill>
              </a:rPr>
              <a:t>Device Plugin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(DaemonSet Pod)</a:t>
            </a:r>
            <a:endParaRPr lang="en-KR" sz="1000" dirty="0">
              <a:solidFill>
                <a:schemeClr val="tx1"/>
              </a:solidFill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ED03B967-19CE-FFEC-BD5A-A5DE7F2EF06A}"/>
              </a:ext>
            </a:extLst>
          </p:cNvPr>
          <p:cNvSpPr/>
          <p:nvPr/>
        </p:nvSpPr>
        <p:spPr>
          <a:xfrm flipH="1">
            <a:off x="4914198" y="3057559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kubelet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F555D80-3CED-0E1E-95ED-FFD8E493271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629005" y="3518844"/>
            <a:ext cx="134641" cy="733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A57B75C-A0BA-7455-E6F6-86C9E0793173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2629005" y="3518844"/>
            <a:ext cx="43883" cy="6560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0B9E610-0701-0386-D1AF-C36430A9DCCE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flipH="1">
            <a:off x="2582130" y="3518844"/>
            <a:ext cx="46875" cy="5810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6FD50AA-D8D5-2720-BF94-EF2FA011DA0F}"/>
              </a:ext>
            </a:extLst>
          </p:cNvPr>
          <p:cNvCxnSpPr>
            <a:cxnSpLocks/>
            <a:stCxn id="7" idx="2"/>
            <a:endCxn id="3" idx="0"/>
          </p:cNvCxnSpPr>
          <p:nvPr/>
        </p:nvCxnSpPr>
        <p:spPr>
          <a:xfrm flipH="1">
            <a:off x="2494363" y="3518844"/>
            <a:ext cx="134642" cy="5122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7C13DFF-3008-F2BF-E3C7-1748A18BAAC4}"/>
              </a:ext>
            </a:extLst>
          </p:cNvPr>
          <p:cNvCxnSpPr>
            <a:cxnSpLocks/>
          </p:cNvCxnSpPr>
          <p:nvPr/>
        </p:nvCxnSpPr>
        <p:spPr>
          <a:xfrm>
            <a:off x="3405903" y="3180670"/>
            <a:ext cx="15082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CC54E4A-7E67-9C3A-629C-ABD68C90EFA1}"/>
              </a:ext>
            </a:extLst>
          </p:cNvPr>
          <p:cNvSpPr txBox="1"/>
          <p:nvPr/>
        </p:nvSpPr>
        <p:spPr>
          <a:xfrm flipH="1">
            <a:off x="1331374" y="3578665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i="1"/>
              <a:t>2. Scan &amp; </a:t>
            </a:r>
            <a:br>
              <a:rPr kumimoji="1" lang="en-US" altLang="ko-KR" sz="1000" i="1"/>
            </a:br>
            <a:r>
              <a:rPr kumimoji="1" lang="en-US" altLang="ko-KR" sz="1000" i="1"/>
              <a:t>health check GPU</a:t>
            </a:r>
            <a:endParaRPr kumimoji="1" lang="ko-KR" altLang="en-US" sz="1000" i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989144-F915-5450-2ED5-5379DFC87045}"/>
              </a:ext>
            </a:extLst>
          </p:cNvPr>
          <p:cNvSpPr txBox="1"/>
          <p:nvPr/>
        </p:nvSpPr>
        <p:spPr>
          <a:xfrm flipH="1">
            <a:off x="1632578" y="2507913"/>
            <a:ext cx="1992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i="1"/>
              <a:t>1. Start gRPC server</a:t>
            </a:r>
            <a:br>
              <a:rPr kumimoji="1" lang="en-US" altLang="ko-KR" sz="1000" i="1"/>
            </a:br>
            <a:r>
              <a:rPr kumimoji="1" lang="en-US" altLang="ko-KR" sz="1000" i="1"/>
              <a:t>with /var/lib/kubelet/</a:t>
            </a:r>
            <a:br>
              <a:rPr kumimoji="1" lang="en-US" altLang="ko-KR" sz="1000" i="1"/>
            </a:br>
            <a:r>
              <a:rPr kumimoji="1" lang="en-US" altLang="ko-KR" sz="1000" i="1"/>
              <a:t>device-plugins/nvidia-gpu.sock</a:t>
            </a:r>
            <a:endParaRPr kumimoji="1" lang="ko-KR" altLang="en-US" sz="1000" i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A0B18F-6F62-A2E5-0561-AE836CCFFB4C}"/>
              </a:ext>
            </a:extLst>
          </p:cNvPr>
          <p:cNvSpPr txBox="1"/>
          <p:nvPr/>
        </p:nvSpPr>
        <p:spPr>
          <a:xfrm flipH="1">
            <a:off x="3707909" y="2506068"/>
            <a:ext cx="21423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i="1"/>
              <a:t>3. </a:t>
            </a:r>
            <a:r>
              <a:rPr kumimoji="1" lang="en-US" altLang="ko-KR" sz="1000" b="1" i="1"/>
              <a:t>Register() </a:t>
            </a:r>
            <a:r>
              <a:rPr kumimoji="1" lang="en-US" altLang="ko-KR" sz="1000" i="1"/>
              <a:t>GPUs</a:t>
            </a:r>
          </a:p>
          <a:p>
            <a:r>
              <a:rPr kumimoji="1" lang="en-US" altLang="ko-KR" sz="1000" i="1"/>
              <a:t>via </a:t>
            </a:r>
            <a:r>
              <a:rPr lang="en" altLang="ko-KR" sz="1000"/>
              <a:t>/var/lib/kubelet/device-plugins/kubelet.sock</a:t>
            </a:r>
            <a:endParaRPr kumimoji="1" lang="en-US" altLang="ko-KR" sz="1000" i="1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510DC93-A38E-DEBE-0C64-61FECDC314A1}"/>
              </a:ext>
            </a:extLst>
          </p:cNvPr>
          <p:cNvCxnSpPr>
            <a:cxnSpLocks/>
          </p:cNvCxnSpPr>
          <p:nvPr/>
        </p:nvCxnSpPr>
        <p:spPr>
          <a:xfrm>
            <a:off x="3405903" y="3363838"/>
            <a:ext cx="150829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6AC8F87-3CD2-7E70-1B0F-96EB2737564E}"/>
              </a:ext>
            </a:extLst>
          </p:cNvPr>
          <p:cNvSpPr txBox="1"/>
          <p:nvPr/>
        </p:nvSpPr>
        <p:spPr>
          <a:xfrm flipH="1">
            <a:off x="3359028" y="3366346"/>
            <a:ext cx="203132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i="1"/>
              <a:t>4. </a:t>
            </a:r>
            <a:r>
              <a:rPr kumimoji="1" lang="en-US" altLang="ko-KR" sz="1000" b="1" i="1"/>
              <a:t>ListAndWatch()</a:t>
            </a:r>
            <a:r>
              <a:rPr kumimoji="1" lang="ko-KR" altLang="en-US" sz="1000" i="1"/>
              <a:t> </a:t>
            </a:r>
            <a:r>
              <a:rPr kumimoji="1" lang="en-US" altLang="ko-KR" sz="1000" i="1"/>
              <a:t>GPUs</a:t>
            </a:r>
            <a:endParaRPr kumimoji="1" lang="en-US" altLang="ko-KR" sz="1000" b="1" i="1"/>
          </a:p>
          <a:p>
            <a:r>
              <a:rPr kumimoji="1" lang="en-US" altLang="ko-KR" sz="1000" i="1"/>
              <a:t>via var/lib/kubelet/</a:t>
            </a:r>
            <a:br>
              <a:rPr kumimoji="1" lang="en-US" altLang="ko-KR" sz="1000" i="1"/>
            </a:br>
            <a:r>
              <a:rPr kumimoji="1" lang="en-US" altLang="ko-KR" sz="1000" i="1"/>
              <a:t>device-plugins/nvidia-gpu.sock</a:t>
            </a:r>
            <a:endParaRPr kumimoji="1" lang="ko-KR" altLang="en-US" sz="1000" i="1"/>
          </a:p>
        </p:txBody>
      </p:sp>
      <p:sp>
        <p:nvSpPr>
          <p:cNvPr id="43" name="Rounded Rectangle 17">
            <a:extLst>
              <a:ext uri="{FF2B5EF4-FFF2-40B4-BE49-F238E27FC236}">
                <a16:creationId xmlns:a16="http://schemas.microsoft.com/office/drawing/2014/main" id="{D728C597-50E5-D525-06A8-6C167D187FC5}"/>
              </a:ext>
            </a:extLst>
          </p:cNvPr>
          <p:cNvSpPr/>
          <p:nvPr/>
        </p:nvSpPr>
        <p:spPr>
          <a:xfrm flipH="1">
            <a:off x="4914198" y="137541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K8s API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Server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CB525848-680E-A7AE-D096-9747AB9341C6}"/>
              </a:ext>
            </a:extLst>
          </p:cNvPr>
          <p:cNvCxnSpPr>
            <a:cxnSpLocks/>
            <a:stCxn id="8" idx="0"/>
            <a:endCxn id="43" idx="2"/>
          </p:cNvCxnSpPr>
          <p:nvPr/>
        </p:nvCxnSpPr>
        <p:spPr>
          <a:xfrm flipV="1">
            <a:off x="5418254" y="598826"/>
            <a:ext cx="0" cy="24587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17">
            <a:extLst>
              <a:ext uri="{FF2B5EF4-FFF2-40B4-BE49-F238E27FC236}">
                <a16:creationId xmlns:a16="http://schemas.microsoft.com/office/drawing/2014/main" id="{9D790E83-D302-8580-4DE8-5FB3CBF58EC1}"/>
              </a:ext>
            </a:extLst>
          </p:cNvPr>
          <p:cNvSpPr/>
          <p:nvPr/>
        </p:nvSpPr>
        <p:spPr>
          <a:xfrm flipH="1">
            <a:off x="4914198" y="4185332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Pod with GPU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AD03F592-4751-1A52-CB3D-57F5DE64A9C1}"/>
              </a:ext>
            </a:extLst>
          </p:cNvPr>
          <p:cNvCxnSpPr>
            <a:cxnSpLocks/>
            <a:stCxn id="92" idx="3"/>
          </p:cNvCxnSpPr>
          <p:nvPr/>
        </p:nvCxnSpPr>
        <p:spPr>
          <a:xfrm flipH="1">
            <a:off x="3405903" y="4415975"/>
            <a:ext cx="1508295" cy="6712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67A4589F-A71B-179C-D144-977AB12139F0}"/>
              </a:ext>
            </a:extLst>
          </p:cNvPr>
          <p:cNvCxnSpPr>
            <a:cxnSpLocks/>
            <a:stCxn id="92" idx="3"/>
          </p:cNvCxnSpPr>
          <p:nvPr/>
        </p:nvCxnSpPr>
        <p:spPr>
          <a:xfrm flipH="1" flipV="1">
            <a:off x="3312154" y="4405582"/>
            <a:ext cx="1602044" cy="1039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7">
            <a:extLst>
              <a:ext uri="{FF2B5EF4-FFF2-40B4-BE49-F238E27FC236}">
                <a16:creationId xmlns:a16="http://schemas.microsoft.com/office/drawing/2014/main" id="{29484466-D805-7008-A36B-31C09B2E4F78}"/>
              </a:ext>
            </a:extLst>
          </p:cNvPr>
          <p:cNvSpPr/>
          <p:nvPr/>
        </p:nvSpPr>
        <p:spPr>
          <a:xfrm flipH="1">
            <a:off x="2121390" y="4252458"/>
            <a:ext cx="1284513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1000" dirty="0">
                <a:solidFill>
                  <a:schemeClr val="tx1"/>
                </a:solidFill>
              </a:rPr>
              <a:t>NVIDIA GPUs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CA37B8-7058-FC05-9A91-ECBFFE12ACFA}"/>
              </a:ext>
            </a:extLst>
          </p:cNvPr>
          <p:cNvSpPr txBox="1"/>
          <p:nvPr/>
        </p:nvSpPr>
        <p:spPr>
          <a:xfrm flipH="1">
            <a:off x="4139961" y="1168060"/>
            <a:ext cx="1278293" cy="121571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kern="0" dirty="0" err="1">
                <a:cs typeface="Al Bayan Plain" pitchFamily="2" charset="-78"/>
              </a:rPr>
              <a:t> </a:t>
            </a:r>
            <a:r>
              <a:rPr lang="en-US" sz="900" kern="0" dirty="0" err="1">
                <a:cs typeface="Al Bayan Plain" pitchFamily="2" charset="-78"/>
              </a:rPr>
              <a:t>apiVersion</a:t>
            </a:r>
            <a:r>
              <a:rPr lang="en-US" sz="9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kind: Node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…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status: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allocatable:</a:t>
            </a:r>
          </a:p>
          <a:p>
            <a:pPr algn="l"/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     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"4"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capacity:</a:t>
            </a:r>
          </a:p>
          <a:p>
            <a:pPr algn="l"/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     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"4"</a:t>
            </a:r>
          </a:p>
        </p:txBody>
      </p:sp>
      <p:sp>
        <p:nvSpPr>
          <p:cNvPr id="13" name="사각형: 둥근 모서리 71">
            <a:extLst>
              <a:ext uri="{FF2B5EF4-FFF2-40B4-BE49-F238E27FC236}">
                <a16:creationId xmlns:a16="http://schemas.microsoft.com/office/drawing/2014/main" id="{ABF4724F-153B-CB0D-ECD8-780223012F45}"/>
              </a:ext>
            </a:extLst>
          </p:cNvPr>
          <p:cNvSpPr/>
          <p:nvPr/>
        </p:nvSpPr>
        <p:spPr>
          <a:xfrm flipH="1">
            <a:off x="3817499" y="704099"/>
            <a:ext cx="1741239" cy="460362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5. Patch node’s allocatable and capacity</a:t>
            </a:r>
          </a:p>
          <a:p>
            <a:pPr algn="ctr"/>
            <a:r>
              <a:rPr lang="en-US" altLang="ko-KR" sz="1000" i="1"/>
              <a:t>with GPU </a:t>
            </a:r>
            <a:endParaRPr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1159179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7B2D0-E028-4F3B-96E6-B04A86E00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8458346C-2969-D29B-D4A7-8B7328E291DE}"/>
              </a:ext>
            </a:extLst>
          </p:cNvPr>
          <p:cNvSpPr/>
          <p:nvPr/>
        </p:nvSpPr>
        <p:spPr>
          <a:xfrm flipH="1">
            <a:off x="971602" y="2507913"/>
            <a:ext cx="5112568" cy="2368093"/>
          </a:xfrm>
          <a:prstGeom prst="roundRect">
            <a:avLst>
              <a:gd name="adj" fmla="val 5713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t"/>
          <a:lstStyle/>
          <a:p>
            <a:r>
              <a:rPr lang="en-US" sz="1000" b="1" dirty="0">
                <a:solidFill>
                  <a:schemeClr val="tx1"/>
                </a:solidFill>
              </a:rPr>
              <a:t>NVIDIA 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GPU Node</a:t>
            </a:r>
            <a:endParaRPr lang="en-KR" sz="1000" b="1" dirty="0">
              <a:solidFill>
                <a:schemeClr val="tx1"/>
              </a:solidFill>
            </a:endParaRP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149BCB01-0555-D84B-D3A9-6F89D3C929D4}"/>
              </a:ext>
            </a:extLst>
          </p:cNvPr>
          <p:cNvGrpSpPr/>
          <p:nvPr/>
        </p:nvGrpSpPr>
        <p:grpSpPr>
          <a:xfrm flipH="1">
            <a:off x="1852107" y="4031119"/>
            <a:ext cx="1463038" cy="605106"/>
            <a:chOff x="4854687" y="4196486"/>
            <a:chExt cx="1463038" cy="702501"/>
          </a:xfrm>
          <a:solidFill>
            <a:schemeClr val="bg1"/>
          </a:solidFill>
        </p:grpSpPr>
        <p:sp>
          <p:nvSpPr>
            <p:cNvPr id="3" name="Rounded Rectangle 3">
              <a:extLst>
                <a:ext uri="{FF2B5EF4-FFF2-40B4-BE49-F238E27FC236}">
                  <a16:creationId xmlns:a16="http://schemas.microsoft.com/office/drawing/2014/main" id="{8C31E5DC-7C9E-7337-2BB3-47F2B8AA4BCA}"/>
                </a:ext>
              </a:extLst>
            </p:cNvPr>
            <p:cNvSpPr/>
            <p:nvPr/>
          </p:nvSpPr>
          <p:spPr>
            <a:xfrm>
              <a:off x="5033212" y="4196486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4" name="Rounded Rectangle 7">
              <a:extLst>
                <a:ext uri="{FF2B5EF4-FFF2-40B4-BE49-F238E27FC236}">
                  <a16:creationId xmlns:a16="http://schemas.microsoft.com/office/drawing/2014/main" id="{13AC527A-FF39-080C-7AE3-0669838AE160}"/>
                </a:ext>
              </a:extLst>
            </p:cNvPr>
            <p:cNvSpPr/>
            <p:nvPr/>
          </p:nvSpPr>
          <p:spPr>
            <a:xfrm>
              <a:off x="4945445" y="4276371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5" name="Rounded Rectangle 16">
              <a:extLst>
                <a:ext uri="{FF2B5EF4-FFF2-40B4-BE49-F238E27FC236}">
                  <a16:creationId xmlns:a16="http://schemas.microsoft.com/office/drawing/2014/main" id="{FFECEE15-CE57-7C99-64B1-C79BEFD49076}"/>
                </a:ext>
              </a:extLst>
            </p:cNvPr>
            <p:cNvSpPr/>
            <p:nvPr/>
          </p:nvSpPr>
          <p:spPr>
            <a:xfrm>
              <a:off x="4854687" y="4363456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</p:grp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C678201A-704B-0F00-78EA-0B75BBE8C004}"/>
              </a:ext>
            </a:extLst>
          </p:cNvPr>
          <p:cNvSpPr/>
          <p:nvPr/>
        </p:nvSpPr>
        <p:spPr>
          <a:xfrm flipH="1">
            <a:off x="1852107" y="3057559"/>
            <a:ext cx="1553796" cy="46128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1000" dirty="0">
                <a:solidFill>
                  <a:schemeClr val="tx1"/>
                </a:solidFill>
              </a:rPr>
              <a:t>NVIDIA </a:t>
            </a:r>
            <a:r>
              <a:rPr lang="en-US" sz="1000" dirty="0">
                <a:solidFill>
                  <a:schemeClr val="tx1"/>
                </a:solidFill>
              </a:rPr>
              <a:t>Device Plugin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(DaemonSet Pod)</a:t>
            </a:r>
            <a:endParaRPr lang="en-KR" sz="1000" dirty="0">
              <a:solidFill>
                <a:schemeClr val="tx1"/>
              </a:solidFill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5A693C28-8751-B75F-F6E9-EE9E49A8C84F}"/>
              </a:ext>
            </a:extLst>
          </p:cNvPr>
          <p:cNvSpPr/>
          <p:nvPr/>
        </p:nvSpPr>
        <p:spPr>
          <a:xfrm flipH="1">
            <a:off x="4914198" y="3057559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kubelet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E514DBC-F9CA-D447-E47F-CBA88EF9E214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629005" y="3518844"/>
            <a:ext cx="134641" cy="733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020E8A6-E45A-5832-E124-D137241E8177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2629005" y="3518844"/>
            <a:ext cx="43883" cy="6560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CDA72BC-ABE1-4A76-2B8F-388718317C24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flipH="1">
            <a:off x="2582130" y="3518844"/>
            <a:ext cx="46875" cy="5810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A5AE02D-2E20-C92A-EF9F-EB67E2290FB1}"/>
              </a:ext>
            </a:extLst>
          </p:cNvPr>
          <p:cNvCxnSpPr>
            <a:cxnSpLocks/>
            <a:stCxn id="7" idx="2"/>
            <a:endCxn id="3" idx="0"/>
          </p:cNvCxnSpPr>
          <p:nvPr/>
        </p:nvCxnSpPr>
        <p:spPr>
          <a:xfrm flipH="1">
            <a:off x="2494363" y="3518844"/>
            <a:ext cx="134642" cy="5122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AB3F89C-DD89-F4DE-EF9C-3C4AC1BF7A0F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>
            <a:off x="3405903" y="3288202"/>
            <a:ext cx="150829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9B556A1-51EF-4503-FEB1-D0B7B4AD1CC5}"/>
              </a:ext>
            </a:extLst>
          </p:cNvPr>
          <p:cNvSpPr txBox="1"/>
          <p:nvPr/>
        </p:nvSpPr>
        <p:spPr>
          <a:xfrm flipH="1">
            <a:off x="3405875" y="3281918"/>
            <a:ext cx="1992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i="1"/>
              <a:t>4. </a:t>
            </a:r>
            <a:r>
              <a:rPr kumimoji="1" lang="en-US" altLang="ko-KR" sz="1000" b="1" i="1"/>
              <a:t>Allocate() </a:t>
            </a:r>
            <a:r>
              <a:rPr kumimoji="1" lang="en-US" altLang="ko-KR" sz="1000" i="1"/>
              <a:t>GPUs</a:t>
            </a:r>
          </a:p>
          <a:p>
            <a:r>
              <a:rPr kumimoji="1" lang="en-US" altLang="ko-KR" sz="1000" i="1"/>
              <a:t>via var/lib/kubelet/</a:t>
            </a:r>
            <a:br>
              <a:rPr kumimoji="1" lang="en-US" altLang="ko-KR" sz="1000" i="1"/>
            </a:br>
            <a:r>
              <a:rPr kumimoji="1" lang="en-US" altLang="ko-KR" sz="1000" i="1"/>
              <a:t>device-plugins/nvidia-gpu.sock</a:t>
            </a:r>
            <a:endParaRPr kumimoji="1" lang="ko-KR" altLang="en-US" sz="1000" i="1"/>
          </a:p>
        </p:txBody>
      </p:sp>
      <p:sp>
        <p:nvSpPr>
          <p:cNvPr id="43" name="Rounded Rectangle 17">
            <a:extLst>
              <a:ext uri="{FF2B5EF4-FFF2-40B4-BE49-F238E27FC236}">
                <a16:creationId xmlns:a16="http://schemas.microsoft.com/office/drawing/2014/main" id="{13355B58-5BC3-20D9-90F7-8E2975877EA9}"/>
              </a:ext>
            </a:extLst>
          </p:cNvPr>
          <p:cNvSpPr/>
          <p:nvPr/>
        </p:nvSpPr>
        <p:spPr>
          <a:xfrm flipH="1">
            <a:off x="4914198" y="137541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K8s API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Server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C7E963E1-DECB-EEAC-443C-EBEF0B934149}"/>
              </a:ext>
            </a:extLst>
          </p:cNvPr>
          <p:cNvCxnSpPr>
            <a:cxnSpLocks/>
            <a:stCxn id="8" idx="0"/>
            <a:endCxn id="43" idx="2"/>
          </p:cNvCxnSpPr>
          <p:nvPr/>
        </p:nvCxnSpPr>
        <p:spPr>
          <a:xfrm flipV="1">
            <a:off x="5418254" y="598826"/>
            <a:ext cx="0" cy="24587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17">
            <a:extLst>
              <a:ext uri="{FF2B5EF4-FFF2-40B4-BE49-F238E27FC236}">
                <a16:creationId xmlns:a16="http://schemas.microsoft.com/office/drawing/2014/main" id="{C9AC9A70-E878-C40F-5EBB-45D885991D2B}"/>
              </a:ext>
            </a:extLst>
          </p:cNvPr>
          <p:cNvSpPr/>
          <p:nvPr/>
        </p:nvSpPr>
        <p:spPr>
          <a:xfrm flipH="1">
            <a:off x="1187625" y="137541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Kubernetes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Client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38BED88-6DFE-D668-E238-634E74276C0C}"/>
              </a:ext>
            </a:extLst>
          </p:cNvPr>
          <p:cNvCxnSpPr>
            <a:cxnSpLocks/>
            <a:stCxn id="60" idx="1"/>
            <a:endCxn id="43" idx="3"/>
          </p:cNvCxnSpPr>
          <p:nvPr/>
        </p:nvCxnSpPr>
        <p:spPr>
          <a:xfrm>
            <a:off x="2195737" y="368184"/>
            <a:ext cx="271846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7E48F96-1978-A809-7F72-8E648A24A87A}"/>
              </a:ext>
            </a:extLst>
          </p:cNvPr>
          <p:cNvSpPr txBox="1"/>
          <p:nvPr/>
        </p:nvSpPr>
        <p:spPr>
          <a:xfrm>
            <a:off x="2304962" y="367545"/>
            <a:ext cx="1512536" cy="176971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kern="0" dirty="0" err="1">
                <a:cs typeface="Al Bayan Plain" pitchFamily="2" charset="-78"/>
              </a:rPr>
              <a:t> </a:t>
            </a:r>
            <a:r>
              <a:rPr lang="en-US" sz="900" kern="0" dirty="0" err="1">
                <a:cs typeface="Al Bayan Plain" pitchFamily="2" charset="-78"/>
              </a:rPr>
              <a:t>apiVersion</a:t>
            </a:r>
            <a:r>
              <a:rPr lang="en-US" sz="9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name: pod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- name: gpu-app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  <p:sp>
        <p:nvSpPr>
          <p:cNvPr id="70" name="사각형: 둥근 모서리 71">
            <a:extLst>
              <a:ext uri="{FF2B5EF4-FFF2-40B4-BE49-F238E27FC236}">
                <a16:creationId xmlns:a16="http://schemas.microsoft.com/office/drawing/2014/main" id="{7B00F26E-9B4B-C0A6-7D4F-75EF2799A773}"/>
              </a:ext>
            </a:extLst>
          </p:cNvPr>
          <p:cNvSpPr/>
          <p:nvPr/>
        </p:nvSpPr>
        <p:spPr>
          <a:xfrm flipH="1">
            <a:off x="2190150" y="2138514"/>
            <a:ext cx="1741239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1. Create pod with GPU </a:t>
            </a:r>
            <a:endParaRPr lang="ko-KR" altLang="en-US" sz="1000" i="1"/>
          </a:p>
        </p:txBody>
      </p:sp>
      <p:sp>
        <p:nvSpPr>
          <p:cNvPr id="77" name="Rounded Rectangle 17">
            <a:extLst>
              <a:ext uri="{FF2B5EF4-FFF2-40B4-BE49-F238E27FC236}">
                <a16:creationId xmlns:a16="http://schemas.microsoft.com/office/drawing/2014/main" id="{8331C743-10D3-9690-FB50-F366A828AE63}"/>
              </a:ext>
            </a:extLst>
          </p:cNvPr>
          <p:cNvSpPr/>
          <p:nvPr/>
        </p:nvSpPr>
        <p:spPr>
          <a:xfrm flipH="1">
            <a:off x="4134943" y="1299249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K8s Scheduler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3F5BB2DA-0D79-7278-62C1-8DCB92AE4DC6}"/>
              </a:ext>
            </a:extLst>
          </p:cNvPr>
          <p:cNvCxnSpPr>
            <a:cxnSpLocks/>
            <a:stCxn id="77" idx="1"/>
            <a:endCxn id="43" idx="2"/>
          </p:cNvCxnSpPr>
          <p:nvPr/>
        </p:nvCxnSpPr>
        <p:spPr>
          <a:xfrm flipV="1">
            <a:off x="5143055" y="598826"/>
            <a:ext cx="275199" cy="9310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사각형: 둥근 모서리 71">
            <a:extLst>
              <a:ext uri="{FF2B5EF4-FFF2-40B4-BE49-F238E27FC236}">
                <a16:creationId xmlns:a16="http://schemas.microsoft.com/office/drawing/2014/main" id="{EF4B5D2A-6643-EFA0-3648-00EB9FE00EE7}"/>
              </a:ext>
            </a:extLst>
          </p:cNvPr>
          <p:cNvSpPr/>
          <p:nvPr/>
        </p:nvSpPr>
        <p:spPr>
          <a:xfrm flipH="1">
            <a:off x="4134943" y="883665"/>
            <a:ext cx="1138257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2. Get created pod info and </a:t>
            </a:r>
          </a:p>
          <a:p>
            <a:r>
              <a:rPr lang="en-US" altLang="ko-KR" sz="1000" i="1"/>
              <a:t>scheduling</a:t>
            </a:r>
            <a:endParaRPr lang="ko-KR" altLang="en-US" sz="1000" i="1"/>
          </a:p>
        </p:txBody>
      </p:sp>
      <p:sp>
        <p:nvSpPr>
          <p:cNvPr id="92" name="Rounded Rectangle 17">
            <a:extLst>
              <a:ext uri="{FF2B5EF4-FFF2-40B4-BE49-F238E27FC236}">
                <a16:creationId xmlns:a16="http://schemas.microsoft.com/office/drawing/2014/main" id="{53F85017-CCA1-59F2-E11D-9672B954C950}"/>
              </a:ext>
            </a:extLst>
          </p:cNvPr>
          <p:cNvSpPr/>
          <p:nvPr/>
        </p:nvSpPr>
        <p:spPr>
          <a:xfrm flipH="1">
            <a:off x="4914198" y="4185332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Pod with GPU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251F0F8F-8A15-A167-4131-F7BFF0E84905}"/>
              </a:ext>
            </a:extLst>
          </p:cNvPr>
          <p:cNvCxnSpPr>
            <a:cxnSpLocks/>
            <a:stCxn id="8" idx="2"/>
            <a:endCxn id="92" idx="0"/>
          </p:cNvCxnSpPr>
          <p:nvPr/>
        </p:nvCxnSpPr>
        <p:spPr>
          <a:xfrm>
            <a:off x="5418254" y="3518844"/>
            <a:ext cx="0" cy="6664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사각형: 둥근 모서리 71">
            <a:extLst>
              <a:ext uri="{FF2B5EF4-FFF2-40B4-BE49-F238E27FC236}">
                <a16:creationId xmlns:a16="http://schemas.microsoft.com/office/drawing/2014/main" id="{9F6CECCD-2CC3-660C-AE3C-92E2FA32ECD4}"/>
              </a:ext>
            </a:extLst>
          </p:cNvPr>
          <p:cNvSpPr/>
          <p:nvPr/>
        </p:nvSpPr>
        <p:spPr>
          <a:xfrm flipH="1">
            <a:off x="3674605" y="3924936"/>
            <a:ext cx="1928787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5. Create pod with GPUs</a:t>
            </a:r>
            <a:endParaRPr lang="ko-KR" altLang="en-US" sz="1000" i="1"/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3831CF92-EF1B-588B-98CE-20E0E8839585}"/>
              </a:ext>
            </a:extLst>
          </p:cNvPr>
          <p:cNvCxnSpPr>
            <a:cxnSpLocks/>
            <a:stCxn id="92" idx="3"/>
          </p:cNvCxnSpPr>
          <p:nvPr/>
        </p:nvCxnSpPr>
        <p:spPr>
          <a:xfrm flipH="1">
            <a:off x="3405903" y="4415975"/>
            <a:ext cx="1508295" cy="6712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8C937B9D-6795-F37B-918A-23FD187168FE}"/>
              </a:ext>
            </a:extLst>
          </p:cNvPr>
          <p:cNvCxnSpPr>
            <a:cxnSpLocks/>
            <a:stCxn id="92" idx="3"/>
          </p:cNvCxnSpPr>
          <p:nvPr/>
        </p:nvCxnSpPr>
        <p:spPr>
          <a:xfrm flipH="1" flipV="1">
            <a:off x="3312154" y="4405582"/>
            <a:ext cx="1602044" cy="1039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7">
            <a:extLst>
              <a:ext uri="{FF2B5EF4-FFF2-40B4-BE49-F238E27FC236}">
                <a16:creationId xmlns:a16="http://schemas.microsoft.com/office/drawing/2014/main" id="{CC7676AB-6122-C990-84DF-93E6513B3584}"/>
              </a:ext>
            </a:extLst>
          </p:cNvPr>
          <p:cNvSpPr/>
          <p:nvPr/>
        </p:nvSpPr>
        <p:spPr>
          <a:xfrm flipH="1">
            <a:off x="2121390" y="4252458"/>
            <a:ext cx="1284513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1000" dirty="0">
                <a:solidFill>
                  <a:schemeClr val="tx1"/>
                </a:solidFill>
              </a:rPr>
              <a:t>NVIDIA GPUs</a:t>
            </a:r>
          </a:p>
        </p:txBody>
      </p:sp>
      <p:sp>
        <p:nvSpPr>
          <p:cNvPr id="12" name="사각형: 둥근 모서리 71">
            <a:extLst>
              <a:ext uri="{FF2B5EF4-FFF2-40B4-BE49-F238E27FC236}">
                <a16:creationId xmlns:a16="http://schemas.microsoft.com/office/drawing/2014/main" id="{28EC65FA-642E-6513-35E7-6160449E26AE}"/>
              </a:ext>
            </a:extLst>
          </p:cNvPr>
          <p:cNvSpPr/>
          <p:nvPr/>
        </p:nvSpPr>
        <p:spPr>
          <a:xfrm flipH="1">
            <a:off x="4243133" y="2549630"/>
            <a:ext cx="1342130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i="1"/>
              <a:t>3. Get scheduled </a:t>
            </a:r>
            <a:br>
              <a:rPr lang="en-US" altLang="ko-KR" sz="1000" i="1"/>
            </a:br>
            <a:r>
              <a:rPr lang="en-US" altLang="ko-KR" sz="1000" i="1"/>
              <a:t>pod info</a:t>
            </a:r>
          </a:p>
        </p:txBody>
      </p:sp>
    </p:spTree>
    <p:extLst>
      <p:ext uri="{BB962C8B-B14F-4D97-AF65-F5344CB8AC3E}">
        <p14:creationId xmlns:p14="http://schemas.microsoft.com/office/powerpoint/2010/main" val="1167151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58A40-57F3-53B4-A039-66E51C062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114">
            <a:extLst>
              <a:ext uri="{FF2B5EF4-FFF2-40B4-BE49-F238E27FC236}">
                <a16:creationId xmlns:a16="http://schemas.microsoft.com/office/drawing/2014/main" id="{ED351725-5994-C743-0CA7-BFDFC434C3FE}"/>
              </a:ext>
            </a:extLst>
          </p:cNvPr>
          <p:cNvSpPr/>
          <p:nvPr/>
        </p:nvSpPr>
        <p:spPr>
          <a:xfrm>
            <a:off x="1782967" y="581379"/>
            <a:ext cx="2577504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사각형: 둥근 모서리 114">
            <a:extLst>
              <a:ext uri="{FF2B5EF4-FFF2-40B4-BE49-F238E27FC236}">
                <a16:creationId xmlns:a16="http://schemas.microsoft.com/office/drawing/2014/main" id="{187109A3-B22C-3B94-193F-7B0F92EA6559}"/>
              </a:ext>
            </a:extLst>
          </p:cNvPr>
          <p:cNvSpPr/>
          <p:nvPr/>
        </p:nvSpPr>
        <p:spPr>
          <a:xfrm>
            <a:off x="4403178" y="577607"/>
            <a:ext cx="1385789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3D2EA0FC-8C82-8D6C-4CE5-3A094874B381}"/>
              </a:ext>
            </a:extLst>
          </p:cNvPr>
          <p:cNvSpPr/>
          <p:nvPr/>
        </p:nvSpPr>
        <p:spPr>
          <a:xfrm>
            <a:off x="360495" y="581379"/>
            <a:ext cx="1379765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3DBA57E-B92C-99C1-3ECC-B25A9429F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2A71B6C9-22E2-6C41-C13A-C75F34FB12E5}"/>
              </a:ext>
            </a:extLst>
          </p:cNvPr>
          <p:cNvSpPr/>
          <p:nvPr/>
        </p:nvSpPr>
        <p:spPr>
          <a:xfrm>
            <a:off x="1830421" y="863648"/>
            <a:ext cx="2486761" cy="1662236"/>
          </a:xfrm>
          <a:prstGeom prst="roundRect">
            <a:avLst>
              <a:gd name="adj" fmla="val 402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EC235B79-1601-D2A5-4705-1D132B0AB9E5}"/>
              </a:ext>
            </a:extLst>
          </p:cNvPr>
          <p:cNvSpPr/>
          <p:nvPr/>
        </p:nvSpPr>
        <p:spPr>
          <a:xfrm>
            <a:off x="1918155" y="2057675"/>
            <a:ext cx="1099999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037B4965-F0D4-4352-89AD-8266EC528B7B}"/>
              </a:ext>
            </a:extLst>
          </p:cNvPr>
          <p:cNvSpPr/>
          <p:nvPr/>
        </p:nvSpPr>
        <p:spPr>
          <a:xfrm>
            <a:off x="3119755" y="2057675"/>
            <a:ext cx="1099868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DD3BCA3C-5315-54F8-5AEA-F6CEF5EC25D7}"/>
              </a:ext>
            </a:extLst>
          </p:cNvPr>
          <p:cNvSpPr/>
          <p:nvPr/>
        </p:nvSpPr>
        <p:spPr>
          <a:xfrm>
            <a:off x="1918155" y="1587350"/>
            <a:ext cx="2301467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DB45488D-1204-E22D-3913-C173B0F49539}"/>
              </a:ext>
            </a:extLst>
          </p:cNvPr>
          <p:cNvSpPr/>
          <p:nvPr/>
        </p:nvSpPr>
        <p:spPr>
          <a:xfrm>
            <a:off x="410256" y="858168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3B1692B4-97B0-1AC5-33FF-F3CBA12882ED}"/>
              </a:ext>
            </a:extLst>
          </p:cNvPr>
          <p:cNvSpPr/>
          <p:nvPr/>
        </p:nvSpPr>
        <p:spPr>
          <a:xfrm>
            <a:off x="496102" y="2047831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95756EE5-B1CE-6E5F-8681-29519C7BD717}"/>
              </a:ext>
            </a:extLst>
          </p:cNvPr>
          <p:cNvSpPr/>
          <p:nvPr/>
        </p:nvSpPr>
        <p:spPr>
          <a:xfrm>
            <a:off x="496101" y="1577505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46" name="사각형: 둥근 모서리 114">
            <a:extLst>
              <a:ext uri="{FF2B5EF4-FFF2-40B4-BE49-F238E27FC236}">
                <a16:creationId xmlns:a16="http://schemas.microsoft.com/office/drawing/2014/main" id="{877B4766-425B-0EAE-6F39-BF23C31420B8}"/>
              </a:ext>
            </a:extLst>
          </p:cNvPr>
          <p:cNvSpPr/>
          <p:nvPr/>
        </p:nvSpPr>
        <p:spPr>
          <a:xfrm>
            <a:off x="1918155" y="1136199"/>
            <a:ext cx="2301467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NVIDIA_VISIBLE_DEVICES Env  </a:t>
            </a:r>
            <a:endParaRPr lang="en-US" altLang="ko-KR" sz="9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4FA9492F-0C0C-C48E-8E9B-FEE379A222D3}"/>
              </a:ext>
            </a:extLst>
          </p:cNvPr>
          <p:cNvSpPr/>
          <p:nvPr/>
        </p:nvSpPr>
        <p:spPr>
          <a:xfrm>
            <a:off x="496101" y="1131834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F7C31D4F-C2D0-6BD5-1D14-CEBB9FA8E9F9}"/>
              </a:ext>
            </a:extLst>
          </p:cNvPr>
          <p:cNvSpPr/>
          <p:nvPr/>
        </p:nvSpPr>
        <p:spPr>
          <a:xfrm>
            <a:off x="4451870" y="858168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사각형: 둥근 모서리 114">
            <a:extLst>
              <a:ext uri="{FF2B5EF4-FFF2-40B4-BE49-F238E27FC236}">
                <a16:creationId xmlns:a16="http://schemas.microsoft.com/office/drawing/2014/main" id="{49AB0EEA-3428-A87F-20E0-07DD8FF81C2C}"/>
              </a:ext>
            </a:extLst>
          </p:cNvPr>
          <p:cNvSpPr/>
          <p:nvPr/>
        </p:nvSpPr>
        <p:spPr>
          <a:xfrm>
            <a:off x="4537716" y="2047831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6" name="사각형: 둥근 모서리 114">
            <a:extLst>
              <a:ext uri="{FF2B5EF4-FFF2-40B4-BE49-F238E27FC236}">
                <a16:creationId xmlns:a16="http://schemas.microsoft.com/office/drawing/2014/main" id="{26E2AEB1-5420-7AE2-074D-4AC4DB68954D}"/>
              </a:ext>
            </a:extLst>
          </p:cNvPr>
          <p:cNvSpPr/>
          <p:nvPr/>
        </p:nvSpPr>
        <p:spPr>
          <a:xfrm>
            <a:off x="4537715" y="1577505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" name="사각형: 둥근 모서리 114">
            <a:extLst>
              <a:ext uri="{FF2B5EF4-FFF2-40B4-BE49-F238E27FC236}">
                <a16:creationId xmlns:a16="http://schemas.microsoft.com/office/drawing/2014/main" id="{A10B90B2-B5E1-3251-C88F-1813FF92B16D}"/>
              </a:ext>
            </a:extLst>
          </p:cNvPr>
          <p:cNvSpPr/>
          <p:nvPr/>
        </p:nvSpPr>
        <p:spPr>
          <a:xfrm>
            <a:off x="4537715" y="1131834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9" name="사각형: 둥근 모서리 114">
            <a:extLst>
              <a:ext uri="{FF2B5EF4-FFF2-40B4-BE49-F238E27FC236}">
                <a16:creationId xmlns:a16="http://schemas.microsoft.com/office/drawing/2014/main" id="{BD54C16E-23DB-0E42-65B6-FBC6AA9FDC08}"/>
              </a:ext>
            </a:extLst>
          </p:cNvPr>
          <p:cNvSpPr/>
          <p:nvPr/>
        </p:nvSpPr>
        <p:spPr>
          <a:xfrm>
            <a:off x="360495" y="2782380"/>
            <a:ext cx="2577504" cy="1664205"/>
          </a:xfrm>
          <a:prstGeom prst="roundRect">
            <a:avLst>
              <a:gd name="adj" fmla="val 464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</a:t>
            </a:r>
            <a:endParaRPr lang="en-US" altLang="ko-KR" sz="1000" b="1" dirty="0"/>
          </a:p>
        </p:txBody>
      </p:sp>
      <p:sp>
        <p:nvSpPr>
          <p:cNvPr id="12" name="사각형: 둥근 모서리 114">
            <a:extLst>
              <a:ext uri="{FF2B5EF4-FFF2-40B4-BE49-F238E27FC236}">
                <a16:creationId xmlns:a16="http://schemas.microsoft.com/office/drawing/2014/main" id="{17759AEF-8E47-3CA9-64F9-36CFF746EE71}"/>
              </a:ext>
            </a:extLst>
          </p:cNvPr>
          <p:cNvSpPr/>
          <p:nvPr/>
        </p:nvSpPr>
        <p:spPr>
          <a:xfrm>
            <a:off x="499225" y="3799661"/>
            <a:ext cx="1095586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0</a:t>
            </a:r>
            <a:endParaRPr lang="en-US" altLang="ko-KR" sz="1000" dirty="0"/>
          </a:p>
        </p:txBody>
      </p:sp>
      <p:sp>
        <p:nvSpPr>
          <p:cNvPr id="13" name="사각형: 둥근 모서리 114">
            <a:extLst>
              <a:ext uri="{FF2B5EF4-FFF2-40B4-BE49-F238E27FC236}">
                <a16:creationId xmlns:a16="http://schemas.microsoft.com/office/drawing/2014/main" id="{8A07FB70-0481-8B1C-B92A-BF242C380103}"/>
              </a:ext>
            </a:extLst>
          </p:cNvPr>
          <p:cNvSpPr/>
          <p:nvPr/>
        </p:nvSpPr>
        <p:spPr>
          <a:xfrm>
            <a:off x="1714916" y="3799661"/>
            <a:ext cx="1077331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1</a:t>
            </a:r>
            <a:endParaRPr lang="en-US" altLang="ko-KR" sz="1000" dirty="0"/>
          </a:p>
        </p:txBody>
      </p:sp>
      <p:sp>
        <p:nvSpPr>
          <p:cNvPr id="21" name="사각형: 둥근 모서리 114">
            <a:extLst>
              <a:ext uri="{FF2B5EF4-FFF2-40B4-BE49-F238E27FC236}">
                <a16:creationId xmlns:a16="http://schemas.microsoft.com/office/drawing/2014/main" id="{78ADDADB-53B2-0DC4-57F6-99533EBCF87F}"/>
              </a:ext>
            </a:extLst>
          </p:cNvPr>
          <p:cNvSpPr/>
          <p:nvPr/>
        </p:nvSpPr>
        <p:spPr>
          <a:xfrm>
            <a:off x="494408" y="3329336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22" name="사각형: 둥근 모서리 114">
            <a:extLst>
              <a:ext uri="{FF2B5EF4-FFF2-40B4-BE49-F238E27FC236}">
                <a16:creationId xmlns:a16="http://schemas.microsoft.com/office/drawing/2014/main" id="{D4D4BA6F-AD76-5FE0-E3D3-FED1EB74DB84}"/>
              </a:ext>
            </a:extLst>
          </p:cNvPr>
          <p:cNvSpPr/>
          <p:nvPr/>
        </p:nvSpPr>
        <p:spPr>
          <a:xfrm>
            <a:off x="1710099" y="3329336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cxnSp>
        <p:nvCxnSpPr>
          <p:cNvPr id="25" name="직선 연결선 20">
            <a:extLst>
              <a:ext uri="{FF2B5EF4-FFF2-40B4-BE49-F238E27FC236}">
                <a16:creationId xmlns:a16="http://schemas.microsoft.com/office/drawing/2014/main" id="{3C8455AB-75EF-3102-E1B4-547FDF971D4D}"/>
              </a:ext>
            </a:extLst>
          </p:cNvPr>
          <p:cNvCxnSpPr>
            <a:cxnSpLocks/>
            <a:stCxn id="22" idx="2"/>
            <a:endCxn id="13" idx="0"/>
          </p:cNvCxnSpPr>
          <p:nvPr/>
        </p:nvCxnSpPr>
        <p:spPr>
          <a:xfrm>
            <a:off x="2251173" y="3712564"/>
            <a:ext cx="2409" cy="8709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114">
            <a:extLst>
              <a:ext uri="{FF2B5EF4-FFF2-40B4-BE49-F238E27FC236}">
                <a16:creationId xmlns:a16="http://schemas.microsoft.com/office/drawing/2014/main" id="{B3B45D02-DCA0-0191-C2BC-A70A7CE51DB7}"/>
              </a:ext>
            </a:extLst>
          </p:cNvPr>
          <p:cNvSpPr/>
          <p:nvPr/>
        </p:nvSpPr>
        <p:spPr>
          <a:xfrm>
            <a:off x="494409" y="2857474"/>
            <a:ext cx="2302741" cy="383228"/>
          </a:xfrm>
          <a:prstGeom prst="roundRect">
            <a:avLst>
              <a:gd name="adj" fmla="val 17067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cxnSp>
        <p:nvCxnSpPr>
          <p:cNvPr id="27" name="직선 연결선 17">
            <a:extLst>
              <a:ext uri="{FF2B5EF4-FFF2-40B4-BE49-F238E27FC236}">
                <a16:creationId xmlns:a16="http://schemas.microsoft.com/office/drawing/2014/main" id="{F2C6F897-0B49-7143-810A-C47B0D4EBC14}"/>
              </a:ext>
            </a:extLst>
          </p:cNvPr>
          <p:cNvCxnSpPr>
            <a:cxnSpLocks/>
            <a:stCxn id="21" idx="2"/>
            <a:endCxn id="12" idx="0"/>
          </p:cNvCxnSpPr>
          <p:nvPr/>
        </p:nvCxnSpPr>
        <p:spPr>
          <a:xfrm>
            <a:off x="1044610" y="3712564"/>
            <a:ext cx="2408" cy="8709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61DE7760-B265-CEFB-75E2-4CF80567BB32}"/>
              </a:ext>
            </a:extLst>
          </p:cNvPr>
          <p:cNvSpPr txBox="1"/>
          <p:nvPr/>
        </p:nvSpPr>
        <p:spPr>
          <a:xfrm>
            <a:off x="1187961" y="2808890"/>
            <a:ext cx="915635" cy="23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i="1"/>
              <a:t>Bind Mount</a:t>
            </a:r>
            <a:endParaRPr kumimoji="1" lang="ko-KR" altLang="en-US" sz="1000" b="1" i="1"/>
          </a:p>
        </p:txBody>
      </p:sp>
      <p:cxnSp>
        <p:nvCxnSpPr>
          <p:cNvPr id="59" name="직선 연결선 17">
            <a:extLst>
              <a:ext uri="{FF2B5EF4-FFF2-40B4-BE49-F238E27FC236}">
                <a16:creationId xmlns:a16="http://schemas.microsoft.com/office/drawing/2014/main" id="{C284FF6D-7B03-FD4A-AB77-B38996F1E054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 flipH="1">
            <a:off x="1645780" y="1960733"/>
            <a:ext cx="3441291" cy="896741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17">
            <a:extLst>
              <a:ext uri="{FF2B5EF4-FFF2-40B4-BE49-F238E27FC236}">
                <a16:creationId xmlns:a16="http://schemas.microsoft.com/office/drawing/2014/main" id="{8E391B89-2E17-1DCF-10A2-81BEA62922E5}"/>
              </a:ext>
            </a:extLst>
          </p:cNvPr>
          <p:cNvCxnSpPr>
            <a:cxnSpLocks/>
            <a:stCxn id="53" idx="2"/>
            <a:endCxn id="26" idx="0"/>
          </p:cNvCxnSpPr>
          <p:nvPr/>
        </p:nvCxnSpPr>
        <p:spPr>
          <a:xfrm flipH="1">
            <a:off x="1645780" y="1970578"/>
            <a:ext cx="1423109" cy="886896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17">
            <a:extLst>
              <a:ext uri="{FF2B5EF4-FFF2-40B4-BE49-F238E27FC236}">
                <a16:creationId xmlns:a16="http://schemas.microsoft.com/office/drawing/2014/main" id="{970B91A6-CD66-B07E-1878-ADB4CE349AF6}"/>
              </a:ext>
            </a:extLst>
          </p:cNvPr>
          <p:cNvCxnSpPr>
            <a:cxnSpLocks/>
            <a:stCxn id="75" idx="2"/>
            <a:endCxn id="26" idx="0"/>
          </p:cNvCxnSpPr>
          <p:nvPr/>
        </p:nvCxnSpPr>
        <p:spPr>
          <a:xfrm>
            <a:off x="1045457" y="1960733"/>
            <a:ext cx="600323" cy="896741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3255B8D-C066-2FCF-9D2F-60E26D38E7DF}"/>
              </a:ext>
            </a:extLst>
          </p:cNvPr>
          <p:cNvSpPr txBox="1"/>
          <p:nvPr/>
        </p:nvSpPr>
        <p:spPr>
          <a:xfrm>
            <a:off x="5983495" y="1765146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podb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r>
              <a:rPr lang="en-US" sz="800" kern="0" dirty="0">
                <a:cs typeface="Al Bayan Plain" pitchFamily="2" charset="-78"/>
              </a:rPr>
              <a:t>     - name: </a:t>
            </a:r>
            <a:r>
              <a:rPr lang="en-US" altLang="ko-KR" sz="800" kern="0" dirty="0">
                <a:cs typeface="Al Bayan Plain" pitchFamily="2" charset="-78"/>
              </a:rPr>
              <a:t>containerb</a:t>
            </a:r>
            <a:endParaRPr lang="en-US" sz="800" kern="0" dirty="0">
              <a:cs typeface="Al Bayan Plain" pitchFamily="2" charset="-78"/>
            </a:endParaRP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  <p:cxnSp>
        <p:nvCxnSpPr>
          <p:cNvPr id="17" name="직선 연결선 17">
            <a:extLst>
              <a:ext uri="{FF2B5EF4-FFF2-40B4-BE49-F238E27FC236}">
                <a16:creationId xmlns:a16="http://schemas.microsoft.com/office/drawing/2014/main" id="{3EC9D353-B78C-5550-3AEB-7E2521E838BA}"/>
              </a:ext>
            </a:extLst>
          </p:cNvPr>
          <p:cNvCxnSpPr>
            <a:cxnSpLocks/>
            <a:stCxn id="74" idx="2"/>
            <a:endCxn id="21" idx="0"/>
          </p:cNvCxnSpPr>
          <p:nvPr/>
        </p:nvCxnSpPr>
        <p:spPr>
          <a:xfrm flipH="1">
            <a:off x="1044610" y="2431059"/>
            <a:ext cx="848" cy="89827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17">
            <a:extLst>
              <a:ext uri="{FF2B5EF4-FFF2-40B4-BE49-F238E27FC236}">
                <a16:creationId xmlns:a16="http://schemas.microsoft.com/office/drawing/2014/main" id="{5314DD90-46A5-86DC-61CD-30C911F8E442}"/>
              </a:ext>
            </a:extLst>
          </p:cNvPr>
          <p:cNvCxnSpPr>
            <a:cxnSpLocks/>
            <a:stCxn id="48" idx="2"/>
            <a:endCxn id="21" idx="0"/>
          </p:cNvCxnSpPr>
          <p:nvPr/>
        </p:nvCxnSpPr>
        <p:spPr>
          <a:xfrm flipH="1">
            <a:off x="1044610" y="2440903"/>
            <a:ext cx="1423545" cy="8884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17">
            <a:extLst>
              <a:ext uri="{FF2B5EF4-FFF2-40B4-BE49-F238E27FC236}">
                <a16:creationId xmlns:a16="http://schemas.microsoft.com/office/drawing/2014/main" id="{EE8DCCF0-4F6B-0B25-3107-21C913D0B394}"/>
              </a:ext>
            </a:extLst>
          </p:cNvPr>
          <p:cNvCxnSpPr>
            <a:cxnSpLocks/>
            <a:stCxn id="49" idx="2"/>
            <a:endCxn id="22" idx="0"/>
          </p:cNvCxnSpPr>
          <p:nvPr/>
        </p:nvCxnSpPr>
        <p:spPr>
          <a:xfrm flipH="1">
            <a:off x="2251173" y="2440903"/>
            <a:ext cx="1418516" cy="8884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17">
            <a:extLst>
              <a:ext uri="{FF2B5EF4-FFF2-40B4-BE49-F238E27FC236}">
                <a16:creationId xmlns:a16="http://schemas.microsoft.com/office/drawing/2014/main" id="{EA5D5CCD-B7CD-B4E8-9287-352CFE1D811F}"/>
              </a:ext>
            </a:extLst>
          </p:cNvPr>
          <p:cNvCxnSpPr>
            <a:cxnSpLocks/>
            <a:stCxn id="5" idx="2"/>
            <a:endCxn id="22" idx="0"/>
          </p:cNvCxnSpPr>
          <p:nvPr/>
        </p:nvCxnSpPr>
        <p:spPr>
          <a:xfrm flipH="1">
            <a:off x="2251173" y="2431059"/>
            <a:ext cx="2835899" cy="89827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13322CB-F55A-8A47-4599-3F4557E60C14}"/>
              </a:ext>
            </a:extLst>
          </p:cNvPr>
          <p:cNvSpPr txBox="1"/>
          <p:nvPr/>
        </p:nvSpPr>
        <p:spPr>
          <a:xfrm>
            <a:off x="5983495" y="3332173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podc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r>
              <a:rPr lang="en-US" sz="800" kern="0" dirty="0">
                <a:cs typeface="Al Bayan Plain" pitchFamily="2" charset="-78"/>
              </a:rPr>
              <a:t>     - name: </a:t>
            </a:r>
            <a:r>
              <a:rPr lang="en-US" altLang="ko-KR" sz="800" kern="0" dirty="0">
                <a:cs typeface="Al Bayan Plain" pitchFamily="2" charset="-78"/>
              </a:rPr>
              <a:t>containerc</a:t>
            </a:r>
            <a:endParaRPr lang="en-US" sz="800" kern="0" dirty="0">
              <a:cs typeface="Al Bayan Plain" pitchFamily="2" charset="-78"/>
            </a:endParaRP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DBD74DA-F7DA-64CC-19A7-BC7B72CFC71F}"/>
              </a:ext>
            </a:extLst>
          </p:cNvPr>
          <p:cNvSpPr txBox="1"/>
          <p:nvPr/>
        </p:nvSpPr>
        <p:spPr>
          <a:xfrm>
            <a:off x="5983495" y="195486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</p:spTree>
    <p:extLst>
      <p:ext uri="{BB962C8B-B14F-4D97-AF65-F5344CB8AC3E}">
        <p14:creationId xmlns:p14="http://schemas.microsoft.com/office/powerpoint/2010/main" val="3049525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A697C-4EDF-F461-587B-516AAB4AC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14">
            <a:extLst>
              <a:ext uri="{FF2B5EF4-FFF2-40B4-BE49-F238E27FC236}">
                <a16:creationId xmlns:a16="http://schemas.microsoft.com/office/drawing/2014/main" id="{0FC91557-26D9-4105-C80E-5AD249EE62B2}"/>
              </a:ext>
            </a:extLst>
          </p:cNvPr>
          <p:cNvSpPr/>
          <p:nvPr/>
        </p:nvSpPr>
        <p:spPr>
          <a:xfrm>
            <a:off x="131107" y="2591713"/>
            <a:ext cx="3734722" cy="1664205"/>
          </a:xfrm>
          <a:prstGeom prst="roundRect">
            <a:avLst>
              <a:gd name="adj" fmla="val 464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</a:t>
            </a:r>
            <a:endParaRPr lang="en-US" altLang="ko-KR" sz="1000" b="1" dirty="0"/>
          </a:p>
        </p:txBody>
      </p:sp>
      <p:sp>
        <p:nvSpPr>
          <p:cNvPr id="18" name="사각형: 둥근 모서리 114">
            <a:extLst>
              <a:ext uri="{FF2B5EF4-FFF2-40B4-BE49-F238E27FC236}">
                <a16:creationId xmlns:a16="http://schemas.microsoft.com/office/drawing/2014/main" id="{45792C4F-D2CD-16A0-C7FB-8165AAC7E942}"/>
              </a:ext>
            </a:extLst>
          </p:cNvPr>
          <p:cNvSpPr/>
          <p:nvPr/>
        </p:nvSpPr>
        <p:spPr>
          <a:xfrm>
            <a:off x="269837" y="3608994"/>
            <a:ext cx="1095586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0</a:t>
            </a:r>
            <a:endParaRPr lang="en-US" altLang="ko-KR" sz="1000" dirty="0"/>
          </a:p>
        </p:txBody>
      </p:sp>
      <p:sp>
        <p:nvSpPr>
          <p:cNvPr id="19" name="사각형: 둥근 모서리 114">
            <a:extLst>
              <a:ext uri="{FF2B5EF4-FFF2-40B4-BE49-F238E27FC236}">
                <a16:creationId xmlns:a16="http://schemas.microsoft.com/office/drawing/2014/main" id="{0D53837B-8E50-0613-6F92-2C436946AC40}"/>
              </a:ext>
            </a:extLst>
          </p:cNvPr>
          <p:cNvSpPr/>
          <p:nvPr/>
        </p:nvSpPr>
        <p:spPr>
          <a:xfrm>
            <a:off x="1485528" y="3608994"/>
            <a:ext cx="1077331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1</a:t>
            </a:r>
            <a:endParaRPr lang="en-US" altLang="ko-KR" sz="1000" dirty="0"/>
          </a:p>
        </p:txBody>
      </p:sp>
      <p:sp>
        <p:nvSpPr>
          <p:cNvPr id="20" name="사각형: 둥근 모서리 114">
            <a:extLst>
              <a:ext uri="{FF2B5EF4-FFF2-40B4-BE49-F238E27FC236}">
                <a16:creationId xmlns:a16="http://schemas.microsoft.com/office/drawing/2014/main" id="{C67B60F7-D3A1-F598-45FB-2BD04DE66852}"/>
              </a:ext>
            </a:extLst>
          </p:cNvPr>
          <p:cNvSpPr/>
          <p:nvPr/>
        </p:nvSpPr>
        <p:spPr>
          <a:xfrm>
            <a:off x="265020" y="3138669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23" name="사각형: 둥근 모서리 114">
            <a:extLst>
              <a:ext uri="{FF2B5EF4-FFF2-40B4-BE49-F238E27FC236}">
                <a16:creationId xmlns:a16="http://schemas.microsoft.com/office/drawing/2014/main" id="{09293847-5F71-E1F7-0276-376CCC310E91}"/>
              </a:ext>
            </a:extLst>
          </p:cNvPr>
          <p:cNvSpPr/>
          <p:nvPr/>
        </p:nvSpPr>
        <p:spPr>
          <a:xfrm>
            <a:off x="1480711" y="3138669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cxnSp>
        <p:nvCxnSpPr>
          <p:cNvPr id="24" name="직선 연결선 20">
            <a:extLst>
              <a:ext uri="{FF2B5EF4-FFF2-40B4-BE49-F238E27FC236}">
                <a16:creationId xmlns:a16="http://schemas.microsoft.com/office/drawing/2014/main" id="{42CB038A-8DD8-0AE2-2C62-59DA4731429D}"/>
              </a:ext>
            </a:extLst>
          </p:cNvPr>
          <p:cNvCxnSpPr>
            <a:cxnSpLocks/>
            <a:stCxn id="23" idx="2"/>
            <a:endCxn id="19" idx="0"/>
          </p:cNvCxnSpPr>
          <p:nvPr/>
        </p:nvCxnSpPr>
        <p:spPr>
          <a:xfrm>
            <a:off x="2021785" y="3521897"/>
            <a:ext cx="2409" cy="8709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114">
            <a:extLst>
              <a:ext uri="{FF2B5EF4-FFF2-40B4-BE49-F238E27FC236}">
                <a16:creationId xmlns:a16="http://schemas.microsoft.com/office/drawing/2014/main" id="{07F05030-CE78-F30C-7060-1292C6ADBF6D}"/>
              </a:ext>
            </a:extLst>
          </p:cNvPr>
          <p:cNvSpPr/>
          <p:nvPr/>
        </p:nvSpPr>
        <p:spPr>
          <a:xfrm>
            <a:off x="265021" y="2666807"/>
            <a:ext cx="2302741" cy="383228"/>
          </a:xfrm>
          <a:prstGeom prst="roundRect">
            <a:avLst>
              <a:gd name="adj" fmla="val 17067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cxnSp>
        <p:nvCxnSpPr>
          <p:cNvPr id="29" name="직선 연결선 17">
            <a:extLst>
              <a:ext uri="{FF2B5EF4-FFF2-40B4-BE49-F238E27FC236}">
                <a16:creationId xmlns:a16="http://schemas.microsoft.com/office/drawing/2014/main" id="{94084670-9292-BCB9-E6EF-D94E62FF89D6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>
            <a:off x="815222" y="3521897"/>
            <a:ext cx="2408" cy="8709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E1297AD-43C1-16FF-4929-92EF2CDA8421}"/>
              </a:ext>
            </a:extLst>
          </p:cNvPr>
          <p:cNvSpPr txBox="1"/>
          <p:nvPr/>
        </p:nvSpPr>
        <p:spPr>
          <a:xfrm>
            <a:off x="955537" y="2618223"/>
            <a:ext cx="915635" cy="23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i="1"/>
              <a:t>Bind Mount</a:t>
            </a:r>
            <a:endParaRPr kumimoji="1" lang="ko-KR" altLang="en-US" sz="1000" b="1" i="1"/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E9F991C9-6089-E0E3-2987-6982BE9C535E}"/>
              </a:ext>
            </a:extLst>
          </p:cNvPr>
          <p:cNvSpPr/>
          <p:nvPr/>
        </p:nvSpPr>
        <p:spPr>
          <a:xfrm>
            <a:off x="131107" y="332893"/>
            <a:ext cx="2567744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1E75A94-15B2-07E7-DA72-9CEC5B721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04B0B8B3-7ACA-E1AF-5116-C2FE874DCF47}"/>
              </a:ext>
            </a:extLst>
          </p:cNvPr>
          <p:cNvSpPr/>
          <p:nvPr/>
        </p:nvSpPr>
        <p:spPr>
          <a:xfrm>
            <a:off x="180868" y="610622"/>
            <a:ext cx="2464974" cy="166129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EBE7612D-26AF-E458-4AB4-FDFE6C41C6EB}"/>
              </a:ext>
            </a:extLst>
          </p:cNvPr>
          <p:cNvSpPr/>
          <p:nvPr/>
        </p:nvSpPr>
        <p:spPr>
          <a:xfrm>
            <a:off x="266714" y="1799345"/>
            <a:ext cx="923364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8A38E0AE-7478-947F-CC7A-37125DA94D7D}"/>
              </a:ext>
            </a:extLst>
          </p:cNvPr>
          <p:cNvSpPr/>
          <p:nvPr/>
        </p:nvSpPr>
        <p:spPr>
          <a:xfrm>
            <a:off x="266712" y="1329019"/>
            <a:ext cx="2296145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9F6F8F86-2AF3-DC94-3F69-7E1925D3D74B}"/>
              </a:ext>
            </a:extLst>
          </p:cNvPr>
          <p:cNvSpPr/>
          <p:nvPr/>
        </p:nvSpPr>
        <p:spPr>
          <a:xfrm>
            <a:off x="266713" y="882313"/>
            <a:ext cx="2296144" cy="384262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NVIDIA_VISIBLE_DEVICES,</a:t>
            </a:r>
          </a:p>
          <a:p>
            <a:pPr algn="ctr"/>
            <a:r>
              <a:rPr lang="en-US" altLang="ko-KR" sz="900"/>
              <a:t>CUDA_MPS_PIPE_DIRECTORY Env  </a:t>
            </a:r>
            <a:endParaRPr lang="en-US" altLang="ko-KR" sz="900" dirty="0"/>
          </a:p>
        </p:txBody>
      </p:sp>
      <p:sp>
        <p:nvSpPr>
          <p:cNvPr id="14" name="사각형: 둥근 모서리 114">
            <a:extLst>
              <a:ext uri="{FF2B5EF4-FFF2-40B4-BE49-F238E27FC236}">
                <a16:creationId xmlns:a16="http://schemas.microsoft.com/office/drawing/2014/main" id="{4C0A0044-C0D5-EA24-2CE2-AABE4AADE061}"/>
              </a:ext>
            </a:extLst>
          </p:cNvPr>
          <p:cNvSpPr/>
          <p:nvPr/>
        </p:nvSpPr>
        <p:spPr>
          <a:xfrm>
            <a:off x="4108684" y="2598534"/>
            <a:ext cx="2666781" cy="2212073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MPS Control Daemon Pod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사각형: 둥근 모서리 114">
            <a:extLst>
              <a:ext uri="{FF2B5EF4-FFF2-40B4-BE49-F238E27FC236}">
                <a16:creationId xmlns:a16="http://schemas.microsoft.com/office/drawing/2014/main" id="{D8108D1A-3CE6-0C82-6795-D2F5EBE71461}"/>
              </a:ext>
            </a:extLst>
          </p:cNvPr>
          <p:cNvSpPr/>
          <p:nvPr/>
        </p:nvSpPr>
        <p:spPr>
          <a:xfrm>
            <a:off x="4185035" y="2888356"/>
            <a:ext cx="2517544" cy="1849295"/>
          </a:xfrm>
          <a:prstGeom prst="roundRect">
            <a:avLst>
              <a:gd name="adj" fmla="val 350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CTR Container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사각형: 둥근 모서리 114">
            <a:extLst>
              <a:ext uri="{FF2B5EF4-FFF2-40B4-BE49-F238E27FC236}">
                <a16:creationId xmlns:a16="http://schemas.microsoft.com/office/drawing/2014/main" id="{55E4FA92-9DAC-AE56-5409-97234DF6AD81}"/>
              </a:ext>
            </a:extLst>
          </p:cNvPr>
          <p:cNvSpPr/>
          <p:nvPr/>
        </p:nvSpPr>
        <p:spPr>
          <a:xfrm>
            <a:off x="1295879" y="1799345"/>
            <a:ext cx="1266979" cy="383228"/>
          </a:xfrm>
          <a:prstGeom prst="roundRect">
            <a:avLst>
              <a:gd name="adj" fmla="val 724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/mps/nvidia.com/gpu.shared</a:t>
            </a:r>
            <a:endParaRPr lang="en-US" altLang="ko-KR" sz="1000" dirty="0"/>
          </a:p>
        </p:txBody>
      </p:sp>
      <p:sp>
        <p:nvSpPr>
          <p:cNvPr id="67" name="사각형: 둥근 모서리 114">
            <a:extLst>
              <a:ext uri="{FF2B5EF4-FFF2-40B4-BE49-F238E27FC236}">
                <a16:creationId xmlns:a16="http://schemas.microsoft.com/office/drawing/2014/main" id="{A7121CA5-55E7-DB20-4E96-B11D1EE211D7}"/>
              </a:ext>
            </a:extLst>
          </p:cNvPr>
          <p:cNvSpPr/>
          <p:nvPr/>
        </p:nvSpPr>
        <p:spPr>
          <a:xfrm>
            <a:off x="2680455" y="2664862"/>
            <a:ext cx="1077331" cy="383228"/>
          </a:xfrm>
          <a:prstGeom prst="roundRect">
            <a:avLst>
              <a:gd name="adj" fmla="val 12429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/run/nvidia</a:t>
            </a:r>
            <a:br>
              <a:rPr lang="en-US" altLang="ko-KR" sz="1000"/>
            </a:br>
            <a:r>
              <a:rPr lang="en-US" altLang="ko-KR" sz="1000"/>
              <a:t>/mps</a:t>
            </a:r>
            <a:endParaRPr lang="en-US" altLang="ko-KR" sz="1000" dirty="0"/>
          </a:p>
        </p:txBody>
      </p:sp>
      <p:sp>
        <p:nvSpPr>
          <p:cNvPr id="84" name="사각형: 둥근 모서리 114">
            <a:extLst>
              <a:ext uri="{FF2B5EF4-FFF2-40B4-BE49-F238E27FC236}">
                <a16:creationId xmlns:a16="http://schemas.microsoft.com/office/drawing/2014/main" id="{D4DFD18C-6667-F28D-EB56-A1F55DDC547A}"/>
              </a:ext>
            </a:extLst>
          </p:cNvPr>
          <p:cNvSpPr/>
          <p:nvPr/>
        </p:nvSpPr>
        <p:spPr>
          <a:xfrm>
            <a:off x="2815605" y="332893"/>
            <a:ext cx="2567744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5" name="사각형: 둥근 모서리 114">
            <a:extLst>
              <a:ext uri="{FF2B5EF4-FFF2-40B4-BE49-F238E27FC236}">
                <a16:creationId xmlns:a16="http://schemas.microsoft.com/office/drawing/2014/main" id="{9D2C4D27-4519-5E66-5CA9-82C80A016F92}"/>
              </a:ext>
            </a:extLst>
          </p:cNvPr>
          <p:cNvSpPr/>
          <p:nvPr/>
        </p:nvSpPr>
        <p:spPr>
          <a:xfrm>
            <a:off x="2865366" y="610622"/>
            <a:ext cx="2464974" cy="166129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6" name="사각형: 둥근 모서리 114">
            <a:extLst>
              <a:ext uri="{FF2B5EF4-FFF2-40B4-BE49-F238E27FC236}">
                <a16:creationId xmlns:a16="http://schemas.microsoft.com/office/drawing/2014/main" id="{239C3F98-50B2-503C-1515-EA4B694E637F}"/>
              </a:ext>
            </a:extLst>
          </p:cNvPr>
          <p:cNvSpPr/>
          <p:nvPr/>
        </p:nvSpPr>
        <p:spPr>
          <a:xfrm>
            <a:off x="2951212" y="1799345"/>
            <a:ext cx="923364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87" name="사각형: 둥근 모서리 114">
            <a:extLst>
              <a:ext uri="{FF2B5EF4-FFF2-40B4-BE49-F238E27FC236}">
                <a16:creationId xmlns:a16="http://schemas.microsoft.com/office/drawing/2014/main" id="{C0E6CFA6-2806-19E4-33CA-5F32860B1586}"/>
              </a:ext>
            </a:extLst>
          </p:cNvPr>
          <p:cNvSpPr/>
          <p:nvPr/>
        </p:nvSpPr>
        <p:spPr>
          <a:xfrm>
            <a:off x="2951210" y="1329019"/>
            <a:ext cx="2296145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88" name="사각형: 둥근 모서리 114">
            <a:extLst>
              <a:ext uri="{FF2B5EF4-FFF2-40B4-BE49-F238E27FC236}">
                <a16:creationId xmlns:a16="http://schemas.microsoft.com/office/drawing/2014/main" id="{BF3CE19F-1C00-DD49-7A8C-9E745E0BB354}"/>
              </a:ext>
            </a:extLst>
          </p:cNvPr>
          <p:cNvSpPr/>
          <p:nvPr/>
        </p:nvSpPr>
        <p:spPr>
          <a:xfrm>
            <a:off x="2951211" y="882313"/>
            <a:ext cx="2296144" cy="384262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NVIDIA_VISIBLE_DEVICES,</a:t>
            </a:r>
          </a:p>
          <a:p>
            <a:pPr algn="ctr"/>
            <a:r>
              <a:rPr lang="en-US" altLang="ko-KR" sz="900"/>
              <a:t>CUDA_MPS_PIPE_DIRECTORY Env  </a:t>
            </a:r>
            <a:endParaRPr lang="en-US" altLang="ko-KR" sz="900" dirty="0"/>
          </a:p>
        </p:txBody>
      </p:sp>
      <p:sp>
        <p:nvSpPr>
          <p:cNvPr id="89" name="사각형: 둥근 모서리 114">
            <a:extLst>
              <a:ext uri="{FF2B5EF4-FFF2-40B4-BE49-F238E27FC236}">
                <a16:creationId xmlns:a16="http://schemas.microsoft.com/office/drawing/2014/main" id="{6128C5E4-1A35-EC3A-19F5-2A0F8E703987}"/>
              </a:ext>
            </a:extLst>
          </p:cNvPr>
          <p:cNvSpPr/>
          <p:nvPr/>
        </p:nvSpPr>
        <p:spPr>
          <a:xfrm>
            <a:off x="3980377" y="1799345"/>
            <a:ext cx="1266979" cy="383228"/>
          </a:xfrm>
          <a:prstGeom prst="roundRect">
            <a:avLst>
              <a:gd name="adj" fmla="val 724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/mps/nvidia.com/gpu.shared</a:t>
            </a:r>
            <a:endParaRPr lang="en-US" altLang="ko-KR" sz="1000" dirty="0"/>
          </a:p>
        </p:txBody>
      </p:sp>
      <p:sp>
        <p:nvSpPr>
          <p:cNvPr id="90" name="사각형: 둥근 모서리 114">
            <a:extLst>
              <a:ext uri="{FF2B5EF4-FFF2-40B4-BE49-F238E27FC236}">
                <a16:creationId xmlns:a16="http://schemas.microsoft.com/office/drawing/2014/main" id="{8A3B4C91-A18C-FDF7-0A21-052EAFB7316D}"/>
              </a:ext>
            </a:extLst>
          </p:cNvPr>
          <p:cNvSpPr/>
          <p:nvPr/>
        </p:nvSpPr>
        <p:spPr>
          <a:xfrm>
            <a:off x="5500103" y="332893"/>
            <a:ext cx="2567744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1" name="사각형: 둥근 모서리 114">
            <a:extLst>
              <a:ext uri="{FF2B5EF4-FFF2-40B4-BE49-F238E27FC236}">
                <a16:creationId xmlns:a16="http://schemas.microsoft.com/office/drawing/2014/main" id="{CFAB84E6-AA84-B301-563A-8D6D2D118A70}"/>
              </a:ext>
            </a:extLst>
          </p:cNvPr>
          <p:cNvSpPr/>
          <p:nvPr/>
        </p:nvSpPr>
        <p:spPr>
          <a:xfrm>
            <a:off x="5549864" y="610622"/>
            <a:ext cx="2464974" cy="166129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2" name="사각형: 둥근 모서리 114">
            <a:extLst>
              <a:ext uri="{FF2B5EF4-FFF2-40B4-BE49-F238E27FC236}">
                <a16:creationId xmlns:a16="http://schemas.microsoft.com/office/drawing/2014/main" id="{DD76E93E-54B1-A1A6-6620-88F11E85D874}"/>
              </a:ext>
            </a:extLst>
          </p:cNvPr>
          <p:cNvSpPr/>
          <p:nvPr/>
        </p:nvSpPr>
        <p:spPr>
          <a:xfrm>
            <a:off x="5635710" y="1799345"/>
            <a:ext cx="923364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93" name="사각형: 둥근 모서리 114">
            <a:extLst>
              <a:ext uri="{FF2B5EF4-FFF2-40B4-BE49-F238E27FC236}">
                <a16:creationId xmlns:a16="http://schemas.microsoft.com/office/drawing/2014/main" id="{79A7791B-85B0-5631-4566-7088297D76B0}"/>
              </a:ext>
            </a:extLst>
          </p:cNvPr>
          <p:cNvSpPr/>
          <p:nvPr/>
        </p:nvSpPr>
        <p:spPr>
          <a:xfrm>
            <a:off x="5635708" y="1329019"/>
            <a:ext cx="2296145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94" name="사각형: 둥근 모서리 114">
            <a:extLst>
              <a:ext uri="{FF2B5EF4-FFF2-40B4-BE49-F238E27FC236}">
                <a16:creationId xmlns:a16="http://schemas.microsoft.com/office/drawing/2014/main" id="{5032579F-135A-6F65-D710-DAB4CA4DDF97}"/>
              </a:ext>
            </a:extLst>
          </p:cNvPr>
          <p:cNvSpPr/>
          <p:nvPr/>
        </p:nvSpPr>
        <p:spPr>
          <a:xfrm>
            <a:off x="5635709" y="882313"/>
            <a:ext cx="2296144" cy="384262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NVIDIA_VISIBLE_DEVICES,</a:t>
            </a:r>
          </a:p>
          <a:p>
            <a:pPr algn="ctr"/>
            <a:r>
              <a:rPr lang="en-US" altLang="ko-KR" sz="900"/>
              <a:t>CUDA_MPS_PIPE_DIRECTORY Env  </a:t>
            </a:r>
            <a:endParaRPr lang="en-US" altLang="ko-KR" sz="900" dirty="0"/>
          </a:p>
        </p:txBody>
      </p:sp>
      <p:sp>
        <p:nvSpPr>
          <p:cNvPr id="95" name="사각형: 둥근 모서리 114">
            <a:extLst>
              <a:ext uri="{FF2B5EF4-FFF2-40B4-BE49-F238E27FC236}">
                <a16:creationId xmlns:a16="http://schemas.microsoft.com/office/drawing/2014/main" id="{2D82D9AA-A40C-DF0F-C2D7-25B72212DBDA}"/>
              </a:ext>
            </a:extLst>
          </p:cNvPr>
          <p:cNvSpPr/>
          <p:nvPr/>
        </p:nvSpPr>
        <p:spPr>
          <a:xfrm>
            <a:off x="6664875" y="1799345"/>
            <a:ext cx="1266979" cy="383228"/>
          </a:xfrm>
          <a:prstGeom prst="roundRect">
            <a:avLst>
              <a:gd name="adj" fmla="val 7242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/mps/nvidia.com/gpu.shared</a:t>
            </a:r>
            <a:endParaRPr lang="en-US" altLang="ko-KR" sz="1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198258B-CFF0-F7EC-163E-DCF62C1186CA}"/>
              </a:ext>
            </a:extLst>
          </p:cNvPr>
          <p:cNvSpPr txBox="1"/>
          <p:nvPr/>
        </p:nvSpPr>
        <p:spPr>
          <a:xfrm>
            <a:off x="7245915" y="3356782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podc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containerc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AC63CA-E898-BC87-305D-EEB141A3D434}"/>
              </a:ext>
            </a:extLst>
          </p:cNvPr>
          <p:cNvSpPr txBox="1"/>
          <p:nvPr/>
        </p:nvSpPr>
        <p:spPr>
          <a:xfrm>
            <a:off x="7245915" y="1787122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podb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containerb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8B07C3-AC51-C708-0E70-FAE189EEB775}"/>
              </a:ext>
            </a:extLst>
          </p:cNvPr>
          <p:cNvSpPr txBox="1"/>
          <p:nvPr/>
        </p:nvSpPr>
        <p:spPr>
          <a:xfrm>
            <a:off x="7245915" y="229685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98" name="사각형: 둥근 모서리 114">
            <a:extLst>
              <a:ext uri="{FF2B5EF4-FFF2-40B4-BE49-F238E27FC236}">
                <a16:creationId xmlns:a16="http://schemas.microsoft.com/office/drawing/2014/main" id="{C42FDAF0-3E79-C9F1-E33F-495B1E6FA080}"/>
              </a:ext>
            </a:extLst>
          </p:cNvPr>
          <p:cNvSpPr/>
          <p:nvPr/>
        </p:nvSpPr>
        <p:spPr>
          <a:xfrm>
            <a:off x="4419861" y="4279392"/>
            <a:ext cx="2025175" cy="383228"/>
          </a:xfrm>
          <a:prstGeom prst="roundRect">
            <a:avLst>
              <a:gd name="adj" fmla="val 12429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/mps/nvidia.com/gpu.shared</a:t>
            </a:r>
            <a:endParaRPr lang="en-US" altLang="ko-KR" sz="1000" dirty="0"/>
          </a:p>
        </p:txBody>
      </p:sp>
      <p:sp>
        <p:nvSpPr>
          <p:cNvPr id="100" name="사각형: 둥근 모서리 114">
            <a:extLst>
              <a:ext uri="{FF2B5EF4-FFF2-40B4-BE49-F238E27FC236}">
                <a16:creationId xmlns:a16="http://schemas.microsoft.com/office/drawing/2014/main" id="{34ED8E7E-C52E-933B-7B8E-53F7FBADA6B1}"/>
              </a:ext>
            </a:extLst>
          </p:cNvPr>
          <p:cNvSpPr/>
          <p:nvPr/>
        </p:nvSpPr>
        <p:spPr>
          <a:xfrm>
            <a:off x="4264105" y="3138669"/>
            <a:ext cx="1109675" cy="383228"/>
          </a:xfrm>
          <a:prstGeom prst="roundRect">
            <a:avLst>
              <a:gd name="adj" fmla="val 13792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mps-control-daemon</a:t>
            </a:r>
            <a:endParaRPr lang="en-US" altLang="ko-KR" sz="1000" dirty="0"/>
          </a:p>
        </p:txBody>
      </p:sp>
      <p:sp>
        <p:nvSpPr>
          <p:cNvPr id="101" name="사각형: 둥근 모서리 114">
            <a:extLst>
              <a:ext uri="{FF2B5EF4-FFF2-40B4-BE49-F238E27FC236}">
                <a16:creationId xmlns:a16="http://schemas.microsoft.com/office/drawing/2014/main" id="{F11E0313-AAC9-AAB6-7B2A-9BE488DF4BF8}"/>
              </a:ext>
            </a:extLst>
          </p:cNvPr>
          <p:cNvSpPr/>
          <p:nvPr/>
        </p:nvSpPr>
        <p:spPr>
          <a:xfrm>
            <a:off x="4419861" y="3709030"/>
            <a:ext cx="2025175" cy="383228"/>
          </a:xfrm>
          <a:prstGeom prst="roundRect">
            <a:avLst>
              <a:gd name="adj" fmla="val 13792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nvidia-cuda-mps-control -d</a:t>
            </a:r>
            <a:endParaRPr lang="en-US" altLang="ko-KR" sz="1000" dirty="0"/>
          </a:p>
        </p:txBody>
      </p:sp>
      <p:sp>
        <p:nvSpPr>
          <p:cNvPr id="103" name="사각형: 둥근 모서리 114">
            <a:extLst>
              <a:ext uri="{FF2B5EF4-FFF2-40B4-BE49-F238E27FC236}">
                <a16:creationId xmlns:a16="http://schemas.microsoft.com/office/drawing/2014/main" id="{64C6B9F9-A443-2D02-AA7E-B77E4775A9FA}"/>
              </a:ext>
            </a:extLst>
          </p:cNvPr>
          <p:cNvSpPr/>
          <p:nvPr/>
        </p:nvSpPr>
        <p:spPr>
          <a:xfrm>
            <a:off x="5479894" y="3134042"/>
            <a:ext cx="1146283" cy="383228"/>
          </a:xfrm>
          <a:prstGeom prst="roundRect">
            <a:avLst>
              <a:gd name="adj" fmla="val 13792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nvidia-cuda-mps-server</a:t>
            </a:r>
            <a:endParaRPr lang="en-US" altLang="ko-KR" sz="1000" dirty="0"/>
          </a:p>
        </p:txBody>
      </p:sp>
      <p:cxnSp>
        <p:nvCxnSpPr>
          <p:cNvPr id="104" name="직선 연결선 17">
            <a:extLst>
              <a:ext uri="{FF2B5EF4-FFF2-40B4-BE49-F238E27FC236}">
                <a16:creationId xmlns:a16="http://schemas.microsoft.com/office/drawing/2014/main" id="{C9A57971-AE10-CF3C-EC80-9C535EBAC198}"/>
              </a:ext>
            </a:extLst>
          </p:cNvPr>
          <p:cNvCxnSpPr>
            <a:cxnSpLocks/>
            <a:stCxn id="75" idx="2"/>
            <a:endCxn id="28" idx="0"/>
          </p:cNvCxnSpPr>
          <p:nvPr/>
        </p:nvCxnSpPr>
        <p:spPr>
          <a:xfrm>
            <a:off x="1414785" y="1712247"/>
            <a:ext cx="1607" cy="95456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7">
            <a:extLst>
              <a:ext uri="{FF2B5EF4-FFF2-40B4-BE49-F238E27FC236}">
                <a16:creationId xmlns:a16="http://schemas.microsoft.com/office/drawing/2014/main" id="{94A090CA-9A40-88E5-3765-A1694794A403}"/>
              </a:ext>
            </a:extLst>
          </p:cNvPr>
          <p:cNvCxnSpPr>
            <a:cxnSpLocks/>
            <a:stCxn id="87" idx="2"/>
            <a:endCxn id="28" idx="0"/>
          </p:cNvCxnSpPr>
          <p:nvPr/>
        </p:nvCxnSpPr>
        <p:spPr>
          <a:xfrm flipH="1">
            <a:off x="1416392" y="1712247"/>
            <a:ext cx="2682891" cy="95456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7">
            <a:extLst>
              <a:ext uri="{FF2B5EF4-FFF2-40B4-BE49-F238E27FC236}">
                <a16:creationId xmlns:a16="http://schemas.microsoft.com/office/drawing/2014/main" id="{34C9D3AA-3200-FD63-564D-D483125B5982}"/>
              </a:ext>
            </a:extLst>
          </p:cNvPr>
          <p:cNvCxnSpPr>
            <a:cxnSpLocks/>
            <a:stCxn id="93" idx="2"/>
            <a:endCxn id="28" idx="0"/>
          </p:cNvCxnSpPr>
          <p:nvPr/>
        </p:nvCxnSpPr>
        <p:spPr>
          <a:xfrm flipH="1">
            <a:off x="1416392" y="1712247"/>
            <a:ext cx="5367389" cy="95456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7">
            <a:extLst>
              <a:ext uri="{FF2B5EF4-FFF2-40B4-BE49-F238E27FC236}">
                <a16:creationId xmlns:a16="http://schemas.microsoft.com/office/drawing/2014/main" id="{0C2CE699-B201-99D4-A698-E91B83402551}"/>
              </a:ext>
            </a:extLst>
          </p:cNvPr>
          <p:cNvCxnSpPr>
            <a:cxnSpLocks/>
            <a:stCxn id="39" idx="2"/>
            <a:endCxn id="67" idx="0"/>
          </p:cNvCxnSpPr>
          <p:nvPr/>
        </p:nvCxnSpPr>
        <p:spPr>
          <a:xfrm>
            <a:off x="1929369" y="2182573"/>
            <a:ext cx="1289752" cy="482289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7">
            <a:extLst>
              <a:ext uri="{FF2B5EF4-FFF2-40B4-BE49-F238E27FC236}">
                <a16:creationId xmlns:a16="http://schemas.microsoft.com/office/drawing/2014/main" id="{08F5658C-8295-5D04-4CE8-09D45DBB0172}"/>
              </a:ext>
            </a:extLst>
          </p:cNvPr>
          <p:cNvCxnSpPr>
            <a:cxnSpLocks/>
            <a:stCxn id="89" idx="2"/>
            <a:endCxn id="67" idx="0"/>
          </p:cNvCxnSpPr>
          <p:nvPr/>
        </p:nvCxnSpPr>
        <p:spPr>
          <a:xfrm flipH="1">
            <a:off x="3219121" y="2182573"/>
            <a:ext cx="1394746" cy="482289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7">
            <a:extLst>
              <a:ext uri="{FF2B5EF4-FFF2-40B4-BE49-F238E27FC236}">
                <a16:creationId xmlns:a16="http://schemas.microsoft.com/office/drawing/2014/main" id="{4570F6DC-F4E2-2B89-3EE8-0BC722664629}"/>
              </a:ext>
            </a:extLst>
          </p:cNvPr>
          <p:cNvCxnSpPr>
            <a:cxnSpLocks/>
            <a:stCxn id="95" idx="2"/>
            <a:endCxn id="67" idx="0"/>
          </p:cNvCxnSpPr>
          <p:nvPr/>
        </p:nvCxnSpPr>
        <p:spPr>
          <a:xfrm flipH="1">
            <a:off x="3219121" y="2182573"/>
            <a:ext cx="4079244" cy="482289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7">
            <a:extLst>
              <a:ext uri="{FF2B5EF4-FFF2-40B4-BE49-F238E27FC236}">
                <a16:creationId xmlns:a16="http://schemas.microsoft.com/office/drawing/2014/main" id="{0BA879CC-1B11-9569-8CA3-F52C2DC5A6D4}"/>
              </a:ext>
            </a:extLst>
          </p:cNvPr>
          <p:cNvCxnSpPr>
            <a:cxnSpLocks/>
            <a:stCxn id="98" idx="1"/>
            <a:endCxn id="67" idx="2"/>
          </p:cNvCxnSpPr>
          <p:nvPr/>
        </p:nvCxnSpPr>
        <p:spPr>
          <a:xfrm flipH="1" flipV="1">
            <a:off x="3219121" y="3048090"/>
            <a:ext cx="1200740" cy="1422916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5C157C31-E3B3-66C5-DD89-1EDD41944AF2}"/>
              </a:ext>
            </a:extLst>
          </p:cNvPr>
          <p:cNvSpPr txBox="1"/>
          <p:nvPr/>
        </p:nvSpPr>
        <p:spPr>
          <a:xfrm>
            <a:off x="2678595" y="3036052"/>
            <a:ext cx="1008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i="1"/>
              <a:t>HostPath</a:t>
            </a:r>
          </a:p>
          <a:p>
            <a:r>
              <a:rPr kumimoji="1" lang="en-US" altLang="ko-KR" sz="1000" b="1" i="1"/>
              <a:t>(Bind Mount)</a:t>
            </a:r>
            <a:endParaRPr kumimoji="1" lang="ko-KR" altLang="en-US" sz="1000" b="1" i="1"/>
          </a:p>
        </p:txBody>
      </p:sp>
      <p:cxnSp>
        <p:nvCxnSpPr>
          <p:cNvPr id="135" name="직선 연결선 17">
            <a:extLst>
              <a:ext uri="{FF2B5EF4-FFF2-40B4-BE49-F238E27FC236}">
                <a16:creationId xmlns:a16="http://schemas.microsoft.com/office/drawing/2014/main" id="{73612361-15FF-8400-C7A9-3900C65FCCBB}"/>
              </a:ext>
            </a:extLst>
          </p:cNvPr>
          <p:cNvCxnSpPr>
            <a:cxnSpLocks/>
            <a:stCxn id="74" idx="2"/>
            <a:endCxn id="20" idx="0"/>
          </p:cNvCxnSpPr>
          <p:nvPr/>
        </p:nvCxnSpPr>
        <p:spPr>
          <a:xfrm>
            <a:off x="728396" y="2182573"/>
            <a:ext cx="86826" cy="95609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7">
            <a:extLst>
              <a:ext uri="{FF2B5EF4-FFF2-40B4-BE49-F238E27FC236}">
                <a16:creationId xmlns:a16="http://schemas.microsoft.com/office/drawing/2014/main" id="{F72E795A-F529-3391-3C17-6D65ED760150}"/>
              </a:ext>
            </a:extLst>
          </p:cNvPr>
          <p:cNvCxnSpPr>
            <a:cxnSpLocks/>
            <a:stCxn id="86" idx="2"/>
            <a:endCxn id="20" idx="0"/>
          </p:cNvCxnSpPr>
          <p:nvPr/>
        </p:nvCxnSpPr>
        <p:spPr>
          <a:xfrm flipH="1">
            <a:off x="815222" y="2182573"/>
            <a:ext cx="2597672" cy="95609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7">
            <a:extLst>
              <a:ext uri="{FF2B5EF4-FFF2-40B4-BE49-F238E27FC236}">
                <a16:creationId xmlns:a16="http://schemas.microsoft.com/office/drawing/2014/main" id="{841902F1-5E65-1F68-0715-E9E694F0FC8C}"/>
              </a:ext>
            </a:extLst>
          </p:cNvPr>
          <p:cNvCxnSpPr>
            <a:cxnSpLocks/>
            <a:stCxn id="92" idx="2"/>
            <a:endCxn id="23" idx="0"/>
          </p:cNvCxnSpPr>
          <p:nvPr/>
        </p:nvCxnSpPr>
        <p:spPr>
          <a:xfrm flipH="1">
            <a:off x="2021785" y="2182573"/>
            <a:ext cx="4075607" cy="95609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7">
            <a:extLst>
              <a:ext uri="{FF2B5EF4-FFF2-40B4-BE49-F238E27FC236}">
                <a16:creationId xmlns:a16="http://schemas.microsoft.com/office/drawing/2014/main" id="{1EFAC8C4-89AF-F282-FC87-AD5CC5316E8E}"/>
              </a:ext>
            </a:extLst>
          </p:cNvPr>
          <p:cNvCxnSpPr>
            <a:cxnSpLocks/>
            <a:stCxn id="100" idx="2"/>
            <a:endCxn id="101" idx="0"/>
          </p:cNvCxnSpPr>
          <p:nvPr/>
        </p:nvCxnSpPr>
        <p:spPr>
          <a:xfrm>
            <a:off x="4818943" y="3521897"/>
            <a:ext cx="613506" cy="187133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7">
            <a:extLst>
              <a:ext uri="{FF2B5EF4-FFF2-40B4-BE49-F238E27FC236}">
                <a16:creationId xmlns:a16="http://schemas.microsoft.com/office/drawing/2014/main" id="{E4538697-79C0-4C08-DFEF-70F9782D9CBF}"/>
              </a:ext>
            </a:extLst>
          </p:cNvPr>
          <p:cNvCxnSpPr>
            <a:cxnSpLocks/>
            <a:stCxn id="101" idx="0"/>
            <a:endCxn id="103" idx="2"/>
          </p:cNvCxnSpPr>
          <p:nvPr/>
        </p:nvCxnSpPr>
        <p:spPr>
          <a:xfrm flipV="1">
            <a:off x="5432449" y="3517270"/>
            <a:ext cx="620587" cy="19176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7">
            <a:extLst>
              <a:ext uri="{FF2B5EF4-FFF2-40B4-BE49-F238E27FC236}">
                <a16:creationId xmlns:a16="http://schemas.microsoft.com/office/drawing/2014/main" id="{970B2EAE-0788-E06A-DCF3-077D864CB01B}"/>
              </a:ext>
            </a:extLst>
          </p:cNvPr>
          <p:cNvCxnSpPr>
            <a:cxnSpLocks/>
            <a:stCxn id="101" idx="2"/>
            <a:endCxn id="98" idx="0"/>
          </p:cNvCxnSpPr>
          <p:nvPr/>
        </p:nvCxnSpPr>
        <p:spPr>
          <a:xfrm>
            <a:off x="5432449" y="4092258"/>
            <a:ext cx="0" cy="187134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803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8C5D4-BC0B-45D9-5831-44700869D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114">
            <a:extLst>
              <a:ext uri="{FF2B5EF4-FFF2-40B4-BE49-F238E27FC236}">
                <a16:creationId xmlns:a16="http://schemas.microsoft.com/office/drawing/2014/main" id="{6529C268-44CC-8630-0E2E-829F79B00DDA}"/>
              </a:ext>
            </a:extLst>
          </p:cNvPr>
          <p:cNvSpPr/>
          <p:nvPr/>
        </p:nvSpPr>
        <p:spPr>
          <a:xfrm>
            <a:off x="1782967" y="128188"/>
            <a:ext cx="2577504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사각형: 둥근 모서리 114">
            <a:extLst>
              <a:ext uri="{FF2B5EF4-FFF2-40B4-BE49-F238E27FC236}">
                <a16:creationId xmlns:a16="http://schemas.microsoft.com/office/drawing/2014/main" id="{88BE81A4-A99F-16E4-A077-A77A8CA132B2}"/>
              </a:ext>
            </a:extLst>
          </p:cNvPr>
          <p:cNvSpPr/>
          <p:nvPr/>
        </p:nvSpPr>
        <p:spPr>
          <a:xfrm>
            <a:off x="4403178" y="124416"/>
            <a:ext cx="1385789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7AF9E648-B676-6A72-2D98-B8C3B3FC0F46}"/>
              </a:ext>
            </a:extLst>
          </p:cNvPr>
          <p:cNvSpPr/>
          <p:nvPr/>
        </p:nvSpPr>
        <p:spPr>
          <a:xfrm>
            <a:off x="360495" y="128188"/>
            <a:ext cx="1379765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74073A3-CC97-8CC5-B6AD-72042783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DE2471FA-CA3C-08BE-E268-729B262933AE}"/>
              </a:ext>
            </a:extLst>
          </p:cNvPr>
          <p:cNvSpPr/>
          <p:nvPr/>
        </p:nvSpPr>
        <p:spPr>
          <a:xfrm>
            <a:off x="1830421" y="410457"/>
            <a:ext cx="2486761" cy="1662236"/>
          </a:xfrm>
          <a:prstGeom prst="roundRect">
            <a:avLst>
              <a:gd name="adj" fmla="val 402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01AB50DE-0C3F-3487-5BFD-5CE124D7FD35}"/>
              </a:ext>
            </a:extLst>
          </p:cNvPr>
          <p:cNvSpPr/>
          <p:nvPr/>
        </p:nvSpPr>
        <p:spPr>
          <a:xfrm>
            <a:off x="1918155" y="1604484"/>
            <a:ext cx="1099999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F259B774-BA39-C2D8-F0DB-D6D06F1F4A70}"/>
              </a:ext>
            </a:extLst>
          </p:cNvPr>
          <p:cNvSpPr/>
          <p:nvPr/>
        </p:nvSpPr>
        <p:spPr>
          <a:xfrm>
            <a:off x="3119755" y="1604484"/>
            <a:ext cx="1099868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6037A301-55F9-EA58-2AA0-8BA43C4186DB}"/>
              </a:ext>
            </a:extLst>
          </p:cNvPr>
          <p:cNvSpPr/>
          <p:nvPr/>
        </p:nvSpPr>
        <p:spPr>
          <a:xfrm>
            <a:off x="1918155" y="1134159"/>
            <a:ext cx="2301467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3DEBE8EF-201D-42A4-B9F9-15B80D8E727E}"/>
              </a:ext>
            </a:extLst>
          </p:cNvPr>
          <p:cNvSpPr/>
          <p:nvPr/>
        </p:nvSpPr>
        <p:spPr>
          <a:xfrm>
            <a:off x="410256" y="404977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41932F44-EFE7-C5F7-46E3-A7DF8D00D7A2}"/>
              </a:ext>
            </a:extLst>
          </p:cNvPr>
          <p:cNvSpPr/>
          <p:nvPr/>
        </p:nvSpPr>
        <p:spPr>
          <a:xfrm>
            <a:off x="496102" y="1594640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6840163A-F168-B19B-D579-114367E8570A}"/>
              </a:ext>
            </a:extLst>
          </p:cNvPr>
          <p:cNvSpPr/>
          <p:nvPr/>
        </p:nvSpPr>
        <p:spPr>
          <a:xfrm>
            <a:off x="496101" y="1124314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46" name="사각형: 둥근 모서리 114">
            <a:extLst>
              <a:ext uri="{FF2B5EF4-FFF2-40B4-BE49-F238E27FC236}">
                <a16:creationId xmlns:a16="http://schemas.microsoft.com/office/drawing/2014/main" id="{BBC1122E-642F-6653-3E6E-E53BB38D3FE2}"/>
              </a:ext>
            </a:extLst>
          </p:cNvPr>
          <p:cNvSpPr/>
          <p:nvPr/>
        </p:nvSpPr>
        <p:spPr>
          <a:xfrm>
            <a:off x="1918155" y="683008"/>
            <a:ext cx="2301467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NVIDIA_VISIBLE_DEVICES Env  </a:t>
            </a:r>
            <a:endParaRPr lang="en-US" altLang="ko-KR" sz="9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13520BAA-3B50-4DC2-DA3E-A0070718D11E}"/>
              </a:ext>
            </a:extLst>
          </p:cNvPr>
          <p:cNvSpPr/>
          <p:nvPr/>
        </p:nvSpPr>
        <p:spPr>
          <a:xfrm>
            <a:off x="496101" y="678643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617A0841-7FA5-C48E-E2DF-7C54D6B48F48}"/>
              </a:ext>
            </a:extLst>
          </p:cNvPr>
          <p:cNvSpPr/>
          <p:nvPr/>
        </p:nvSpPr>
        <p:spPr>
          <a:xfrm>
            <a:off x="4451870" y="404977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사각형: 둥근 모서리 114">
            <a:extLst>
              <a:ext uri="{FF2B5EF4-FFF2-40B4-BE49-F238E27FC236}">
                <a16:creationId xmlns:a16="http://schemas.microsoft.com/office/drawing/2014/main" id="{E02BAF8A-DD36-F036-3314-A004C70741E2}"/>
              </a:ext>
            </a:extLst>
          </p:cNvPr>
          <p:cNvSpPr/>
          <p:nvPr/>
        </p:nvSpPr>
        <p:spPr>
          <a:xfrm>
            <a:off x="4537716" y="1594640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6" name="사각형: 둥근 모서리 114">
            <a:extLst>
              <a:ext uri="{FF2B5EF4-FFF2-40B4-BE49-F238E27FC236}">
                <a16:creationId xmlns:a16="http://schemas.microsoft.com/office/drawing/2014/main" id="{355E48CF-F5BD-D410-9070-46B84CE8BE7B}"/>
              </a:ext>
            </a:extLst>
          </p:cNvPr>
          <p:cNvSpPr/>
          <p:nvPr/>
        </p:nvSpPr>
        <p:spPr>
          <a:xfrm>
            <a:off x="4537715" y="1124314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" name="사각형: 둥근 모서리 114">
            <a:extLst>
              <a:ext uri="{FF2B5EF4-FFF2-40B4-BE49-F238E27FC236}">
                <a16:creationId xmlns:a16="http://schemas.microsoft.com/office/drawing/2014/main" id="{A9438220-DDB9-8A1A-8703-DE74FFF83B11}"/>
              </a:ext>
            </a:extLst>
          </p:cNvPr>
          <p:cNvSpPr/>
          <p:nvPr/>
        </p:nvSpPr>
        <p:spPr>
          <a:xfrm>
            <a:off x="4537715" y="678643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9" name="사각형: 둥근 모서리 114">
            <a:extLst>
              <a:ext uri="{FF2B5EF4-FFF2-40B4-BE49-F238E27FC236}">
                <a16:creationId xmlns:a16="http://schemas.microsoft.com/office/drawing/2014/main" id="{878CCE7D-82C5-E1E4-9DAE-4DE0030F7DBF}"/>
              </a:ext>
            </a:extLst>
          </p:cNvPr>
          <p:cNvSpPr/>
          <p:nvPr/>
        </p:nvSpPr>
        <p:spPr>
          <a:xfrm>
            <a:off x="360495" y="2329189"/>
            <a:ext cx="5428472" cy="2474809"/>
          </a:xfrm>
          <a:prstGeom prst="roundRect">
            <a:avLst>
              <a:gd name="adj" fmla="val 464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</a:t>
            </a:r>
            <a:endParaRPr lang="en-US" altLang="ko-KR" sz="1000" b="1" dirty="0"/>
          </a:p>
        </p:txBody>
      </p:sp>
      <p:sp>
        <p:nvSpPr>
          <p:cNvPr id="12" name="사각형: 둥근 모서리 114">
            <a:extLst>
              <a:ext uri="{FF2B5EF4-FFF2-40B4-BE49-F238E27FC236}">
                <a16:creationId xmlns:a16="http://schemas.microsoft.com/office/drawing/2014/main" id="{F3CF07FD-C63E-C2D6-43BF-787B13149ACE}"/>
              </a:ext>
            </a:extLst>
          </p:cNvPr>
          <p:cNvSpPr/>
          <p:nvPr/>
        </p:nvSpPr>
        <p:spPr>
          <a:xfrm>
            <a:off x="499225" y="3346470"/>
            <a:ext cx="1095586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0</a:t>
            </a:r>
            <a:endParaRPr lang="en-US" altLang="ko-KR" sz="1000" dirty="0"/>
          </a:p>
        </p:txBody>
      </p:sp>
      <p:sp>
        <p:nvSpPr>
          <p:cNvPr id="13" name="사각형: 둥근 모서리 114">
            <a:extLst>
              <a:ext uri="{FF2B5EF4-FFF2-40B4-BE49-F238E27FC236}">
                <a16:creationId xmlns:a16="http://schemas.microsoft.com/office/drawing/2014/main" id="{5EE0A646-A419-848D-0FF3-4B675290AB72}"/>
              </a:ext>
            </a:extLst>
          </p:cNvPr>
          <p:cNvSpPr/>
          <p:nvPr/>
        </p:nvSpPr>
        <p:spPr>
          <a:xfrm>
            <a:off x="1714916" y="3346470"/>
            <a:ext cx="1077331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1</a:t>
            </a:r>
            <a:endParaRPr lang="en-US" altLang="ko-KR" sz="1000" dirty="0"/>
          </a:p>
        </p:txBody>
      </p:sp>
      <p:sp>
        <p:nvSpPr>
          <p:cNvPr id="21" name="사각형: 둥근 모서리 114">
            <a:extLst>
              <a:ext uri="{FF2B5EF4-FFF2-40B4-BE49-F238E27FC236}">
                <a16:creationId xmlns:a16="http://schemas.microsoft.com/office/drawing/2014/main" id="{04A07319-3FCF-CEED-FACC-E1DD39B55BAA}"/>
              </a:ext>
            </a:extLst>
          </p:cNvPr>
          <p:cNvSpPr/>
          <p:nvPr/>
        </p:nvSpPr>
        <p:spPr>
          <a:xfrm>
            <a:off x="494408" y="2876145"/>
            <a:ext cx="1100403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22" name="사각형: 둥근 모서리 114">
            <a:extLst>
              <a:ext uri="{FF2B5EF4-FFF2-40B4-BE49-F238E27FC236}">
                <a16:creationId xmlns:a16="http://schemas.microsoft.com/office/drawing/2014/main" id="{0BDFE877-2297-36C1-04DE-9330D3A94F8C}"/>
              </a:ext>
            </a:extLst>
          </p:cNvPr>
          <p:cNvSpPr/>
          <p:nvPr/>
        </p:nvSpPr>
        <p:spPr>
          <a:xfrm>
            <a:off x="1710099" y="2876145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cxnSp>
        <p:nvCxnSpPr>
          <p:cNvPr id="25" name="직선 연결선 20">
            <a:extLst>
              <a:ext uri="{FF2B5EF4-FFF2-40B4-BE49-F238E27FC236}">
                <a16:creationId xmlns:a16="http://schemas.microsoft.com/office/drawing/2014/main" id="{736EB55D-7051-4974-89EB-4E720ECB8E5E}"/>
              </a:ext>
            </a:extLst>
          </p:cNvPr>
          <p:cNvCxnSpPr>
            <a:cxnSpLocks/>
            <a:stCxn id="22" idx="2"/>
            <a:endCxn id="13" idx="0"/>
          </p:cNvCxnSpPr>
          <p:nvPr/>
        </p:nvCxnSpPr>
        <p:spPr>
          <a:xfrm>
            <a:off x="2251173" y="3259373"/>
            <a:ext cx="2409" cy="8709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114">
            <a:extLst>
              <a:ext uri="{FF2B5EF4-FFF2-40B4-BE49-F238E27FC236}">
                <a16:creationId xmlns:a16="http://schemas.microsoft.com/office/drawing/2014/main" id="{BEEE98E8-72BF-F93E-31FC-E6BE45D4E6B5}"/>
              </a:ext>
            </a:extLst>
          </p:cNvPr>
          <p:cNvSpPr/>
          <p:nvPr/>
        </p:nvSpPr>
        <p:spPr>
          <a:xfrm>
            <a:off x="494409" y="2404283"/>
            <a:ext cx="2302741" cy="383228"/>
          </a:xfrm>
          <a:prstGeom prst="roundRect">
            <a:avLst>
              <a:gd name="adj" fmla="val 17067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cxnSp>
        <p:nvCxnSpPr>
          <p:cNvPr id="27" name="직선 연결선 17">
            <a:extLst>
              <a:ext uri="{FF2B5EF4-FFF2-40B4-BE49-F238E27FC236}">
                <a16:creationId xmlns:a16="http://schemas.microsoft.com/office/drawing/2014/main" id="{9B9008B3-342C-4398-C5E8-8228F7A77B85}"/>
              </a:ext>
            </a:extLst>
          </p:cNvPr>
          <p:cNvCxnSpPr>
            <a:cxnSpLocks/>
            <a:stCxn id="21" idx="2"/>
            <a:endCxn id="12" idx="0"/>
          </p:cNvCxnSpPr>
          <p:nvPr/>
        </p:nvCxnSpPr>
        <p:spPr>
          <a:xfrm>
            <a:off x="1044610" y="3259373"/>
            <a:ext cx="2408" cy="8709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A7570F36-FE2C-82BE-893E-36B6F92E2E0F}"/>
              </a:ext>
            </a:extLst>
          </p:cNvPr>
          <p:cNvSpPr txBox="1"/>
          <p:nvPr/>
        </p:nvSpPr>
        <p:spPr>
          <a:xfrm>
            <a:off x="1187961" y="2355699"/>
            <a:ext cx="915635" cy="23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i="1"/>
              <a:t>Bind Mount</a:t>
            </a:r>
            <a:endParaRPr kumimoji="1" lang="ko-KR" altLang="en-US" sz="1000" b="1" i="1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9FEF12-00DF-0D4E-8B97-52A3477818A8}"/>
              </a:ext>
            </a:extLst>
          </p:cNvPr>
          <p:cNvSpPr txBox="1"/>
          <p:nvPr/>
        </p:nvSpPr>
        <p:spPr>
          <a:xfrm>
            <a:off x="7225845" y="1837154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podb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r>
              <a:rPr lang="en-US" sz="800" kern="0" dirty="0">
                <a:cs typeface="Al Bayan Plain" pitchFamily="2" charset="-78"/>
              </a:rPr>
              <a:t>     - name: </a:t>
            </a:r>
            <a:r>
              <a:rPr lang="en-US" altLang="ko-KR" sz="800" kern="0" dirty="0">
                <a:cs typeface="Al Bayan Plain" pitchFamily="2" charset="-78"/>
              </a:rPr>
              <a:t>containerb</a:t>
            </a:r>
            <a:endParaRPr lang="en-US" sz="800" kern="0" dirty="0">
              <a:cs typeface="Al Bayan Plain" pitchFamily="2" charset="-78"/>
            </a:endParaRP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95DE0A0-286A-9BAA-0340-28EA58E9322A}"/>
              </a:ext>
            </a:extLst>
          </p:cNvPr>
          <p:cNvSpPr txBox="1"/>
          <p:nvPr/>
        </p:nvSpPr>
        <p:spPr>
          <a:xfrm>
            <a:off x="7225845" y="3404181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podc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r>
              <a:rPr lang="en-US" sz="800" kern="0" dirty="0">
                <a:cs typeface="Al Bayan Plain" pitchFamily="2" charset="-78"/>
              </a:rPr>
              <a:t>     - name: </a:t>
            </a:r>
            <a:r>
              <a:rPr lang="en-US" altLang="ko-KR" sz="800" kern="0" dirty="0">
                <a:cs typeface="Al Bayan Plain" pitchFamily="2" charset="-78"/>
              </a:rPr>
              <a:t>containerc</a:t>
            </a:r>
            <a:endParaRPr lang="en-US" sz="800" kern="0" dirty="0">
              <a:cs typeface="Al Bayan Plain" pitchFamily="2" charset="-78"/>
            </a:endParaRP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8E604A1-C1B4-D63A-E997-70CF2CBF083F}"/>
              </a:ext>
            </a:extLst>
          </p:cNvPr>
          <p:cNvSpPr txBox="1"/>
          <p:nvPr/>
        </p:nvSpPr>
        <p:spPr>
          <a:xfrm>
            <a:off x="7225845" y="267494"/>
            <a:ext cx="1798090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 kern="0" dirty="0" err="1">
                <a:cs typeface="Al Bayan Plain" pitchFamily="2" charset="-78"/>
              </a:rPr>
              <a:t> apiVersion</a:t>
            </a:r>
            <a:r>
              <a:rPr lang="en-US" sz="8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name: poda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8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800" kern="0" dirty="0" err="1">
                <a:solidFill>
                  <a:srgbClr val="C00000"/>
                </a:solidFill>
                <a:cs typeface="Al Bayan Plain" pitchFamily="2" charset="-78"/>
              </a:rPr>
              <a:t>nvidia.com/gpu.shared</a:t>
            </a:r>
            <a:r>
              <a:rPr lang="en-US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800" kern="0" dirty="0" err="1">
                <a:solidFill>
                  <a:srgbClr val="C00000"/>
                </a:solidFill>
                <a:cs typeface="Al Bayan Plain" pitchFamily="2" charset="-78"/>
              </a:rPr>
              <a:t>gpu.shared</a:t>
            </a:r>
            <a:r>
              <a:rPr lang="en-US" altLang="ko-KR" sz="8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</p:spTree>
    <p:extLst>
      <p:ext uri="{BB962C8B-B14F-4D97-AF65-F5344CB8AC3E}">
        <p14:creationId xmlns:p14="http://schemas.microsoft.com/office/powerpoint/2010/main" val="23966545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51954-D645-92DD-06D0-7E2411FF3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114">
            <a:extLst>
              <a:ext uri="{FF2B5EF4-FFF2-40B4-BE49-F238E27FC236}">
                <a16:creationId xmlns:a16="http://schemas.microsoft.com/office/drawing/2014/main" id="{88521DE7-135D-5500-E90D-7BEE948004C0}"/>
              </a:ext>
            </a:extLst>
          </p:cNvPr>
          <p:cNvSpPr/>
          <p:nvPr/>
        </p:nvSpPr>
        <p:spPr>
          <a:xfrm>
            <a:off x="4981274" y="202957"/>
            <a:ext cx="1385789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F1E75970-972F-AEDE-91A6-0BD7B1B835DC}"/>
              </a:ext>
            </a:extLst>
          </p:cNvPr>
          <p:cNvSpPr/>
          <p:nvPr/>
        </p:nvSpPr>
        <p:spPr>
          <a:xfrm>
            <a:off x="899592" y="206729"/>
            <a:ext cx="4006850" cy="199037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E039CCE-AB78-0C59-A74D-7B4CD535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DEF6E442-276C-E3EA-FA86-9811F6DFD381}"/>
              </a:ext>
            </a:extLst>
          </p:cNvPr>
          <p:cNvSpPr/>
          <p:nvPr/>
        </p:nvSpPr>
        <p:spPr>
          <a:xfrm>
            <a:off x="2369518" y="488998"/>
            <a:ext cx="2486761" cy="1662236"/>
          </a:xfrm>
          <a:prstGeom prst="roundRect">
            <a:avLst>
              <a:gd name="adj" fmla="val 402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2A1DCA1D-2B69-1B50-DDBA-C17C7AE90B62}"/>
              </a:ext>
            </a:extLst>
          </p:cNvPr>
          <p:cNvSpPr/>
          <p:nvPr/>
        </p:nvSpPr>
        <p:spPr>
          <a:xfrm>
            <a:off x="2457252" y="1683025"/>
            <a:ext cx="1099999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97C2BA1C-0210-B5E5-AC89-CAB1B448F6DE}"/>
              </a:ext>
            </a:extLst>
          </p:cNvPr>
          <p:cNvSpPr/>
          <p:nvPr/>
        </p:nvSpPr>
        <p:spPr>
          <a:xfrm>
            <a:off x="3658852" y="1683025"/>
            <a:ext cx="1099868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/dev/nvidia2</a:t>
            </a:r>
            <a:endParaRPr lang="en-US" altLang="ko-KR" sz="100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EA26F8EA-62BF-92A7-A3EF-A51A399ED4C3}"/>
              </a:ext>
            </a:extLst>
          </p:cNvPr>
          <p:cNvSpPr/>
          <p:nvPr/>
        </p:nvSpPr>
        <p:spPr>
          <a:xfrm>
            <a:off x="2457252" y="1212700"/>
            <a:ext cx="2301467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450A5B69-4597-E6A4-9FD4-074A34180A6B}"/>
              </a:ext>
            </a:extLst>
          </p:cNvPr>
          <p:cNvSpPr/>
          <p:nvPr/>
        </p:nvSpPr>
        <p:spPr>
          <a:xfrm>
            <a:off x="949353" y="483518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6E0DF483-B6CD-D4B5-6AB9-0F05FBEABE19}"/>
              </a:ext>
            </a:extLst>
          </p:cNvPr>
          <p:cNvSpPr/>
          <p:nvPr/>
        </p:nvSpPr>
        <p:spPr>
          <a:xfrm>
            <a:off x="1035199" y="1673181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FF14D9C8-EDF7-D973-0973-D32CF00FB89A}"/>
              </a:ext>
            </a:extLst>
          </p:cNvPr>
          <p:cNvSpPr/>
          <p:nvPr/>
        </p:nvSpPr>
        <p:spPr>
          <a:xfrm>
            <a:off x="1035198" y="1202855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46" name="사각형: 둥근 모서리 114">
            <a:extLst>
              <a:ext uri="{FF2B5EF4-FFF2-40B4-BE49-F238E27FC236}">
                <a16:creationId xmlns:a16="http://schemas.microsoft.com/office/drawing/2014/main" id="{F8A94B15-6E8E-509B-9489-D77051B985B0}"/>
              </a:ext>
            </a:extLst>
          </p:cNvPr>
          <p:cNvSpPr/>
          <p:nvPr/>
        </p:nvSpPr>
        <p:spPr>
          <a:xfrm>
            <a:off x="2457252" y="761549"/>
            <a:ext cx="2301467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NVIDIA_VISIBLE_DEVICES Env  </a:t>
            </a:r>
            <a:endParaRPr lang="en-US" altLang="ko-KR" sz="9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A2B1291C-50BD-977E-4371-FE66C22AAFFA}"/>
              </a:ext>
            </a:extLst>
          </p:cNvPr>
          <p:cNvSpPr/>
          <p:nvPr/>
        </p:nvSpPr>
        <p:spPr>
          <a:xfrm>
            <a:off x="1035198" y="757184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820AEFC7-D60B-C998-DB5F-B2056265030F}"/>
              </a:ext>
            </a:extLst>
          </p:cNvPr>
          <p:cNvSpPr/>
          <p:nvPr/>
        </p:nvSpPr>
        <p:spPr>
          <a:xfrm>
            <a:off x="5029966" y="483518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사각형: 둥근 모서리 114">
            <a:extLst>
              <a:ext uri="{FF2B5EF4-FFF2-40B4-BE49-F238E27FC236}">
                <a16:creationId xmlns:a16="http://schemas.microsoft.com/office/drawing/2014/main" id="{9569DF2F-D06A-43BB-A3EB-B863B45F1363}"/>
              </a:ext>
            </a:extLst>
          </p:cNvPr>
          <p:cNvSpPr/>
          <p:nvPr/>
        </p:nvSpPr>
        <p:spPr>
          <a:xfrm>
            <a:off x="5115812" y="1673181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/dev/nvidia3</a:t>
            </a:r>
            <a:endParaRPr lang="en-US" altLang="ko-KR" sz="1000" dirty="0"/>
          </a:p>
        </p:txBody>
      </p:sp>
      <p:sp>
        <p:nvSpPr>
          <p:cNvPr id="6" name="사각형: 둥근 모서리 114">
            <a:extLst>
              <a:ext uri="{FF2B5EF4-FFF2-40B4-BE49-F238E27FC236}">
                <a16:creationId xmlns:a16="http://schemas.microsoft.com/office/drawing/2014/main" id="{693D19A5-81DA-0B88-A5F1-6B3640B4B871}"/>
              </a:ext>
            </a:extLst>
          </p:cNvPr>
          <p:cNvSpPr/>
          <p:nvPr/>
        </p:nvSpPr>
        <p:spPr>
          <a:xfrm>
            <a:off x="5115811" y="1202855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" name="사각형: 둥근 모서리 114">
            <a:extLst>
              <a:ext uri="{FF2B5EF4-FFF2-40B4-BE49-F238E27FC236}">
                <a16:creationId xmlns:a16="http://schemas.microsoft.com/office/drawing/2014/main" id="{9B0AFDC5-33BE-5749-D34C-C3502142DDDB}"/>
              </a:ext>
            </a:extLst>
          </p:cNvPr>
          <p:cNvSpPr/>
          <p:nvPr/>
        </p:nvSpPr>
        <p:spPr>
          <a:xfrm>
            <a:off x="5115811" y="757184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9" name="사각형: 둥근 모서리 114">
            <a:extLst>
              <a:ext uri="{FF2B5EF4-FFF2-40B4-BE49-F238E27FC236}">
                <a16:creationId xmlns:a16="http://schemas.microsoft.com/office/drawing/2014/main" id="{3407C98A-750A-B945-B86D-C01429F5209F}"/>
              </a:ext>
            </a:extLst>
          </p:cNvPr>
          <p:cNvSpPr/>
          <p:nvPr/>
        </p:nvSpPr>
        <p:spPr>
          <a:xfrm>
            <a:off x="1110454" y="2249109"/>
            <a:ext cx="5045722" cy="1187198"/>
          </a:xfrm>
          <a:prstGeom prst="roundRect">
            <a:avLst>
              <a:gd name="adj" fmla="val 593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 Filesystem</a:t>
            </a:r>
            <a:endParaRPr lang="en-US" altLang="ko-KR" sz="1000" b="1" dirty="0"/>
          </a:p>
        </p:txBody>
      </p:sp>
      <p:sp>
        <p:nvSpPr>
          <p:cNvPr id="10" name="사각형: 둥근 모서리 114">
            <a:extLst>
              <a:ext uri="{FF2B5EF4-FFF2-40B4-BE49-F238E27FC236}">
                <a16:creationId xmlns:a16="http://schemas.microsoft.com/office/drawing/2014/main" id="{4DDB7258-63C9-E6F0-B31E-806539E4941B}"/>
              </a:ext>
            </a:extLst>
          </p:cNvPr>
          <p:cNvSpPr/>
          <p:nvPr/>
        </p:nvSpPr>
        <p:spPr>
          <a:xfrm>
            <a:off x="1119926" y="4171338"/>
            <a:ext cx="5037102" cy="787990"/>
          </a:xfrm>
          <a:prstGeom prst="roundRect">
            <a:avLst>
              <a:gd name="adj" fmla="val 716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 Hardware</a:t>
            </a:r>
            <a:endParaRPr lang="en-US" altLang="ko-KR" sz="1000" b="1" dirty="0"/>
          </a:p>
        </p:txBody>
      </p:sp>
      <p:sp>
        <p:nvSpPr>
          <p:cNvPr id="11" name="사각형: 둥근 모서리 114">
            <a:extLst>
              <a:ext uri="{FF2B5EF4-FFF2-40B4-BE49-F238E27FC236}">
                <a16:creationId xmlns:a16="http://schemas.microsoft.com/office/drawing/2014/main" id="{9A9CFDF4-EE47-5807-1575-A588B001E295}"/>
              </a:ext>
            </a:extLst>
          </p:cNvPr>
          <p:cNvSpPr/>
          <p:nvPr/>
        </p:nvSpPr>
        <p:spPr>
          <a:xfrm>
            <a:off x="1115616" y="3436307"/>
            <a:ext cx="5045722" cy="739656"/>
          </a:xfrm>
          <a:prstGeom prst="roundRect">
            <a:avLst>
              <a:gd name="adj" fmla="val 720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 Kernel</a:t>
            </a:r>
            <a:endParaRPr lang="en-US" altLang="ko-KR" sz="1000" b="1" dirty="0"/>
          </a:p>
        </p:txBody>
      </p:sp>
      <p:sp>
        <p:nvSpPr>
          <p:cNvPr id="12" name="사각형: 둥근 모서리 114">
            <a:extLst>
              <a:ext uri="{FF2B5EF4-FFF2-40B4-BE49-F238E27FC236}">
                <a16:creationId xmlns:a16="http://schemas.microsoft.com/office/drawing/2014/main" id="{1948AEF6-48B8-7247-97DC-1843DDA691C9}"/>
              </a:ext>
            </a:extLst>
          </p:cNvPr>
          <p:cNvSpPr/>
          <p:nvPr/>
        </p:nvSpPr>
        <p:spPr>
          <a:xfrm>
            <a:off x="1209844" y="4287525"/>
            <a:ext cx="1077331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0</a:t>
            </a:r>
            <a:endParaRPr lang="en-US" altLang="ko-KR" sz="1000" dirty="0"/>
          </a:p>
        </p:txBody>
      </p:sp>
      <p:sp>
        <p:nvSpPr>
          <p:cNvPr id="13" name="사각형: 둥근 모서리 114">
            <a:extLst>
              <a:ext uri="{FF2B5EF4-FFF2-40B4-BE49-F238E27FC236}">
                <a16:creationId xmlns:a16="http://schemas.microsoft.com/office/drawing/2014/main" id="{0D57122E-98DC-3FE5-766B-A789517A1997}"/>
              </a:ext>
            </a:extLst>
          </p:cNvPr>
          <p:cNvSpPr/>
          <p:nvPr/>
        </p:nvSpPr>
        <p:spPr>
          <a:xfrm>
            <a:off x="2469823" y="4287525"/>
            <a:ext cx="1077331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1</a:t>
            </a:r>
            <a:endParaRPr lang="en-US" altLang="ko-KR" sz="1000" dirty="0"/>
          </a:p>
        </p:txBody>
      </p:sp>
      <p:sp>
        <p:nvSpPr>
          <p:cNvPr id="18" name="사각형: 둥근 모서리 114">
            <a:extLst>
              <a:ext uri="{FF2B5EF4-FFF2-40B4-BE49-F238E27FC236}">
                <a16:creationId xmlns:a16="http://schemas.microsoft.com/office/drawing/2014/main" id="{6CE7FA18-5FE3-5E55-251C-9BF3ADCEC8EF}"/>
              </a:ext>
            </a:extLst>
          </p:cNvPr>
          <p:cNvSpPr/>
          <p:nvPr/>
        </p:nvSpPr>
        <p:spPr>
          <a:xfrm>
            <a:off x="3729801" y="4287525"/>
            <a:ext cx="1077331" cy="383228"/>
          </a:xfrm>
          <a:prstGeom prst="roundRect">
            <a:avLst>
              <a:gd name="adj" fmla="val 1252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2</a:t>
            </a:r>
            <a:endParaRPr lang="en-US" altLang="ko-KR" sz="1000" dirty="0"/>
          </a:p>
        </p:txBody>
      </p:sp>
      <p:sp>
        <p:nvSpPr>
          <p:cNvPr id="19" name="사각형: 둥근 모서리 114">
            <a:extLst>
              <a:ext uri="{FF2B5EF4-FFF2-40B4-BE49-F238E27FC236}">
                <a16:creationId xmlns:a16="http://schemas.microsoft.com/office/drawing/2014/main" id="{820F36C9-C9B9-8900-CCC7-E72ADA0946E4}"/>
              </a:ext>
            </a:extLst>
          </p:cNvPr>
          <p:cNvSpPr/>
          <p:nvPr/>
        </p:nvSpPr>
        <p:spPr>
          <a:xfrm>
            <a:off x="4989780" y="4287525"/>
            <a:ext cx="1077331" cy="383228"/>
          </a:xfrm>
          <a:prstGeom prst="roundRect">
            <a:avLst>
              <a:gd name="adj" fmla="val 1605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3</a:t>
            </a:r>
            <a:endParaRPr lang="en-US" altLang="ko-KR" sz="1000" dirty="0"/>
          </a:p>
        </p:txBody>
      </p:sp>
      <p:sp>
        <p:nvSpPr>
          <p:cNvPr id="20" name="사각형: 둥근 모서리 114">
            <a:extLst>
              <a:ext uri="{FF2B5EF4-FFF2-40B4-BE49-F238E27FC236}">
                <a16:creationId xmlns:a16="http://schemas.microsoft.com/office/drawing/2014/main" id="{8F98AF13-6C6E-117D-9C8F-D9B69497B253}"/>
              </a:ext>
            </a:extLst>
          </p:cNvPr>
          <p:cNvSpPr/>
          <p:nvPr/>
        </p:nvSpPr>
        <p:spPr>
          <a:xfrm>
            <a:off x="1205027" y="3564926"/>
            <a:ext cx="4862083" cy="383228"/>
          </a:xfrm>
          <a:prstGeom prst="roundRect">
            <a:avLst>
              <a:gd name="adj" fmla="val 1253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GPU Device Driver</a:t>
            </a:r>
            <a:endParaRPr lang="en-US" altLang="ko-KR" sz="1000" dirty="0"/>
          </a:p>
        </p:txBody>
      </p:sp>
      <p:sp>
        <p:nvSpPr>
          <p:cNvPr id="21" name="사각형: 둥근 모서리 114">
            <a:extLst>
              <a:ext uri="{FF2B5EF4-FFF2-40B4-BE49-F238E27FC236}">
                <a16:creationId xmlns:a16="http://schemas.microsoft.com/office/drawing/2014/main" id="{0BAFD071-B3D7-7109-C7F4-230969B50DD2}"/>
              </a:ext>
            </a:extLst>
          </p:cNvPr>
          <p:cNvSpPr/>
          <p:nvPr/>
        </p:nvSpPr>
        <p:spPr>
          <a:xfrm>
            <a:off x="1205028" y="2796064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22" name="사각형: 둥근 모서리 114">
            <a:extLst>
              <a:ext uri="{FF2B5EF4-FFF2-40B4-BE49-F238E27FC236}">
                <a16:creationId xmlns:a16="http://schemas.microsoft.com/office/drawing/2014/main" id="{BFE9FF21-A558-5919-85D9-58DF1769918C}"/>
              </a:ext>
            </a:extLst>
          </p:cNvPr>
          <p:cNvSpPr/>
          <p:nvPr/>
        </p:nvSpPr>
        <p:spPr>
          <a:xfrm>
            <a:off x="2469823" y="2796064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23" name="사각형: 둥근 모서리 114">
            <a:extLst>
              <a:ext uri="{FF2B5EF4-FFF2-40B4-BE49-F238E27FC236}">
                <a16:creationId xmlns:a16="http://schemas.microsoft.com/office/drawing/2014/main" id="{5D2A4295-6CDC-1688-609E-7FD410EC0FB3}"/>
              </a:ext>
            </a:extLst>
          </p:cNvPr>
          <p:cNvSpPr/>
          <p:nvPr/>
        </p:nvSpPr>
        <p:spPr>
          <a:xfrm>
            <a:off x="3729801" y="2796064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/dev/nvidia2</a:t>
            </a:r>
            <a:endParaRPr lang="en-US" altLang="ko-KR" sz="1000" dirty="0"/>
          </a:p>
        </p:txBody>
      </p:sp>
      <p:sp>
        <p:nvSpPr>
          <p:cNvPr id="24" name="사각형: 둥근 모서리 114">
            <a:extLst>
              <a:ext uri="{FF2B5EF4-FFF2-40B4-BE49-F238E27FC236}">
                <a16:creationId xmlns:a16="http://schemas.microsoft.com/office/drawing/2014/main" id="{8C3B5EE8-6316-3A77-EA4F-EA7C7852529C}"/>
              </a:ext>
            </a:extLst>
          </p:cNvPr>
          <p:cNvSpPr/>
          <p:nvPr/>
        </p:nvSpPr>
        <p:spPr>
          <a:xfrm>
            <a:off x="4984271" y="2796064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/dev/nvidia3</a:t>
            </a:r>
            <a:endParaRPr lang="en-US" altLang="ko-KR" sz="1000" dirty="0"/>
          </a:p>
        </p:txBody>
      </p:sp>
      <p:cxnSp>
        <p:nvCxnSpPr>
          <p:cNvPr id="25" name="직선 연결선 20">
            <a:extLst>
              <a:ext uri="{FF2B5EF4-FFF2-40B4-BE49-F238E27FC236}">
                <a16:creationId xmlns:a16="http://schemas.microsoft.com/office/drawing/2014/main" id="{011E8F52-5343-F019-5E53-CE1F29A7CA59}"/>
              </a:ext>
            </a:extLst>
          </p:cNvPr>
          <p:cNvCxnSpPr>
            <a:cxnSpLocks/>
            <a:stCxn id="22" idx="2"/>
            <a:endCxn id="13" idx="0"/>
          </p:cNvCxnSpPr>
          <p:nvPr/>
        </p:nvCxnSpPr>
        <p:spPr>
          <a:xfrm flipH="1">
            <a:off x="3008489" y="3179293"/>
            <a:ext cx="2408" cy="11082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114">
            <a:extLst>
              <a:ext uri="{FF2B5EF4-FFF2-40B4-BE49-F238E27FC236}">
                <a16:creationId xmlns:a16="http://schemas.microsoft.com/office/drawing/2014/main" id="{2AEEB422-921F-B8EE-8B4A-966B0EE868BB}"/>
              </a:ext>
            </a:extLst>
          </p:cNvPr>
          <p:cNvSpPr/>
          <p:nvPr/>
        </p:nvSpPr>
        <p:spPr>
          <a:xfrm>
            <a:off x="1205028" y="2324202"/>
            <a:ext cx="4862083" cy="383228"/>
          </a:xfrm>
          <a:prstGeom prst="roundRect">
            <a:avLst>
              <a:gd name="adj" fmla="val 17067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cxnSp>
        <p:nvCxnSpPr>
          <p:cNvPr id="27" name="직선 연결선 17">
            <a:extLst>
              <a:ext uri="{FF2B5EF4-FFF2-40B4-BE49-F238E27FC236}">
                <a16:creationId xmlns:a16="http://schemas.microsoft.com/office/drawing/2014/main" id="{DC17AF45-E080-EF53-498B-E5316BB692F6}"/>
              </a:ext>
            </a:extLst>
          </p:cNvPr>
          <p:cNvCxnSpPr>
            <a:cxnSpLocks/>
            <a:stCxn id="21" idx="2"/>
            <a:endCxn id="12" idx="0"/>
          </p:cNvCxnSpPr>
          <p:nvPr/>
        </p:nvCxnSpPr>
        <p:spPr>
          <a:xfrm>
            <a:off x="1746102" y="3179293"/>
            <a:ext cx="2408" cy="11082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17">
            <a:extLst>
              <a:ext uri="{FF2B5EF4-FFF2-40B4-BE49-F238E27FC236}">
                <a16:creationId xmlns:a16="http://schemas.microsoft.com/office/drawing/2014/main" id="{62A04B2E-900C-7FA5-849A-82F9AE3CD06B}"/>
              </a:ext>
            </a:extLst>
          </p:cNvPr>
          <p:cNvCxnSpPr>
            <a:cxnSpLocks/>
            <a:stCxn id="23" idx="2"/>
            <a:endCxn id="18" idx="0"/>
          </p:cNvCxnSpPr>
          <p:nvPr/>
        </p:nvCxnSpPr>
        <p:spPr>
          <a:xfrm flipH="1">
            <a:off x="4268467" y="3179293"/>
            <a:ext cx="2408" cy="11082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6">
            <a:extLst>
              <a:ext uri="{FF2B5EF4-FFF2-40B4-BE49-F238E27FC236}">
                <a16:creationId xmlns:a16="http://schemas.microsoft.com/office/drawing/2014/main" id="{F5675279-72D5-0A47-3821-7B96F60D79DF}"/>
              </a:ext>
            </a:extLst>
          </p:cNvPr>
          <p:cNvCxnSpPr>
            <a:cxnSpLocks/>
            <a:stCxn id="24" idx="2"/>
            <a:endCxn id="19" idx="0"/>
          </p:cNvCxnSpPr>
          <p:nvPr/>
        </p:nvCxnSpPr>
        <p:spPr>
          <a:xfrm>
            <a:off x="5525345" y="3179292"/>
            <a:ext cx="3101" cy="11082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06E98397-4B5C-457E-04A3-7E8142A02A46}"/>
              </a:ext>
            </a:extLst>
          </p:cNvPr>
          <p:cNvSpPr txBox="1"/>
          <p:nvPr/>
        </p:nvSpPr>
        <p:spPr>
          <a:xfrm>
            <a:off x="784256" y="2157133"/>
            <a:ext cx="915635" cy="23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i="1"/>
              <a:t>Bind Mount</a:t>
            </a:r>
            <a:endParaRPr kumimoji="1" lang="ko-KR" altLang="en-US" sz="1000" b="1" i="1"/>
          </a:p>
        </p:txBody>
      </p:sp>
      <p:cxnSp>
        <p:nvCxnSpPr>
          <p:cNvPr id="59" name="직선 연결선 17">
            <a:extLst>
              <a:ext uri="{FF2B5EF4-FFF2-40B4-BE49-F238E27FC236}">
                <a16:creationId xmlns:a16="http://schemas.microsoft.com/office/drawing/2014/main" id="{29B6DC22-217E-F881-6AD5-E16935BCF040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 flipH="1">
            <a:off x="3636070" y="1586083"/>
            <a:ext cx="2029097" cy="7381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17">
            <a:extLst>
              <a:ext uri="{FF2B5EF4-FFF2-40B4-BE49-F238E27FC236}">
                <a16:creationId xmlns:a16="http://schemas.microsoft.com/office/drawing/2014/main" id="{22AF0A24-954F-B9F3-227B-69AE120B2AAD}"/>
              </a:ext>
            </a:extLst>
          </p:cNvPr>
          <p:cNvCxnSpPr>
            <a:cxnSpLocks/>
            <a:stCxn id="53" idx="2"/>
            <a:endCxn id="26" idx="0"/>
          </p:cNvCxnSpPr>
          <p:nvPr/>
        </p:nvCxnSpPr>
        <p:spPr>
          <a:xfrm>
            <a:off x="3607986" y="1595928"/>
            <a:ext cx="28084" cy="7282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17">
            <a:extLst>
              <a:ext uri="{FF2B5EF4-FFF2-40B4-BE49-F238E27FC236}">
                <a16:creationId xmlns:a16="http://schemas.microsoft.com/office/drawing/2014/main" id="{2937A28F-47A6-2093-A797-BC26F45D1364}"/>
              </a:ext>
            </a:extLst>
          </p:cNvPr>
          <p:cNvCxnSpPr>
            <a:cxnSpLocks/>
            <a:stCxn id="75" idx="2"/>
            <a:endCxn id="26" idx="0"/>
          </p:cNvCxnSpPr>
          <p:nvPr/>
        </p:nvCxnSpPr>
        <p:spPr>
          <a:xfrm>
            <a:off x="1584554" y="1586083"/>
            <a:ext cx="2051516" cy="7381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2249EF2-2554-034A-CBD8-F676D6592408}"/>
              </a:ext>
            </a:extLst>
          </p:cNvPr>
          <p:cNvSpPr txBox="1"/>
          <p:nvPr/>
        </p:nvSpPr>
        <p:spPr>
          <a:xfrm>
            <a:off x="6444074" y="2973537"/>
            <a:ext cx="1665290" cy="176971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kern="0" dirty="0" err="1">
                <a:cs typeface="Al Bayan Plain" pitchFamily="2" charset="-78"/>
              </a:rPr>
              <a:t> </a:t>
            </a:r>
            <a:r>
              <a:rPr lang="en-US" sz="900" kern="0" dirty="0" err="1">
                <a:cs typeface="Al Bayan Plain" pitchFamily="2" charset="-78"/>
              </a:rPr>
              <a:t>apiVersion</a:t>
            </a:r>
            <a:r>
              <a:rPr lang="en-US" sz="9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kind: PodB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name: pod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- name: ContainerC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B4D0B0-8250-3491-B992-9F8FCC8F5133}"/>
              </a:ext>
            </a:extLst>
          </p:cNvPr>
          <p:cNvSpPr txBox="1"/>
          <p:nvPr/>
        </p:nvSpPr>
        <p:spPr>
          <a:xfrm>
            <a:off x="6444074" y="372825"/>
            <a:ext cx="1665290" cy="260071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kern="0" dirty="0" err="1">
                <a:cs typeface="Al Bayan Plain" pitchFamily="2" charset="-78"/>
              </a:rPr>
              <a:t> </a:t>
            </a:r>
            <a:r>
              <a:rPr lang="en-US" sz="900" kern="0" dirty="0" err="1">
                <a:cs typeface="Al Bayan Plain" pitchFamily="2" charset="-78"/>
              </a:rPr>
              <a:t>apiVersion</a:t>
            </a:r>
            <a:r>
              <a:rPr lang="en-US" sz="9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kind: PodA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name: pod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900" kern="0" dirty="0">
                <a:cs typeface="Al Bayan Plain" pitchFamily="2" charset="-78"/>
              </a:rPr>
              <a:t>     - name: ContainerB</a:t>
            </a:r>
          </a:p>
          <a:p>
            <a:r>
              <a:rPr lang="en-US" altLang="ko-KR" sz="900" kern="0" dirty="0">
                <a:cs typeface="Al Bayan Plain" pitchFamily="2" charset="-78"/>
              </a:rPr>
              <a:t>       resources: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</p:spTree>
    <p:extLst>
      <p:ext uri="{BB962C8B-B14F-4D97-AF65-F5344CB8AC3E}">
        <p14:creationId xmlns:p14="http://schemas.microsoft.com/office/powerpoint/2010/main" val="72924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E8B20-5CB0-266F-D010-4969008FB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114">
            <a:extLst>
              <a:ext uri="{FF2B5EF4-FFF2-40B4-BE49-F238E27FC236}">
                <a16:creationId xmlns:a16="http://schemas.microsoft.com/office/drawing/2014/main" id="{3A48472D-277F-804A-F7D5-C291A2436616}"/>
              </a:ext>
            </a:extLst>
          </p:cNvPr>
          <p:cNvSpPr/>
          <p:nvPr/>
        </p:nvSpPr>
        <p:spPr>
          <a:xfrm>
            <a:off x="4981274" y="195486"/>
            <a:ext cx="1385789" cy="227463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923FCC3B-21AF-4C70-7D6A-29CAB549F966}"/>
              </a:ext>
            </a:extLst>
          </p:cNvPr>
          <p:cNvSpPr/>
          <p:nvPr/>
        </p:nvSpPr>
        <p:spPr>
          <a:xfrm>
            <a:off x="899592" y="199258"/>
            <a:ext cx="4006850" cy="2274631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C0F9C8F-437F-D0AF-97AA-D56EC081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3364FA23-F895-1B5D-699B-3DEDE068BF8C}"/>
              </a:ext>
            </a:extLst>
          </p:cNvPr>
          <p:cNvSpPr/>
          <p:nvPr/>
        </p:nvSpPr>
        <p:spPr>
          <a:xfrm>
            <a:off x="2369518" y="765787"/>
            <a:ext cx="2486761" cy="1662236"/>
          </a:xfrm>
          <a:prstGeom prst="roundRect">
            <a:avLst>
              <a:gd name="adj" fmla="val 402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7B735900-90DF-2B9C-D836-265C1EE6844C}"/>
              </a:ext>
            </a:extLst>
          </p:cNvPr>
          <p:cNvSpPr/>
          <p:nvPr/>
        </p:nvSpPr>
        <p:spPr>
          <a:xfrm>
            <a:off x="2512406" y="1959814"/>
            <a:ext cx="98969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2E5EDF11-A65E-332B-1623-CD439CC6BDBB}"/>
              </a:ext>
            </a:extLst>
          </p:cNvPr>
          <p:cNvSpPr/>
          <p:nvPr/>
        </p:nvSpPr>
        <p:spPr>
          <a:xfrm>
            <a:off x="3713999" y="1959814"/>
            <a:ext cx="989574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/dev/nvidia2</a:t>
            </a:r>
            <a:endParaRPr lang="en-US" altLang="ko-KR" sz="100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1B1E7317-CD60-5008-9179-9A5631A47234}"/>
              </a:ext>
            </a:extLst>
          </p:cNvPr>
          <p:cNvSpPr/>
          <p:nvPr/>
        </p:nvSpPr>
        <p:spPr>
          <a:xfrm>
            <a:off x="2572648" y="1489489"/>
            <a:ext cx="2070676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A40CEE21-4126-4EA9-D005-8D6AA05FC3C8}"/>
              </a:ext>
            </a:extLst>
          </p:cNvPr>
          <p:cNvSpPr/>
          <p:nvPr/>
        </p:nvSpPr>
        <p:spPr>
          <a:xfrm>
            <a:off x="949353" y="760307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75050760-962B-EFA9-329D-D87ACB628E2E}"/>
              </a:ext>
            </a:extLst>
          </p:cNvPr>
          <p:cNvSpPr/>
          <p:nvPr/>
        </p:nvSpPr>
        <p:spPr>
          <a:xfrm>
            <a:off x="1090289" y="1949970"/>
            <a:ext cx="98853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C7E78AFF-D068-E06B-33BF-D4132D988816}"/>
              </a:ext>
            </a:extLst>
          </p:cNvPr>
          <p:cNvSpPr/>
          <p:nvPr/>
        </p:nvSpPr>
        <p:spPr>
          <a:xfrm>
            <a:off x="1090287" y="1479644"/>
            <a:ext cx="988534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146" name="사각형: 둥근 모서리 114">
            <a:extLst>
              <a:ext uri="{FF2B5EF4-FFF2-40B4-BE49-F238E27FC236}">
                <a16:creationId xmlns:a16="http://schemas.microsoft.com/office/drawing/2014/main" id="{5F4C3AF4-DD22-0B60-383F-EC6AD421D8F6}"/>
              </a:ext>
            </a:extLst>
          </p:cNvPr>
          <p:cNvSpPr/>
          <p:nvPr/>
        </p:nvSpPr>
        <p:spPr>
          <a:xfrm>
            <a:off x="2572648" y="1038338"/>
            <a:ext cx="2070676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NVIDIA_VISIBLE_DEVICES Env  </a:t>
            </a:r>
            <a:endParaRPr lang="en-US" altLang="ko-KR" sz="9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E564AD90-001F-1131-35AF-1B92219AF4D3}"/>
              </a:ext>
            </a:extLst>
          </p:cNvPr>
          <p:cNvSpPr/>
          <p:nvPr/>
        </p:nvSpPr>
        <p:spPr>
          <a:xfrm>
            <a:off x="1090288" y="1033973"/>
            <a:ext cx="98853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E5461D33-D3F6-944C-0682-815E690708A9}"/>
              </a:ext>
            </a:extLst>
          </p:cNvPr>
          <p:cNvSpPr/>
          <p:nvPr/>
        </p:nvSpPr>
        <p:spPr>
          <a:xfrm>
            <a:off x="5029966" y="760307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사각형: 둥근 모서리 114">
            <a:extLst>
              <a:ext uri="{FF2B5EF4-FFF2-40B4-BE49-F238E27FC236}">
                <a16:creationId xmlns:a16="http://schemas.microsoft.com/office/drawing/2014/main" id="{CCAB4F79-89C1-E619-458C-9169235C2802}"/>
              </a:ext>
            </a:extLst>
          </p:cNvPr>
          <p:cNvSpPr/>
          <p:nvPr/>
        </p:nvSpPr>
        <p:spPr>
          <a:xfrm>
            <a:off x="5170902" y="1949970"/>
            <a:ext cx="98853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/dev/nvidia3</a:t>
            </a:r>
            <a:endParaRPr lang="en-US" altLang="ko-KR" sz="1000" dirty="0"/>
          </a:p>
        </p:txBody>
      </p:sp>
      <p:sp>
        <p:nvSpPr>
          <p:cNvPr id="6" name="사각형: 둥근 모서리 114">
            <a:extLst>
              <a:ext uri="{FF2B5EF4-FFF2-40B4-BE49-F238E27FC236}">
                <a16:creationId xmlns:a16="http://schemas.microsoft.com/office/drawing/2014/main" id="{5C9FAEA3-35E7-FE56-C34C-CDB8B7B7E6D1}"/>
              </a:ext>
            </a:extLst>
          </p:cNvPr>
          <p:cNvSpPr/>
          <p:nvPr/>
        </p:nvSpPr>
        <p:spPr>
          <a:xfrm>
            <a:off x="5170900" y="1479644"/>
            <a:ext cx="988534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7" name="사각형: 둥근 모서리 114">
            <a:extLst>
              <a:ext uri="{FF2B5EF4-FFF2-40B4-BE49-F238E27FC236}">
                <a16:creationId xmlns:a16="http://schemas.microsoft.com/office/drawing/2014/main" id="{DC08B00D-15C4-5841-5F8F-7D797D40504F}"/>
              </a:ext>
            </a:extLst>
          </p:cNvPr>
          <p:cNvSpPr/>
          <p:nvPr/>
        </p:nvSpPr>
        <p:spPr>
          <a:xfrm>
            <a:off x="5170901" y="1033973"/>
            <a:ext cx="98853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sp>
        <p:nvSpPr>
          <p:cNvPr id="9" name="사각형: 둥근 모서리 114">
            <a:extLst>
              <a:ext uri="{FF2B5EF4-FFF2-40B4-BE49-F238E27FC236}">
                <a16:creationId xmlns:a16="http://schemas.microsoft.com/office/drawing/2014/main" id="{165A679A-BDB4-7645-02CA-372AE7A70419}"/>
              </a:ext>
            </a:extLst>
          </p:cNvPr>
          <p:cNvSpPr/>
          <p:nvPr/>
        </p:nvSpPr>
        <p:spPr>
          <a:xfrm>
            <a:off x="1110454" y="2690399"/>
            <a:ext cx="5045722" cy="1687313"/>
          </a:xfrm>
          <a:prstGeom prst="roundRect">
            <a:avLst>
              <a:gd name="adj" fmla="val 593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</a:t>
            </a:r>
            <a:endParaRPr lang="en-US" altLang="ko-KR" sz="1000" b="1" dirty="0"/>
          </a:p>
        </p:txBody>
      </p:sp>
      <p:sp>
        <p:nvSpPr>
          <p:cNvPr id="21" name="사각형: 둥근 모서리 114">
            <a:extLst>
              <a:ext uri="{FF2B5EF4-FFF2-40B4-BE49-F238E27FC236}">
                <a16:creationId xmlns:a16="http://schemas.microsoft.com/office/drawing/2014/main" id="{0CF1256F-48B5-E3BC-809E-1547F0B3BD1B}"/>
              </a:ext>
            </a:extLst>
          </p:cNvPr>
          <p:cNvSpPr/>
          <p:nvPr/>
        </p:nvSpPr>
        <p:spPr>
          <a:xfrm>
            <a:off x="1259287" y="3237355"/>
            <a:ext cx="973630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0</a:t>
            </a:r>
            <a:endParaRPr lang="en-US" altLang="ko-KR" sz="1000" dirty="0"/>
          </a:p>
        </p:txBody>
      </p:sp>
      <p:sp>
        <p:nvSpPr>
          <p:cNvPr id="22" name="사각형: 둥근 모서리 114">
            <a:extLst>
              <a:ext uri="{FF2B5EF4-FFF2-40B4-BE49-F238E27FC236}">
                <a16:creationId xmlns:a16="http://schemas.microsoft.com/office/drawing/2014/main" id="{C779C078-1A3C-CFAB-4BDE-75EA02082934}"/>
              </a:ext>
            </a:extLst>
          </p:cNvPr>
          <p:cNvSpPr/>
          <p:nvPr/>
        </p:nvSpPr>
        <p:spPr>
          <a:xfrm>
            <a:off x="2524082" y="3237355"/>
            <a:ext cx="973630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1</a:t>
            </a:r>
            <a:endParaRPr lang="en-US" altLang="ko-KR" sz="1000" dirty="0"/>
          </a:p>
        </p:txBody>
      </p:sp>
      <p:sp>
        <p:nvSpPr>
          <p:cNvPr id="23" name="사각형: 둥근 모서리 114">
            <a:extLst>
              <a:ext uri="{FF2B5EF4-FFF2-40B4-BE49-F238E27FC236}">
                <a16:creationId xmlns:a16="http://schemas.microsoft.com/office/drawing/2014/main" id="{699B2A8F-2D30-28E7-D8D8-E1C7258B7794}"/>
              </a:ext>
            </a:extLst>
          </p:cNvPr>
          <p:cNvSpPr/>
          <p:nvPr/>
        </p:nvSpPr>
        <p:spPr>
          <a:xfrm>
            <a:off x="3784060" y="3237355"/>
            <a:ext cx="973630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2</a:t>
            </a:r>
            <a:endParaRPr lang="en-US" altLang="ko-KR" sz="1000" dirty="0"/>
          </a:p>
        </p:txBody>
      </p:sp>
      <p:sp>
        <p:nvSpPr>
          <p:cNvPr id="24" name="사각형: 둥근 모서리 114">
            <a:extLst>
              <a:ext uri="{FF2B5EF4-FFF2-40B4-BE49-F238E27FC236}">
                <a16:creationId xmlns:a16="http://schemas.microsoft.com/office/drawing/2014/main" id="{E89B1183-E878-A796-E2F9-02B4DAA10150}"/>
              </a:ext>
            </a:extLst>
          </p:cNvPr>
          <p:cNvSpPr/>
          <p:nvPr/>
        </p:nvSpPr>
        <p:spPr>
          <a:xfrm>
            <a:off x="5038530" y="3237355"/>
            <a:ext cx="973630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3</a:t>
            </a:r>
            <a:endParaRPr lang="en-US" altLang="ko-KR" sz="1000" dirty="0"/>
          </a:p>
        </p:txBody>
      </p:sp>
      <p:sp>
        <p:nvSpPr>
          <p:cNvPr id="26" name="사각형: 둥근 모서리 114">
            <a:extLst>
              <a:ext uri="{FF2B5EF4-FFF2-40B4-BE49-F238E27FC236}">
                <a16:creationId xmlns:a16="http://schemas.microsoft.com/office/drawing/2014/main" id="{5B0EBC8E-2CCB-1111-859D-1ADB16C1F531}"/>
              </a:ext>
            </a:extLst>
          </p:cNvPr>
          <p:cNvSpPr/>
          <p:nvPr/>
        </p:nvSpPr>
        <p:spPr>
          <a:xfrm>
            <a:off x="1205028" y="2765493"/>
            <a:ext cx="4862083" cy="383228"/>
          </a:xfrm>
          <a:prstGeom prst="roundRect">
            <a:avLst>
              <a:gd name="adj" fmla="val 17067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670BFEEC-1A34-44E5-6762-6C7FD7A5A5BA}"/>
              </a:ext>
            </a:extLst>
          </p:cNvPr>
          <p:cNvSpPr txBox="1"/>
          <p:nvPr/>
        </p:nvSpPr>
        <p:spPr>
          <a:xfrm>
            <a:off x="784256" y="2441860"/>
            <a:ext cx="915635" cy="23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i="1"/>
              <a:t>Bind Mount</a:t>
            </a:r>
            <a:endParaRPr kumimoji="1" lang="ko-KR" altLang="en-US" sz="1000" b="1" i="1"/>
          </a:p>
        </p:txBody>
      </p:sp>
      <p:cxnSp>
        <p:nvCxnSpPr>
          <p:cNvPr id="59" name="직선 연결선 17">
            <a:extLst>
              <a:ext uri="{FF2B5EF4-FFF2-40B4-BE49-F238E27FC236}">
                <a16:creationId xmlns:a16="http://schemas.microsoft.com/office/drawing/2014/main" id="{0667FD6C-D4C9-9E3D-82E8-B0835080EFB8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 flipH="1">
            <a:off x="3636070" y="1862872"/>
            <a:ext cx="2029097" cy="9026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17">
            <a:extLst>
              <a:ext uri="{FF2B5EF4-FFF2-40B4-BE49-F238E27FC236}">
                <a16:creationId xmlns:a16="http://schemas.microsoft.com/office/drawing/2014/main" id="{FB53275A-BEC2-53D2-923A-801353B6ECE7}"/>
              </a:ext>
            </a:extLst>
          </p:cNvPr>
          <p:cNvCxnSpPr>
            <a:cxnSpLocks/>
            <a:stCxn id="53" idx="2"/>
            <a:endCxn id="26" idx="0"/>
          </p:cNvCxnSpPr>
          <p:nvPr/>
        </p:nvCxnSpPr>
        <p:spPr>
          <a:xfrm>
            <a:off x="3607986" y="1872717"/>
            <a:ext cx="28084" cy="8927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17">
            <a:extLst>
              <a:ext uri="{FF2B5EF4-FFF2-40B4-BE49-F238E27FC236}">
                <a16:creationId xmlns:a16="http://schemas.microsoft.com/office/drawing/2014/main" id="{54E84842-C09C-085B-CE58-5ADBA6397BFC}"/>
              </a:ext>
            </a:extLst>
          </p:cNvPr>
          <p:cNvCxnSpPr>
            <a:cxnSpLocks/>
            <a:stCxn id="75" idx="2"/>
            <a:endCxn id="26" idx="0"/>
          </p:cNvCxnSpPr>
          <p:nvPr/>
        </p:nvCxnSpPr>
        <p:spPr>
          <a:xfrm>
            <a:off x="1584554" y="1862872"/>
            <a:ext cx="2051516" cy="9026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4D5A383-C1CC-7E4B-440C-C186CFF4B014}"/>
              </a:ext>
            </a:extLst>
          </p:cNvPr>
          <p:cNvSpPr txBox="1"/>
          <p:nvPr/>
        </p:nvSpPr>
        <p:spPr>
          <a:xfrm>
            <a:off x="7383060" y="2973537"/>
            <a:ext cx="1665290" cy="176971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kern="0" dirty="0" err="1">
                <a:cs typeface="Al Bayan Plain" pitchFamily="2" charset="-78"/>
              </a:rPr>
              <a:t> </a:t>
            </a:r>
            <a:r>
              <a:rPr lang="en-US" sz="900" kern="0" dirty="0" err="1">
                <a:cs typeface="Al Bayan Plain" pitchFamily="2" charset="-78"/>
              </a:rPr>
              <a:t>apiVersion</a:t>
            </a:r>
            <a:r>
              <a:rPr lang="en-US" sz="9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kind: PodB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name: pod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- name: ContainerC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57A40B-E5F1-D6AF-96CD-52DD85FD0C72}"/>
              </a:ext>
            </a:extLst>
          </p:cNvPr>
          <p:cNvSpPr txBox="1"/>
          <p:nvPr/>
        </p:nvSpPr>
        <p:spPr>
          <a:xfrm>
            <a:off x="7383060" y="372825"/>
            <a:ext cx="1665290" cy="260071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kern="0" dirty="0" err="1">
                <a:cs typeface="Al Bayan Plain" pitchFamily="2" charset="-78"/>
              </a:rPr>
              <a:t> </a:t>
            </a:r>
            <a:r>
              <a:rPr lang="en-US" sz="900" kern="0" dirty="0" err="1">
                <a:cs typeface="Al Bayan Plain" pitchFamily="2" charset="-78"/>
              </a:rPr>
              <a:t>apiVersion</a:t>
            </a:r>
            <a:r>
              <a:rPr lang="en-US" sz="9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kind: PodA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name: pod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900" kern="0" dirty="0">
                <a:cs typeface="Al Bayan Plain" pitchFamily="2" charset="-78"/>
              </a:rPr>
              <a:t>     - name: ContainerB</a:t>
            </a:r>
          </a:p>
          <a:p>
            <a:r>
              <a:rPr lang="en-US" altLang="ko-KR" sz="900" kern="0" dirty="0">
                <a:cs typeface="Al Bayan Plain" pitchFamily="2" charset="-78"/>
              </a:rPr>
              <a:t>       resources: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</p:spTree>
    <p:extLst>
      <p:ext uri="{BB962C8B-B14F-4D97-AF65-F5344CB8AC3E}">
        <p14:creationId xmlns:p14="http://schemas.microsoft.com/office/powerpoint/2010/main" val="7542658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E1F39-EAD6-3C49-5A81-FE0BB35E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473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55DC2-9FC4-ED63-DE80-4E89AC9D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EB1A4-5C67-9EB4-6EDE-A4E014F22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8" name="사각형: 둥근 모서리 114">
            <a:extLst>
              <a:ext uri="{FF2B5EF4-FFF2-40B4-BE49-F238E27FC236}">
                <a16:creationId xmlns:a16="http://schemas.microsoft.com/office/drawing/2014/main" id="{24C10B2D-936C-B880-B18B-7449B5866FD4}"/>
              </a:ext>
            </a:extLst>
          </p:cNvPr>
          <p:cNvSpPr/>
          <p:nvPr/>
        </p:nvSpPr>
        <p:spPr>
          <a:xfrm>
            <a:off x="1547664" y="2249109"/>
            <a:ext cx="6043510" cy="1187198"/>
          </a:xfrm>
          <a:prstGeom prst="roundRect">
            <a:avLst>
              <a:gd name="adj" fmla="val 4925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 Filesystem</a:t>
            </a:r>
            <a:endParaRPr lang="en-US" altLang="ko-KR" sz="1000" b="1" dirty="0"/>
          </a:p>
        </p:txBody>
      </p:sp>
      <p:sp>
        <p:nvSpPr>
          <p:cNvPr id="37" name="사각형: 둥근 모서리 114">
            <a:extLst>
              <a:ext uri="{FF2B5EF4-FFF2-40B4-BE49-F238E27FC236}">
                <a16:creationId xmlns:a16="http://schemas.microsoft.com/office/drawing/2014/main" id="{C10CC4A9-5042-F587-8343-C7AD921006B6}"/>
              </a:ext>
            </a:extLst>
          </p:cNvPr>
          <p:cNvSpPr/>
          <p:nvPr/>
        </p:nvSpPr>
        <p:spPr>
          <a:xfrm>
            <a:off x="1557988" y="4171338"/>
            <a:ext cx="6033186" cy="787990"/>
          </a:xfrm>
          <a:prstGeom prst="roundRect">
            <a:avLst>
              <a:gd name="adj" fmla="val 639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 Hardware</a:t>
            </a:r>
            <a:endParaRPr lang="en-US" altLang="ko-KR" sz="1000" b="1" dirty="0"/>
          </a:p>
        </p:txBody>
      </p:sp>
      <p:sp>
        <p:nvSpPr>
          <p:cNvPr id="33" name="사각형: 둥근 모서리 114">
            <a:extLst>
              <a:ext uri="{FF2B5EF4-FFF2-40B4-BE49-F238E27FC236}">
                <a16:creationId xmlns:a16="http://schemas.microsoft.com/office/drawing/2014/main" id="{7BF8E95B-2B85-0D6D-2E68-F60EA3C52311}"/>
              </a:ext>
            </a:extLst>
          </p:cNvPr>
          <p:cNvSpPr/>
          <p:nvPr/>
        </p:nvSpPr>
        <p:spPr>
          <a:xfrm>
            <a:off x="1552826" y="3436307"/>
            <a:ext cx="6043510" cy="739656"/>
          </a:xfrm>
          <a:prstGeom prst="roundRect">
            <a:avLst>
              <a:gd name="adj" fmla="val 720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 Kernel</a:t>
            </a:r>
            <a:endParaRPr lang="en-US" altLang="ko-KR" sz="1000" b="1" dirty="0"/>
          </a:p>
        </p:txBody>
      </p:sp>
      <p:sp>
        <p:nvSpPr>
          <p:cNvPr id="14" name="사각형: 둥근 모서리 114">
            <a:extLst>
              <a:ext uri="{FF2B5EF4-FFF2-40B4-BE49-F238E27FC236}">
                <a16:creationId xmlns:a16="http://schemas.microsoft.com/office/drawing/2014/main" id="{5FC11722-AE37-4844-6A9C-06D25A007F78}"/>
              </a:ext>
            </a:extLst>
          </p:cNvPr>
          <p:cNvSpPr/>
          <p:nvPr/>
        </p:nvSpPr>
        <p:spPr>
          <a:xfrm>
            <a:off x="2145948" y="4287525"/>
            <a:ext cx="1077331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0</a:t>
            </a:r>
            <a:endParaRPr lang="en-US" altLang="ko-KR" sz="1000" dirty="0"/>
          </a:p>
        </p:txBody>
      </p:sp>
      <p:sp>
        <p:nvSpPr>
          <p:cNvPr id="15" name="사각형: 둥근 모서리 114">
            <a:extLst>
              <a:ext uri="{FF2B5EF4-FFF2-40B4-BE49-F238E27FC236}">
                <a16:creationId xmlns:a16="http://schemas.microsoft.com/office/drawing/2014/main" id="{C5875DAF-88F1-54F8-EF19-B2243A76054C}"/>
              </a:ext>
            </a:extLst>
          </p:cNvPr>
          <p:cNvSpPr/>
          <p:nvPr/>
        </p:nvSpPr>
        <p:spPr>
          <a:xfrm>
            <a:off x="3405927" y="4287525"/>
            <a:ext cx="1077331" cy="383228"/>
          </a:xfrm>
          <a:prstGeom prst="roundRect">
            <a:avLst>
              <a:gd name="adj" fmla="val 142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1</a:t>
            </a:r>
            <a:endParaRPr lang="en-US" altLang="ko-KR" sz="1000" dirty="0"/>
          </a:p>
        </p:txBody>
      </p:sp>
      <p:sp>
        <p:nvSpPr>
          <p:cNvPr id="16" name="사각형: 둥근 모서리 114">
            <a:extLst>
              <a:ext uri="{FF2B5EF4-FFF2-40B4-BE49-F238E27FC236}">
                <a16:creationId xmlns:a16="http://schemas.microsoft.com/office/drawing/2014/main" id="{4E70790A-E369-E509-03BE-597DF8DF7AC4}"/>
              </a:ext>
            </a:extLst>
          </p:cNvPr>
          <p:cNvSpPr/>
          <p:nvPr/>
        </p:nvSpPr>
        <p:spPr>
          <a:xfrm>
            <a:off x="4665905" y="4287525"/>
            <a:ext cx="1077331" cy="383228"/>
          </a:xfrm>
          <a:prstGeom prst="roundRect">
            <a:avLst>
              <a:gd name="adj" fmla="val 12529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2</a:t>
            </a:r>
            <a:endParaRPr lang="en-US" altLang="ko-KR" sz="1000" dirty="0"/>
          </a:p>
        </p:txBody>
      </p:sp>
      <p:sp>
        <p:nvSpPr>
          <p:cNvPr id="17" name="사각형: 둥근 모서리 114">
            <a:extLst>
              <a:ext uri="{FF2B5EF4-FFF2-40B4-BE49-F238E27FC236}">
                <a16:creationId xmlns:a16="http://schemas.microsoft.com/office/drawing/2014/main" id="{80002950-1B63-E164-C6E6-CDC8E72E1046}"/>
              </a:ext>
            </a:extLst>
          </p:cNvPr>
          <p:cNvSpPr/>
          <p:nvPr/>
        </p:nvSpPr>
        <p:spPr>
          <a:xfrm>
            <a:off x="5925884" y="4287525"/>
            <a:ext cx="1077331" cy="383228"/>
          </a:xfrm>
          <a:prstGeom prst="roundRect">
            <a:avLst>
              <a:gd name="adj" fmla="val 16055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3</a:t>
            </a:r>
            <a:endParaRPr lang="en-US" altLang="ko-KR" sz="1000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93970A48-772B-0B0C-E7A8-DD9AFFCE6285}"/>
              </a:ext>
            </a:extLst>
          </p:cNvPr>
          <p:cNvSpPr/>
          <p:nvPr/>
        </p:nvSpPr>
        <p:spPr>
          <a:xfrm>
            <a:off x="734944" y="488998"/>
            <a:ext cx="2486761" cy="1662236"/>
          </a:xfrm>
          <a:prstGeom prst="roundRect">
            <a:avLst>
              <a:gd name="adj" fmla="val 402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E9835A0D-6932-6195-7EAA-F962F523A494}"/>
              </a:ext>
            </a:extLst>
          </p:cNvPr>
          <p:cNvSpPr/>
          <p:nvPr/>
        </p:nvSpPr>
        <p:spPr>
          <a:xfrm>
            <a:off x="822678" y="1683025"/>
            <a:ext cx="1099999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8F200ACA-EFE1-D238-52D2-50A0A8F78F6E}"/>
              </a:ext>
            </a:extLst>
          </p:cNvPr>
          <p:cNvSpPr/>
          <p:nvPr/>
        </p:nvSpPr>
        <p:spPr>
          <a:xfrm>
            <a:off x="2024278" y="1683025"/>
            <a:ext cx="1099868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5804350A-0FF8-246B-98BC-AD3DB86DDAFA}"/>
              </a:ext>
            </a:extLst>
          </p:cNvPr>
          <p:cNvSpPr/>
          <p:nvPr/>
        </p:nvSpPr>
        <p:spPr>
          <a:xfrm>
            <a:off x="822678" y="1212700"/>
            <a:ext cx="2301467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54" name="사각형: 둥근 모서리 114">
            <a:extLst>
              <a:ext uri="{FF2B5EF4-FFF2-40B4-BE49-F238E27FC236}">
                <a16:creationId xmlns:a16="http://schemas.microsoft.com/office/drawing/2014/main" id="{3FB0A47F-6143-39D1-AA0A-E3509CA0354F}"/>
              </a:ext>
            </a:extLst>
          </p:cNvPr>
          <p:cNvSpPr/>
          <p:nvPr/>
        </p:nvSpPr>
        <p:spPr>
          <a:xfrm>
            <a:off x="3346476" y="483518"/>
            <a:ext cx="3674596" cy="1662236"/>
          </a:xfrm>
          <a:prstGeom prst="roundRect">
            <a:avLst>
              <a:gd name="adj" fmla="val 402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5" name="사각형: 둥근 모서리 114">
            <a:extLst>
              <a:ext uri="{FF2B5EF4-FFF2-40B4-BE49-F238E27FC236}">
                <a16:creationId xmlns:a16="http://schemas.microsoft.com/office/drawing/2014/main" id="{5E2576F5-3123-6CB3-C050-8B120F072060}"/>
              </a:ext>
            </a:extLst>
          </p:cNvPr>
          <p:cNvSpPr/>
          <p:nvPr/>
        </p:nvSpPr>
        <p:spPr>
          <a:xfrm>
            <a:off x="3434210" y="1677546"/>
            <a:ext cx="1099999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56" name="사각형: 둥근 모서리 114">
            <a:extLst>
              <a:ext uri="{FF2B5EF4-FFF2-40B4-BE49-F238E27FC236}">
                <a16:creationId xmlns:a16="http://schemas.microsoft.com/office/drawing/2014/main" id="{BD35EE35-5BFE-59DC-BB00-2F2043B7BC5C}"/>
              </a:ext>
            </a:extLst>
          </p:cNvPr>
          <p:cNvSpPr/>
          <p:nvPr/>
        </p:nvSpPr>
        <p:spPr>
          <a:xfrm>
            <a:off x="4635810" y="1677546"/>
            <a:ext cx="1099868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/dev/nvidia2</a:t>
            </a:r>
            <a:endParaRPr lang="en-US" altLang="ko-KR" sz="1000" dirty="0"/>
          </a:p>
        </p:txBody>
      </p:sp>
      <p:sp>
        <p:nvSpPr>
          <p:cNvPr id="57" name="사각형: 둥근 모서리 114">
            <a:extLst>
              <a:ext uri="{FF2B5EF4-FFF2-40B4-BE49-F238E27FC236}">
                <a16:creationId xmlns:a16="http://schemas.microsoft.com/office/drawing/2014/main" id="{9E22FAA8-9B80-5C2A-5944-C06551A79479}"/>
              </a:ext>
            </a:extLst>
          </p:cNvPr>
          <p:cNvSpPr/>
          <p:nvPr/>
        </p:nvSpPr>
        <p:spPr>
          <a:xfrm>
            <a:off x="3434210" y="1207220"/>
            <a:ext cx="3498895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85" name="사각형: 둥근 모서리 114">
            <a:extLst>
              <a:ext uri="{FF2B5EF4-FFF2-40B4-BE49-F238E27FC236}">
                <a16:creationId xmlns:a16="http://schemas.microsoft.com/office/drawing/2014/main" id="{2665613C-8058-E9D4-90DD-5C704703CBE3}"/>
              </a:ext>
            </a:extLst>
          </p:cNvPr>
          <p:cNvSpPr/>
          <p:nvPr/>
        </p:nvSpPr>
        <p:spPr>
          <a:xfrm>
            <a:off x="5833237" y="1677546"/>
            <a:ext cx="1099868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/dev/nvidia3</a:t>
            </a:r>
            <a:endParaRPr lang="en-US" altLang="ko-KR" sz="1000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98A79F5A-E34D-7B4A-2CF6-7A749FA874C4}"/>
              </a:ext>
            </a:extLst>
          </p:cNvPr>
          <p:cNvSpPr/>
          <p:nvPr/>
        </p:nvSpPr>
        <p:spPr>
          <a:xfrm>
            <a:off x="7164288" y="483518"/>
            <a:ext cx="1274717" cy="1662236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264AA2FF-B7E8-AEA2-8903-5EFB1C73659D}"/>
              </a:ext>
            </a:extLst>
          </p:cNvPr>
          <p:cNvSpPr/>
          <p:nvPr/>
        </p:nvSpPr>
        <p:spPr>
          <a:xfrm>
            <a:off x="7250134" y="1673181"/>
            <a:ext cx="1098712" cy="383228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/dev/nvidia3</a:t>
            </a:r>
            <a:endParaRPr lang="en-US" altLang="ko-KR" sz="10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895A44D5-E430-69CF-73FA-7AFBFEB9D766}"/>
              </a:ext>
            </a:extLst>
          </p:cNvPr>
          <p:cNvSpPr/>
          <p:nvPr/>
        </p:nvSpPr>
        <p:spPr>
          <a:xfrm>
            <a:off x="7250133" y="1202855"/>
            <a:ext cx="1098711" cy="383228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NVIDIA CUDA Lib/Toolkit</a:t>
            </a:r>
            <a:endParaRPr lang="en-US" altLang="ko-KR" sz="900" dirty="0"/>
          </a:p>
        </p:txBody>
      </p:sp>
      <p:sp>
        <p:nvSpPr>
          <p:cNvPr id="35" name="사각형: 둥근 모서리 114">
            <a:extLst>
              <a:ext uri="{FF2B5EF4-FFF2-40B4-BE49-F238E27FC236}">
                <a16:creationId xmlns:a16="http://schemas.microsoft.com/office/drawing/2014/main" id="{B5139FF9-FC24-0EF0-D655-7BCC816EDD11}"/>
              </a:ext>
            </a:extLst>
          </p:cNvPr>
          <p:cNvSpPr/>
          <p:nvPr/>
        </p:nvSpPr>
        <p:spPr>
          <a:xfrm>
            <a:off x="1692325" y="3564926"/>
            <a:ext cx="5759996" cy="383228"/>
          </a:xfrm>
          <a:prstGeom prst="roundRect">
            <a:avLst>
              <a:gd name="adj" fmla="val 12530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GPU Device Driver</a:t>
            </a:r>
            <a:endParaRPr lang="en-US" altLang="ko-KR" sz="1000" dirty="0"/>
          </a:p>
        </p:txBody>
      </p:sp>
      <p:sp>
        <p:nvSpPr>
          <p:cNvPr id="34" name="사각형: 둥근 모서리 114">
            <a:extLst>
              <a:ext uri="{FF2B5EF4-FFF2-40B4-BE49-F238E27FC236}">
                <a16:creationId xmlns:a16="http://schemas.microsoft.com/office/drawing/2014/main" id="{9038EB3F-C742-CCC4-C2D0-7CF9DC413C6C}"/>
              </a:ext>
            </a:extLst>
          </p:cNvPr>
          <p:cNvSpPr/>
          <p:nvPr/>
        </p:nvSpPr>
        <p:spPr>
          <a:xfrm>
            <a:off x="2141132" y="2796064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44" name="사각형: 둥근 모서리 114">
            <a:extLst>
              <a:ext uri="{FF2B5EF4-FFF2-40B4-BE49-F238E27FC236}">
                <a16:creationId xmlns:a16="http://schemas.microsoft.com/office/drawing/2014/main" id="{28E7B113-C60E-5FC4-CE7E-269CCDCB7E2D}"/>
              </a:ext>
            </a:extLst>
          </p:cNvPr>
          <p:cNvSpPr/>
          <p:nvPr/>
        </p:nvSpPr>
        <p:spPr>
          <a:xfrm>
            <a:off x="3405927" y="2796064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45" name="사각형: 둥근 모서리 114">
            <a:extLst>
              <a:ext uri="{FF2B5EF4-FFF2-40B4-BE49-F238E27FC236}">
                <a16:creationId xmlns:a16="http://schemas.microsoft.com/office/drawing/2014/main" id="{85471EA2-6174-1381-C846-34AD1D7EA8C3}"/>
              </a:ext>
            </a:extLst>
          </p:cNvPr>
          <p:cNvSpPr/>
          <p:nvPr/>
        </p:nvSpPr>
        <p:spPr>
          <a:xfrm>
            <a:off x="4665905" y="2796064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/dev/nvidia2</a:t>
            </a:r>
            <a:endParaRPr lang="en-US" altLang="ko-KR" sz="1000" dirty="0"/>
          </a:p>
        </p:txBody>
      </p:sp>
      <p:sp>
        <p:nvSpPr>
          <p:cNvPr id="46" name="사각형: 둥근 모서리 114">
            <a:extLst>
              <a:ext uri="{FF2B5EF4-FFF2-40B4-BE49-F238E27FC236}">
                <a16:creationId xmlns:a16="http://schemas.microsoft.com/office/drawing/2014/main" id="{88273230-1443-43CD-9B68-20CDE4CAE7BE}"/>
              </a:ext>
            </a:extLst>
          </p:cNvPr>
          <p:cNvSpPr/>
          <p:nvPr/>
        </p:nvSpPr>
        <p:spPr>
          <a:xfrm>
            <a:off x="5925884" y="2796064"/>
            <a:ext cx="1082148" cy="383228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/dev/nvidia3</a:t>
            </a:r>
            <a:endParaRPr lang="en-US" altLang="ko-KR" sz="1000" dirty="0"/>
          </a:p>
        </p:txBody>
      </p:sp>
      <p:cxnSp>
        <p:nvCxnSpPr>
          <p:cNvPr id="52" name="직선 연결선 20">
            <a:extLst>
              <a:ext uri="{FF2B5EF4-FFF2-40B4-BE49-F238E27FC236}">
                <a16:creationId xmlns:a16="http://schemas.microsoft.com/office/drawing/2014/main" id="{CC32A74A-480F-C912-E0C2-659017726E2B}"/>
              </a:ext>
            </a:extLst>
          </p:cNvPr>
          <p:cNvCxnSpPr>
            <a:cxnSpLocks/>
            <a:stCxn id="44" idx="2"/>
            <a:endCxn id="15" idx="0"/>
          </p:cNvCxnSpPr>
          <p:nvPr/>
        </p:nvCxnSpPr>
        <p:spPr>
          <a:xfrm flipH="1">
            <a:off x="3944593" y="3179293"/>
            <a:ext cx="2408" cy="11082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사각형: 둥근 모서리 114">
            <a:extLst>
              <a:ext uri="{FF2B5EF4-FFF2-40B4-BE49-F238E27FC236}">
                <a16:creationId xmlns:a16="http://schemas.microsoft.com/office/drawing/2014/main" id="{D74A65D1-E293-3296-FA0D-18B80F274D13}"/>
              </a:ext>
            </a:extLst>
          </p:cNvPr>
          <p:cNvSpPr/>
          <p:nvPr/>
        </p:nvSpPr>
        <p:spPr>
          <a:xfrm>
            <a:off x="2141132" y="2324202"/>
            <a:ext cx="4862083" cy="383228"/>
          </a:xfrm>
          <a:prstGeom prst="roundRect">
            <a:avLst>
              <a:gd name="adj" fmla="val 17067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cxnSp>
        <p:nvCxnSpPr>
          <p:cNvPr id="117" name="직선 연결선 17">
            <a:extLst>
              <a:ext uri="{FF2B5EF4-FFF2-40B4-BE49-F238E27FC236}">
                <a16:creationId xmlns:a16="http://schemas.microsoft.com/office/drawing/2014/main" id="{3FD40730-CC5D-FD41-6055-FADD9ACF22C8}"/>
              </a:ext>
            </a:extLst>
          </p:cNvPr>
          <p:cNvCxnSpPr>
            <a:cxnSpLocks/>
            <a:stCxn id="34" idx="2"/>
            <a:endCxn id="14" idx="0"/>
          </p:cNvCxnSpPr>
          <p:nvPr/>
        </p:nvCxnSpPr>
        <p:spPr>
          <a:xfrm>
            <a:off x="2682206" y="3179293"/>
            <a:ext cx="2408" cy="11082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7">
            <a:extLst>
              <a:ext uri="{FF2B5EF4-FFF2-40B4-BE49-F238E27FC236}">
                <a16:creationId xmlns:a16="http://schemas.microsoft.com/office/drawing/2014/main" id="{8D90F5AB-0EE6-69E0-4FEC-23CDB3E602F7}"/>
              </a:ext>
            </a:extLst>
          </p:cNvPr>
          <p:cNvCxnSpPr>
            <a:cxnSpLocks/>
            <a:stCxn id="45" idx="2"/>
            <a:endCxn id="16" idx="0"/>
          </p:cNvCxnSpPr>
          <p:nvPr/>
        </p:nvCxnSpPr>
        <p:spPr>
          <a:xfrm flipH="1">
            <a:off x="5204571" y="3179293"/>
            <a:ext cx="2408" cy="11082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26">
            <a:extLst>
              <a:ext uri="{FF2B5EF4-FFF2-40B4-BE49-F238E27FC236}">
                <a16:creationId xmlns:a16="http://schemas.microsoft.com/office/drawing/2014/main" id="{E764F1C6-8C8E-DFD2-2EDF-83927E729F21}"/>
              </a:ext>
            </a:extLst>
          </p:cNvPr>
          <p:cNvCxnSpPr>
            <a:cxnSpLocks/>
            <a:stCxn id="46" idx="2"/>
            <a:endCxn id="17" idx="0"/>
          </p:cNvCxnSpPr>
          <p:nvPr/>
        </p:nvCxnSpPr>
        <p:spPr>
          <a:xfrm flipH="1">
            <a:off x="6464550" y="3179293"/>
            <a:ext cx="2408" cy="11082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사각형: 둥근 모서리 114">
            <a:extLst>
              <a:ext uri="{FF2B5EF4-FFF2-40B4-BE49-F238E27FC236}">
                <a16:creationId xmlns:a16="http://schemas.microsoft.com/office/drawing/2014/main" id="{16B4D401-95FD-7B0D-C0AE-64537247B9CB}"/>
              </a:ext>
            </a:extLst>
          </p:cNvPr>
          <p:cNvSpPr/>
          <p:nvPr/>
        </p:nvSpPr>
        <p:spPr>
          <a:xfrm>
            <a:off x="822678" y="761549"/>
            <a:ext cx="2301467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NVIDIA_VISIBLE_DEVICES Env  </a:t>
            </a:r>
            <a:endParaRPr lang="en-US" altLang="ko-KR" sz="900" dirty="0"/>
          </a:p>
        </p:txBody>
      </p:sp>
      <p:sp>
        <p:nvSpPr>
          <p:cNvPr id="147" name="사각형: 둥근 모서리 114">
            <a:extLst>
              <a:ext uri="{FF2B5EF4-FFF2-40B4-BE49-F238E27FC236}">
                <a16:creationId xmlns:a16="http://schemas.microsoft.com/office/drawing/2014/main" id="{0C812B4E-9516-7DD2-F625-ED2C409F2BBE}"/>
              </a:ext>
            </a:extLst>
          </p:cNvPr>
          <p:cNvSpPr/>
          <p:nvPr/>
        </p:nvSpPr>
        <p:spPr>
          <a:xfrm>
            <a:off x="3434211" y="761549"/>
            <a:ext cx="3498894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NVIDIA_VISIBLE_DEVICES Env  </a:t>
            </a:r>
            <a:endParaRPr lang="en-US" altLang="ko-KR" sz="9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94D5EEF9-402E-F413-D81A-BD1579EBCF10}"/>
              </a:ext>
            </a:extLst>
          </p:cNvPr>
          <p:cNvSpPr/>
          <p:nvPr/>
        </p:nvSpPr>
        <p:spPr>
          <a:xfrm>
            <a:off x="7250133" y="757184"/>
            <a:ext cx="1098712" cy="383228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with </a:t>
            </a:r>
          </a:p>
          <a:p>
            <a:pPr algn="ctr"/>
            <a:r>
              <a:rPr lang="en-US" altLang="ko-KR" sz="900"/>
              <a:t>NVIDIA_VISIBLE_</a:t>
            </a:r>
            <a:br>
              <a:rPr lang="en-US" altLang="ko-KR" sz="900"/>
            </a:br>
            <a:r>
              <a:rPr lang="en-US" altLang="ko-KR" sz="900"/>
              <a:t>DEVICES Env  </a:t>
            </a:r>
            <a:endParaRPr lang="en-US" altLang="ko-KR" sz="900" dirty="0"/>
          </a:p>
        </p:txBody>
      </p:sp>
      <p:cxnSp>
        <p:nvCxnSpPr>
          <p:cNvPr id="150" name="직선 연결선 26">
            <a:extLst>
              <a:ext uri="{FF2B5EF4-FFF2-40B4-BE49-F238E27FC236}">
                <a16:creationId xmlns:a16="http://schemas.microsoft.com/office/drawing/2014/main" id="{C2F9B89B-AFBC-D3D1-CF47-9595AC7FA842}"/>
              </a:ext>
            </a:extLst>
          </p:cNvPr>
          <p:cNvCxnSpPr>
            <a:cxnSpLocks/>
            <a:stCxn id="74" idx="2"/>
            <a:endCxn id="46" idx="0"/>
          </p:cNvCxnSpPr>
          <p:nvPr/>
        </p:nvCxnSpPr>
        <p:spPr>
          <a:xfrm flipH="1">
            <a:off x="6466958" y="2056409"/>
            <a:ext cx="1332532" cy="7396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26">
            <a:extLst>
              <a:ext uri="{FF2B5EF4-FFF2-40B4-BE49-F238E27FC236}">
                <a16:creationId xmlns:a16="http://schemas.microsoft.com/office/drawing/2014/main" id="{47C28D2E-1906-16EE-DB16-E21D352AC590}"/>
              </a:ext>
            </a:extLst>
          </p:cNvPr>
          <p:cNvCxnSpPr>
            <a:cxnSpLocks/>
            <a:stCxn id="85" idx="2"/>
            <a:endCxn id="46" idx="0"/>
          </p:cNvCxnSpPr>
          <p:nvPr/>
        </p:nvCxnSpPr>
        <p:spPr>
          <a:xfrm>
            <a:off x="6383171" y="2060774"/>
            <a:ext cx="83787" cy="7352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26">
            <a:extLst>
              <a:ext uri="{FF2B5EF4-FFF2-40B4-BE49-F238E27FC236}">
                <a16:creationId xmlns:a16="http://schemas.microsoft.com/office/drawing/2014/main" id="{0DE4446A-CCBF-1591-E535-263E16E0449E}"/>
              </a:ext>
            </a:extLst>
          </p:cNvPr>
          <p:cNvCxnSpPr>
            <a:cxnSpLocks/>
            <a:stCxn id="56" idx="2"/>
            <a:endCxn id="45" idx="0"/>
          </p:cNvCxnSpPr>
          <p:nvPr/>
        </p:nvCxnSpPr>
        <p:spPr>
          <a:xfrm>
            <a:off x="5185744" y="2060774"/>
            <a:ext cx="21235" cy="7352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20">
            <a:extLst>
              <a:ext uri="{FF2B5EF4-FFF2-40B4-BE49-F238E27FC236}">
                <a16:creationId xmlns:a16="http://schemas.microsoft.com/office/drawing/2014/main" id="{2F63F01C-23D6-7F90-AB1C-2AEEFDB8E18D}"/>
              </a:ext>
            </a:extLst>
          </p:cNvPr>
          <p:cNvCxnSpPr>
            <a:cxnSpLocks/>
            <a:stCxn id="55" idx="2"/>
            <a:endCxn id="34" idx="0"/>
          </p:cNvCxnSpPr>
          <p:nvPr/>
        </p:nvCxnSpPr>
        <p:spPr>
          <a:xfrm flipH="1">
            <a:off x="2682206" y="2060774"/>
            <a:ext cx="1302004" cy="7352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20">
            <a:extLst>
              <a:ext uri="{FF2B5EF4-FFF2-40B4-BE49-F238E27FC236}">
                <a16:creationId xmlns:a16="http://schemas.microsoft.com/office/drawing/2014/main" id="{D1EF2D36-B7BE-AA59-23ED-60E3B82CFACE}"/>
              </a:ext>
            </a:extLst>
          </p:cNvPr>
          <p:cNvCxnSpPr>
            <a:cxnSpLocks/>
            <a:stCxn id="49" idx="2"/>
            <a:endCxn id="44" idx="0"/>
          </p:cNvCxnSpPr>
          <p:nvPr/>
        </p:nvCxnSpPr>
        <p:spPr>
          <a:xfrm>
            <a:off x="2574212" y="2066254"/>
            <a:ext cx="1372789" cy="7298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7">
            <a:extLst>
              <a:ext uri="{FF2B5EF4-FFF2-40B4-BE49-F238E27FC236}">
                <a16:creationId xmlns:a16="http://schemas.microsoft.com/office/drawing/2014/main" id="{C2EB24B1-3E99-359D-E6CB-BA691A53945B}"/>
              </a:ext>
            </a:extLst>
          </p:cNvPr>
          <p:cNvCxnSpPr>
            <a:cxnSpLocks/>
            <a:stCxn id="48" idx="2"/>
            <a:endCxn id="34" idx="0"/>
          </p:cNvCxnSpPr>
          <p:nvPr/>
        </p:nvCxnSpPr>
        <p:spPr>
          <a:xfrm>
            <a:off x="1372678" y="2066254"/>
            <a:ext cx="1309528" cy="7298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20">
            <a:extLst>
              <a:ext uri="{FF2B5EF4-FFF2-40B4-BE49-F238E27FC236}">
                <a16:creationId xmlns:a16="http://schemas.microsoft.com/office/drawing/2014/main" id="{307DE5AE-69EC-252E-9688-4381E7F6513D}"/>
              </a:ext>
            </a:extLst>
          </p:cNvPr>
          <p:cNvCxnSpPr>
            <a:cxnSpLocks/>
            <a:stCxn id="53" idx="2"/>
            <a:endCxn id="104" idx="0"/>
          </p:cNvCxnSpPr>
          <p:nvPr/>
        </p:nvCxnSpPr>
        <p:spPr>
          <a:xfrm>
            <a:off x="1973412" y="1595928"/>
            <a:ext cx="2598762" cy="7282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20">
            <a:extLst>
              <a:ext uri="{FF2B5EF4-FFF2-40B4-BE49-F238E27FC236}">
                <a16:creationId xmlns:a16="http://schemas.microsoft.com/office/drawing/2014/main" id="{04C33049-F8C5-B672-E61D-2845A991520B}"/>
              </a:ext>
            </a:extLst>
          </p:cNvPr>
          <p:cNvCxnSpPr>
            <a:cxnSpLocks/>
            <a:stCxn id="57" idx="2"/>
            <a:endCxn id="104" idx="0"/>
          </p:cNvCxnSpPr>
          <p:nvPr/>
        </p:nvCxnSpPr>
        <p:spPr>
          <a:xfrm flipH="1">
            <a:off x="4572174" y="1590448"/>
            <a:ext cx="611484" cy="7337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20">
            <a:extLst>
              <a:ext uri="{FF2B5EF4-FFF2-40B4-BE49-F238E27FC236}">
                <a16:creationId xmlns:a16="http://schemas.microsoft.com/office/drawing/2014/main" id="{445D43A6-D407-B687-D4D0-51922467B389}"/>
              </a:ext>
            </a:extLst>
          </p:cNvPr>
          <p:cNvCxnSpPr>
            <a:cxnSpLocks/>
            <a:stCxn id="75" idx="2"/>
            <a:endCxn id="104" idx="0"/>
          </p:cNvCxnSpPr>
          <p:nvPr/>
        </p:nvCxnSpPr>
        <p:spPr>
          <a:xfrm flipH="1">
            <a:off x="4572174" y="1586083"/>
            <a:ext cx="3227315" cy="7381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580F60FE-C09F-1552-4644-8744638D2B6B}"/>
              </a:ext>
            </a:extLst>
          </p:cNvPr>
          <p:cNvSpPr txBox="1"/>
          <p:nvPr/>
        </p:nvSpPr>
        <p:spPr>
          <a:xfrm>
            <a:off x="691097" y="2141761"/>
            <a:ext cx="915635" cy="23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i="1"/>
              <a:t>Bind Mount</a:t>
            </a:r>
            <a:endParaRPr kumimoji="1" lang="ko-KR" altLang="en-US" sz="1000" b="1" i="1"/>
          </a:p>
        </p:txBody>
      </p:sp>
    </p:spTree>
    <p:extLst>
      <p:ext uri="{BB962C8B-B14F-4D97-AF65-F5344CB8AC3E}">
        <p14:creationId xmlns:p14="http://schemas.microsoft.com/office/powerpoint/2010/main" val="3413052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8A532-583D-6519-89E1-7BA72F17C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114">
            <a:extLst>
              <a:ext uri="{FF2B5EF4-FFF2-40B4-BE49-F238E27FC236}">
                <a16:creationId xmlns:a16="http://schemas.microsoft.com/office/drawing/2014/main" id="{C199CB81-CDBC-8D21-C2FA-32EBEE482256}"/>
              </a:ext>
            </a:extLst>
          </p:cNvPr>
          <p:cNvSpPr/>
          <p:nvPr/>
        </p:nvSpPr>
        <p:spPr>
          <a:xfrm>
            <a:off x="1547664" y="1930664"/>
            <a:ext cx="6043510" cy="1282172"/>
          </a:xfrm>
          <a:prstGeom prst="roundRect">
            <a:avLst>
              <a:gd name="adj" fmla="val 720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 Filesystem</a:t>
            </a:r>
            <a:endParaRPr lang="en-US" altLang="ko-KR" sz="1000" b="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B1BE0E3-AAAE-3394-21D2-1C7654D84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3419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7" name="사각형: 둥근 모서리 114">
            <a:extLst>
              <a:ext uri="{FF2B5EF4-FFF2-40B4-BE49-F238E27FC236}">
                <a16:creationId xmlns:a16="http://schemas.microsoft.com/office/drawing/2014/main" id="{34224A9B-B36C-FEAF-FAD4-BC2C75C5343C}"/>
              </a:ext>
            </a:extLst>
          </p:cNvPr>
          <p:cNvSpPr/>
          <p:nvPr/>
        </p:nvSpPr>
        <p:spPr>
          <a:xfrm>
            <a:off x="1557988" y="4061207"/>
            <a:ext cx="6033186" cy="976265"/>
          </a:xfrm>
          <a:prstGeom prst="roundRect">
            <a:avLst>
              <a:gd name="adj" fmla="val 639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 Hardware</a:t>
            </a:r>
            <a:endParaRPr lang="en-US" altLang="ko-KR" sz="1000" b="1" dirty="0"/>
          </a:p>
        </p:txBody>
      </p:sp>
      <p:sp>
        <p:nvSpPr>
          <p:cNvPr id="33" name="사각형: 둥근 모서리 114">
            <a:extLst>
              <a:ext uri="{FF2B5EF4-FFF2-40B4-BE49-F238E27FC236}">
                <a16:creationId xmlns:a16="http://schemas.microsoft.com/office/drawing/2014/main" id="{98DED64C-EC4A-FD78-01AD-0D82FD99E58E}"/>
              </a:ext>
            </a:extLst>
          </p:cNvPr>
          <p:cNvSpPr/>
          <p:nvPr/>
        </p:nvSpPr>
        <p:spPr>
          <a:xfrm>
            <a:off x="1552826" y="3212363"/>
            <a:ext cx="6043510" cy="855136"/>
          </a:xfrm>
          <a:prstGeom prst="roundRect">
            <a:avLst>
              <a:gd name="adj" fmla="val 720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 Kernel</a:t>
            </a:r>
            <a:endParaRPr lang="en-US" altLang="ko-KR" sz="1000" b="1" dirty="0"/>
          </a:p>
        </p:txBody>
      </p:sp>
      <p:sp>
        <p:nvSpPr>
          <p:cNvPr id="14" name="사각형: 둥근 모서리 114">
            <a:extLst>
              <a:ext uri="{FF2B5EF4-FFF2-40B4-BE49-F238E27FC236}">
                <a16:creationId xmlns:a16="http://schemas.microsoft.com/office/drawing/2014/main" id="{3BB4A784-EDE7-85B2-7F9F-16377AC2A591}"/>
              </a:ext>
            </a:extLst>
          </p:cNvPr>
          <p:cNvSpPr/>
          <p:nvPr/>
        </p:nvSpPr>
        <p:spPr>
          <a:xfrm>
            <a:off x="2145948" y="4173376"/>
            <a:ext cx="1077331" cy="57606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0</a:t>
            </a:r>
            <a:endParaRPr lang="en-US" altLang="ko-KR" sz="1000" dirty="0"/>
          </a:p>
        </p:txBody>
      </p:sp>
      <p:sp>
        <p:nvSpPr>
          <p:cNvPr id="15" name="사각형: 둥근 모서리 114">
            <a:extLst>
              <a:ext uri="{FF2B5EF4-FFF2-40B4-BE49-F238E27FC236}">
                <a16:creationId xmlns:a16="http://schemas.microsoft.com/office/drawing/2014/main" id="{0C90FB03-5F15-E1F3-C0A7-39612FA4FD8A}"/>
              </a:ext>
            </a:extLst>
          </p:cNvPr>
          <p:cNvSpPr/>
          <p:nvPr/>
        </p:nvSpPr>
        <p:spPr>
          <a:xfrm>
            <a:off x="3405927" y="4173376"/>
            <a:ext cx="1077331" cy="57606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1</a:t>
            </a:r>
            <a:endParaRPr lang="en-US" altLang="ko-KR" sz="1000" dirty="0"/>
          </a:p>
        </p:txBody>
      </p:sp>
      <p:sp>
        <p:nvSpPr>
          <p:cNvPr id="16" name="사각형: 둥근 모서리 114">
            <a:extLst>
              <a:ext uri="{FF2B5EF4-FFF2-40B4-BE49-F238E27FC236}">
                <a16:creationId xmlns:a16="http://schemas.microsoft.com/office/drawing/2014/main" id="{5FD6345F-4058-CF72-302F-E427E9FF2337}"/>
              </a:ext>
            </a:extLst>
          </p:cNvPr>
          <p:cNvSpPr/>
          <p:nvPr/>
        </p:nvSpPr>
        <p:spPr>
          <a:xfrm>
            <a:off x="4665905" y="4173376"/>
            <a:ext cx="1077331" cy="57606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2</a:t>
            </a:r>
            <a:endParaRPr lang="en-US" altLang="ko-KR" sz="1000" dirty="0"/>
          </a:p>
        </p:txBody>
      </p:sp>
      <p:sp>
        <p:nvSpPr>
          <p:cNvPr id="17" name="사각형: 둥근 모서리 114">
            <a:extLst>
              <a:ext uri="{FF2B5EF4-FFF2-40B4-BE49-F238E27FC236}">
                <a16:creationId xmlns:a16="http://schemas.microsoft.com/office/drawing/2014/main" id="{D1AA0CD1-85DC-80F2-38A0-D98480E06713}"/>
              </a:ext>
            </a:extLst>
          </p:cNvPr>
          <p:cNvSpPr/>
          <p:nvPr/>
        </p:nvSpPr>
        <p:spPr>
          <a:xfrm>
            <a:off x="5925884" y="4173376"/>
            <a:ext cx="1077331" cy="57606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3</a:t>
            </a:r>
            <a:endParaRPr lang="en-US" altLang="ko-KR" sz="1000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F7BDFE51-13AD-6F76-9BD3-4C8EA1093AF8}"/>
              </a:ext>
            </a:extLst>
          </p:cNvPr>
          <p:cNvSpPr/>
          <p:nvPr/>
        </p:nvSpPr>
        <p:spPr>
          <a:xfrm>
            <a:off x="734944" y="111692"/>
            <a:ext cx="2486761" cy="1717824"/>
          </a:xfrm>
          <a:prstGeom prst="roundRect">
            <a:avLst>
              <a:gd name="adj" fmla="val 402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20FA5E8D-DE96-37DA-562B-3A9FB0AB0E31}"/>
              </a:ext>
            </a:extLst>
          </p:cNvPr>
          <p:cNvSpPr/>
          <p:nvPr/>
        </p:nvSpPr>
        <p:spPr>
          <a:xfrm>
            <a:off x="822678" y="1345650"/>
            <a:ext cx="1099999" cy="39604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28CDC012-AE30-4BD5-0233-E6598DF6893B}"/>
              </a:ext>
            </a:extLst>
          </p:cNvPr>
          <p:cNvSpPr/>
          <p:nvPr/>
        </p:nvSpPr>
        <p:spPr>
          <a:xfrm>
            <a:off x="2024278" y="1345650"/>
            <a:ext cx="1099868" cy="39604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6C60E83C-B6C7-5D9D-1B4A-EB539DC194AB}"/>
              </a:ext>
            </a:extLst>
          </p:cNvPr>
          <p:cNvSpPr/>
          <p:nvPr/>
        </p:nvSpPr>
        <p:spPr>
          <a:xfrm>
            <a:off x="822678" y="859596"/>
            <a:ext cx="2301467" cy="396044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sp>
        <p:nvSpPr>
          <p:cNvPr id="54" name="사각형: 둥근 모서리 114">
            <a:extLst>
              <a:ext uri="{FF2B5EF4-FFF2-40B4-BE49-F238E27FC236}">
                <a16:creationId xmlns:a16="http://schemas.microsoft.com/office/drawing/2014/main" id="{F4292598-010D-2884-AF6A-98E96A77E4D9}"/>
              </a:ext>
            </a:extLst>
          </p:cNvPr>
          <p:cNvSpPr/>
          <p:nvPr/>
        </p:nvSpPr>
        <p:spPr>
          <a:xfrm>
            <a:off x="3346476" y="106029"/>
            <a:ext cx="3674596" cy="1717824"/>
          </a:xfrm>
          <a:prstGeom prst="roundRect">
            <a:avLst>
              <a:gd name="adj" fmla="val 402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5" name="사각형: 둥근 모서리 114">
            <a:extLst>
              <a:ext uri="{FF2B5EF4-FFF2-40B4-BE49-F238E27FC236}">
                <a16:creationId xmlns:a16="http://schemas.microsoft.com/office/drawing/2014/main" id="{3A5559A4-65E5-C60B-2C81-7D11DC7DDC2E}"/>
              </a:ext>
            </a:extLst>
          </p:cNvPr>
          <p:cNvSpPr/>
          <p:nvPr/>
        </p:nvSpPr>
        <p:spPr>
          <a:xfrm>
            <a:off x="3434210" y="1339987"/>
            <a:ext cx="1099999" cy="39604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56" name="사각형: 둥근 모서리 114">
            <a:extLst>
              <a:ext uri="{FF2B5EF4-FFF2-40B4-BE49-F238E27FC236}">
                <a16:creationId xmlns:a16="http://schemas.microsoft.com/office/drawing/2014/main" id="{87E80D6F-CA6B-0CD2-F7F3-4D1E2532265A}"/>
              </a:ext>
            </a:extLst>
          </p:cNvPr>
          <p:cNvSpPr/>
          <p:nvPr/>
        </p:nvSpPr>
        <p:spPr>
          <a:xfrm>
            <a:off x="4635810" y="1339987"/>
            <a:ext cx="1099868" cy="39604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/dev/nvidia2</a:t>
            </a:r>
            <a:endParaRPr lang="en-US" altLang="ko-KR" sz="1000" dirty="0"/>
          </a:p>
        </p:txBody>
      </p:sp>
      <p:sp>
        <p:nvSpPr>
          <p:cNvPr id="57" name="사각형: 둥근 모서리 114">
            <a:extLst>
              <a:ext uri="{FF2B5EF4-FFF2-40B4-BE49-F238E27FC236}">
                <a16:creationId xmlns:a16="http://schemas.microsoft.com/office/drawing/2014/main" id="{C75D87A0-04F8-1F73-C973-9BCA8466E434}"/>
              </a:ext>
            </a:extLst>
          </p:cNvPr>
          <p:cNvSpPr/>
          <p:nvPr/>
        </p:nvSpPr>
        <p:spPr>
          <a:xfrm>
            <a:off x="3434210" y="853933"/>
            <a:ext cx="3498895" cy="396044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sp>
        <p:nvSpPr>
          <p:cNvPr id="85" name="사각형: 둥근 모서리 114">
            <a:extLst>
              <a:ext uri="{FF2B5EF4-FFF2-40B4-BE49-F238E27FC236}">
                <a16:creationId xmlns:a16="http://schemas.microsoft.com/office/drawing/2014/main" id="{C5FDFA61-ABCE-9AEF-A799-491CD47B2758}"/>
              </a:ext>
            </a:extLst>
          </p:cNvPr>
          <p:cNvSpPr/>
          <p:nvPr/>
        </p:nvSpPr>
        <p:spPr>
          <a:xfrm>
            <a:off x="5833237" y="1339987"/>
            <a:ext cx="1099868" cy="39604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/dev/nvidia3</a:t>
            </a:r>
            <a:endParaRPr lang="en-US" altLang="ko-KR" sz="1000" dirty="0"/>
          </a:p>
        </p:txBody>
      </p: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FA29DEC7-E382-0E51-65A1-B16C42469C7D}"/>
              </a:ext>
            </a:extLst>
          </p:cNvPr>
          <p:cNvSpPr/>
          <p:nvPr/>
        </p:nvSpPr>
        <p:spPr>
          <a:xfrm>
            <a:off x="7164288" y="106029"/>
            <a:ext cx="1487816" cy="1717824"/>
          </a:xfrm>
          <a:prstGeom prst="roundRect">
            <a:avLst>
              <a:gd name="adj" fmla="val 4159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5B695D59-8F43-916E-95F0-6D4418AE445E}"/>
              </a:ext>
            </a:extLst>
          </p:cNvPr>
          <p:cNvSpPr/>
          <p:nvPr/>
        </p:nvSpPr>
        <p:spPr>
          <a:xfrm>
            <a:off x="7244475" y="1339987"/>
            <a:ext cx="1321799" cy="396044"/>
          </a:xfrm>
          <a:prstGeom prst="roundRect">
            <a:avLst>
              <a:gd name="adj" fmla="val 724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/dev/nvidia3</a:t>
            </a:r>
            <a:endParaRPr lang="en-US" altLang="ko-KR" sz="10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5BCDFD41-1093-D72B-B30C-01417FCFEEFB}"/>
              </a:ext>
            </a:extLst>
          </p:cNvPr>
          <p:cNvSpPr/>
          <p:nvPr/>
        </p:nvSpPr>
        <p:spPr>
          <a:xfrm>
            <a:off x="7244475" y="853933"/>
            <a:ext cx="1321798" cy="396044"/>
          </a:xfrm>
          <a:prstGeom prst="roundRect">
            <a:avLst>
              <a:gd name="adj" fmla="val 7242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sp>
        <p:nvSpPr>
          <p:cNvPr id="35" name="사각형: 둥근 모서리 114">
            <a:extLst>
              <a:ext uri="{FF2B5EF4-FFF2-40B4-BE49-F238E27FC236}">
                <a16:creationId xmlns:a16="http://schemas.microsoft.com/office/drawing/2014/main" id="{903A1291-6D6D-6C8A-34D6-A0E332AA9BA6}"/>
              </a:ext>
            </a:extLst>
          </p:cNvPr>
          <p:cNvSpPr/>
          <p:nvPr/>
        </p:nvSpPr>
        <p:spPr>
          <a:xfrm>
            <a:off x="1692325" y="3345284"/>
            <a:ext cx="5759996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GPU Device Driver</a:t>
            </a:r>
            <a:endParaRPr lang="en-US" altLang="ko-KR" sz="1000" dirty="0"/>
          </a:p>
        </p:txBody>
      </p:sp>
      <p:sp>
        <p:nvSpPr>
          <p:cNvPr id="34" name="사각형: 둥근 모서리 114">
            <a:extLst>
              <a:ext uri="{FF2B5EF4-FFF2-40B4-BE49-F238E27FC236}">
                <a16:creationId xmlns:a16="http://schemas.microsoft.com/office/drawing/2014/main" id="{39A21027-8ED4-F030-3914-5080D110E993}"/>
              </a:ext>
            </a:extLst>
          </p:cNvPr>
          <p:cNvSpPr/>
          <p:nvPr/>
        </p:nvSpPr>
        <p:spPr>
          <a:xfrm>
            <a:off x="2141132" y="2495911"/>
            <a:ext cx="1082148" cy="396044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44" name="사각형: 둥근 모서리 114">
            <a:extLst>
              <a:ext uri="{FF2B5EF4-FFF2-40B4-BE49-F238E27FC236}">
                <a16:creationId xmlns:a16="http://schemas.microsoft.com/office/drawing/2014/main" id="{42A1B64F-D463-0A87-A490-F6DAE23A34BA}"/>
              </a:ext>
            </a:extLst>
          </p:cNvPr>
          <p:cNvSpPr/>
          <p:nvPr/>
        </p:nvSpPr>
        <p:spPr>
          <a:xfrm>
            <a:off x="3405927" y="2495911"/>
            <a:ext cx="1082148" cy="396044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/dev/nvidia1</a:t>
            </a:r>
            <a:endParaRPr lang="en-US" altLang="ko-KR" sz="1000" dirty="0"/>
          </a:p>
        </p:txBody>
      </p:sp>
      <p:sp>
        <p:nvSpPr>
          <p:cNvPr id="45" name="사각형: 둥근 모서리 114">
            <a:extLst>
              <a:ext uri="{FF2B5EF4-FFF2-40B4-BE49-F238E27FC236}">
                <a16:creationId xmlns:a16="http://schemas.microsoft.com/office/drawing/2014/main" id="{94F1A929-0CF1-5C8C-ACDD-4BD668EA5639}"/>
              </a:ext>
            </a:extLst>
          </p:cNvPr>
          <p:cNvSpPr/>
          <p:nvPr/>
        </p:nvSpPr>
        <p:spPr>
          <a:xfrm>
            <a:off x="4665905" y="2495911"/>
            <a:ext cx="1082148" cy="396044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/dev/nvidia2</a:t>
            </a:r>
            <a:endParaRPr lang="en-US" altLang="ko-KR" sz="1000" dirty="0"/>
          </a:p>
        </p:txBody>
      </p:sp>
      <p:sp>
        <p:nvSpPr>
          <p:cNvPr id="46" name="사각형: 둥근 모서리 114">
            <a:extLst>
              <a:ext uri="{FF2B5EF4-FFF2-40B4-BE49-F238E27FC236}">
                <a16:creationId xmlns:a16="http://schemas.microsoft.com/office/drawing/2014/main" id="{D85E14B9-5E77-CB01-2E13-A9E59ECEB129}"/>
              </a:ext>
            </a:extLst>
          </p:cNvPr>
          <p:cNvSpPr/>
          <p:nvPr/>
        </p:nvSpPr>
        <p:spPr>
          <a:xfrm>
            <a:off x="5925884" y="2495911"/>
            <a:ext cx="1082148" cy="396044"/>
          </a:xfrm>
          <a:prstGeom prst="roundRect">
            <a:avLst>
              <a:gd name="adj" fmla="val 13792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/dev/nvidia3</a:t>
            </a:r>
            <a:endParaRPr lang="en-US" altLang="ko-KR" sz="1000" dirty="0"/>
          </a:p>
        </p:txBody>
      </p:sp>
      <p:cxnSp>
        <p:nvCxnSpPr>
          <p:cNvPr id="52" name="직선 연결선 20">
            <a:extLst>
              <a:ext uri="{FF2B5EF4-FFF2-40B4-BE49-F238E27FC236}">
                <a16:creationId xmlns:a16="http://schemas.microsoft.com/office/drawing/2014/main" id="{8418A54C-9041-9957-2D55-30E9F6DEDEED}"/>
              </a:ext>
            </a:extLst>
          </p:cNvPr>
          <p:cNvCxnSpPr>
            <a:cxnSpLocks/>
            <a:stCxn id="44" idx="2"/>
            <a:endCxn id="15" idx="0"/>
          </p:cNvCxnSpPr>
          <p:nvPr/>
        </p:nvCxnSpPr>
        <p:spPr>
          <a:xfrm flipH="1">
            <a:off x="3944593" y="2891955"/>
            <a:ext cx="2408" cy="128142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사각형: 둥근 모서리 114">
            <a:extLst>
              <a:ext uri="{FF2B5EF4-FFF2-40B4-BE49-F238E27FC236}">
                <a16:creationId xmlns:a16="http://schemas.microsoft.com/office/drawing/2014/main" id="{9F88AE54-F7B3-6115-509D-C7BC2684476B}"/>
              </a:ext>
            </a:extLst>
          </p:cNvPr>
          <p:cNvSpPr/>
          <p:nvPr/>
        </p:nvSpPr>
        <p:spPr>
          <a:xfrm>
            <a:off x="2141132" y="2008269"/>
            <a:ext cx="4862083" cy="396044"/>
          </a:xfrm>
          <a:prstGeom prst="roundRect">
            <a:avLst>
              <a:gd name="adj" fmla="val 17067"/>
            </a:avLst>
          </a:prstGeom>
          <a:solidFill>
            <a:schemeClr val="bg2">
              <a:lumMod val="9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cxnSp>
        <p:nvCxnSpPr>
          <p:cNvPr id="117" name="직선 연결선 17">
            <a:extLst>
              <a:ext uri="{FF2B5EF4-FFF2-40B4-BE49-F238E27FC236}">
                <a16:creationId xmlns:a16="http://schemas.microsoft.com/office/drawing/2014/main" id="{8DB036BC-2665-371E-8697-DE705E04A412}"/>
              </a:ext>
            </a:extLst>
          </p:cNvPr>
          <p:cNvCxnSpPr>
            <a:cxnSpLocks/>
            <a:stCxn id="34" idx="2"/>
            <a:endCxn id="14" idx="0"/>
          </p:cNvCxnSpPr>
          <p:nvPr/>
        </p:nvCxnSpPr>
        <p:spPr>
          <a:xfrm>
            <a:off x="2682206" y="2891955"/>
            <a:ext cx="2408" cy="128142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7">
            <a:extLst>
              <a:ext uri="{FF2B5EF4-FFF2-40B4-BE49-F238E27FC236}">
                <a16:creationId xmlns:a16="http://schemas.microsoft.com/office/drawing/2014/main" id="{82B31B80-40F7-F2CC-4D61-CA46A71DCB00}"/>
              </a:ext>
            </a:extLst>
          </p:cNvPr>
          <p:cNvCxnSpPr>
            <a:cxnSpLocks/>
            <a:stCxn id="45" idx="2"/>
            <a:endCxn id="16" idx="0"/>
          </p:cNvCxnSpPr>
          <p:nvPr/>
        </p:nvCxnSpPr>
        <p:spPr>
          <a:xfrm flipH="1">
            <a:off x="5204571" y="2891955"/>
            <a:ext cx="2408" cy="128142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26">
            <a:extLst>
              <a:ext uri="{FF2B5EF4-FFF2-40B4-BE49-F238E27FC236}">
                <a16:creationId xmlns:a16="http://schemas.microsoft.com/office/drawing/2014/main" id="{A88A0D96-25BA-6294-28D4-0BE6AE8CDE7F}"/>
              </a:ext>
            </a:extLst>
          </p:cNvPr>
          <p:cNvCxnSpPr>
            <a:cxnSpLocks/>
            <a:stCxn id="46" idx="2"/>
            <a:endCxn id="17" idx="0"/>
          </p:cNvCxnSpPr>
          <p:nvPr/>
        </p:nvCxnSpPr>
        <p:spPr>
          <a:xfrm flipH="1">
            <a:off x="6464550" y="2891955"/>
            <a:ext cx="2408" cy="128142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사각형: 둥근 모서리 114">
            <a:extLst>
              <a:ext uri="{FF2B5EF4-FFF2-40B4-BE49-F238E27FC236}">
                <a16:creationId xmlns:a16="http://schemas.microsoft.com/office/drawing/2014/main" id="{71EDB53D-9A65-0610-FA05-601DE452BA72}"/>
              </a:ext>
            </a:extLst>
          </p:cNvPr>
          <p:cNvSpPr/>
          <p:nvPr/>
        </p:nvSpPr>
        <p:spPr>
          <a:xfrm>
            <a:off x="822678" y="393358"/>
            <a:ext cx="2301467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App with </a:t>
            </a:r>
          </a:p>
          <a:p>
            <a:pPr algn="ctr"/>
            <a:r>
              <a:rPr lang="en-US" altLang="ko-KR" sz="1000"/>
              <a:t>NVIDIA_VISIBLE_DEVICES Env  </a:t>
            </a:r>
            <a:endParaRPr lang="en-US" altLang="ko-KR" sz="1000" dirty="0"/>
          </a:p>
        </p:txBody>
      </p:sp>
      <p:sp>
        <p:nvSpPr>
          <p:cNvPr id="147" name="사각형: 둥근 모서리 114">
            <a:extLst>
              <a:ext uri="{FF2B5EF4-FFF2-40B4-BE49-F238E27FC236}">
                <a16:creationId xmlns:a16="http://schemas.microsoft.com/office/drawing/2014/main" id="{1756B9FA-12CF-3DD3-5BF0-B18628CBB1BD}"/>
              </a:ext>
            </a:extLst>
          </p:cNvPr>
          <p:cNvSpPr/>
          <p:nvPr/>
        </p:nvSpPr>
        <p:spPr>
          <a:xfrm>
            <a:off x="3434211" y="393358"/>
            <a:ext cx="3498894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App with </a:t>
            </a:r>
          </a:p>
          <a:p>
            <a:pPr algn="ctr"/>
            <a:r>
              <a:rPr lang="en-US" altLang="ko-KR" sz="1000"/>
              <a:t>NVIDIA_VISIBLE_DEVICES Env  </a:t>
            </a:r>
            <a:endParaRPr lang="en-US" altLang="ko-KR" sz="1000" dirty="0"/>
          </a:p>
        </p:txBody>
      </p:sp>
      <p:sp>
        <p:nvSpPr>
          <p:cNvPr id="148" name="사각형: 둥근 모서리 114">
            <a:extLst>
              <a:ext uri="{FF2B5EF4-FFF2-40B4-BE49-F238E27FC236}">
                <a16:creationId xmlns:a16="http://schemas.microsoft.com/office/drawing/2014/main" id="{211B623A-BD4D-30BF-770A-2B4C2E43AD57}"/>
              </a:ext>
            </a:extLst>
          </p:cNvPr>
          <p:cNvSpPr/>
          <p:nvPr/>
        </p:nvSpPr>
        <p:spPr>
          <a:xfrm>
            <a:off x="7244474" y="393358"/>
            <a:ext cx="1321799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App with </a:t>
            </a:r>
          </a:p>
          <a:p>
            <a:pPr algn="ctr"/>
            <a:r>
              <a:rPr lang="en-US" altLang="ko-KR" sz="1000"/>
              <a:t>NVIDIA_VISIBLE_</a:t>
            </a:r>
            <a:br>
              <a:rPr lang="en-US" altLang="ko-KR" sz="1000"/>
            </a:br>
            <a:r>
              <a:rPr lang="en-US" altLang="ko-KR" sz="1000"/>
              <a:t>DEVICES Env  </a:t>
            </a:r>
            <a:endParaRPr lang="en-US" altLang="ko-KR" sz="1000" dirty="0"/>
          </a:p>
        </p:txBody>
      </p:sp>
      <p:cxnSp>
        <p:nvCxnSpPr>
          <p:cNvPr id="150" name="직선 연결선 26">
            <a:extLst>
              <a:ext uri="{FF2B5EF4-FFF2-40B4-BE49-F238E27FC236}">
                <a16:creationId xmlns:a16="http://schemas.microsoft.com/office/drawing/2014/main" id="{0616933E-BB6C-7525-CFAB-90E8FBC41E87}"/>
              </a:ext>
            </a:extLst>
          </p:cNvPr>
          <p:cNvCxnSpPr>
            <a:cxnSpLocks/>
            <a:stCxn id="74" idx="2"/>
            <a:endCxn id="46" idx="0"/>
          </p:cNvCxnSpPr>
          <p:nvPr/>
        </p:nvCxnSpPr>
        <p:spPr>
          <a:xfrm flipH="1">
            <a:off x="6466958" y="1736031"/>
            <a:ext cx="1438417" cy="759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26">
            <a:extLst>
              <a:ext uri="{FF2B5EF4-FFF2-40B4-BE49-F238E27FC236}">
                <a16:creationId xmlns:a16="http://schemas.microsoft.com/office/drawing/2014/main" id="{DB76658E-9B68-B39A-C49B-F143F666F73D}"/>
              </a:ext>
            </a:extLst>
          </p:cNvPr>
          <p:cNvCxnSpPr>
            <a:cxnSpLocks/>
            <a:stCxn id="85" idx="2"/>
            <a:endCxn id="46" idx="0"/>
          </p:cNvCxnSpPr>
          <p:nvPr/>
        </p:nvCxnSpPr>
        <p:spPr>
          <a:xfrm>
            <a:off x="6383171" y="1736031"/>
            <a:ext cx="83787" cy="759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26">
            <a:extLst>
              <a:ext uri="{FF2B5EF4-FFF2-40B4-BE49-F238E27FC236}">
                <a16:creationId xmlns:a16="http://schemas.microsoft.com/office/drawing/2014/main" id="{1F51A8F9-1B81-CCD9-9BFA-E84B1ED7FEB8}"/>
              </a:ext>
            </a:extLst>
          </p:cNvPr>
          <p:cNvCxnSpPr>
            <a:cxnSpLocks/>
            <a:stCxn id="56" idx="2"/>
            <a:endCxn id="45" idx="0"/>
          </p:cNvCxnSpPr>
          <p:nvPr/>
        </p:nvCxnSpPr>
        <p:spPr>
          <a:xfrm>
            <a:off x="5185744" y="1736031"/>
            <a:ext cx="21235" cy="759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20">
            <a:extLst>
              <a:ext uri="{FF2B5EF4-FFF2-40B4-BE49-F238E27FC236}">
                <a16:creationId xmlns:a16="http://schemas.microsoft.com/office/drawing/2014/main" id="{54A558F7-B7CF-58D9-5FA0-8FA89E14A0EF}"/>
              </a:ext>
            </a:extLst>
          </p:cNvPr>
          <p:cNvCxnSpPr>
            <a:cxnSpLocks/>
            <a:stCxn id="55" idx="2"/>
            <a:endCxn id="34" idx="0"/>
          </p:cNvCxnSpPr>
          <p:nvPr/>
        </p:nvCxnSpPr>
        <p:spPr>
          <a:xfrm flipH="1">
            <a:off x="2682206" y="1736031"/>
            <a:ext cx="1302004" cy="759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20">
            <a:extLst>
              <a:ext uri="{FF2B5EF4-FFF2-40B4-BE49-F238E27FC236}">
                <a16:creationId xmlns:a16="http://schemas.microsoft.com/office/drawing/2014/main" id="{29A0CA9D-6107-73A4-89EC-A2CD09F6B7B2}"/>
              </a:ext>
            </a:extLst>
          </p:cNvPr>
          <p:cNvCxnSpPr>
            <a:cxnSpLocks/>
            <a:stCxn id="49" idx="2"/>
            <a:endCxn id="44" idx="0"/>
          </p:cNvCxnSpPr>
          <p:nvPr/>
        </p:nvCxnSpPr>
        <p:spPr>
          <a:xfrm>
            <a:off x="2574212" y="1741694"/>
            <a:ext cx="1372789" cy="754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7">
            <a:extLst>
              <a:ext uri="{FF2B5EF4-FFF2-40B4-BE49-F238E27FC236}">
                <a16:creationId xmlns:a16="http://schemas.microsoft.com/office/drawing/2014/main" id="{34B9E027-5E8B-7C79-21CF-58A91E9E45C4}"/>
              </a:ext>
            </a:extLst>
          </p:cNvPr>
          <p:cNvCxnSpPr>
            <a:cxnSpLocks/>
            <a:stCxn id="48" idx="2"/>
            <a:endCxn id="34" idx="0"/>
          </p:cNvCxnSpPr>
          <p:nvPr/>
        </p:nvCxnSpPr>
        <p:spPr>
          <a:xfrm>
            <a:off x="1372678" y="1741694"/>
            <a:ext cx="1309528" cy="7542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20">
            <a:extLst>
              <a:ext uri="{FF2B5EF4-FFF2-40B4-BE49-F238E27FC236}">
                <a16:creationId xmlns:a16="http://schemas.microsoft.com/office/drawing/2014/main" id="{559051FB-9F6F-2B58-3C88-90B363DF9865}"/>
              </a:ext>
            </a:extLst>
          </p:cNvPr>
          <p:cNvCxnSpPr>
            <a:cxnSpLocks/>
            <a:stCxn id="53" idx="2"/>
            <a:endCxn id="104" idx="0"/>
          </p:cNvCxnSpPr>
          <p:nvPr/>
        </p:nvCxnSpPr>
        <p:spPr>
          <a:xfrm>
            <a:off x="1973412" y="1255640"/>
            <a:ext cx="2598762" cy="7526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20">
            <a:extLst>
              <a:ext uri="{FF2B5EF4-FFF2-40B4-BE49-F238E27FC236}">
                <a16:creationId xmlns:a16="http://schemas.microsoft.com/office/drawing/2014/main" id="{332D0C97-257F-4DD4-91A4-4425E485781C}"/>
              </a:ext>
            </a:extLst>
          </p:cNvPr>
          <p:cNvCxnSpPr>
            <a:cxnSpLocks/>
            <a:stCxn id="57" idx="2"/>
            <a:endCxn id="104" idx="0"/>
          </p:cNvCxnSpPr>
          <p:nvPr/>
        </p:nvCxnSpPr>
        <p:spPr>
          <a:xfrm flipH="1">
            <a:off x="4572174" y="1249977"/>
            <a:ext cx="611484" cy="7582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20">
            <a:extLst>
              <a:ext uri="{FF2B5EF4-FFF2-40B4-BE49-F238E27FC236}">
                <a16:creationId xmlns:a16="http://schemas.microsoft.com/office/drawing/2014/main" id="{C871A11D-E254-B9FE-8B43-7349A2B4422A}"/>
              </a:ext>
            </a:extLst>
          </p:cNvPr>
          <p:cNvCxnSpPr>
            <a:cxnSpLocks/>
            <a:stCxn id="75" idx="2"/>
            <a:endCxn id="104" idx="0"/>
          </p:cNvCxnSpPr>
          <p:nvPr/>
        </p:nvCxnSpPr>
        <p:spPr>
          <a:xfrm flipH="1">
            <a:off x="4572174" y="1249977"/>
            <a:ext cx="3333200" cy="7582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31C74496-FEB5-272A-C057-992757BE3C16}"/>
              </a:ext>
            </a:extLst>
          </p:cNvPr>
          <p:cNvSpPr txBox="1"/>
          <p:nvPr/>
        </p:nvSpPr>
        <p:spPr>
          <a:xfrm>
            <a:off x="691097" y="1819727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i="1"/>
              <a:t>Bind Mount</a:t>
            </a:r>
            <a:endParaRPr kumimoji="1" lang="ko-KR" altLang="en-US" sz="1000" b="1" i="1"/>
          </a:p>
        </p:txBody>
      </p:sp>
    </p:spTree>
    <p:extLst>
      <p:ext uri="{BB962C8B-B14F-4D97-AF65-F5344CB8AC3E}">
        <p14:creationId xmlns:p14="http://schemas.microsoft.com/office/powerpoint/2010/main" val="38370756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20CD6-6009-E82A-7E91-471000AE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17">
            <a:extLst>
              <a:ext uri="{FF2B5EF4-FFF2-40B4-BE49-F238E27FC236}">
                <a16:creationId xmlns:a16="http://schemas.microsoft.com/office/drawing/2014/main" id="{35E6107C-6666-0972-E5FF-D90D07814202}"/>
              </a:ext>
            </a:extLst>
          </p:cNvPr>
          <p:cNvSpPr/>
          <p:nvPr/>
        </p:nvSpPr>
        <p:spPr>
          <a:xfrm flipH="1">
            <a:off x="1187624" y="2715766"/>
            <a:ext cx="5794527" cy="2160240"/>
          </a:xfrm>
          <a:prstGeom prst="roundRect">
            <a:avLst>
              <a:gd name="adj" fmla="val 5713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t"/>
          <a:lstStyle/>
          <a:p>
            <a:pPr algn="r"/>
            <a:r>
              <a:rPr lang="en-US" sz="1000" dirty="0">
                <a:solidFill>
                  <a:schemeClr val="tx1"/>
                </a:solidFill>
              </a:rPr>
              <a:t>NVIDIA GPU Node</a:t>
            </a:r>
            <a:endParaRPr lang="en-KR" sz="1000" dirty="0">
              <a:solidFill>
                <a:schemeClr val="tx1"/>
              </a:solidFill>
            </a:endParaRP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9F23D66B-EB3A-8168-7446-6C1F31F2FD0F}"/>
              </a:ext>
            </a:extLst>
          </p:cNvPr>
          <p:cNvGrpSpPr/>
          <p:nvPr/>
        </p:nvGrpSpPr>
        <p:grpSpPr>
          <a:xfrm flipH="1">
            <a:off x="1852107" y="4031119"/>
            <a:ext cx="1463038" cy="605106"/>
            <a:chOff x="4854687" y="4196486"/>
            <a:chExt cx="1463038" cy="702501"/>
          </a:xfrm>
          <a:solidFill>
            <a:schemeClr val="bg1"/>
          </a:solidFill>
        </p:grpSpPr>
        <p:sp>
          <p:nvSpPr>
            <p:cNvPr id="3" name="Rounded Rectangle 3">
              <a:extLst>
                <a:ext uri="{FF2B5EF4-FFF2-40B4-BE49-F238E27FC236}">
                  <a16:creationId xmlns:a16="http://schemas.microsoft.com/office/drawing/2014/main" id="{08F688CC-EB2B-AE47-C511-8985C660F20D}"/>
                </a:ext>
              </a:extLst>
            </p:cNvPr>
            <p:cNvSpPr/>
            <p:nvPr/>
          </p:nvSpPr>
          <p:spPr>
            <a:xfrm>
              <a:off x="5033212" y="4196486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4" name="Rounded Rectangle 7">
              <a:extLst>
                <a:ext uri="{FF2B5EF4-FFF2-40B4-BE49-F238E27FC236}">
                  <a16:creationId xmlns:a16="http://schemas.microsoft.com/office/drawing/2014/main" id="{FFC84433-27C6-6557-938B-4BFBFE1E4BBD}"/>
                </a:ext>
              </a:extLst>
            </p:cNvPr>
            <p:cNvSpPr/>
            <p:nvPr/>
          </p:nvSpPr>
          <p:spPr>
            <a:xfrm>
              <a:off x="4945445" y="4276371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5" name="Rounded Rectangle 16">
              <a:extLst>
                <a:ext uri="{FF2B5EF4-FFF2-40B4-BE49-F238E27FC236}">
                  <a16:creationId xmlns:a16="http://schemas.microsoft.com/office/drawing/2014/main" id="{D26B2DE9-AC23-BC7F-4F27-E45C9F4FB3D1}"/>
                </a:ext>
              </a:extLst>
            </p:cNvPr>
            <p:cNvSpPr/>
            <p:nvPr/>
          </p:nvSpPr>
          <p:spPr>
            <a:xfrm>
              <a:off x="4854687" y="4363456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</p:grp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1777EF9E-BB5F-1E41-107C-716D1836007C}"/>
              </a:ext>
            </a:extLst>
          </p:cNvPr>
          <p:cNvSpPr/>
          <p:nvPr/>
        </p:nvSpPr>
        <p:spPr>
          <a:xfrm flipH="1">
            <a:off x="1852107" y="3057559"/>
            <a:ext cx="1553796" cy="46128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1000" dirty="0">
                <a:solidFill>
                  <a:schemeClr val="tx1"/>
                </a:solidFill>
              </a:rPr>
              <a:t>NVIDIA </a:t>
            </a:r>
            <a:r>
              <a:rPr lang="en-US" sz="1000" dirty="0">
                <a:solidFill>
                  <a:schemeClr val="tx1"/>
                </a:solidFill>
              </a:rPr>
              <a:t>Device Plugin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(DaemonSet Pod)</a:t>
            </a:r>
            <a:endParaRPr lang="en-KR" sz="1000" dirty="0">
              <a:solidFill>
                <a:schemeClr val="tx1"/>
              </a:solidFill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6D841D6-BA5D-C348-CA73-AE7DAD8FB819}"/>
              </a:ext>
            </a:extLst>
          </p:cNvPr>
          <p:cNvSpPr/>
          <p:nvPr/>
        </p:nvSpPr>
        <p:spPr>
          <a:xfrm flipH="1">
            <a:off x="4914198" y="3057559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kubelet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974B029-5619-3A89-AB64-AF9654FF9EB2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629005" y="3518844"/>
            <a:ext cx="134641" cy="733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2028E12-FF34-1B5A-9AD3-C3CE0C63D4BC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2629005" y="3518844"/>
            <a:ext cx="43883" cy="6560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AA3E9E0-B1B7-3E13-95BA-AF8F93FFB123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flipH="1">
            <a:off x="2582130" y="3518844"/>
            <a:ext cx="46875" cy="5810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B45D7A7-FCEA-A389-C74A-98743E5B18E3}"/>
              </a:ext>
            </a:extLst>
          </p:cNvPr>
          <p:cNvCxnSpPr>
            <a:cxnSpLocks/>
            <a:stCxn id="7" idx="2"/>
            <a:endCxn id="3" idx="0"/>
          </p:cNvCxnSpPr>
          <p:nvPr/>
        </p:nvCxnSpPr>
        <p:spPr>
          <a:xfrm flipH="1">
            <a:off x="2494363" y="3518844"/>
            <a:ext cx="134642" cy="5122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53EFA1A-18C9-F33A-E1EA-6634D2D12010}"/>
              </a:ext>
            </a:extLst>
          </p:cNvPr>
          <p:cNvCxnSpPr>
            <a:cxnSpLocks/>
          </p:cNvCxnSpPr>
          <p:nvPr/>
        </p:nvCxnSpPr>
        <p:spPr>
          <a:xfrm>
            <a:off x="3405903" y="3180670"/>
            <a:ext cx="15082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BEB6F63-24C9-7360-1099-5D4955E70DD8}"/>
              </a:ext>
            </a:extLst>
          </p:cNvPr>
          <p:cNvSpPr txBox="1"/>
          <p:nvPr/>
        </p:nvSpPr>
        <p:spPr>
          <a:xfrm flipH="1">
            <a:off x="1243607" y="3612567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i="1"/>
              <a:t>2. Scan &amp; </a:t>
            </a:r>
            <a:br>
              <a:rPr kumimoji="1" lang="en-US" altLang="ko-KR" sz="1000" i="1"/>
            </a:br>
            <a:r>
              <a:rPr kumimoji="1" lang="en-US" altLang="ko-KR" sz="1000" i="1"/>
              <a:t>health check GPU</a:t>
            </a:r>
            <a:endParaRPr kumimoji="1" lang="ko-KR" altLang="en-US" sz="1000" i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EC94CB-0D6E-E00F-B741-8F515265C1CE}"/>
              </a:ext>
            </a:extLst>
          </p:cNvPr>
          <p:cNvSpPr txBox="1"/>
          <p:nvPr/>
        </p:nvSpPr>
        <p:spPr>
          <a:xfrm flipH="1">
            <a:off x="1971113" y="2811338"/>
            <a:ext cx="1359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i="1"/>
              <a:t>1. Start gRPC Server</a:t>
            </a:r>
            <a:endParaRPr kumimoji="1" lang="ko-KR" altLang="en-US" sz="1000" i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399DA1-5E2B-73C1-1525-48F4E9A832C4}"/>
              </a:ext>
            </a:extLst>
          </p:cNvPr>
          <p:cNvSpPr txBox="1"/>
          <p:nvPr/>
        </p:nvSpPr>
        <p:spPr>
          <a:xfrm flipH="1">
            <a:off x="3582809" y="2934448"/>
            <a:ext cx="11544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i="1"/>
              <a:t>3. Register GPUs</a:t>
            </a:r>
            <a:endParaRPr kumimoji="1" lang="ko-KR" altLang="en-US" sz="1000" i="1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D56ADF5-3BFA-14B7-55BD-74FF5B29B8C2}"/>
              </a:ext>
            </a:extLst>
          </p:cNvPr>
          <p:cNvCxnSpPr>
            <a:cxnSpLocks/>
          </p:cNvCxnSpPr>
          <p:nvPr/>
        </p:nvCxnSpPr>
        <p:spPr>
          <a:xfrm>
            <a:off x="3405903" y="3363838"/>
            <a:ext cx="150829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B95B5F3-47A4-6A3F-453D-9DCDB0C930BC}"/>
              </a:ext>
            </a:extLst>
          </p:cNvPr>
          <p:cNvSpPr txBox="1"/>
          <p:nvPr/>
        </p:nvSpPr>
        <p:spPr>
          <a:xfrm flipH="1">
            <a:off x="3149532" y="3366346"/>
            <a:ext cx="20313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i="1"/>
              <a:t>4. Call ListAndWatch()</a:t>
            </a:r>
          </a:p>
          <a:p>
            <a:pPr algn="ctr"/>
            <a:r>
              <a:rPr kumimoji="1" lang="en-US" altLang="ko-KR" sz="1000" i="1"/>
              <a:t>via gRPC</a:t>
            </a:r>
            <a:br>
              <a:rPr kumimoji="1" lang="en-US" altLang="ko-KR" sz="1000" i="1"/>
            </a:br>
            <a:r>
              <a:rPr kumimoji="1" lang="en-US" altLang="ko-KR" sz="1000" i="1"/>
              <a:t>(/var/lib/kubelet/</a:t>
            </a:r>
            <a:br>
              <a:rPr kumimoji="1" lang="en-US" altLang="ko-KR" sz="1000" i="1"/>
            </a:br>
            <a:r>
              <a:rPr kumimoji="1" lang="en-US" altLang="ko-KR" sz="1000" i="1"/>
              <a:t>device-plugins/nvidia-gpu.sock)</a:t>
            </a:r>
            <a:endParaRPr kumimoji="1" lang="ko-KR" altLang="en-US" sz="1000" i="1"/>
          </a:p>
        </p:txBody>
      </p:sp>
      <p:sp>
        <p:nvSpPr>
          <p:cNvPr id="43" name="Rounded Rectangle 17">
            <a:extLst>
              <a:ext uri="{FF2B5EF4-FFF2-40B4-BE49-F238E27FC236}">
                <a16:creationId xmlns:a16="http://schemas.microsoft.com/office/drawing/2014/main" id="{E96CBF2A-CB71-F8A9-8B42-73DE7BA2F764}"/>
              </a:ext>
            </a:extLst>
          </p:cNvPr>
          <p:cNvSpPr/>
          <p:nvPr/>
        </p:nvSpPr>
        <p:spPr>
          <a:xfrm flipH="1">
            <a:off x="4914198" y="137541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K8s API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Server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5E0BCBB3-13D2-4983-AE4A-34D5A7964A15}"/>
              </a:ext>
            </a:extLst>
          </p:cNvPr>
          <p:cNvCxnSpPr>
            <a:cxnSpLocks/>
          </p:cNvCxnSpPr>
          <p:nvPr/>
        </p:nvCxnSpPr>
        <p:spPr>
          <a:xfrm flipV="1">
            <a:off x="5320320" y="598826"/>
            <a:ext cx="0" cy="24587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50D6EE3-014F-F858-8F90-7B3019D17C45}"/>
              </a:ext>
            </a:extLst>
          </p:cNvPr>
          <p:cNvSpPr txBox="1"/>
          <p:nvPr/>
        </p:nvSpPr>
        <p:spPr>
          <a:xfrm flipH="1">
            <a:off x="4042026" y="1266269"/>
            <a:ext cx="1278293" cy="121571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kern="0" dirty="0" err="1">
                <a:cs typeface="Al Bayan Plain" pitchFamily="2" charset="-78"/>
              </a:rPr>
              <a:t> </a:t>
            </a:r>
            <a:r>
              <a:rPr lang="en-US" sz="900" kern="0" dirty="0" err="1">
                <a:cs typeface="Al Bayan Plain" pitchFamily="2" charset="-78"/>
              </a:rPr>
              <a:t>apiVersion</a:t>
            </a:r>
            <a:r>
              <a:rPr lang="en-US" sz="9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kind: Node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…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status: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allocatable:</a:t>
            </a:r>
          </a:p>
          <a:p>
            <a:pPr algn="l"/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     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"4"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capacity:</a:t>
            </a:r>
          </a:p>
          <a:p>
            <a:pPr algn="l"/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     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"4"</a:t>
            </a:r>
          </a:p>
        </p:txBody>
      </p:sp>
      <p:sp>
        <p:nvSpPr>
          <p:cNvPr id="55" name="사각형: 둥근 모서리 71">
            <a:extLst>
              <a:ext uri="{FF2B5EF4-FFF2-40B4-BE49-F238E27FC236}">
                <a16:creationId xmlns:a16="http://schemas.microsoft.com/office/drawing/2014/main" id="{8C90BAED-B5FF-A139-2C73-8F4C70BD620B}"/>
              </a:ext>
            </a:extLst>
          </p:cNvPr>
          <p:cNvSpPr/>
          <p:nvPr/>
        </p:nvSpPr>
        <p:spPr>
          <a:xfrm flipH="1">
            <a:off x="3719564" y="802308"/>
            <a:ext cx="1741239" cy="460362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5. Patch node’s allocatable and capacity</a:t>
            </a:r>
          </a:p>
          <a:p>
            <a:pPr algn="ctr"/>
            <a:r>
              <a:rPr lang="en-US" altLang="ko-KR" sz="1000" i="1"/>
              <a:t>with GPU </a:t>
            </a:r>
            <a:endParaRPr lang="ko-KR" altLang="en-US" sz="1000" i="1"/>
          </a:p>
        </p:txBody>
      </p:sp>
      <p:sp>
        <p:nvSpPr>
          <p:cNvPr id="60" name="Rounded Rectangle 17">
            <a:extLst>
              <a:ext uri="{FF2B5EF4-FFF2-40B4-BE49-F238E27FC236}">
                <a16:creationId xmlns:a16="http://schemas.microsoft.com/office/drawing/2014/main" id="{50CF8128-8C73-A964-4036-0B5629268E0A}"/>
              </a:ext>
            </a:extLst>
          </p:cNvPr>
          <p:cNvSpPr/>
          <p:nvPr/>
        </p:nvSpPr>
        <p:spPr>
          <a:xfrm flipH="1">
            <a:off x="1187625" y="137541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Kubernetes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Client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FB15C87-80DC-4DC6-D0D9-2ECC497D9AED}"/>
              </a:ext>
            </a:extLst>
          </p:cNvPr>
          <p:cNvCxnSpPr>
            <a:cxnSpLocks/>
            <a:stCxn id="60" idx="1"/>
            <a:endCxn id="43" idx="3"/>
          </p:cNvCxnSpPr>
          <p:nvPr/>
        </p:nvCxnSpPr>
        <p:spPr>
          <a:xfrm>
            <a:off x="2195737" y="368184"/>
            <a:ext cx="271846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A61FB47-C8FA-3347-3DA4-2C4CF0A2C50C}"/>
              </a:ext>
            </a:extLst>
          </p:cNvPr>
          <p:cNvSpPr txBox="1"/>
          <p:nvPr/>
        </p:nvSpPr>
        <p:spPr>
          <a:xfrm>
            <a:off x="2304962" y="367545"/>
            <a:ext cx="1512536" cy="176971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kern="0" dirty="0" err="1">
                <a:cs typeface="Al Bayan Plain" pitchFamily="2" charset="-78"/>
              </a:rPr>
              <a:t> </a:t>
            </a:r>
            <a:r>
              <a:rPr lang="en-US" sz="900" kern="0" dirty="0" err="1">
                <a:cs typeface="Al Bayan Plain" pitchFamily="2" charset="-78"/>
              </a:rPr>
              <a:t>apiVersion</a:t>
            </a:r>
            <a:r>
              <a:rPr lang="en-US" sz="9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name: pod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- name: gpu-app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  <p:sp>
        <p:nvSpPr>
          <p:cNvPr id="70" name="사각형: 둥근 모서리 71">
            <a:extLst>
              <a:ext uri="{FF2B5EF4-FFF2-40B4-BE49-F238E27FC236}">
                <a16:creationId xmlns:a16="http://schemas.microsoft.com/office/drawing/2014/main" id="{B50F750A-74C5-648D-852B-8252E20C1A2A}"/>
              </a:ext>
            </a:extLst>
          </p:cNvPr>
          <p:cNvSpPr/>
          <p:nvPr/>
        </p:nvSpPr>
        <p:spPr>
          <a:xfrm flipH="1">
            <a:off x="2190150" y="2138514"/>
            <a:ext cx="1741239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6. Create pod with GPU </a:t>
            </a:r>
            <a:endParaRPr lang="ko-KR" altLang="en-US" sz="1000" i="1"/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76AEEAE4-DAE1-EE6E-D39B-BD5C04CEF433}"/>
              </a:ext>
            </a:extLst>
          </p:cNvPr>
          <p:cNvCxnSpPr>
            <a:cxnSpLocks/>
          </p:cNvCxnSpPr>
          <p:nvPr/>
        </p:nvCxnSpPr>
        <p:spPr>
          <a:xfrm flipV="1">
            <a:off x="5580113" y="598826"/>
            <a:ext cx="0" cy="24587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7">
            <a:extLst>
              <a:ext uri="{FF2B5EF4-FFF2-40B4-BE49-F238E27FC236}">
                <a16:creationId xmlns:a16="http://schemas.microsoft.com/office/drawing/2014/main" id="{CF071117-4A19-B531-F031-5DF5FD8DE901}"/>
              </a:ext>
            </a:extLst>
          </p:cNvPr>
          <p:cNvSpPr/>
          <p:nvPr/>
        </p:nvSpPr>
        <p:spPr>
          <a:xfrm flipH="1">
            <a:off x="6903737" y="137541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K8s Scheduler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45DE1988-EC20-3F52-1BA3-A7BBCDC5BFF7}"/>
              </a:ext>
            </a:extLst>
          </p:cNvPr>
          <p:cNvCxnSpPr>
            <a:cxnSpLocks/>
            <a:stCxn id="77" idx="3"/>
            <a:endCxn id="43" idx="1"/>
          </p:cNvCxnSpPr>
          <p:nvPr/>
        </p:nvCxnSpPr>
        <p:spPr>
          <a:xfrm flipH="1">
            <a:off x="5922310" y="368184"/>
            <a:ext cx="98142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사각형: 둥근 모서리 71">
            <a:extLst>
              <a:ext uri="{FF2B5EF4-FFF2-40B4-BE49-F238E27FC236}">
                <a16:creationId xmlns:a16="http://schemas.microsoft.com/office/drawing/2014/main" id="{004DAD37-AB22-6BAA-F48E-D214DF762187}"/>
              </a:ext>
            </a:extLst>
          </p:cNvPr>
          <p:cNvSpPr/>
          <p:nvPr/>
        </p:nvSpPr>
        <p:spPr>
          <a:xfrm flipH="1">
            <a:off x="5843894" y="482830"/>
            <a:ext cx="1138257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7. Get created pod info and </a:t>
            </a:r>
          </a:p>
          <a:p>
            <a:pPr algn="ctr"/>
            <a:r>
              <a:rPr lang="en-US" altLang="ko-KR" sz="1000" i="1"/>
              <a:t>scheduling</a:t>
            </a:r>
            <a:endParaRPr lang="ko-KR" altLang="en-US" sz="1000" i="1"/>
          </a:p>
        </p:txBody>
      </p:sp>
      <p:sp>
        <p:nvSpPr>
          <p:cNvPr id="88" name="사각형: 둥근 모서리 71">
            <a:extLst>
              <a:ext uri="{FF2B5EF4-FFF2-40B4-BE49-F238E27FC236}">
                <a16:creationId xmlns:a16="http://schemas.microsoft.com/office/drawing/2014/main" id="{F2E53FFA-AF47-1AB5-5DDF-02717D70690B}"/>
              </a:ext>
            </a:extLst>
          </p:cNvPr>
          <p:cNvSpPr/>
          <p:nvPr/>
        </p:nvSpPr>
        <p:spPr>
          <a:xfrm flipH="1">
            <a:off x="5333707" y="1599298"/>
            <a:ext cx="1928787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8. Get scheduled pod</a:t>
            </a:r>
            <a:endParaRPr lang="ko-KR" altLang="en-US" sz="1000" i="1"/>
          </a:p>
        </p:txBody>
      </p:sp>
      <p:sp>
        <p:nvSpPr>
          <p:cNvPr id="92" name="Rounded Rectangle 17">
            <a:extLst>
              <a:ext uri="{FF2B5EF4-FFF2-40B4-BE49-F238E27FC236}">
                <a16:creationId xmlns:a16="http://schemas.microsoft.com/office/drawing/2014/main" id="{CAE9ED80-4A2D-0E48-3AF0-5DB1CC1B4DB7}"/>
              </a:ext>
            </a:extLst>
          </p:cNvPr>
          <p:cNvSpPr/>
          <p:nvPr/>
        </p:nvSpPr>
        <p:spPr>
          <a:xfrm flipH="1">
            <a:off x="4914198" y="4185332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Pod with GPU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16005FA6-5F1C-D697-BC99-AA7962D591F9}"/>
              </a:ext>
            </a:extLst>
          </p:cNvPr>
          <p:cNvCxnSpPr>
            <a:cxnSpLocks/>
            <a:stCxn id="8" idx="2"/>
            <a:endCxn id="92" idx="0"/>
          </p:cNvCxnSpPr>
          <p:nvPr/>
        </p:nvCxnSpPr>
        <p:spPr>
          <a:xfrm>
            <a:off x="5418254" y="3518844"/>
            <a:ext cx="0" cy="6664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사각형: 둥근 모서리 71">
            <a:extLst>
              <a:ext uri="{FF2B5EF4-FFF2-40B4-BE49-F238E27FC236}">
                <a16:creationId xmlns:a16="http://schemas.microsoft.com/office/drawing/2014/main" id="{FB610359-4984-003E-38D7-636A9D226D83}"/>
              </a:ext>
            </a:extLst>
          </p:cNvPr>
          <p:cNvSpPr/>
          <p:nvPr/>
        </p:nvSpPr>
        <p:spPr>
          <a:xfrm flipH="1">
            <a:off x="5208915" y="3678156"/>
            <a:ext cx="1928787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9. Create pod with GPU</a:t>
            </a:r>
            <a:endParaRPr lang="ko-KR" altLang="en-US" sz="1000" i="1"/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8DC6F8BE-6056-4B18-E8B2-1F4F5A4759D1}"/>
              </a:ext>
            </a:extLst>
          </p:cNvPr>
          <p:cNvCxnSpPr>
            <a:cxnSpLocks/>
            <a:stCxn id="92" idx="3"/>
          </p:cNvCxnSpPr>
          <p:nvPr/>
        </p:nvCxnSpPr>
        <p:spPr>
          <a:xfrm flipH="1">
            <a:off x="3405903" y="4415975"/>
            <a:ext cx="1508295" cy="6712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A2DD4267-70E5-ED9A-123F-ED3FE1B75DB8}"/>
              </a:ext>
            </a:extLst>
          </p:cNvPr>
          <p:cNvCxnSpPr>
            <a:cxnSpLocks/>
            <a:stCxn id="92" idx="3"/>
          </p:cNvCxnSpPr>
          <p:nvPr/>
        </p:nvCxnSpPr>
        <p:spPr>
          <a:xfrm flipH="1" flipV="1">
            <a:off x="3312154" y="4405582"/>
            <a:ext cx="1602044" cy="1039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7">
            <a:extLst>
              <a:ext uri="{FF2B5EF4-FFF2-40B4-BE49-F238E27FC236}">
                <a16:creationId xmlns:a16="http://schemas.microsoft.com/office/drawing/2014/main" id="{986D7BF0-0782-2260-05D8-8645AFE288D3}"/>
              </a:ext>
            </a:extLst>
          </p:cNvPr>
          <p:cNvSpPr/>
          <p:nvPr/>
        </p:nvSpPr>
        <p:spPr>
          <a:xfrm flipH="1">
            <a:off x="2121390" y="4252458"/>
            <a:ext cx="1284513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1000" dirty="0">
                <a:solidFill>
                  <a:schemeClr val="tx1"/>
                </a:solidFill>
              </a:rPr>
              <a:t>NVIDIA GPUs</a:t>
            </a:r>
          </a:p>
        </p:txBody>
      </p:sp>
    </p:spTree>
    <p:extLst>
      <p:ext uri="{BB962C8B-B14F-4D97-AF65-F5344CB8AC3E}">
        <p14:creationId xmlns:p14="http://schemas.microsoft.com/office/powerpoint/2010/main" val="14980427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2F791-B7D2-6E11-3F70-CAEEEDD30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17">
            <a:extLst>
              <a:ext uri="{FF2B5EF4-FFF2-40B4-BE49-F238E27FC236}">
                <a16:creationId xmlns:a16="http://schemas.microsoft.com/office/drawing/2014/main" id="{10F2B23F-9AEF-2C88-E9B9-9945188B25B3}"/>
              </a:ext>
            </a:extLst>
          </p:cNvPr>
          <p:cNvSpPr/>
          <p:nvPr/>
        </p:nvSpPr>
        <p:spPr>
          <a:xfrm flipH="1">
            <a:off x="1187624" y="2845719"/>
            <a:ext cx="4857803" cy="2160240"/>
          </a:xfrm>
          <a:prstGeom prst="roundRect">
            <a:avLst>
              <a:gd name="adj" fmla="val 5713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b"/>
          <a:lstStyle/>
          <a:p>
            <a:pPr algn="r"/>
            <a:r>
              <a:rPr lang="en-US" sz="1000" dirty="0">
                <a:solidFill>
                  <a:schemeClr val="tx1"/>
                </a:solidFill>
              </a:rPr>
              <a:t>NVIDIA GPU Node</a:t>
            </a:r>
            <a:endParaRPr lang="en-KR" sz="1000" dirty="0">
              <a:solidFill>
                <a:schemeClr val="tx1"/>
              </a:solidFill>
            </a:endParaRP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85B6B43C-0D2B-C04E-2303-E8F2540CF601}"/>
              </a:ext>
            </a:extLst>
          </p:cNvPr>
          <p:cNvGrpSpPr/>
          <p:nvPr/>
        </p:nvGrpSpPr>
        <p:grpSpPr>
          <a:xfrm flipH="1">
            <a:off x="1852106" y="4161072"/>
            <a:ext cx="1553796" cy="682624"/>
            <a:chOff x="4763929" y="4196486"/>
            <a:chExt cx="1553796" cy="792496"/>
          </a:xfrm>
          <a:solidFill>
            <a:schemeClr val="bg1"/>
          </a:solidFill>
        </p:grpSpPr>
        <p:sp>
          <p:nvSpPr>
            <p:cNvPr id="3" name="Rounded Rectangle 3">
              <a:extLst>
                <a:ext uri="{FF2B5EF4-FFF2-40B4-BE49-F238E27FC236}">
                  <a16:creationId xmlns:a16="http://schemas.microsoft.com/office/drawing/2014/main" id="{27BC3A99-D86C-7B81-95A6-0E6E0832948B}"/>
                </a:ext>
              </a:extLst>
            </p:cNvPr>
            <p:cNvSpPr/>
            <p:nvPr/>
          </p:nvSpPr>
          <p:spPr>
            <a:xfrm>
              <a:off x="5033212" y="4196486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4" name="Rounded Rectangle 7">
              <a:extLst>
                <a:ext uri="{FF2B5EF4-FFF2-40B4-BE49-F238E27FC236}">
                  <a16:creationId xmlns:a16="http://schemas.microsoft.com/office/drawing/2014/main" id="{AC71AA69-81B7-EAF1-B2D7-B03FF50AE636}"/>
                </a:ext>
              </a:extLst>
            </p:cNvPr>
            <p:cNvSpPr/>
            <p:nvPr/>
          </p:nvSpPr>
          <p:spPr>
            <a:xfrm>
              <a:off x="4945445" y="4276371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5" name="Rounded Rectangle 16">
              <a:extLst>
                <a:ext uri="{FF2B5EF4-FFF2-40B4-BE49-F238E27FC236}">
                  <a16:creationId xmlns:a16="http://schemas.microsoft.com/office/drawing/2014/main" id="{F795EF5C-EBD4-49B6-125C-E55CF988F689}"/>
                </a:ext>
              </a:extLst>
            </p:cNvPr>
            <p:cNvSpPr/>
            <p:nvPr/>
          </p:nvSpPr>
          <p:spPr>
            <a:xfrm>
              <a:off x="4854687" y="4363456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400" dirty="0">
                  <a:solidFill>
                    <a:schemeClr val="tx1"/>
                  </a:solidFill>
                </a:rPr>
                <a:t>NVIDA GPU</a:t>
              </a:r>
            </a:p>
          </p:txBody>
        </p:sp>
        <p:sp>
          <p:nvSpPr>
            <p:cNvPr id="6" name="Rounded Rectangle 17">
              <a:extLst>
                <a:ext uri="{FF2B5EF4-FFF2-40B4-BE49-F238E27FC236}">
                  <a16:creationId xmlns:a16="http://schemas.microsoft.com/office/drawing/2014/main" id="{70B81519-226B-C572-B436-93D80EDAC78E}"/>
                </a:ext>
              </a:extLst>
            </p:cNvPr>
            <p:cNvSpPr/>
            <p:nvPr/>
          </p:nvSpPr>
          <p:spPr>
            <a:xfrm>
              <a:off x="4763929" y="4453451"/>
              <a:ext cx="1284513" cy="535531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1000" dirty="0">
                  <a:solidFill>
                    <a:schemeClr val="tx1"/>
                  </a:solidFill>
                </a:rPr>
                <a:t>NVIDIA GPUs</a:t>
              </a:r>
            </a:p>
          </p:txBody>
        </p:sp>
      </p:grp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E993DECE-74A3-6960-C89D-37242CC8FD72}"/>
              </a:ext>
            </a:extLst>
          </p:cNvPr>
          <p:cNvSpPr/>
          <p:nvPr/>
        </p:nvSpPr>
        <p:spPr>
          <a:xfrm flipH="1">
            <a:off x="1852106" y="3187512"/>
            <a:ext cx="1553796" cy="46128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sz="1000" dirty="0">
                <a:solidFill>
                  <a:schemeClr val="tx1"/>
                </a:solidFill>
              </a:rPr>
              <a:t>NVIDIA </a:t>
            </a:r>
            <a:r>
              <a:rPr lang="en-US" sz="1000" dirty="0">
                <a:solidFill>
                  <a:schemeClr val="tx1"/>
                </a:solidFill>
              </a:rPr>
              <a:t>Device Plugin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(DaemonSet Pod)</a:t>
            </a:r>
            <a:endParaRPr lang="en-KR" sz="1000" dirty="0">
              <a:solidFill>
                <a:schemeClr val="tx1"/>
              </a:solidFill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CB1A56F0-E0B0-94B0-890B-059040F76C2B}"/>
              </a:ext>
            </a:extLst>
          </p:cNvPr>
          <p:cNvSpPr/>
          <p:nvPr/>
        </p:nvSpPr>
        <p:spPr>
          <a:xfrm flipH="1">
            <a:off x="4914197" y="3187512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kubelet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5F9DACD-E278-43DB-E041-49E5110C80E5}"/>
              </a:ext>
            </a:extLst>
          </p:cNvPr>
          <p:cNvCxnSpPr>
            <a:stCxn id="7" idx="2"/>
            <a:endCxn id="6" idx="0"/>
          </p:cNvCxnSpPr>
          <p:nvPr/>
        </p:nvCxnSpPr>
        <p:spPr>
          <a:xfrm>
            <a:off x="2629004" y="3648797"/>
            <a:ext cx="134641" cy="7336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61AADB4-2E6F-E74E-769A-217109A93683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2629004" y="3648797"/>
            <a:ext cx="43883" cy="6560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21AA32C-FF57-2BA2-742B-38D0344F0F47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flipH="1">
            <a:off x="2582129" y="3648797"/>
            <a:ext cx="46875" cy="5810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C8E81CF-AE3B-FF1C-F3E0-B6FD9B99AD73}"/>
              </a:ext>
            </a:extLst>
          </p:cNvPr>
          <p:cNvCxnSpPr>
            <a:cxnSpLocks/>
            <a:stCxn id="7" idx="2"/>
            <a:endCxn id="3" idx="0"/>
          </p:cNvCxnSpPr>
          <p:nvPr/>
        </p:nvCxnSpPr>
        <p:spPr>
          <a:xfrm flipH="1">
            <a:off x="2494362" y="3648797"/>
            <a:ext cx="134642" cy="5122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F20EECB-6672-E419-CF83-32CA132732BD}"/>
              </a:ext>
            </a:extLst>
          </p:cNvPr>
          <p:cNvCxnSpPr>
            <a:cxnSpLocks/>
          </p:cNvCxnSpPr>
          <p:nvPr/>
        </p:nvCxnSpPr>
        <p:spPr>
          <a:xfrm>
            <a:off x="3405902" y="3310623"/>
            <a:ext cx="15082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3BD2527-7D7B-8BD8-F8B6-EEC33DEE45AB}"/>
              </a:ext>
            </a:extLst>
          </p:cNvPr>
          <p:cNvSpPr txBox="1"/>
          <p:nvPr/>
        </p:nvSpPr>
        <p:spPr>
          <a:xfrm flipH="1">
            <a:off x="1243606" y="3742520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i="1"/>
              <a:t>2. Scan &amp; </a:t>
            </a:r>
            <a:br>
              <a:rPr kumimoji="1" lang="en-US" altLang="ko-KR" sz="1000" i="1"/>
            </a:br>
            <a:r>
              <a:rPr kumimoji="1" lang="en-US" altLang="ko-KR" sz="1000" i="1"/>
              <a:t>health check GPU</a:t>
            </a:r>
            <a:endParaRPr kumimoji="1" lang="ko-KR" altLang="en-US" sz="1000" i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02EF75-92EA-9B9C-3222-70ED568B484C}"/>
              </a:ext>
            </a:extLst>
          </p:cNvPr>
          <p:cNvSpPr txBox="1"/>
          <p:nvPr/>
        </p:nvSpPr>
        <p:spPr>
          <a:xfrm flipH="1">
            <a:off x="1971112" y="2941291"/>
            <a:ext cx="1359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i="1"/>
              <a:t>1. Start gRPC Server</a:t>
            </a:r>
            <a:endParaRPr kumimoji="1" lang="ko-KR" altLang="en-US" sz="1000" i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2B8C4A-728C-A5B7-F884-F22D81C534AE}"/>
              </a:ext>
            </a:extLst>
          </p:cNvPr>
          <p:cNvSpPr txBox="1"/>
          <p:nvPr/>
        </p:nvSpPr>
        <p:spPr>
          <a:xfrm flipH="1">
            <a:off x="3582808" y="3064401"/>
            <a:ext cx="11544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i="1"/>
              <a:t>3. Register GPUs</a:t>
            </a:r>
            <a:endParaRPr kumimoji="1" lang="ko-KR" altLang="en-US" sz="1000" i="1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BA4B641C-6DFC-AFC4-E0C6-B1AB1AABB76A}"/>
              </a:ext>
            </a:extLst>
          </p:cNvPr>
          <p:cNvCxnSpPr>
            <a:cxnSpLocks/>
          </p:cNvCxnSpPr>
          <p:nvPr/>
        </p:nvCxnSpPr>
        <p:spPr>
          <a:xfrm>
            <a:off x="3405902" y="3493791"/>
            <a:ext cx="150829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4B555DE-5AB9-3CF5-44A6-7F90CDDDB744}"/>
              </a:ext>
            </a:extLst>
          </p:cNvPr>
          <p:cNvSpPr txBox="1"/>
          <p:nvPr/>
        </p:nvSpPr>
        <p:spPr>
          <a:xfrm flipH="1">
            <a:off x="3149531" y="3496299"/>
            <a:ext cx="20313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i="1"/>
              <a:t>4. Call ListAndWatch()</a:t>
            </a:r>
          </a:p>
          <a:p>
            <a:pPr algn="ctr"/>
            <a:r>
              <a:rPr kumimoji="1" lang="en-US" altLang="ko-KR" sz="1000" i="1"/>
              <a:t>via gRPC</a:t>
            </a:r>
            <a:br>
              <a:rPr kumimoji="1" lang="en-US" altLang="ko-KR" sz="1000" i="1"/>
            </a:br>
            <a:r>
              <a:rPr kumimoji="1" lang="en-US" altLang="ko-KR" sz="1000" i="1"/>
              <a:t>(/var/lib/kubelet/</a:t>
            </a:r>
            <a:br>
              <a:rPr kumimoji="1" lang="en-US" altLang="ko-KR" sz="1000" i="1"/>
            </a:br>
            <a:r>
              <a:rPr kumimoji="1" lang="en-US" altLang="ko-KR" sz="1000" i="1"/>
              <a:t>device-plugins/nvidia-gpu.sock)</a:t>
            </a:r>
            <a:endParaRPr kumimoji="1" lang="ko-KR" altLang="en-US" sz="1000" i="1"/>
          </a:p>
        </p:txBody>
      </p:sp>
      <p:sp>
        <p:nvSpPr>
          <p:cNvPr id="43" name="Rounded Rectangle 17">
            <a:extLst>
              <a:ext uri="{FF2B5EF4-FFF2-40B4-BE49-F238E27FC236}">
                <a16:creationId xmlns:a16="http://schemas.microsoft.com/office/drawing/2014/main" id="{34C1E1E8-C14F-2CD9-24D1-DB777E3F5DCE}"/>
              </a:ext>
            </a:extLst>
          </p:cNvPr>
          <p:cNvSpPr/>
          <p:nvPr/>
        </p:nvSpPr>
        <p:spPr>
          <a:xfrm flipH="1">
            <a:off x="4914197" y="267494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K8s API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Server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C0D54F16-75F9-3D87-1966-DA926CF208B4}"/>
              </a:ext>
            </a:extLst>
          </p:cNvPr>
          <p:cNvCxnSpPr>
            <a:cxnSpLocks/>
            <a:stCxn id="8" idx="0"/>
            <a:endCxn id="43" idx="2"/>
          </p:cNvCxnSpPr>
          <p:nvPr/>
        </p:nvCxnSpPr>
        <p:spPr>
          <a:xfrm flipV="1">
            <a:off x="5418253" y="728779"/>
            <a:ext cx="0" cy="24587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AE4B9E8-974C-42F7-AECA-8C9CB3CE9D3A}"/>
              </a:ext>
            </a:extLst>
          </p:cNvPr>
          <p:cNvSpPr txBox="1"/>
          <p:nvPr/>
        </p:nvSpPr>
        <p:spPr>
          <a:xfrm flipH="1">
            <a:off x="4139959" y="1396222"/>
            <a:ext cx="1278293" cy="121571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kern="0" dirty="0" err="1">
                <a:cs typeface="Al Bayan Plain" pitchFamily="2" charset="-78"/>
              </a:rPr>
              <a:t> </a:t>
            </a:r>
            <a:r>
              <a:rPr lang="en-US" sz="900" kern="0" dirty="0" err="1">
                <a:cs typeface="Al Bayan Plain" pitchFamily="2" charset="-78"/>
              </a:rPr>
              <a:t>apiVersion</a:t>
            </a:r>
            <a:r>
              <a:rPr lang="en-US" sz="9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kind: Node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…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status: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allocatable:</a:t>
            </a:r>
          </a:p>
          <a:p>
            <a:pPr algn="l"/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     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"4"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capacity:</a:t>
            </a:r>
          </a:p>
          <a:p>
            <a:pPr algn="l"/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     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"4"</a:t>
            </a:r>
          </a:p>
        </p:txBody>
      </p:sp>
      <p:sp>
        <p:nvSpPr>
          <p:cNvPr id="55" name="사각형: 둥근 모서리 71">
            <a:extLst>
              <a:ext uri="{FF2B5EF4-FFF2-40B4-BE49-F238E27FC236}">
                <a16:creationId xmlns:a16="http://schemas.microsoft.com/office/drawing/2014/main" id="{0D0D2218-FF1E-6FF2-C87F-1F429C114352}"/>
              </a:ext>
            </a:extLst>
          </p:cNvPr>
          <p:cNvSpPr/>
          <p:nvPr/>
        </p:nvSpPr>
        <p:spPr>
          <a:xfrm flipH="1">
            <a:off x="3817497" y="932261"/>
            <a:ext cx="1741239" cy="460362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5. Patch node’s allocatable and capacity</a:t>
            </a:r>
          </a:p>
          <a:p>
            <a:pPr algn="ctr"/>
            <a:r>
              <a:rPr lang="en-US" altLang="ko-KR" sz="1000" i="1"/>
              <a:t>with GPU </a:t>
            </a:r>
            <a:endParaRPr lang="ko-KR" altLang="en-US" sz="1000" i="1"/>
          </a:p>
        </p:txBody>
      </p:sp>
      <p:sp>
        <p:nvSpPr>
          <p:cNvPr id="60" name="Rounded Rectangle 17">
            <a:extLst>
              <a:ext uri="{FF2B5EF4-FFF2-40B4-BE49-F238E27FC236}">
                <a16:creationId xmlns:a16="http://schemas.microsoft.com/office/drawing/2014/main" id="{DB22DC89-89BD-60EE-276F-F63F2107C4A1}"/>
              </a:ext>
            </a:extLst>
          </p:cNvPr>
          <p:cNvSpPr/>
          <p:nvPr/>
        </p:nvSpPr>
        <p:spPr>
          <a:xfrm flipH="1">
            <a:off x="1187624" y="267494"/>
            <a:ext cx="1008112" cy="4612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Kubernetes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Client</a:t>
            </a:r>
            <a:endParaRPr lang="en-KR" sz="1000" dirty="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314F79C6-0618-FC4A-D2B6-CFD3971985C1}"/>
              </a:ext>
            </a:extLst>
          </p:cNvPr>
          <p:cNvCxnSpPr>
            <a:cxnSpLocks/>
            <a:stCxn id="60" idx="1"/>
            <a:endCxn id="43" idx="3"/>
          </p:cNvCxnSpPr>
          <p:nvPr/>
        </p:nvCxnSpPr>
        <p:spPr>
          <a:xfrm>
            <a:off x="2195736" y="498137"/>
            <a:ext cx="271846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6CB174C-1DCE-6237-9278-F070013C046C}"/>
              </a:ext>
            </a:extLst>
          </p:cNvPr>
          <p:cNvSpPr txBox="1"/>
          <p:nvPr/>
        </p:nvSpPr>
        <p:spPr>
          <a:xfrm>
            <a:off x="2304961" y="497498"/>
            <a:ext cx="1512536" cy="176971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kern="0" dirty="0" err="1">
                <a:cs typeface="Al Bayan Plain" pitchFamily="2" charset="-78"/>
              </a:rPr>
              <a:t> </a:t>
            </a:r>
            <a:r>
              <a:rPr lang="en-US" sz="900" kern="0" dirty="0" err="1">
                <a:cs typeface="Al Bayan Plain" pitchFamily="2" charset="-78"/>
              </a:rPr>
              <a:t>apiVersion</a:t>
            </a:r>
            <a:r>
              <a:rPr lang="en-US" sz="9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kind: Pod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name: pod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- name: gpu-app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  <p:sp>
        <p:nvSpPr>
          <p:cNvPr id="70" name="사각형: 둥근 모서리 71">
            <a:extLst>
              <a:ext uri="{FF2B5EF4-FFF2-40B4-BE49-F238E27FC236}">
                <a16:creationId xmlns:a16="http://schemas.microsoft.com/office/drawing/2014/main" id="{3E63D929-28A7-1BEA-CAA7-A1A0061B61A6}"/>
              </a:ext>
            </a:extLst>
          </p:cNvPr>
          <p:cNvSpPr/>
          <p:nvPr/>
        </p:nvSpPr>
        <p:spPr>
          <a:xfrm flipH="1">
            <a:off x="2190149" y="2268467"/>
            <a:ext cx="1741239" cy="262460"/>
          </a:xfrm>
          <a:prstGeom prst="roundRect">
            <a:avLst>
              <a:gd name="adj" fmla="val 19110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/>
              <a:t>6. Create pod with GPU </a:t>
            </a:r>
            <a:endParaRPr lang="ko-KR" altLang="en-US" sz="1000" i="1"/>
          </a:p>
        </p:txBody>
      </p:sp>
    </p:spTree>
    <p:extLst>
      <p:ext uri="{BB962C8B-B14F-4D97-AF65-F5344CB8AC3E}">
        <p14:creationId xmlns:p14="http://schemas.microsoft.com/office/powerpoint/2010/main" val="41283127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0DA45-FFE6-20D2-57EF-B9DC71216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114">
            <a:extLst>
              <a:ext uri="{FF2B5EF4-FFF2-40B4-BE49-F238E27FC236}">
                <a16:creationId xmlns:a16="http://schemas.microsoft.com/office/drawing/2014/main" id="{EFE877C4-66CF-A466-BBDA-C110A5F992AE}"/>
              </a:ext>
            </a:extLst>
          </p:cNvPr>
          <p:cNvSpPr/>
          <p:nvPr/>
        </p:nvSpPr>
        <p:spPr>
          <a:xfrm>
            <a:off x="4452121" y="843557"/>
            <a:ext cx="1665290" cy="1709575"/>
          </a:xfrm>
          <a:prstGeom prst="roundRect">
            <a:avLst>
              <a:gd name="adj" fmla="val 391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사각형: 둥근 모서리 114">
            <a:extLst>
              <a:ext uri="{FF2B5EF4-FFF2-40B4-BE49-F238E27FC236}">
                <a16:creationId xmlns:a16="http://schemas.microsoft.com/office/drawing/2014/main" id="{990BBAE9-CBD1-9942-AE8D-DC8358E04673}"/>
              </a:ext>
            </a:extLst>
          </p:cNvPr>
          <p:cNvSpPr/>
          <p:nvPr/>
        </p:nvSpPr>
        <p:spPr>
          <a:xfrm>
            <a:off x="79063" y="843557"/>
            <a:ext cx="4092354" cy="1709575"/>
          </a:xfrm>
          <a:prstGeom prst="roundRect">
            <a:avLst>
              <a:gd name="adj" fmla="val 428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Pod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사각형: 둥근 모서리 114">
            <a:extLst>
              <a:ext uri="{FF2B5EF4-FFF2-40B4-BE49-F238E27FC236}">
                <a16:creationId xmlns:a16="http://schemas.microsoft.com/office/drawing/2014/main" id="{B0160E73-56A0-D29E-F984-848864432BD9}"/>
              </a:ext>
            </a:extLst>
          </p:cNvPr>
          <p:cNvSpPr/>
          <p:nvPr/>
        </p:nvSpPr>
        <p:spPr>
          <a:xfrm>
            <a:off x="84225" y="3507854"/>
            <a:ext cx="6033186" cy="976265"/>
          </a:xfrm>
          <a:prstGeom prst="roundRect">
            <a:avLst>
              <a:gd name="adj" fmla="val 639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 Hardware</a:t>
            </a:r>
            <a:endParaRPr lang="en-US" altLang="ko-KR" sz="1000" b="1" dirty="0"/>
          </a:p>
        </p:txBody>
      </p:sp>
      <p:sp>
        <p:nvSpPr>
          <p:cNvPr id="3" name="사각형: 둥근 모서리 114">
            <a:extLst>
              <a:ext uri="{FF2B5EF4-FFF2-40B4-BE49-F238E27FC236}">
                <a16:creationId xmlns:a16="http://schemas.microsoft.com/office/drawing/2014/main" id="{19B8C55D-9759-1216-90A7-4060BD798FB4}"/>
              </a:ext>
            </a:extLst>
          </p:cNvPr>
          <p:cNvSpPr/>
          <p:nvPr/>
        </p:nvSpPr>
        <p:spPr>
          <a:xfrm>
            <a:off x="79063" y="2659010"/>
            <a:ext cx="6043510" cy="855136"/>
          </a:xfrm>
          <a:prstGeom prst="roundRect">
            <a:avLst>
              <a:gd name="adj" fmla="val 416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b="1"/>
              <a:t>Host Kernel</a:t>
            </a:r>
            <a:endParaRPr lang="en-US" altLang="ko-KR" sz="1000" b="1" dirty="0"/>
          </a:p>
        </p:txBody>
      </p:sp>
      <p:sp>
        <p:nvSpPr>
          <p:cNvPr id="4" name="사각형: 둥근 모서리 114">
            <a:extLst>
              <a:ext uri="{FF2B5EF4-FFF2-40B4-BE49-F238E27FC236}">
                <a16:creationId xmlns:a16="http://schemas.microsoft.com/office/drawing/2014/main" id="{7428988E-C06C-5498-D7AC-C92B54858738}"/>
              </a:ext>
            </a:extLst>
          </p:cNvPr>
          <p:cNvSpPr/>
          <p:nvPr/>
        </p:nvSpPr>
        <p:spPr>
          <a:xfrm>
            <a:off x="672185" y="3620023"/>
            <a:ext cx="1077331" cy="57606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0</a:t>
            </a:r>
            <a:endParaRPr lang="en-US" altLang="ko-KR" sz="1000" dirty="0"/>
          </a:p>
        </p:txBody>
      </p:sp>
      <p:sp>
        <p:nvSpPr>
          <p:cNvPr id="5" name="사각형: 둥근 모서리 114">
            <a:extLst>
              <a:ext uri="{FF2B5EF4-FFF2-40B4-BE49-F238E27FC236}">
                <a16:creationId xmlns:a16="http://schemas.microsoft.com/office/drawing/2014/main" id="{28A41BF5-6288-F66D-6B18-A1C27C57BCD2}"/>
              </a:ext>
            </a:extLst>
          </p:cNvPr>
          <p:cNvSpPr/>
          <p:nvPr/>
        </p:nvSpPr>
        <p:spPr>
          <a:xfrm>
            <a:off x="1932164" y="3620023"/>
            <a:ext cx="1077331" cy="57606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1</a:t>
            </a:r>
            <a:endParaRPr lang="en-US" altLang="ko-KR" sz="1000" dirty="0"/>
          </a:p>
        </p:txBody>
      </p:sp>
      <p:sp>
        <p:nvSpPr>
          <p:cNvPr id="6" name="사각형: 둥근 모서리 114">
            <a:extLst>
              <a:ext uri="{FF2B5EF4-FFF2-40B4-BE49-F238E27FC236}">
                <a16:creationId xmlns:a16="http://schemas.microsoft.com/office/drawing/2014/main" id="{AB117318-4CD7-BD97-5351-1F6F61156CD5}"/>
              </a:ext>
            </a:extLst>
          </p:cNvPr>
          <p:cNvSpPr/>
          <p:nvPr/>
        </p:nvSpPr>
        <p:spPr>
          <a:xfrm>
            <a:off x="3192142" y="3620023"/>
            <a:ext cx="1077331" cy="57606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2</a:t>
            </a:r>
            <a:endParaRPr lang="en-US" altLang="ko-KR" sz="1000" dirty="0"/>
          </a:p>
        </p:txBody>
      </p:sp>
      <p:sp>
        <p:nvSpPr>
          <p:cNvPr id="7" name="사각형: 둥근 모서리 114">
            <a:extLst>
              <a:ext uri="{FF2B5EF4-FFF2-40B4-BE49-F238E27FC236}">
                <a16:creationId xmlns:a16="http://schemas.microsoft.com/office/drawing/2014/main" id="{C21EA64B-D360-1D11-4ECB-24E796346C00}"/>
              </a:ext>
            </a:extLst>
          </p:cNvPr>
          <p:cNvSpPr/>
          <p:nvPr/>
        </p:nvSpPr>
        <p:spPr>
          <a:xfrm>
            <a:off x="4452121" y="3620023"/>
            <a:ext cx="1077331" cy="57606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</a:t>
            </a:r>
          </a:p>
          <a:p>
            <a:pPr algn="ctr"/>
            <a:r>
              <a:rPr lang="en-US" altLang="ko-KR" sz="1000"/>
              <a:t>GPU 3</a:t>
            </a:r>
            <a:endParaRPr lang="en-US" altLang="ko-KR" sz="1000" dirty="0"/>
          </a:p>
        </p:txBody>
      </p:sp>
      <p:sp>
        <p:nvSpPr>
          <p:cNvPr id="8" name="사각형: 둥근 모서리 114">
            <a:extLst>
              <a:ext uri="{FF2B5EF4-FFF2-40B4-BE49-F238E27FC236}">
                <a16:creationId xmlns:a16="http://schemas.microsoft.com/office/drawing/2014/main" id="{065A5E74-B440-BA3F-5A07-8CDCDFF2E427}"/>
              </a:ext>
            </a:extLst>
          </p:cNvPr>
          <p:cNvSpPr/>
          <p:nvPr/>
        </p:nvSpPr>
        <p:spPr>
          <a:xfrm>
            <a:off x="186295" y="1209261"/>
            <a:ext cx="1276737" cy="1265622"/>
          </a:xfrm>
          <a:prstGeom prst="roundRect">
            <a:avLst>
              <a:gd name="adj" fmla="val 67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A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사각형: 둥근 모서리 114">
            <a:extLst>
              <a:ext uri="{FF2B5EF4-FFF2-40B4-BE49-F238E27FC236}">
                <a16:creationId xmlns:a16="http://schemas.microsoft.com/office/drawing/2014/main" id="{769415EB-0A2D-50D7-44F6-1F81A018E10C}"/>
              </a:ext>
            </a:extLst>
          </p:cNvPr>
          <p:cNvSpPr/>
          <p:nvPr/>
        </p:nvSpPr>
        <p:spPr>
          <a:xfrm>
            <a:off x="274029" y="1991019"/>
            <a:ext cx="1099999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/dev/nvidia0</a:t>
            </a:r>
            <a:endParaRPr lang="en-US" altLang="ko-KR" sz="1000" dirty="0"/>
          </a:p>
        </p:txBody>
      </p:sp>
      <p:sp>
        <p:nvSpPr>
          <p:cNvPr id="11" name="사각형: 둥근 모서리 114">
            <a:extLst>
              <a:ext uri="{FF2B5EF4-FFF2-40B4-BE49-F238E27FC236}">
                <a16:creationId xmlns:a16="http://schemas.microsoft.com/office/drawing/2014/main" id="{A5B1B74D-0B82-73B1-5F00-44CC5F744F4A}"/>
              </a:ext>
            </a:extLst>
          </p:cNvPr>
          <p:cNvSpPr/>
          <p:nvPr/>
        </p:nvSpPr>
        <p:spPr>
          <a:xfrm>
            <a:off x="274029" y="1504965"/>
            <a:ext cx="1099999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sp>
        <p:nvSpPr>
          <p:cNvPr id="13" name="사각형: 둥근 모서리 114">
            <a:extLst>
              <a:ext uri="{FF2B5EF4-FFF2-40B4-BE49-F238E27FC236}">
                <a16:creationId xmlns:a16="http://schemas.microsoft.com/office/drawing/2014/main" id="{F1F3EEC6-6CC4-CE00-13AC-F53EED26A83F}"/>
              </a:ext>
            </a:extLst>
          </p:cNvPr>
          <p:cNvSpPr/>
          <p:nvPr/>
        </p:nvSpPr>
        <p:spPr>
          <a:xfrm>
            <a:off x="1598372" y="1203598"/>
            <a:ext cx="2474164" cy="1265622"/>
          </a:xfrm>
          <a:prstGeom prst="roundRect">
            <a:avLst>
              <a:gd name="adj" fmla="val 67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B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사각형: 둥근 모서리 114">
            <a:extLst>
              <a:ext uri="{FF2B5EF4-FFF2-40B4-BE49-F238E27FC236}">
                <a16:creationId xmlns:a16="http://schemas.microsoft.com/office/drawing/2014/main" id="{1EAB6A47-5F20-094B-0D4A-E766A80A2A60}"/>
              </a:ext>
            </a:extLst>
          </p:cNvPr>
          <p:cNvSpPr/>
          <p:nvPr/>
        </p:nvSpPr>
        <p:spPr>
          <a:xfrm>
            <a:off x="1686106" y="1985356"/>
            <a:ext cx="1099999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/dev/nvdia0</a:t>
            </a:r>
            <a:endParaRPr lang="en-US" altLang="ko-KR" sz="1000" dirty="0"/>
          </a:p>
        </p:txBody>
      </p:sp>
      <p:sp>
        <p:nvSpPr>
          <p:cNvPr id="15" name="사각형: 둥근 모서리 114">
            <a:extLst>
              <a:ext uri="{FF2B5EF4-FFF2-40B4-BE49-F238E27FC236}">
                <a16:creationId xmlns:a16="http://schemas.microsoft.com/office/drawing/2014/main" id="{7201475F-A4A4-46B2-84B6-A45CE1664B47}"/>
              </a:ext>
            </a:extLst>
          </p:cNvPr>
          <p:cNvSpPr/>
          <p:nvPr/>
        </p:nvSpPr>
        <p:spPr>
          <a:xfrm>
            <a:off x="2887706" y="1985356"/>
            <a:ext cx="1099868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/dev/nvdia2</a:t>
            </a:r>
            <a:endParaRPr lang="en-US" altLang="ko-KR" sz="1000" dirty="0"/>
          </a:p>
        </p:txBody>
      </p:sp>
      <p:sp>
        <p:nvSpPr>
          <p:cNvPr id="16" name="사각형: 둥근 모서리 114">
            <a:extLst>
              <a:ext uri="{FF2B5EF4-FFF2-40B4-BE49-F238E27FC236}">
                <a16:creationId xmlns:a16="http://schemas.microsoft.com/office/drawing/2014/main" id="{1B3E5041-0778-66C8-1F90-7570D9731483}"/>
              </a:ext>
            </a:extLst>
          </p:cNvPr>
          <p:cNvSpPr/>
          <p:nvPr/>
        </p:nvSpPr>
        <p:spPr>
          <a:xfrm>
            <a:off x="1686107" y="1499302"/>
            <a:ext cx="2301468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sp>
        <p:nvSpPr>
          <p:cNvPr id="18" name="사각형: 둥근 모서리 114">
            <a:extLst>
              <a:ext uri="{FF2B5EF4-FFF2-40B4-BE49-F238E27FC236}">
                <a16:creationId xmlns:a16="http://schemas.microsoft.com/office/drawing/2014/main" id="{28995F5A-7DC0-2507-432E-914678470451}"/>
              </a:ext>
            </a:extLst>
          </p:cNvPr>
          <p:cNvSpPr/>
          <p:nvPr/>
        </p:nvSpPr>
        <p:spPr>
          <a:xfrm>
            <a:off x="4537508" y="1203598"/>
            <a:ext cx="1487816" cy="1265622"/>
          </a:xfrm>
          <a:prstGeom prst="roundRect">
            <a:avLst>
              <a:gd name="adj" fmla="val 67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b="1"/>
              <a:t>Container C</a:t>
            </a:r>
            <a:endParaRPr lang="ko-KR" altLang="en-US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사각형: 둥근 모서리 114">
            <a:extLst>
              <a:ext uri="{FF2B5EF4-FFF2-40B4-BE49-F238E27FC236}">
                <a16:creationId xmlns:a16="http://schemas.microsoft.com/office/drawing/2014/main" id="{16CFA239-2511-9D27-E71A-172A3FA07324}"/>
              </a:ext>
            </a:extLst>
          </p:cNvPr>
          <p:cNvSpPr/>
          <p:nvPr/>
        </p:nvSpPr>
        <p:spPr>
          <a:xfrm>
            <a:off x="4617695" y="1985356"/>
            <a:ext cx="1321799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/dev/nvdia3</a:t>
            </a:r>
            <a:endParaRPr lang="en-US" altLang="ko-KR" sz="1000" dirty="0"/>
          </a:p>
        </p:txBody>
      </p:sp>
      <p:sp>
        <p:nvSpPr>
          <p:cNvPr id="20" name="사각형: 둥근 모서리 114">
            <a:extLst>
              <a:ext uri="{FF2B5EF4-FFF2-40B4-BE49-F238E27FC236}">
                <a16:creationId xmlns:a16="http://schemas.microsoft.com/office/drawing/2014/main" id="{D5E1B1C4-5B6E-85F7-FDAB-04642D4057A6}"/>
              </a:ext>
            </a:extLst>
          </p:cNvPr>
          <p:cNvSpPr/>
          <p:nvPr/>
        </p:nvSpPr>
        <p:spPr>
          <a:xfrm>
            <a:off x="4617695" y="1499302"/>
            <a:ext cx="1321798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cxnSp>
        <p:nvCxnSpPr>
          <p:cNvPr id="21" name="직선 연결선 17">
            <a:extLst>
              <a:ext uri="{FF2B5EF4-FFF2-40B4-BE49-F238E27FC236}">
                <a16:creationId xmlns:a16="http://schemas.microsoft.com/office/drawing/2014/main" id="{BBE57953-324C-8070-7D38-3BAD3665DB8C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>
          <a:xfrm>
            <a:off x="824029" y="2387063"/>
            <a:ext cx="386822" cy="12329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0">
            <a:extLst>
              <a:ext uri="{FF2B5EF4-FFF2-40B4-BE49-F238E27FC236}">
                <a16:creationId xmlns:a16="http://schemas.microsoft.com/office/drawing/2014/main" id="{22C12797-54A8-2874-270D-D393650E397D}"/>
              </a:ext>
            </a:extLst>
          </p:cNvPr>
          <p:cNvCxnSpPr>
            <a:cxnSpLocks/>
            <a:stCxn id="14" idx="2"/>
            <a:endCxn id="5" idx="0"/>
          </p:cNvCxnSpPr>
          <p:nvPr/>
        </p:nvCxnSpPr>
        <p:spPr>
          <a:xfrm>
            <a:off x="2236106" y="2381400"/>
            <a:ext cx="234724" cy="12386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17">
            <a:extLst>
              <a:ext uri="{FF2B5EF4-FFF2-40B4-BE49-F238E27FC236}">
                <a16:creationId xmlns:a16="http://schemas.microsoft.com/office/drawing/2014/main" id="{2945351D-D086-4FB4-4382-C9127B2ED274}"/>
              </a:ext>
            </a:extLst>
          </p:cNvPr>
          <p:cNvCxnSpPr>
            <a:cxnSpLocks/>
            <a:stCxn id="15" idx="2"/>
            <a:endCxn id="6" idx="0"/>
          </p:cNvCxnSpPr>
          <p:nvPr/>
        </p:nvCxnSpPr>
        <p:spPr>
          <a:xfrm>
            <a:off x="3437640" y="2381400"/>
            <a:ext cx="293168" cy="12386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6">
            <a:extLst>
              <a:ext uri="{FF2B5EF4-FFF2-40B4-BE49-F238E27FC236}">
                <a16:creationId xmlns:a16="http://schemas.microsoft.com/office/drawing/2014/main" id="{A6841772-5FAC-52D2-D93A-BF3E1BF471DF}"/>
              </a:ext>
            </a:extLst>
          </p:cNvPr>
          <p:cNvCxnSpPr>
            <a:cxnSpLocks/>
            <a:stCxn id="19" idx="2"/>
            <a:endCxn id="7" idx="0"/>
          </p:cNvCxnSpPr>
          <p:nvPr/>
        </p:nvCxnSpPr>
        <p:spPr>
          <a:xfrm flipH="1">
            <a:off x="4990787" y="2381400"/>
            <a:ext cx="287808" cy="12386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114">
            <a:extLst>
              <a:ext uri="{FF2B5EF4-FFF2-40B4-BE49-F238E27FC236}">
                <a16:creationId xmlns:a16="http://schemas.microsoft.com/office/drawing/2014/main" id="{87AAA4FF-5355-0B8E-2C4A-7B3DEB8558AB}"/>
              </a:ext>
            </a:extLst>
          </p:cNvPr>
          <p:cNvSpPr/>
          <p:nvPr/>
        </p:nvSpPr>
        <p:spPr>
          <a:xfrm>
            <a:off x="218562" y="2791931"/>
            <a:ext cx="5759996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GPU Device Driver</a:t>
            </a:r>
            <a:endParaRPr lang="en-US" altLang="ko-KR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7DAA5F-A54B-025A-21E9-FA0AC9BF51AF}"/>
              </a:ext>
            </a:extLst>
          </p:cNvPr>
          <p:cNvSpPr txBox="1"/>
          <p:nvPr/>
        </p:nvSpPr>
        <p:spPr>
          <a:xfrm>
            <a:off x="7965348" y="483518"/>
            <a:ext cx="1665155" cy="176971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kern="0" dirty="0" err="1">
                <a:cs typeface="Al Bayan Plain" pitchFamily="2" charset="-78"/>
              </a:rPr>
              <a:t> </a:t>
            </a:r>
            <a:r>
              <a:rPr lang="en-US" sz="900" kern="0" dirty="0" err="1">
                <a:cs typeface="Al Bayan Plain" pitchFamily="2" charset="-78"/>
              </a:rPr>
              <a:t>apiVersion</a:t>
            </a:r>
            <a:r>
              <a:rPr lang="en-US" sz="9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kind: PodB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name: pod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70C16E-B348-642F-E3BF-7E2C0BD51AB8}"/>
              </a:ext>
            </a:extLst>
          </p:cNvPr>
          <p:cNvSpPr txBox="1"/>
          <p:nvPr/>
        </p:nvSpPr>
        <p:spPr>
          <a:xfrm>
            <a:off x="6300058" y="483518"/>
            <a:ext cx="1665290" cy="260071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kern="0" dirty="0" err="1">
                <a:cs typeface="Al Bayan Plain" pitchFamily="2" charset="-78"/>
              </a:rPr>
              <a:t> </a:t>
            </a:r>
            <a:r>
              <a:rPr lang="en-US" sz="900" kern="0" dirty="0" err="1">
                <a:cs typeface="Al Bayan Plain" pitchFamily="2" charset="-78"/>
              </a:rPr>
              <a:t>apiVersion</a:t>
            </a:r>
            <a:r>
              <a:rPr lang="en-US" sz="900" kern="0" dirty="0">
                <a:cs typeface="Al Bayan Plain" pitchFamily="2" charset="-78"/>
              </a:rPr>
              <a:t>: v1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kind: PodA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metadata: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name: pod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spec: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containers: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- name: ContainerA</a:t>
            </a:r>
          </a:p>
          <a:p>
            <a:pPr algn="l"/>
            <a:r>
              <a:rPr lang="en-US" sz="900" kern="0" dirty="0">
                <a:cs typeface="Al Bayan Plain" pitchFamily="2" charset="-78"/>
              </a:rPr>
              <a:t>       resources: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pPr algn="l"/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sz="9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1</a:t>
            </a:r>
          </a:p>
          <a:p>
            <a:r>
              <a:rPr lang="en-US" altLang="ko-KR" sz="900" kern="0" dirty="0">
                <a:cs typeface="Al Bayan Plain" pitchFamily="2" charset="-78"/>
              </a:rPr>
              <a:t>     - name: ContainerB</a:t>
            </a:r>
          </a:p>
          <a:p>
            <a:r>
              <a:rPr lang="en-US" altLang="ko-KR" sz="900" kern="0" dirty="0">
                <a:cs typeface="Al Bayan Plain" pitchFamily="2" charset="-78"/>
              </a:rPr>
              <a:t>       resources: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requests: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limits:</a:t>
            </a:r>
          </a:p>
          <a:p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           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nvidia.com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/</a:t>
            </a:r>
            <a:r>
              <a:rPr lang="en-US" altLang="ko-KR" sz="900" kern="0" dirty="0" err="1">
                <a:solidFill>
                  <a:srgbClr val="C00000"/>
                </a:solidFill>
                <a:cs typeface="Al Bayan Plain" pitchFamily="2" charset="-78"/>
              </a:rPr>
              <a:t>gpu</a:t>
            </a:r>
            <a:r>
              <a:rPr lang="en-US" altLang="ko-KR" sz="900" kern="0" dirty="0">
                <a:solidFill>
                  <a:srgbClr val="C00000"/>
                </a:solidFill>
                <a:cs typeface="Al Bayan Plain" pitchFamily="2" charset="-78"/>
              </a:rPr>
              <a:t>: 2</a:t>
            </a:r>
          </a:p>
        </p:txBody>
      </p:sp>
    </p:spTree>
    <p:extLst>
      <p:ext uri="{BB962C8B-B14F-4D97-AF65-F5344CB8AC3E}">
        <p14:creationId xmlns:p14="http://schemas.microsoft.com/office/powerpoint/2010/main" val="20116554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8443D-5E72-49E2-86AC-581D61C4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546"/>
            <a:ext cx="9144000" cy="857250"/>
          </a:xfrm>
        </p:spPr>
        <p:txBody>
          <a:bodyPr>
            <a:normAutofit/>
          </a:bodyPr>
          <a:lstStyle/>
          <a:p>
            <a:r>
              <a:rPr lang="en-US" altLang="ko-KR"/>
              <a:t>CUDA Container Stack</a:t>
            </a:r>
            <a:endParaRPr lang="ko-KR" altLang="en-US" dirty="0"/>
          </a:p>
        </p:txBody>
      </p:sp>
      <p:sp>
        <p:nvSpPr>
          <p:cNvPr id="37" name="사각형: 둥근 모서리 114">
            <a:extLst>
              <a:ext uri="{FF2B5EF4-FFF2-40B4-BE49-F238E27FC236}">
                <a16:creationId xmlns:a16="http://schemas.microsoft.com/office/drawing/2014/main" id="{8CC31052-D46C-415C-AC5E-9F519A0CE552}"/>
              </a:ext>
            </a:extLst>
          </p:cNvPr>
          <p:cNvSpPr/>
          <p:nvPr/>
        </p:nvSpPr>
        <p:spPr>
          <a:xfrm>
            <a:off x="1557988" y="3660955"/>
            <a:ext cx="6033186" cy="976265"/>
          </a:xfrm>
          <a:prstGeom prst="roundRect">
            <a:avLst>
              <a:gd name="adj" fmla="val 639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200" b="1"/>
              <a:t>Host Hardware</a:t>
            </a:r>
            <a:endParaRPr lang="en-US" altLang="ko-KR" sz="1200" b="1" dirty="0"/>
          </a:p>
        </p:txBody>
      </p:sp>
      <p:sp>
        <p:nvSpPr>
          <p:cNvPr id="33" name="사각형: 둥근 모서리 114">
            <a:extLst>
              <a:ext uri="{FF2B5EF4-FFF2-40B4-BE49-F238E27FC236}">
                <a16:creationId xmlns:a16="http://schemas.microsoft.com/office/drawing/2014/main" id="{79F6D168-BB65-4F50-9582-4A29196F3F72}"/>
              </a:ext>
            </a:extLst>
          </p:cNvPr>
          <p:cNvSpPr/>
          <p:nvPr/>
        </p:nvSpPr>
        <p:spPr>
          <a:xfrm>
            <a:off x="1552826" y="2812111"/>
            <a:ext cx="6043510" cy="855136"/>
          </a:xfrm>
          <a:prstGeom prst="roundRect">
            <a:avLst>
              <a:gd name="adj" fmla="val 4167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200" b="1"/>
              <a:t>Host Kernel</a:t>
            </a:r>
            <a:endParaRPr lang="en-US" altLang="ko-KR" sz="1200" b="1" dirty="0"/>
          </a:p>
        </p:txBody>
      </p:sp>
      <p:sp>
        <p:nvSpPr>
          <p:cNvPr id="14" name="사각형: 둥근 모서리 114">
            <a:extLst>
              <a:ext uri="{FF2B5EF4-FFF2-40B4-BE49-F238E27FC236}">
                <a16:creationId xmlns:a16="http://schemas.microsoft.com/office/drawing/2014/main" id="{1A39F0A4-CB41-4000-A6B3-276C8699113E}"/>
              </a:ext>
            </a:extLst>
          </p:cNvPr>
          <p:cNvSpPr/>
          <p:nvPr/>
        </p:nvSpPr>
        <p:spPr>
          <a:xfrm>
            <a:off x="2145948" y="3773124"/>
            <a:ext cx="1077331" cy="57606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NVIDIA</a:t>
            </a:r>
          </a:p>
          <a:p>
            <a:pPr algn="ctr"/>
            <a:r>
              <a:rPr lang="en-US" altLang="ko-KR" sz="1050"/>
              <a:t>GPU 0</a:t>
            </a:r>
            <a:endParaRPr lang="en-US" altLang="ko-KR" sz="1050" dirty="0"/>
          </a:p>
        </p:txBody>
      </p:sp>
      <p:sp>
        <p:nvSpPr>
          <p:cNvPr id="15" name="사각형: 둥근 모서리 114">
            <a:extLst>
              <a:ext uri="{FF2B5EF4-FFF2-40B4-BE49-F238E27FC236}">
                <a16:creationId xmlns:a16="http://schemas.microsoft.com/office/drawing/2014/main" id="{444230E6-BF6C-47E3-875F-1BF325B264E8}"/>
              </a:ext>
            </a:extLst>
          </p:cNvPr>
          <p:cNvSpPr/>
          <p:nvPr/>
        </p:nvSpPr>
        <p:spPr>
          <a:xfrm>
            <a:off x="3405927" y="3773124"/>
            <a:ext cx="1077331" cy="57606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NVIDIA</a:t>
            </a:r>
          </a:p>
          <a:p>
            <a:pPr algn="ctr"/>
            <a:r>
              <a:rPr lang="en-US" altLang="ko-KR" sz="1050"/>
              <a:t>GPU 1</a:t>
            </a:r>
            <a:endParaRPr lang="en-US" altLang="ko-KR" sz="1050" dirty="0"/>
          </a:p>
        </p:txBody>
      </p:sp>
      <p:sp>
        <p:nvSpPr>
          <p:cNvPr id="16" name="사각형: 둥근 모서리 114">
            <a:extLst>
              <a:ext uri="{FF2B5EF4-FFF2-40B4-BE49-F238E27FC236}">
                <a16:creationId xmlns:a16="http://schemas.microsoft.com/office/drawing/2014/main" id="{32771B95-FEAB-4B5F-8E1D-1879E0D35C73}"/>
              </a:ext>
            </a:extLst>
          </p:cNvPr>
          <p:cNvSpPr/>
          <p:nvPr/>
        </p:nvSpPr>
        <p:spPr>
          <a:xfrm>
            <a:off x="4665905" y="3773124"/>
            <a:ext cx="1077331" cy="57606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NVIDIA</a:t>
            </a:r>
          </a:p>
          <a:p>
            <a:pPr algn="ctr"/>
            <a:r>
              <a:rPr lang="en-US" altLang="ko-KR" sz="1050"/>
              <a:t>GPU 2</a:t>
            </a:r>
            <a:endParaRPr lang="en-US" altLang="ko-KR" sz="1050" dirty="0"/>
          </a:p>
        </p:txBody>
      </p:sp>
      <p:sp>
        <p:nvSpPr>
          <p:cNvPr id="17" name="사각형: 둥근 모서리 114">
            <a:extLst>
              <a:ext uri="{FF2B5EF4-FFF2-40B4-BE49-F238E27FC236}">
                <a16:creationId xmlns:a16="http://schemas.microsoft.com/office/drawing/2014/main" id="{FA743878-415F-4F3F-8BD0-44868C250DED}"/>
              </a:ext>
            </a:extLst>
          </p:cNvPr>
          <p:cNvSpPr/>
          <p:nvPr/>
        </p:nvSpPr>
        <p:spPr>
          <a:xfrm>
            <a:off x="5925884" y="3773124"/>
            <a:ext cx="1077331" cy="57606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NVIDIA</a:t>
            </a:r>
          </a:p>
          <a:p>
            <a:pPr algn="ctr"/>
            <a:r>
              <a:rPr lang="en-US" altLang="ko-KR" sz="1050"/>
              <a:t>GPU 3</a:t>
            </a:r>
            <a:endParaRPr lang="en-US" altLang="ko-KR" sz="1050" dirty="0"/>
          </a:p>
        </p:txBody>
      </p:sp>
      <p:sp>
        <p:nvSpPr>
          <p:cNvPr id="36" name="사각형: 둥근 모서리 114">
            <a:extLst>
              <a:ext uri="{FF2B5EF4-FFF2-40B4-BE49-F238E27FC236}">
                <a16:creationId xmlns:a16="http://schemas.microsoft.com/office/drawing/2014/main" id="{CF76CF1D-B8E6-443A-80C5-A21C41477750}"/>
              </a:ext>
            </a:extLst>
          </p:cNvPr>
          <p:cNvSpPr/>
          <p:nvPr/>
        </p:nvSpPr>
        <p:spPr>
          <a:xfrm>
            <a:off x="683568" y="1393942"/>
            <a:ext cx="2486761" cy="1317955"/>
          </a:xfrm>
          <a:prstGeom prst="roundRect">
            <a:avLst>
              <a:gd name="adj" fmla="val 67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/>
              <a:t>Container A</a:t>
            </a:r>
            <a:endParaRPr lang="ko-KR" altLang="en-US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사각형: 둥근 모서리 114">
            <a:extLst>
              <a:ext uri="{FF2B5EF4-FFF2-40B4-BE49-F238E27FC236}">
                <a16:creationId xmlns:a16="http://schemas.microsoft.com/office/drawing/2014/main" id="{A803DAF7-99B0-4292-A5DB-3EC24AB08296}"/>
              </a:ext>
            </a:extLst>
          </p:cNvPr>
          <p:cNvSpPr/>
          <p:nvPr/>
        </p:nvSpPr>
        <p:spPr>
          <a:xfrm>
            <a:off x="771302" y="2228033"/>
            <a:ext cx="1099999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/dev/nvidia0</a:t>
            </a:r>
            <a:endParaRPr lang="en-US" altLang="ko-KR" sz="1050" dirty="0"/>
          </a:p>
        </p:txBody>
      </p:sp>
      <p:sp>
        <p:nvSpPr>
          <p:cNvPr id="49" name="사각형: 둥근 모서리 114">
            <a:extLst>
              <a:ext uri="{FF2B5EF4-FFF2-40B4-BE49-F238E27FC236}">
                <a16:creationId xmlns:a16="http://schemas.microsoft.com/office/drawing/2014/main" id="{D2F56706-879C-45B5-A8D5-3807D53C29AC}"/>
              </a:ext>
            </a:extLst>
          </p:cNvPr>
          <p:cNvSpPr/>
          <p:nvPr/>
        </p:nvSpPr>
        <p:spPr>
          <a:xfrm>
            <a:off x="1972902" y="2228033"/>
            <a:ext cx="1099868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/dev/nvidia1</a:t>
            </a:r>
            <a:endParaRPr lang="en-US" altLang="ko-KR" sz="1050" dirty="0"/>
          </a:p>
        </p:txBody>
      </p:sp>
      <p:sp>
        <p:nvSpPr>
          <p:cNvPr id="53" name="사각형: 둥근 모서리 114">
            <a:extLst>
              <a:ext uri="{FF2B5EF4-FFF2-40B4-BE49-F238E27FC236}">
                <a16:creationId xmlns:a16="http://schemas.microsoft.com/office/drawing/2014/main" id="{D0D7C7AC-1E28-4E6E-BABF-ED8C7548D800}"/>
              </a:ext>
            </a:extLst>
          </p:cNvPr>
          <p:cNvSpPr/>
          <p:nvPr/>
        </p:nvSpPr>
        <p:spPr>
          <a:xfrm>
            <a:off x="771302" y="1741979"/>
            <a:ext cx="2301467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NVIDIA CUDA Lib/Toolkit</a:t>
            </a:r>
            <a:endParaRPr lang="en-US" altLang="ko-KR" sz="1050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5283E46-F286-4ADA-9E5B-DCE0F42F1436}"/>
              </a:ext>
            </a:extLst>
          </p:cNvPr>
          <p:cNvGrpSpPr/>
          <p:nvPr/>
        </p:nvGrpSpPr>
        <p:grpSpPr>
          <a:xfrm>
            <a:off x="3295100" y="1388279"/>
            <a:ext cx="3674596" cy="1317955"/>
            <a:chOff x="3328619" y="1015999"/>
            <a:chExt cx="3674596" cy="1317955"/>
          </a:xfrm>
        </p:grpSpPr>
        <p:sp>
          <p:nvSpPr>
            <p:cNvPr id="54" name="사각형: 둥근 모서리 114">
              <a:extLst>
                <a:ext uri="{FF2B5EF4-FFF2-40B4-BE49-F238E27FC236}">
                  <a16:creationId xmlns:a16="http://schemas.microsoft.com/office/drawing/2014/main" id="{A18B781E-389B-4EBF-A817-D4569C2D6423}"/>
                </a:ext>
              </a:extLst>
            </p:cNvPr>
            <p:cNvSpPr/>
            <p:nvPr/>
          </p:nvSpPr>
          <p:spPr>
            <a:xfrm>
              <a:off x="3328619" y="1015999"/>
              <a:ext cx="3674596" cy="1317955"/>
            </a:xfrm>
            <a:prstGeom prst="roundRect">
              <a:avLst>
                <a:gd name="adj" fmla="val 6774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200" b="1"/>
                <a:t>Container B</a:t>
              </a:r>
              <a:endParaRPr lang="ko-KR" altLang="en-US" sz="12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55" name="사각형: 둥근 모서리 114">
              <a:extLst>
                <a:ext uri="{FF2B5EF4-FFF2-40B4-BE49-F238E27FC236}">
                  <a16:creationId xmlns:a16="http://schemas.microsoft.com/office/drawing/2014/main" id="{CA8E074B-D8A6-4E92-8563-585CEF736C89}"/>
                </a:ext>
              </a:extLst>
            </p:cNvPr>
            <p:cNvSpPr/>
            <p:nvPr/>
          </p:nvSpPr>
          <p:spPr>
            <a:xfrm>
              <a:off x="3416353" y="1850090"/>
              <a:ext cx="1099999" cy="396044"/>
            </a:xfrm>
            <a:prstGeom prst="roundRect">
              <a:avLst>
                <a:gd name="adj" fmla="val 7242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/>
                <a:t>/dev/nvdia0</a:t>
              </a:r>
              <a:endParaRPr lang="en-US" altLang="ko-KR" sz="1000" dirty="0"/>
            </a:p>
          </p:txBody>
        </p:sp>
        <p:sp>
          <p:nvSpPr>
            <p:cNvPr id="56" name="사각형: 둥근 모서리 114">
              <a:extLst>
                <a:ext uri="{FF2B5EF4-FFF2-40B4-BE49-F238E27FC236}">
                  <a16:creationId xmlns:a16="http://schemas.microsoft.com/office/drawing/2014/main" id="{9AC5B223-6762-4A94-BC2D-48F317D9D503}"/>
                </a:ext>
              </a:extLst>
            </p:cNvPr>
            <p:cNvSpPr/>
            <p:nvPr/>
          </p:nvSpPr>
          <p:spPr>
            <a:xfrm>
              <a:off x="4617953" y="1850090"/>
              <a:ext cx="1099868" cy="396044"/>
            </a:xfrm>
            <a:prstGeom prst="roundRect">
              <a:avLst>
                <a:gd name="adj" fmla="val 7242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/>
                <a:t>/dev/nvdia2</a:t>
              </a:r>
              <a:endParaRPr lang="en-US" altLang="ko-KR" sz="1000" dirty="0"/>
            </a:p>
          </p:txBody>
        </p:sp>
        <p:sp>
          <p:nvSpPr>
            <p:cNvPr id="57" name="사각형: 둥근 모서리 114">
              <a:extLst>
                <a:ext uri="{FF2B5EF4-FFF2-40B4-BE49-F238E27FC236}">
                  <a16:creationId xmlns:a16="http://schemas.microsoft.com/office/drawing/2014/main" id="{FE359AF7-218F-44C6-B474-8140E31271D1}"/>
                </a:ext>
              </a:extLst>
            </p:cNvPr>
            <p:cNvSpPr/>
            <p:nvPr/>
          </p:nvSpPr>
          <p:spPr>
            <a:xfrm>
              <a:off x="3416353" y="1364036"/>
              <a:ext cx="3498895" cy="396044"/>
            </a:xfrm>
            <a:prstGeom prst="roundRect">
              <a:avLst>
                <a:gd name="adj" fmla="val 7242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/>
                <a:t>NVIDIA CUDA Lib/Toolkit</a:t>
              </a:r>
              <a:endParaRPr lang="en-US" altLang="ko-KR" sz="1000" dirty="0"/>
            </a:p>
          </p:txBody>
        </p:sp>
        <p:sp>
          <p:nvSpPr>
            <p:cNvPr id="85" name="사각형: 둥근 모서리 114">
              <a:extLst>
                <a:ext uri="{FF2B5EF4-FFF2-40B4-BE49-F238E27FC236}">
                  <a16:creationId xmlns:a16="http://schemas.microsoft.com/office/drawing/2014/main" id="{BCC0956D-C3F7-49C0-A9F2-EEC64131C57C}"/>
                </a:ext>
              </a:extLst>
            </p:cNvPr>
            <p:cNvSpPr/>
            <p:nvPr/>
          </p:nvSpPr>
          <p:spPr>
            <a:xfrm>
              <a:off x="5815380" y="1850090"/>
              <a:ext cx="1099868" cy="396044"/>
            </a:xfrm>
            <a:prstGeom prst="roundRect">
              <a:avLst>
                <a:gd name="adj" fmla="val 7242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/>
                <a:t>/dev/nvdia3</a:t>
              </a:r>
              <a:endParaRPr lang="en-US" altLang="ko-KR" sz="1000" dirty="0"/>
            </a:p>
          </p:txBody>
        </p:sp>
      </p:grpSp>
      <p:sp>
        <p:nvSpPr>
          <p:cNvPr id="72" name="사각형: 둥근 모서리 114">
            <a:extLst>
              <a:ext uri="{FF2B5EF4-FFF2-40B4-BE49-F238E27FC236}">
                <a16:creationId xmlns:a16="http://schemas.microsoft.com/office/drawing/2014/main" id="{13DCC872-5499-4CEA-9CA8-FA20591EB069}"/>
              </a:ext>
            </a:extLst>
          </p:cNvPr>
          <p:cNvSpPr/>
          <p:nvPr/>
        </p:nvSpPr>
        <p:spPr>
          <a:xfrm>
            <a:off x="7112912" y="1388279"/>
            <a:ext cx="1487816" cy="1317955"/>
          </a:xfrm>
          <a:prstGeom prst="roundRect">
            <a:avLst>
              <a:gd name="adj" fmla="val 677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/>
              <a:t>Container C</a:t>
            </a:r>
            <a:endParaRPr lang="ko-KR" altLang="en-US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4" name="사각형: 둥근 모서리 114">
            <a:extLst>
              <a:ext uri="{FF2B5EF4-FFF2-40B4-BE49-F238E27FC236}">
                <a16:creationId xmlns:a16="http://schemas.microsoft.com/office/drawing/2014/main" id="{3D3CC5C5-2615-49A4-A2AE-C361BD4D1BBE}"/>
              </a:ext>
            </a:extLst>
          </p:cNvPr>
          <p:cNvSpPr/>
          <p:nvPr/>
        </p:nvSpPr>
        <p:spPr>
          <a:xfrm>
            <a:off x="7193099" y="2222370"/>
            <a:ext cx="1321799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/dev/nvdia3</a:t>
            </a:r>
            <a:endParaRPr lang="en-US" altLang="ko-KR" sz="1000" dirty="0"/>
          </a:p>
        </p:txBody>
      </p:sp>
      <p:sp>
        <p:nvSpPr>
          <p:cNvPr id="75" name="사각형: 둥근 모서리 114">
            <a:extLst>
              <a:ext uri="{FF2B5EF4-FFF2-40B4-BE49-F238E27FC236}">
                <a16:creationId xmlns:a16="http://schemas.microsoft.com/office/drawing/2014/main" id="{B29ABC0B-15DC-450D-8FC3-49C53EDE5F1E}"/>
              </a:ext>
            </a:extLst>
          </p:cNvPr>
          <p:cNvSpPr/>
          <p:nvPr/>
        </p:nvSpPr>
        <p:spPr>
          <a:xfrm>
            <a:off x="7193099" y="1736316"/>
            <a:ext cx="1321798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NVIDIA CUDA Lib/Toolkit</a:t>
            </a:r>
            <a:endParaRPr lang="en-US" altLang="ko-KR" sz="1000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F314586-C0C4-4879-A3CB-8E4469478D11}"/>
              </a:ext>
            </a:extLst>
          </p:cNvPr>
          <p:cNvCxnSpPr>
            <a:cxnSpLocks/>
            <a:stCxn id="48" idx="2"/>
            <a:endCxn id="14" idx="0"/>
          </p:cNvCxnSpPr>
          <p:nvPr/>
        </p:nvCxnSpPr>
        <p:spPr>
          <a:xfrm>
            <a:off x="1321302" y="2624077"/>
            <a:ext cx="1363312" cy="11490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7F73344-7CBD-4515-AF8F-57B32D20BE1C}"/>
              </a:ext>
            </a:extLst>
          </p:cNvPr>
          <p:cNvCxnSpPr>
            <a:cxnSpLocks/>
            <a:stCxn id="55" idx="2"/>
            <a:endCxn id="14" idx="0"/>
          </p:cNvCxnSpPr>
          <p:nvPr/>
        </p:nvCxnSpPr>
        <p:spPr>
          <a:xfrm flipH="1">
            <a:off x="2684614" y="2618414"/>
            <a:ext cx="1248220" cy="11547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17">
            <a:extLst>
              <a:ext uri="{FF2B5EF4-FFF2-40B4-BE49-F238E27FC236}">
                <a16:creationId xmlns:a16="http://schemas.microsoft.com/office/drawing/2014/main" id="{03B70D87-E8F1-636E-2734-08D20B84587A}"/>
              </a:ext>
            </a:extLst>
          </p:cNvPr>
          <p:cNvCxnSpPr>
            <a:cxnSpLocks/>
            <a:stCxn id="49" idx="2"/>
            <a:endCxn id="15" idx="0"/>
          </p:cNvCxnSpPr>
          <p:nvPr/>
        </p:nvCxnSpPr>
        <p:spPr>
          <a:xfrm>
            <a:off x="2522836" y="2624077"/>
            <a:ext cx="1421757" cy="11490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17">
            <a:extLst>
              <a:ext uri="{FF2B5EF4-FFF2-40B4-BE49-F238E27FC236}">
                <a16:creationId xmlns:a16="http://schemas.microsoft.com/office/drawing/2014/main" id="{5E8C92FC-DD69-18A4-74EC-834FCCD7F2E2}"/>
              </a:ext>
            </a:extLst>
          </p:cNvPr>
          <p:cNvCxnSpPr>
            <a:cxnSpLocks/>
            <a:stCxn id="56" idx="2"/>
            <a:endCxn id="16" idx="0"/>
          </p:cNvCxnSpPr>
          <p:nvPr/>
        </p:nvCxnSpPr>
        <p:spPr>
          <a:xfrm>
            <a:off x="5134368" y="2618414"/>
            <a:ext cx="70203" cy="11547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C25B297-C471-4983-B26F-9B6D9298B3BB}"/>
              </a:ext>
            </a:extLst>
          </p:cNvPr>
          <p:cNvCxnSpPr>
            <a:cxnSpLocks/>
            <a:stCxn id="85" idx="2"/>
            <a:endCxn id="17" idx="0"/>
          </p:cNvCxnSpPr>
          <p:nvPr/>
        </p:nvCxnSpPr>
        <p:spPr>
          <a:xfrm>
            <a:off x="6331795" y="2618414"/>
            <a:ext cx="132755" cy="11547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6">
            <a:extLst>
              <a:ext uri="{FF2B5EF4-FFF2-40B4-BE49-F238E27FC236}">
                <a16:creationId xmlns:a16="http://schemas.microsoft.com/office/drawing/2014/main" id="{B6F4D2A3-59C5-B078-E593-8F85D1EEF940}"/>
              </a:ext>
            </a:extLst>
          </p:cNvPr>
          <p:cNvCxnSpPr>
            <a:cxnSpLocks/>
            <a:stCxn id="74" idx="2"/>
            <a:endCxn id="17" idx="0"/>
          </p:cNvCxnSpPr>
          <p:nvPr/>
        </p:nvCxnSpPr>
        <p:spPr>
          <a:xfrm flipH="1">
            <a:off x="6464550" y="2618414"/>
            <a:ext cx="1389449" cy="11547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114">
            <a:extLst>
              <a:ext uri="{FF2B5EF4-FFF2-40B4-BE49-F238E27FC236}">
                <a16:creationId xmlns:a16="http://schemas.microsoft.com/office/drawing/2014/main" id="{8204B16C-CA82-4791-8D0F-1EE9DCEDA54F}"/>
              </a:ext>
            </a:extLst>
          </p:cNvPr>
          <p:cNvSpPr/>
          <p:nvPr/>
        </p:nvSpPr>
        <p:spPr>
          <a:xfrm>
            <a:off x="1692325" y="2945032"/>
            <a:ext cx="5759996" cy="396044"/>
          </a:xfrm>
          <a:prstGeom prst="roundRect">
            <a:avLst>
              <a:gd name="adj" fmla="val 7242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NVIDIA GPU Device Driver</a:t>
            </a:r>
            <a:endParaRPr lang="en-US" altLang="ko-KR" sz="1050" dirty="0"/>
          </a:p>
        </p:txBody>
      </p:sp>
    </p:spTree>
    <p:extLst>
      <p:ext uri="{BB962C8B-B14F-4D97-AF65-F5344CB8AC3E}">
        <p14:creationId xmlns:p14="http://schemas.microsoft.com/office/powerpoint/2010/main" val="718021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58909</TotalTime>
  <Words>6173</Words>
  <Application>Microsoft Macintosh PowerPoint</Application>
  <PresentationFormat>화면 슬라이드 쇼(16:9)</PresentationFormat>
  <Paragraphs>1583</Paragraphs>
  <Slides>32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맑은 고딕</vt:lpstr>
      <vt:lpstr>Al Bayan Plain</vt:lpstr>
      <vt:lpstr>Arial</vt:lpstr>
      <vt:lpstr>Office 테마</vt:lpstr>
      <vt:lpstr>CUDA Container Stack</vt:lpstr>
      <vt:lpstr>PowerPoint 프레젠테이션</vt:lpstr>
      <vt:lpstr>PowerPoint 프레젠테이션</vt:lpstr>
      <vt:lpstr>CUDA Container Stack</vt:lpstr>
      <vt:lpstr>PowerPoint 프레젠테이션</vt:lpstr>
      <vt:lpstr>CUDA Container Stack</vt:lpstr>
      <vt:lpstr>CUDA Container Stack</vt:lpstr>
      <vt:lpstr>PowerPoint 프레젠테이션</vt:lpstr>
      <vt:lpstr>CUDA Container Stack</vt:lpstr>
      <vt:lpstr>PowerPoint 프레젠테이션</vt:lpstr>
      <vt:lpstr>PowerPoint 프레젠테이션</vt:lpstr>
      <vt:lpstr>CUDA Container Stack</vt:lpstr>
      <vt:lpstr>PowerPoint 프레젠테이션</vt:lpstr>
      <vt:lpstr>CUDA Container Stack</vt:lpstr>
      <vt:lpstr>CUDA Container Stack</vt:lpstr>
      <vt:lpstr>PowerPoint 프레젠테이션</vt:lpstr>
      <vt:lpstr>CUDA Container Stack</vt:lpstr>
      <vt:lpstr>CUDA Container Stack</vt:lpstr>
      <vt:lpstr>PowerPoint 프레젠테이션</vt:lpstr>
      <vt:lpstr>PowerPoint 프레젠테이션</vt:lpstr>
      <vt:lpstr>CUDA Container Stack</vt:lpstr>
      <vt:lpstr>CUDA Container Stack</vt:lpstr>
      <vt:lpstr>CUDA Container Stack</vt:lpstr>
      <vt:lpstr>CUDA Container Stack</vt:lpstr>
      <vt:lpstr>CUDA Container Stack</vt:lpstr>
      <vt:lpstr>PowerPoint 프레젠테이션</vt:lpstr>
      <vt:lpstr>CUDA Container Stack</vt:lpstr>
      <vt:lpstr>CUDA Container Stack</vt:lpstr>
      <vt:lpstr>PowerPoint 프레젠테이션</vt:lpstr>
      <vt:lpstr>PowerPoint 프레젠테이션</vt:lpstr>
      <vt:lpstr>PowerPoint 프레젠테이션</vt:lpstr>
      <vt:lpstr>CUDA Container Stack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6507</cp:revision>
  <dcterms:created xsi:type="dcterms:W3CDTF">2006-10-05T04:04:58Z</dcterms:created>
  <dcterms:modified xsi:type="dcterms:W3CDTF">2026-03-29T13:50:58Z</dcterms:modified>
</cp:coreProperties>
</file>