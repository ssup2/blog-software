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439" r:id="rId2"/>
    <p:sldId id="431" r:id="rId3"/>
    <p:sldId id="441" r:id="rId4"/>
    <p:sldId id="434" r:id="rId5"/>
    <p:sldId id="440" r:id="rId6"/>
    <p:sldId id="438" r:id="rId7"/>
    <p:sldId id="442" r:id="rId8"/>
    <p:sldId id="435" r:id="rId9"/>
    <p:sldId id="436" r:id="rId10"/>
    <p:sldId id="422" r:id="rId11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139" autoAdjust="0"/>
    <p:restoredTop sz="87440" autoAdjust="0"/>
  </p:normalViewPr>
  <p:slideViewPr>
    <p:cSldViewPr>
      <p:cViewPr>
        <p:scale>
          <a:sx n="200" d="100"/>
          <a:sy n="200" d="100"/>
        </p:scale>
        <p:origin x="1424" y="1128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2A508-FF2A-1DF1-3DD3-78CD3A998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947AFE7-477E-C4FB-922E-A5DB497B17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56F2381-BDD9-A6C4-B2FC-712A1F1B6C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9EAA6B-72CD-38D7-FF10-CEB4B320E9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95613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708CB7-7340-B840-D8CB-F3FBC9133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DD36DE7-B453-0C24-6CCC-72A5BB23E0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AF70D5C-66A6-DC12-2B2B-0E61746791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1C3D25D-B85B-645C-DE6D-D585D8FE0F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15993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49794-A6C6-98AC-C41F-BFB42C384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8B5A7F9-9BC0-0DAB-E35A-CBDB2596C5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1CF6DC8-1865-0662-7A1C-21F3FDD852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73D9D6-E96D-F05E-BE90-570EB61739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04951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45543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E8B20-5CB0-266F-D010-4969008FB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사각형: 둥근 모서리 114">
            <a:extLst>
              <a:ext uri="{FF2B5EF4-FFF2-40B4-BE49-F238E27FC236}">
                <a16:creationId xmlns:a16="http://schemas.microsoft.com/office/drawing/2014/main" id="{3A48472D-277F-804A-F7D5-C291A2436616}"/>
              </a:ext>
            </a:extLst>
          </p:cNvPr>
          <p:cNvSpPr/>
          <p:nvPr/>
        </p:nvSpPr>
        <p:spPr>
          <a:xfrm>
            <a:off x="4981274" y="202957"/>
            <a:ext cx="1385789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923FCC3B-21AF-4C70-7D6A-29CAB549F966}"/>
              </a:ext>
            </a:extLst>
          </p:cNvPr>
          <p:cNvSpPr/>
          <p:nvPr/>
        </p:nvSpPr>
        <p:spPr>
          <a:xfrm>
            <a:off x="899592" y="206729"/>
            <a:ext cx="4006850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C0F9C8F-437F-D0AF-97AA-D56EC0818C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3364FA23-F895-1B5D-699B-3DEDE068BF8C}"/>
              </a:ext>
            </a:extLst>
          </p:cNvPr>
          <p:cNvSpPr/>
          <p:nvPr/>
        </p:nvSpPr>
        <p:spPr>
          <a:xfrm>
            <a:off x="2369518" y="488998"/>
            <a:ext cx="2486761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7B735900-90DF-2B9C-D836-265C1EE6844C}"/>
              </a:ext>
            </a:extLst>
          </p:cNvPr>
          <p:cNvSpPr/>
          <p:nvPr/>
        </p:nvSpPr>
        <p:spPr>
          <a:xfrm>
            <a:off x="2457252" y="1683025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2E5EDF11-A65E-332B-1623-CD439CC6BDBB}"/>
              </a:ext>
            </a:extLst>
          </p:cNvPr>
          <p:cNvSpPr/>
          <p:nvPr/>
        </p:nvSpPr>
        <p:spPr>
          <a:xfrm>
            <a:off x="3658852" y="1683025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1B1E7317-CD60-5008-9179-9A5631A47234}"/>
              </a:ext>
            </a:extLst>
          </p:cNvPr>
          <p:cNvSpPr/>
          <p:nvPr/>
        </p:nvSpPr>
        <p:spPr>
          <a:xfrm>
            <a:off x="2457252" y="1212700"/>
            <a:ext cx="2301467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A40CEE21-4126-4EA9-D005-8D6AA05FC3C8}"/>
              </a:ext>
            </a:extLst>
          </p:cNvPr>
          <p:cNvSpPr/>
          <p:nvPr/>
        </p:nvSpPr>
        <p:spPr>
          <a:xfrm>
            <a:off x="949353" y="48351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75050760-962B-EFA9-329D-D87ACB628E2E}"/>
              </a:ext>
            </a:extLst>
          </p:cNvPr>
          <p:cNvSpPr/>
          <p:nvPr/>
        </p:nvSpPr>
        <p:spPr>
          <a:xfrm>
            <a:off x="1035199" y="167318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C7E78AFF-D068-E06B-33BF-D4132D988816}"/>
              </a:ext>
            </a:extLst>
          </p:cNvPr>
          <p:cNvSpPr/>
          <p:nvPr/>
        </p:nvSpPr>
        <p:spPr>
          <a:xfrm>
            <a:off x="1035198" y="120285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5F4C3AF4-DD22-0B60-383F-EC6AD421D8F6}"/>
              </a:ext>
            </a:extLst>
          </p:cNvPr>
          <p:cNvSpPr/>
          <p:nvPr/>
        </p:nvSpPr>
        <p:spPr>
          <a:xfrm>
            <a:off x="2457252" y="761549"/>
            <a:ext cx="2301467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E564AD90-001F-1131-35AF-1B92219AF4D3}"/>
              </a:ext>
            </a:extLst>
          </p:cNvPr>
          <p:cNvSpPr/>
          <p:nvPr/>
        </p:nvSpPr>
        <p:spPr>
          <a:xfrm>
            <a:off x="1035198" y="75718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E5461D33-D3F6-944C-0682-815E690708A9}"/>
              </a:ext>
            </a:extLst>
          </p:cNvPr>
          <p:cNvSpPr/>
          <p:nvPr/>
        </p:nvSpPr>
        <p:spPr>
          <a:xfrm>
            <a:off x="5029966" y="48351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사각형: 둥근 모서리 114">
            <a:extLst>
              <a:ext uri="{FF2B5EF4-FFF2-40B4-BE49-F238E27FC236}">
                <a16:creationId xmlns:a16="http://schemas.microsoft.com/office/drawing/2014/main" id="{CCAB4F79-89C1-E619-458C-9169235C2802}"/>
              </a:ext>
            </a:extLst>
          </p:cNvPr>
          <p:cNvSpPr/>
          <p:nvPr/>
        </p:nvSpPr>
        <p:spPr>
          <a:xfrm>
            <a:off x="5115812" y="167318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6" name="사각형: 둥근 모서리 114">
            <a:extLst>
              <a:ext uri="{FF2B5EF4-FFF2-40B4-BE49-F238E27FC236}">
                <a16:creationId xmlns:a16="http://schemas.microsoft.com/office/drawing/2014/main" id="{5C9FAEA3-35E7-FE56-C34C-CDB8B7B7E6D1}"/>
              </a:ext>
            </a:extLst>
          </p:cNvPr>
          <p:cNvSpPr/>
          <p:nvPr/>
        </p:nvSpPr>
        <p:spPr>
          <a:xfrm>
            <a:off x="5115811" y="120285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DC08B00D-15C4-5841-5F8F-7D797D40504F}"/>
              </a:ext>
            </a:extLst>
          </p:cNvPr>
          <p:cNvSpPr/>
          <p:nvPr/>
        </p:nvSpPr>
        <p:spPr>
          <a:xfrm>
            <a:off x="5115811" y="75718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165A679A-BDB4-7645-02CA-372AE7A70419}"/>
              </a:ext>
            </a:extLst>
          </p:cNvPr>
          <p:cNvSpPr/>
          <p:nvPr/>
        </p:nvSpPr>
        <p:spPr>
          <a:xfrm>
            <a:off x="1110454" y="2249109"/>
            <a:ext cx="5045722" cy="1187198"/>
          </a:xfrm>
          <a:prstGeom prst="roundRect">
            <a:avLst>
              <a:gd name="adj" fmla="val 593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Filesystem</a:t>
            </a:r>
            <a:endParaRPr lang="en-US" altLang="ko-KR" sz="1000" b="1" dirty="0"/>
          </a:p>
        </p:txBody>
      </p:sp>
      <p:sp>
        <p:nvSpPr>
          <p:cNvPr id="10" name="사각형: 둥근 모서리 114">
            <a:extLst>
              <a:ext uri="{FF2B5EF4-FFF2-40B4-BE49-F238E27FC236}">
                <a16:creationId xmlns:a16="http://schemas.microsoft.com/office/drawing/2014/main" id="{3BF13E18-E374-583B-B7A1-2B776E5E5910}"/>
              </a:ext>
            </a:extLst>
          </p:cNvPr>
          <p:cNvSpPr/>
          <p:nvPr/>
        </p:nvSpPr>
        <p:spPr>
          <a:xfrm>
            <a:off x="1119926" y="4171338"/>
            <a:ext cx="5037102" cy="787990"/>
          </a:xfrm>
          <a:prstGeom prst="roundRect">
            <a:avLst>
              <a:gd name="adj" fmla="val 716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Hardware</a:t>
            </a:r>
            <a:endParaRPr lang="en-US" altLang="ko-KR" sz="1000" b="1" dirty="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0532E866-E194-CE83-0232-56FE5418AD19}"/>
              </a:ext>
            </a:extLst>
          </p:cNvPr>
          <p:cNvSpPr/>
          <p:nvPr/>
        </p:nvSpPr>
        <p:spPr>
          <a:xfrm>
            <a:off x="1115616" y="3436307"/>
            <a:ext cx="5045722" cy="739656"/>
          </a:xfrm>
          <a:prstGeom prst="roundRect">
            <a:avLst>
              <a:gd name="adj" fmla="val 720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Kernel</a:t>
            </a:r>
            <a:endParaRPr lang="en-US" altLang="ko-KR" sz="1000" b="1" dirty="0"/>
          </a:p>
        </p:txBody>
      </p:sp>
      <p:sp>
        <p:nvSpPr>
          <p:cNvPr id="12" name="사각형: 둥근 모서리 114">
            <a:extLst>
              <a:ext uri="{FF2B5EF4-FFF2-40B4-BE49-F238E27FC236}">
                <a16:creationId xmlns:a16="http://schemas.microsoft.com/office/drawing/2014/main" id="{AA0BF814-B044-CCC6-6567-AF7B12C2B826}"/>
              </a:ext>
            </a:extLst>
          </p:cNvPr>
          <p:cNvSpPr/>
          <p:nvPr/>
        </p:nvSpPr>
        <p:spPr>
          <a:xfrm>
            <a:off x="1209844" y="4287525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3" name="사각형: 둥근 모서리 114">
            <a:extLst>
              <a:ext uri="{FF2B5EF4-FFF2-40B4-BE49-F238E27FC236}">
                <a16:creationId xmlns:a16="http://schemas.microsoft.com/office/drawing/2014/main" id="{A111FF53-423C-A94A-93F9-6522D7543965}"/>
              </a:ext>
            </a:extLst>
          </p:cNvPr>
          <p:cNvSpPr/>
          <p:nvPr/>
        </p:nvSpPr>
        <p:spPr>
          <a:xfrm>
            <a:off x="2469823" y="4287525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18" name="사각형: 둥근 모서리 114">
            <a:extLst>
              <a:ext uri="{FF2B5EF4-FFF2-40B4-BE49-F238E27FC236}">
                <a16:creationId xmlns:a16="http://schemas.microsoft.com/office/drawing/2014/main" id="{0420B5BE-E89C-CE96-6DA8-E9A4007C2181}"/>
              </a:ext>
            </a:extLst>
          </p:cNvPr>
          <p:cNvSpPr/>
          <p:nvPr/>
        </p:nvSpPr>
        <p:spPr>
          <a:xfrm>
            <a:off x="3729801" y="4287525"/>
            <a:ext cx="1077331" cy="383228"/>
          </a:xfrm>
          <a:prstGeom prst="roundRect">
            <a:avLst>
              <a:gd name="adj" fmla="val 1252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19" name="사각형: 둥근 모서리 114">
            <a:extLst>
              <a:ext uri="{FF2B5EF4-FFF2-40B4-BE49-F238E27FC236}">
                <a16:creationId xmlns:a16="http://schemas.microsoft.com/office/drawing/2014/main" id="{7E49D417-1F0B-706A-3ED1-8BF5388D1FD7}"/>
              </a:ext>
            </a:extLst>
          </p:cNvPr>
          <p:cNvSpPr/>
          <p:nvPr/>
        </p:nvSpPr>
        <p:spPr>
          <a:xfrm>
            <a:off x="4989780" y="4287525"/>
            <a:ext cx="1077331" cy="383228"/>
          </a:xfrm>
          <a:prstGeom prst="roundRect">
            <a:avLst>
              <a:gd name="adj" fmla="val 1605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20" name="사각형: 둥근 모서리 114">
            <a:extLst>
              <a:ext uri="{FF2B5EF4-FFF2-40B4-BE49-F238E27FC236}">
                <a16:creationId xmlns:a16="http://schemas.microsoft.com/office/drawing/2014/main" id="{0E55CEFA-8CCC-E712-F3F7-0CD4ED2C6D50}"/>
              </a:ext>
            </a:extLst>
          </p:cNvPr>
          <p:cNvSpPr/>
          <p:nvPr/>
        </p:nvSpPr>
        <p:spPr>
          <a:xfrm>
            <a:off x="1205027" y="3564926"/>
            <a:ext cx="4862083" cy="383228"/>
          </a:xfrm>
          <a:prstGeom prst="roundRect">
            <a:avLst>
              <a:gd name="adj" fmla="val 1253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GPU Device Driver</a:t>
            </a:r>
            <a:endParaRPr lang="en-US" altLang="ko-KR" sz="1000" dirty="0"/>
          </a:p>
        </p:txBody>
      </p:sp>
      <p:sp>
        <p:nvSpPr>
          <p:cNvPr id="21" name="사각형: 둥근 모서리 114">
            <a:extLst>
              <a:ext uri="{FF2B5EF4-FFF2-40B4-BE49-F238E27FC236}">
                <a16:creationId xmlns:a16="http://schemas.microsoft.com/office/drawing/2014/main" id="{0CF1256F-48B5-E3BC-809E-1547F0B3BD1B}"/>
              </a:ext>
            </a:extLst>
          </p:cNvPr>
          <p:cNvSpPr/>
          <p:nvPr/>
        </p:nvSpPr>
        <p:spPr>
          <a:xfrm>
            <a:off x="1205028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C779C078-1A3C-CFAB-4BDE-75EA02082934}"/>
              </a:ext>
            </a:extLst>
          </p:cNvPr>
          <p:cNvSpPr/>
          <p:nvPr/>
        </p:nvSpPr>
        <p:spPr>
          <a:xfrm>
            <a:off x="2469823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23" name="사각형: 둥근 모서리 114">
            <a:extLst>
              <a:ext uri="{FF2B5EF4-FFF2-40B4-BE49-F238E27FC236}">
                <a16:creationId xmlns:a16="http://schemas.microsoft.com/office/drawing/2014/main" id="{699B2A8F-2D30-28E7-D8D8-E1C7258B7794}"/>
              </a:ext>
            </a:extLst>
          </p:cNvPr>
          <p:cNvSpPr/>
          <p:nvPr/>
        </p:nvSpPr>
        <p:spPr>
          <a:xfrm>
            <a:off x="3729801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E89B1183-E878-A796-E2F9-02B4DAA10150}"/>
              </a:ext>
            </a:extLst>
          </p:cNvPr>
          <p:cNvSpPr/>
          <p:nvPr/>
        </p:nvSpPr>
        <p:spPr>
          <a:xfrm>
            <a:off x="4984271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cxnSp>
        <p:nvCxnSpPr>
          <p:cNvPr id="25" name="직선 연결선 20">
            <a:extLst>
              <a:ext uri="{FF2B5EF4-FFF2-40B4-BE49-F238E27FC236}">
                <a16:creationId xmlns:a16="http://schemas.microsoft.com/office/drawing/2014/main" id="{67DDC718-842A-9316-D673-AD099097BA97}"/>
              </a:ext>
            </a:extLst>
          </p:cNvPr>
          <p:cNvCxnSpPr>
            <a:cxnSpLocks/>
            <a:stCxn id="22" idx="2"/>
            <a:endCxn id="13" idx="0"/>
          </p:cNvCxnSpPr>
          <p:nvPr/>
        </p:nvCxnSpPr>
        <p:spPr>
          <a:xfrm flipH="1">
            <a:off x="3008489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114">
            <a:extLst>
              <a:ext uri="{FF2B5EF4-FFF2-40B4-BE49-F238E27FC236}">
                <a16:creationId xmlns:a16="http://schemas.microsoft.com/office/drawing/2014/main" id="{5B0EBC8E-2CCB-1111-859D-1ADB16C1F531}"/>
              </a:ext>
            </a:extLst>
          </p:cNvPr>
          <p:cNvSpPr/>
          <p:nvPr/>
        </p:nvSpPr>
        <p:spPr>
          <a:xfrm>
            <a:off x="1205028" y="2324202"/>
            <a:ext cx="4862083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27" name="직선 연결선 17">
            <a:extLst>
              <a:ext uri="{FF2B5EF4-FFF2-40B4-BE49-F238E27FC236}">
                <a16:creationId xmlns:a16="http://schemas.microsoft.com/office/drawing/2014/main" id="{40D57D5B-8F45-B4EB-D8F3-3B275071FDB8}"/>
              </a:ext>
            </a:extLst>
          </p:cNvPr>
          <p:cNvCxnSpPr>
            <a:cxnSpLocks/>
            <a:stCxn id="21" idx="2"/>
            <a:endCxn id="12" idx="0"/>
          </p:cNvCxnSpPr>
          <p:nvPr/>
        </p:nvCxnSpPr>
        <p:spPr>
          <a:xfrm>
            <a:off x="1746102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17">
            <a:extLst>
              <a:ext uri="{FF2B5EF4-FFF2-40B4-BE49-F238E27FC236}">
                <a16:creationId xmlns:a16="http://schemas.microsoft.com/office/drawing/2014/main" id="{A20B2EB8-D841-2591-E210-CCC5CE9DA94A}"/>
              </a:ext>
            </a:extLst>
          </p:cNvPr>
          <p:cNvCxnSpPr>
            <a:cxnSpLocks/>
            <a:stCxn id="23" idx="2"/>
            <a:endCxn id="18" idx="0"/>
          </p:cNvCxnSpPr>
          <p:nvPr/>
        </p:nvCxnSpPr>
        <p:spPr>
          <a:xfrm flipH="1">
            <a:off x="4268467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6">
            <a:extLst>
              <a:ext uri="{FF2B5EF4-FFF2-40B4-BE49-F238E27FC236}">
                <a16:creationId xmlns:a16="http://schemas.microsoft.com/office/drawing/2014/main" id="{BAA8F3B6-7F7E-331C-24EF-44B020C5D07A}"/>
              </a:ext>
            </a:extLst>
          </p:cNvPr>
          <p:cNvCxnSpPr>
            <a:cxnSpLocks/>
            <a:stCxn id="24" idx="2"/>
            <a:endCxn id="19" idx="0"/>
          </p:cNvCxnSpPr>
          <p:nvPr/>
        </p:nvCxnSpPr>
        <p:spPr>
          <a:xfrm>
            <a:off x="5525345" y="3179292"/>
            <a:ext cx="3101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연결선 17">
            <a:extLst>
              <a:ext uri="{FF2B5EF4-FFF2-40B4-BE49-F238E27FC236}">
                <a16:creationId xmlns:a16="http://schemas.microsoft.com/office/drawing/2014/main" id="{0C511136-323E-BC7A-64DA-93223CB8219F}"/>
              </a:ext>
            </a:extLst>
          </p:cNvPr>
          <p:cNvCxnSpPr>
            <a:cxnSpLocks/>
            <a:stCxn id="74" idx="2"/>
            <a:endCxn id="21" idx="0"/>
          </p:cNvCxnSpPr>
          <p:nvPr/>
        </p:nvCxnSpPr>
        <p:spPr>
          <a:xfrm>
            <a:off x="1584555" y="2056409"/>
            <a:ext cx="161547" cy="739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670BFEEC-1A34-44E5-6762-6C7FD7A5A5BA}"/>
              </a:ext>
            </a:extLst>
          </p:cNvPr>
          <p:cNvSpPr txBox="1"/>
          <p:nvPr/>
        </p:nvSpPr>
        <p:spPr>
          <a:xfrm>
            <a:off x="784256" y="2157133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cxnSp>
        <p:nvCxnSpPr>
          <p:cNvPr id="39" name="직선 연결선 17">
            <a:extLst>
              <a:ext uri="{FF2B5EF4-FFF2-40B4-BE49-F238E27FC236}">
                <a16:creationId xmlns:a16="http://schemas.microsoft.com/office/drawing/2014/main" id="{E0E3CEC2-FF44-8DBE-3D73-86B5C8A185B0}"/>
              </a:ext>
            </a:extLst>
          </p:cNvPr>
          <p:cNvCxnSpPr>
            <a:cxnSpLocks/>
            <a:stCxn id="48" idx="2"/>
            <a:endCxn id="22" idx="0"/>
          </p:cNvCxnSpPr>
          <p:nvPr/>
        </p:nvCxnSpPr>
        <p:spPr>
          <a:xfrm>
            <a:off x="3007252" y="2066253"/>
            <a:ext cx="3645" cy="72981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연결선 17">
            <a:extLst>
              <a:ext uri="{FF2B5EF4-FFF2-40B4-BE49-F238E27FC236}">
                <a16:creationId xmlns:a16="http://schemas.microsoft.com/office/drawing/2014/main" id="{07E75162-F5E3-906A-3637-9A049CA0ECC5}"/>
              </a:ext>
            </a:extLst>
          </p:cNvPr>
          <p:cNvCxnSpPr>
            <a:cxnSpLocks/>
            <a:stCxn id="49" idx="2"/>
            <a:endCxn id="23" idx="0"/>
          </p:cNvCxnSpPr>
          <p:nvPr/>
        </p:nvCxnSpPr>
        <p:spPr>
          <a:xfrm>
            <a:off x="4208786" y="2066253"/>
            <a:ext cx="62089" cy="72981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연결선 17">
            <a:extLst>
              <a:ext uri="{FF2B5EF4-FFF2-40B4-BE49-F238E27FC236}">
                <a16:creationId xmlns:a16="http://schemas.microsoft.com/office/drawing/2014/main" id="{B22E850F-D010-77DC-4758-1C3B2E2CAC55}"/>
              </a:ext>
            </a:extLst>
          </p:cNvPr>
          <p:cNvCxnSpPr>
            <a:cxnSpLocks/>
            <a:stCxn id="5" idx="2"/>
            <a:endCxn id="24" idx="0"/>
          </p:cNvCxnSpPr>
          <p:nvPr/>
        </p:nvCxnSpPr>
        <p:spPr>
          <a:xfrm flipH="1">
            <a:off x="5525345" y="2056409"/>
            <a:ext cx="139823" cy="739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17">
            <a:extLst>
              <a:ext uri="{FF2B5EF4-FFF2-40B4-BE49-F238E27FC236}">
                <a16:creationId xmlns:a16="http://schemas.microsoft.com/office/drawing/2014/main" id="{0667FD6C-D4C9-9E3D-82E8-B0835080EFB8}"/>
              </a:ext>
            </a:extLst>
          </p:cNvPr>
          <p:cNvCxnSpPr>
            <a:cxnSpLocks/>
            <a:stCxn id="6" idx="2"/>
            <a:endCxn id="26" idx="0"/>
          </p:cNvCxnSpPr>
          <p:nvPr/>
        </p:nvCxnSpPr>
        <p:spPr>
          <a:xfrm flipH="1">
            <a:off x="3636070" y="1586083"/>
            <a:ext cx="2029097" cy="73811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17">
            <a:extLst>
              <a:ext uri="{FF2B5EF4-FFF2-40B4-BE49-F238E27FC236}">
                <a16:creationId xmlns:a16="http://schemas.microsoft.com/office/drawing/2014/main" id="{FB53275A-BEC2-53D2-923A-801353B6ECE7}"/>
              </a:ext>
            </a:extLst>
          </p:cNvPr>
          <p:cNvCxnSpPr>
            <a:cxnSpLocks/>
            <a:stCxn id="53" idx="2"/>
            <a:endCxn id="26" idx="0"/>
          </p:cNvCxnSpPr>
          <p:nvPr/>
        </p:nvCxnSpPr>
        <p:spPr>
          <a:xfrm>
            <a:off x="3607986" y="1595928"/>
            <a:ext cx="28084" cy="72827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17">
            <a:extLst>
              <a:ext uri="{FF2B5EF4-FFF2-40B4-BE49-F238E27FC236}">
                <a16:creationId xmlns:a16="http://schemas.microsoft.com/office/drawing/2014/main" id="{54E84842-C09C-085B-CE58-5ADBA6397BFC}"/>
              </a:ext>
            </a:extLst>
          </p:cNvPr>
          <p:cNvCxnSpPr>
            <a:cxnSpLocks/>
            <a:stCxn id="75" idx="2"/>
            <a:endCxn id="26" idx="0"/>
          </p:cNvCxnSpPr>
          <p:nvPr/>
        </p:nvCxnSpPr>
        <p:spPr>
          <a:xfrm>
            <a:off x="1584554" y="1586083"/>
            <a:ext cx="2051516" cy="73811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B4D5A383-C1CC-7E4B-440C-C186CFF4B014}"/>
              </a:ext>
            </a:extLst>
          </p:cNvPr>
          <p:cNvSpPr txBox="1"/>
          <p:nvPr/>
        </p:nvSpPr>
        <p:spPr>
          <a:xfrm>
            <a:off x="6444074" y="2973537"/>
            <a:ext cx="1665290" cy="1769715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PodB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ContainerC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357A40B-E5F1-D6AF-96CD-52DD85FD0C72}"/>
              </a:ext>
            </a:extLst>
          </p:cNvPr>
          <p:cNvSpPr txBox="1"/>
          <p:nvPr/>
        </p:nvSpPr>
        <p:spPr>
          <a:xfrm>
            <a:off x="6444074" y="372825"/>
            <a:ext cx="1665290" cy="260071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PodA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cs typeface="Al Bayan Plain" pitchFamily="2" charset="-78"/>
              </a:rPr>
              <a:t>     - name: ContainerB</a:t>
            </a:r>
          </a:p>
          <a:p>
            <a:r>
              <a:rPr lang="en-US" altLang="ko-KR" sz="900" kern="0" dirty="0">
                <a:cs typeface="Al Bayan Plain" pitchFamily="2" charset="-78"/>
              </a:rPr>
              <a:t>       resources: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</p:spTree>
    <p:extLst>
      <p:ext uri="{BB962C8B-B14F-4D97-AF65-F5344CB8AC3E}">
        <p14:creationId xmlns:p14="http://schemas.microsoft.com/office/powerpoint/2010/main" val="7542658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17">
            <a:extLst>
              <a:ext uri="{FF2B5EF4-FFF2-40B4-BE49-F238E27FC236}">
                <a16:creationId xmlns:a16="http://schemas.microsoft.com/office/drawing/2014/main" id="{E230E7AA-2F9E-D6DE-1E47-247F40BB0A95}"/>
              </a:ext>
            </a:extLst>
          </p:cNvPr>
          <p:cNvSpPr/>
          <p:nvPr/>
        </p:nvSpPr>
        <p:spPr>
          <a:xfrm flipH="1">
            <a:off x="971602" y="2507913"/>
            <a:ext cx="5112568" cy="2368093"/>
          </a:xfrm>
          <a:prstGeom prst="roundRect">
            <a:avLst>
              <a:gd name="adj" fmla="val 5713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t"/>
          <a:lstStyle/>
          <a:p>
            <a:r>
              <a:rPr lang="en-US" sz="1000" b="1" dirty="0">
                <a:solidFill>
                  <a:schemeClr val="tx1"/>
                </a:solidFill>
              </a:rPr>
              <a:t>NVIDIA </a:t>
            </a:r>
          </a:p>
          <a:p>
            <a:r>
              <a:rPr lang="en-US" sz="1000" b="1" dirty="0">
                <a:solidFill>
                  <a:schemeClr val="tx1"/>
                </a:solidFill>
              </a:rPr>
              <a:t>GPU Node</a:t>
            </a:r>
            <a:endParaRPr lang="en-KR" sz="1000" b="1" dirty="0">
              <a:solidFill>
                <a:schemeClr val="tx1"/>
              </a:solidFill>
            </a:endParaRPr>
          </a:p>
        </p:txBody>
      </p:sp>
      <p:grpSp>
        <p:nvGrpSpPr>
          <p:cNvPr id="2" name="Group 18">
            <a:extLst>
              <a:ext uri="{FF2B5EF4-FFF2-40B4-BE49-F238E27FC236}">
                <a16:creationId xmlns:a16="http://schemas.microsoft.com/office/drawing/2014/main" id="{3D60D388-233D-1AA2-E811-051E720F3968}"/>
              </a:ext>
            </a:extLst>
          </p:cNvPr>
          <p:cNvGrpSpPr/>
          <p:nvPr/>
        </p:nvGrpSpPr>
        <p:grpSpPr>
          <a:xfrm flipH="1">
            <a:off x="1852107" y="4031119"/>
            <a:ext cx="1463038" cy="605106"/>
            <a:chOff x="4854687" y="4196486"/>
            <a:chExt cx="1463038" cy="702501"/>
          </a:xfrm>
          <a:solidFill>
            <a:schemeClr val="bg1"/>
          </a:solidFill>
        </p:grpSpPr>
        <p:sp>
          <p:nvSpPr>
            <p:cNvPr id="3" name="Rounded Rectangle 3">
              <a:extLst>
                <a:ext uri="{FF2B5EF4-FFF2-40B4-BE49-F238E27FC236}">
                  <a16:creationId xmlns:a16="http://schemas.microsoft.com/office/drawing/2014/main" id="{9C88CC54-2142-7874-3021-51DDDB8BEC24}"/>
                </a:ext>
              </a:extLst>
            </p:cNvPr>
            <p:cNvSpPr/>
            <p:nvPr/>
          </p:nvSpPr>
          <p:spPr>
            <a:xfrm>
              <a:off x="5033212" y="419648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4" name="Rounded Rectangle 7">
              <a:extLst>
                <a:ext uri="{FF2B5EF4-FFF2-40B4-BE49-F238E27FC236}">
                  <a16:creationId xmlns:a16="http://schemas.microsoft.com/office/drawing/2014/main" id="{433E3234-1F7D-3F9F-17BA-ABD8DD33A884}"/>
                </a:ext>
              </a:extLst>
            </p:cNvPr>
            <p:cNvSpPr/>
            <p:nvPr/>
          </p:nvSpPr>
          <p:spPr>
            <a:xfrm>
              <a:off x="4945445" y="4276371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5" name="Rounded Rectangle 16">
              <a:extLst>
                <a:ext uri="{FF2B5EF4-FFF2-40B4-BE49-F238E27FC236}">
                  <a16:creationId xmlns:a16="http://schemas.microsoft.com/office/drawing/2014/main" id="{62520089-E71E-CD7A-1B8B-1019109CEF36}"/>
                </a:ext>
              </a:extLst>
            </p:cNvPr>
            <p:cNvSpPr/>
            <p:nvPr/>
          </p:nvSpPr>
          <p:spPr>
            <a:xfrm>
              <a:off x="4854687" y="436345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</p:grpSp>
      <p:sp>
        <p:nvSpPr>
          <p:cNvPr id="7" name="Rounded Rectangle 17">
            <a:extLst>
              <a:ext uri="{FF2B5EF4-FFF2-40B4-BE49-F238E27FC236}">
                <a16:creationId xmlns:a16="http://schemas.microsoft.com/office/drawing/2014/main" id="{7CBA6587-13E2-9ADD-7890-3502C479E962}"/>
              </a:ext>
            </a:extLst>
          </p:cNvPr>
          <p:cNvSpPr/>
          <p:nvPr/>
        </p:nvSpPr>
        <p:spPr>
          <a:xfrm flipH="1">
            <a:off x="1852107" y="3057559"/>
            <a:ext cx="1553796" cy="461285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</a:t>
            </a:r>
            <a:r>
              <a:rPr lang="en-US" sz="1000" dirty="0">
                <a:solidFill>
                  <a:schemeClr val="tx1"/>
                </a:solidFill>
              </a:rPr>
              <a:t>Device Plugin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(DaemonSet Pod)</a:t>
            </a:r>
            <a:endParaRPr lang="en-KR" sz="1000" dirty="0">
              <a:solidFill>
                <a:schemeClr val="tx1"/>
              </a:solidFill>
            </a:endParaRPr>
          </a:p>
        </p:txBody>
      </p:sp>
      <p:sp>
        <p:nvSpPr>
          <p:cNvPr id="8" name="Rounded Rectangle 17">
            <a:extLst>
              <a:ext uri="{FF2B5EF4-FFF2-40B4-BE49-F238E27FC236}">
                <a16:creationId xmlns:a16="http://schemas.microsoft.com/office/drawing/2014/main" id="{8558285C-F719-14C5-57E3-AB0DEBC8A263}"/>
              </a:ext>
            </a:extLst>
          </p:cNvPr>
          <p:cNvSpPr/>
          <p:nvPr/>
        </p:nvSpPr>
        <p:spPr>
          <a:xfrm flipH="1">
            <a:off x="4914198" y="3057559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kubelet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F07FD465-DCD6-5DFB-37E1-D6F6C809D2AA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2629005" y="3518844"/>
            <a:ext cx="134641" cy="733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D17D82C2-0AE5-79E0-678D-2D4BE77E0E27}"/>
              </a:ext>
            </a:extLst>
          </p:cNvPr>
          <p:cNvCxnSpPr>
            <a:cxnSpLocks/>
            <a:stCxn id="7" idx="2"/>
            <a:endCxn id="5" idx="0"/>
          </p:cNvCxnSpPr>
          <p:nvPr/>
        </p:nvCxnSpPr>
        <p:spPr>
          <a:xfrm>
            <a:off x="2629005" y="3518844"/>
            <a:ext cx="43883" cy="65609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5B56CD6A-3DBB-CADC-3D2E-6F5F609933FB}"/>
              </a:ext>
            </a:extLst>
          </p:cNvPr>
          <p:cNvCxnSpPr>
            <a:cxnSpLocks/>
            <a:stCxn id="7" idx="2"/>
            <a:endCxn id="4" idx="0"/>
          </p:cNvCxnSpPr>
          <p:nvPr/>
        </p:nvCxnSpPr>
        <p:spPr>
          <a:xfrm flipH="1">
            <a:off x="2582130" y="3518844"/>
            <a:ext cx="46875" cy="5810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5770D2D1-C9B1-A73F-C73E-83CF486C4DD2}"/>
              </a:ext>
            </a:extLst>
          </p:cNvPr>
          <p:cNvCxnSpPr>
            <a:cxnSpLocks/>
            <a:stCxn id="7" idx="2"/>
            <a:endCxn id="3" idx="0"/>
          </p:cNvCxnSpPr>
          <p:nvPr/>
        </p:nvCxnSpPr>
        <p:spPr>
          <a:xfrm flipH="1">
            <a:off x="2494363" y="3518844"/>
            <a:ext cx="134642" cy="5122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88BEDEE9-3E34-84B4-AADB-72A368C77D7D}"/>
              </a:ext>
            </a:extLst>
          </p:cNvPr>
          <p:cNvCxnSpPr>
            <a:cxnSpLocks/>
          </p:cNvCxnSpPr>
          <p:nvPr/>
        </p:nvCxnSpPr>
        <p:spPr>
          <a:xfrm>
            <a:off x="3405903" y="3180670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6612D680-25F7-28AD-C551-7D5963D60AF7}"/>
              </a:ext>
            </a:extLst>
          </p:cNvPr>
          <p:cNvSpPr txBox="1"/>
          <p:nvPr/>
        </p:nvSpPr>
        <p:spPr>
          <a:xfrm flipH="1">
            <a:off x="1331374" y="3578665"/>
            <a:ext cx="12170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2. Scan &amp; </a:t>
            </a:r>
            <a:br>
              <a:rPr kumimoji="1" lang="en-US" altLang="ko-KR" sz="1000" i="1"/>
            </a:br>
            <a:r>
              <a:rPr kumimoji="1" lang="en-US" altLang="ko-KR" sz="1000" i="1"/>
              <a:t>health check GPU</a:t>
            </a:r>
            <a:endParaRPr kumimoji="1" lang="ko-KR" altLang="en-US" sz="1000" i="1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A3F9EED-B5A6-C870-261D-B7427A11370B}"/>
              </a:ext>
            </a:extLst>
          </p:cNvPr>
          <p:cNvSpPr txBox="1"/>
          <p:nvPr/>
        </p:nvSpPr>
        <p:spPr>
          <a:xfrm flipH="1">
            <a:off x="1632578" y="2507913"/>
            <a:ext cx="199285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1. Start gRPC server</a:t>
            </a:r>
            <a:br>
              <a:rPr kumimoji="1" lang="en-US" altLang="ko-KR" sz="1000" i="1"/>
            </a:br>
            <a:r>
              <a:rPr kumimoji="1" lang="en-US" altLang="ko-KR" sz="1000" i="1"/>
              <a:t>with /var/lib/kubelet/</a:t>
            </a:r>
            <a:br>
              <a:rPr kumimoji="1" lang="en-US" altLang="ko-KR" sz="1000" i="1"/>
            </a:br>
            <a:r>
              <a:rPr kumimoji="1" lang="en-US" altLang="ko-KR" sz="1000" i="1"/>
              <a:t>device-plugins/nvidia-gpu.sock</a:t>
            </a:r>
            <a:endParaRPr kumimoji="1" lang="ko-KR" altLang="en-US" sz="1000" i="1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30D0C3D-C804-C81D-4ECD-0ABF3CE642C7}"/>
              </a:ext>
            </a:extLst>
          </p:cNvPr>
          <p:cNvSpPr txBox="1"/>
          <p:nvPr/>
        </p:nvSpPr>
        <p:spPr>
          <a:xfrm flipH="1">
            <a:off x="3707909" y="2506068"/>
            <a:ext cx="214239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3. </a:t>
            </a:r>
            <a:r>
              <a:rPr kumimoji="1" lang="en-US" altLang="ko-KR" sz="1000" b="1" i="1"/>
              <a:t>Register() </a:t>
            </a:r>
            <a:r>
              <a:rPr kumimoji="1" lang="en-US" altLang="ko-KR" sz="1000" i="1"/>
              <a:t>GPUs</a:t>
            </a:r>
          </a:p>
          <a:p>
            <a:r>
              <a:rPr kumimoji="1" lang="en-US" altLang="ko-KR" sz="1000" i="1"/>
              <a:t>via </a:t>
            </a:r>
            <a:r>
              <a:rPr lang="en" altLang="ko-KR" sz="1000"/>
              <a:t>/var/lib/kubelet/device-plugins/kubelet.sock</a:t>
            </a:r>
            <a:endParaRPr kumimoji="1" lang="en-US" altLang="ko-KR" sz="1000" i="1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55ABB838-183D-55FD-9F29-E1CF706FCC26}"/>
              </a:ext>
            </a:extLst>
          </p:cNvPr>
          <p:cNvCxnSpPr>
            <a:cxnSpLocks/>
          </p:cNvCxnSpPr>
          <p:nvPr/>
        </p:nvCxnSpPr>
        <p:spPr>
          <a:xfrm>
            <a:off x="3405903" y="3363838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956E2F7E-CD68-56E8-5828-62B45AAD5499}"/>
              </a:ext>
            </a:extLst>
          </p:cNvPr>
          <p:cNvSpPr txBox="1"/>
          <p:nvPr/>
        </p:nvSpPr>
        <p:spPr>
          <a:xfrm flipH="1">
            <a:off x="3359028" y="3366346"/>
            <a:ext cx="203132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4. </a:t>
            </a:r>
            <a:r>
              <a:rPr kumimoji="1" lang="en-US" altLang="ko-KR" sz="1000" b="1" i="1"/>
              <a:t>ListAndWatch()</a:t>
            </a:r>
            <a:r>
              <a:rPr kumimoji="1" lang="ko-KR" altLang="en-US" sz="1000" i="1"/>
              <a:t> </a:t>
            </a:r>
            <a:r>
              <a:rPr kumimoji="1" lang="en-US" altLang="ko-KR" sz="1000" i="1"/>
              <a:t>GPUs</a:t>
            </a:r>
            <a:endParaRPr kumimoji="1" lang="en-US" altLang="ko-KR" sz="1000" b="1" i="1"/>
          </a:p>
          <a:p>
            <a:r>
              <a:rPr kumimoji="1" lang="en-US" altLang="ko-KR" sz="1000" i="1"/>
              <a:t>via var/lib/kubelet/</a:t>
            </a:r>
            <a:br>
              <a:rPr kumimoji="1" lang="en-US" altLang="ko-KR" sz="1000" i="1"/>
            </a:br>
            <a:r>
              <a:rPr kumimoji="1" lang="en-US" altLang="ko-KR" sz="1000" i="1"/>
              <a:t>device-plugins/nvidia-gpu.sock</a:t>
            </a:r>
            <a:endParaRPr kumimoji="1" lang="ko-KR" altLang="en-US" sz="1000" i="1"/>
          </a:p>
        </p:txBody>
      </p:sp>
      <p:sp>
        <p:nvSpPr>
          <p:cNvPr id="43" name="Rounded Rectangle 17">
            <a:extLst>
              <a:ext uri="{FF2B5EF4-FFF2-40B4-BE49-F238E27FC236}">
                <a16:creationId xmlns:a16="http://schemas.microsoft.com/office/drawing/2014/main" id="{DACC4DB1-BEDF-3EC0-4B8B-1564E28355E3}"/>
              </a:ext>
            </a:extLst>
          </p:cNvPr>
          <p:cNvSpPr/>
          <p:nvPr/>
        </p:nvSpPr>
        <p:spPr>
          <a:xfrm flipH="1">
            <a:off x="4914198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API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Server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6B0000FF-CE53-E139-D5B1-C511CF0005F5}"/>
              </a:ext>
            </a:extLst>
          </p:cNvPr>
          <p:cNvCxnSpPr>
            <a:cxnSpLocks/>
            <a:stCxn id="8" idx="0"/>
            <a:endCxn id="43" idx="2"/>
          </p:cNvCxnSpPr>
          <p:nvPr/>
        </p:nvCxnSpPr>
        <p:spPr>
          <a:xfrm flipV="1">
            <a:off x="5418254" y="598826"/>
            <a:ext cx="0" cy="24587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Rounded Rectangle 17">
            <a:extLst>
              <a:ext uri="{FF2B5EF4-FFF2-40B4-BE49-F238E27FC236}">
                <a16:creationId xmlns:a16="http://schemas.microsoft.com/office/drawing/2014/main" id="{44983ACF-45FE-B652-8DE9-063213F2BBCC}"/>
              </a:ext>
            </a:extLst>
          </p:cNvPr>
          <p:cNvSpPr/>
          <p:nvPr/>
        </p:nvSpPr>
        <p:spPr>
          <a:xfrm flipH="1">
            <a:off x="4914198" y="4185332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Pod with GPU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98" name="직선 화살표 연결선 97">
            <a:extLst>
              <a:ext uri="{FF2B5EF4-FFF2-40B4-BE49-F238E27FC236}">
                <a16:creationId xmlns:a16="http://schemas.microsoft.com/office/drawing/2014/main" id="{93B7A83F-2951-ACBE-50BB-BD2447EE1EF0}"/>
              </a:ext>
            </a:extLst>
          </p:cNvPr>
          <p:cNvCxnSpPr>
            <a:cxnSpLocks/>
            <a:stCxn id="92" idx="3"/>
          </p:cNvCxnSpPr>
          <p:nvPr/>
        </p:nvCxnSpPr>
        <p:spPr>
          <a:xfrm flipH="1">
            <a:off x="3405903" y="4415975"/>
            <a:ext cx="1508295" cy="67126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69450F2C-FF4C-0797-1836-7E1A9B2EC6FF}"/>
              </a:ext>
            </a:extLst>
          </p:cNvPr>
          <p:cNvCxnSpPr>
            <a:cxnSpLocks/>
            <a:stCxn id="92" idx="3"/>
          </p:cNvCxnSpPr>
          <p:nvPr/>
        </p:nvCxnSpPr>
        <p:spPr>
          <a:xfrm flipH="1" flipV="1">
            <a:off x="3312154" y="4405582"/>
            <a:ext cx="1602044" cy="10393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7">
            <a:extLst>
              <a:ext uri="{FF2B5EF4-FFF2-40B4-BE49-F238E27FC236}">
                <a16:creationId xmlns:a16="http://schemas.microsoft.com/office/drawing/2014/main" id="{3CCE009E-337E-351D-BE95-4A1AAB866927}"/>
              </a:ext>
            </a:extLst>
          </p:cNvPr>
          <p:cNvSpPr/>
          <p:nvPr/>
        </p:nvSpPr>
        <p:spPr>
          <a:xfrm flipH="1">
            <a:off x="2121390" y="4252458"/>
            <a:ext cx="1284513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GPUs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B228448-171A-153D-6834-069CB821A3F8}"/>
              </a:ext>
            </a:extLst>
          </p:cNvPr>
          <p:cNvSpPr txBox="1"/>
          <p:nvPr/>
        </p:nvSpPr>
        <p:spPr>
          <a:xfrm flipH="1">
            <a:off x="4139961" y="1168060"/>
            <a:ext cx="1278293" cy="1215717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Node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…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status: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allocatable: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capacity: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</p:txBody>
      </p:sp>
      <p:sp>
        <p:nvSpPr>
          <p:cNvPr id="13" name="사각형: 둥근 모서리 71">
            <a:extLst>
              <a:ext uri="{FF2B5EF4-FFF2-40B4-BE49-F238E27FC236}">
                <a16:creationId xmlns:a16="http://schemas.microsoft.com/office/drawing/2014/main" id="{EA5EFDD0-36F1-C39E-255F-3FAAA31BCB21}"/>
              </a:ext>
            </a:extLst>
          </p:cNvPr>
          <p:cNvSpPr/>
          <p:nvPr/>
        </p:nvSpPr>
        <p:spPr>
          <a:xfrm flipH="1">
            <a:off x="3817499" y="704099"/>
            <a:ext cx="1741239" cy="460362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5. Patch node’s allocatable and capacity</a:t>
            </a:r>
          </a:p>
          <a:p>
            <a:pPr algn="ctr"/>
            <a:r>
              <a:rPr lang="en-US" altLang="ko-KR" sz="1000" i="1"/>
              <a:t>with GPU </a:t>
            </a:r>
            <a:endParaRPr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7231302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E8B716-1926-3644-A3C6-FAB171730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ounded Rectangle 17">
            <a:extLst>
              <a:ext uri="{FF2B5EF4-FFF2-40B4-BE49-F238E27FC236}">
                <a16:creationId xmlns:a16="http://schemas.microsoft.com/office/drawing/2014/main" id="{9AC7DCAB-800A-F9D2-8DA2-09CDABCDA994}"/>
              </a:ext>
            </a:extLst>
          </p:cNvPr>
          <p:cNvSpPr/>
          <p:nvPr/>
        </p:nvSpPr>
        <p:spPr>
          <a:xfrm flipH="1">
            <a:off x="971602" y="2507913"/>
            <a:ext cx="5112568" cy="2368093"/>
          </a:xfrm>
          <a:prstGeom prst="roundRect">
            <a:avLst>
              <a:gd name="adj" fmla="val 5713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t"/>
          <a:lstStyle/>
          <a:p>
            <a:r>
              <a:rPr lang="en-US" sz="1000" b="1" dirty="0">
                <a:solidFill>
                  <a:schemeClr val="tx1"/>
                </a:solidFill>
              </a:rPr>
              <a:t>NVIDIA </a:t>
            </a:r>
          </a:p>
          <a:p>
            <a:r>
              <a:rPr lang="en-US" sz="1000" b="1" dirty="0">
                <a:solidFill>
                  <a:schemeClr val="tx1"/>
                </a:solidFill>
              </a:rPr>
              <a:t>GPU Node</a:t>
            </a:r>
            <a:endParaRPr lang="en-KR" sz="1000" b="1" dirty="0">
              <a:solidFill>
                <a:schemeClr val="tx1"/>
              </a:solidFill>
            </a:endParaRPr>
          </a:p>
        </p:txBody>
      </p:sp>
      <p:grpSp>
        <p:nvGrpSpPr>
          <p:cNvPr id="2" name="Group 18">
            <a:extLst>
              <a:ext uri="{FF2B5EF4-FFF2-40B4-BE49-F238E27FC236}">
                <a16:creationId xmlns:a16="http://schemas.microsoft.com/office/drawing/2014/main" id="{0A5EB036-3619-C3D3-DEC9-6B6855A7B6FE}"/>
              </a:ext>
            </a:extLst>
          </p:cNvPr>
          <p:cNvGrpSpPr/>
          <p:nvPr/>
        </p:nvGrpSpPr>
        <p:grpSpPr>
          <a:xfrm flipH="1">
            <a:off x="1852107" y="4031119"/>
            <a:ext cx="1463038" cy="605106"/>
            <a:chOff x="4854687" y="4196486"/>
            <a:chExt cx="1463038" cy="702501"/>
          </a:xfrm>
          <a:solidFill>
            <a:schemeClr val="bg1"/>
          </a:solidFill>
        </p:grpSpPr>
        <p:sp>
          <p:nvSpPr>
            <p:cNvPr id="3" name="Rounded Rectangle 3">
              <a:extLst>
                <a:ext uri="{FF2B5EF4-FFF2-40B4-BE49-F238E27FC236}">
                  <a16:creationId xmlns:a16="http://schemas.microsoft.com/office/drawing/2014/main" id="{B5B990D2-CAB4-79D5-BA86-A33682804A33}"/>
                </a:ext>
              </a:extLst>
            </p:cNvPr>
            <p:cNvSpPr/>
            <p:nvPr/>
          </p:nvSpPr>
          <p:spPr>
            <a:xfrm>
              <a:off x="5033212" y="419648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4" name="Rounded Rectangle 7">
              <a:extLst>
                <a:ext uri="{FF2B5EF4-FFF2-40B4-BE49-F238E27FC236}">
                  <a16:creationId xmlns:a16="http://schemas.microsoft.com/office/drawing/2014/main" id="{B010C308-461C-6FDD-F5BF-8AB82C1145A8}"/>
                </a:ext>
              </a:extLst>
            </p:cNvPr>
            <p:cNvSpPr/>
            <p:nvPr/>
          </p:nvSpPr>
          <p:spPr>
            <a:xfrm>
              <a:off x="4945445" y="4276371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5" name="Rounded Rectangle 16">
              <a:extLst>
                <a:ext uri="{FF2B5EF4-FFF2-40B4-BE49-F238E27FC236}">
                  <a16:creationId xmlns:a16="http://schemas.microsoft.com/office/drawing/2014/main" id="{C6815C37-3EE6-B360-75F3-ECE1853F9FD7}"/>
                </a:ext>
              </a:extLst>
            </p:cNvPr>
            <p:cNvSpPr/>
            <p:nvPr/>
          </p:nvSpPr>
          <p:spPr>
            <a:xfrm>
              <a:off x="4854687" y="436345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</p:grpSp>
      <p:sp>
        <p:nvSpPr>
          <p:cNvPr id="7" name="Rounded Rectangle 17">
            <a:extLst>
              <a:ext uri="{FF2B5EF4-FFF2-40B4-BE49-F238E27FC236}">
                <a16:creationId xmlns:a16="http://schemas.microsoft.com/office/drawing/2014/main" id="{1EDDF8A2-F03B-85F1-3219-3CCFE047FC05}"/>
              </a:ext>
            </a:extLst>
          </p:cNvPr>
          <p:cNvSpPr/>
          <p:nvPr/>
        </p:nvSpPr>
        <p:spPr>
          <a:xfrm flipH="1">
            <a:off x="1852107" y="3057559"/>
            <a:ext cx="1553796" cy="461285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</a:t>
            </a:r>
            <a:r>
              <a:rPr lang="en-US" sz="1000" dirty="0">
                <a:solidFill>
                  <a:schemeClr val="tx1"/>
                </a:solidFill>
              </a:rPr>
              <a:t>Device Plugin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(DaemonSet Pod)</a:t>
            </a:r>
            <a:endParaRPr lang="en-KR" sz="1000" dirty="0">
              <a:solidFill>
                <a:schemeClr val="tx1"/>
              </a:solidFill>
            </a:endParaRPr>
          </a:p>
        </p:txBody>
      </p:sp>
      <p:sp>
        <p:nvSpPr>
          <p:cNvPr id="8" name="Rounded Rectangle 17">
            <a:extLst>
              <a:ext uri="{FF2B5EF4-FFF2-40B4-BE49-F238E27FC236}">
                <a16:creationId xmlns:a16="http://schemas.microsoft.com/office/drawing/2014/main" id="{5FCE30D2-0FCC-3FCA-972A-71E32F46F112}"/>
              </a:ext>
            </a:extLst>
          </p:cNvPr>
          <p:cNvSpPr/>
          <p:nvPr/>
        </p:nvSpPr>
        <p:spPr>
          <a:xfrm flipH="1">
            <a:off x="4914198" y="3057559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kubelet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2CAC7E52-139A-44A5-9171-78413F240EC0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2629005" y="3518844"/>
            <a:ext cx="134641" cy="733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25CB0154-55F9-74C4-E82F-C210DDE3B3CE}"/>
              </a:ext>
            </a:extLst>
          </p:cNvPr>
          <p:cNvCxnSpPr>
            <a:cxnSpLocks/>
            <a:stCxn id="7" idx="2"/>
            <a:endCxn id="5" idx="0"/>
          </p:cNvCxnSpPr>
          <p:nvPr/>
        </p:nvCxnSpPr>
        <p:spPr>
          <a:xfrm>
            <a:off x="2629005" y="3518844"/>
            <a:ext cx="43883" cy="65609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CC650D22-4D89-878B-BDC4-D412E03FB3DF}"/>
              </a:ext>
            </a:extLst>
          </p:cNvPr>
          <p:cNvCxnSpPr>
            <a:cxnSpLocks/>
            <a:stCxn id="7" idx="2"/>
            <a:endCxn id="4" idx="0"/>
          </p:cNvCxnSpPr>
          <p:nvPr/>
        </p:nvCxnSpPr>
        <p:spPr>
          <a:xfrm flipH="1">
            <a:off x="2582130" y="3518844"/>
            <a:ext cx="46875" cy="5810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D24E7283-4267-888F-B8D0-E8955712990F}"/>
              </a:ext>
            </a:extLst>
          </p:cNvPr>
          <p:cNvCxnSpPr>
            <a:cxnSpLocks/>
            <a:stCxn id="7" idx="2"/>
            <a:endCxn id="3" idx="0"/>
          </p:cNvCxnSpPr>
          <p:nvPr/>
        </p:nvCxnSpPr>
        <p:spPr>
          <a:xfrm flipH="1">
            <a:off x="2494363" y="3518844"/>
            <a:ext cx="134642" cy="5122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55A8F0E0-2F67-5F61-AC59-3FED09B8773C}"/>
              </a:ext>
            </a:extLst>
          </p:cNvPr>
          <p:cNvCxnSpPr>
            <a:cxnSpLocks/>
            <a:stCxn id="7" idx="1"/>
            <a:endCxn id="8" idx="3"/>
          </p:cNvCxnSpPr>
          <p:nvPr/>
        </p:nvCxnSpPr>
        <p:spPr>
          <a:xfrm>
            <a:off x="3405903" y="3288202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68C8DE8A-044B-80CF-3AA4-7F1E93DD324F}"/>
              </a:ext>
            </a:extLst>
          </p:cNvPr>
          <p:cNvSpPr txBox="1"/>
          <p:nvPr/>
        </p:nvSpPr>
        <p:spPr>
          <a:xfrm flipH="1">
            <a:off x="3405875" y="3281918"/>
            <a:ext cx="199285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4. </a:t>
            </a:r>
            <a:r>
              <a:rPr kumimoji="1" lang="en-US" altLang="ko-KR" sz="1000" b="1" i="1"/>
              <a:t>Allocate() </a:t>
            </a:r>
            <a:r>
              <a:rPr kumimoji="1" lang="en-US" altLang="ko-KR" sz="1000" i="1"/>
              <a:t>GPUs</a:t>
            </a:r>
          </a:p>
          <a:p>
            <a:r>
              <a:rPr kumimoji="1" lang="en-US" altLang="ko-KR" sz="1000" i="1"/>
              <a:t>via var/lib/kubelet/</a:t>
            </a:r>
            <a:br>
              <a:rPr kumimoji="1" lang="en-US" altLang="ko-KR" sz="1000" i="1"/>
            </a:br>
            <a:r>
              <a:rPr kumimoji="1" lang="en-US" altLang="ko-KR" sz="1000" i="1"/>
              <a:t>device-plugins/nvidia-gpu.sock</a:t>
            </a:r>
            <a:endParaRPr kumimoji="1" lang="ko-KR" altLang="en-US" sz="1000" i="1"/>
          </a:p>
        </p:txBody>
      </p:sp>
      <p:sp>
        <p:nvSpPr>
          <p:cNvPr id="43" name="Rounded Rectangle 17">
            <a:extLst>
              <a:ext uri="{FF2B5EF4-FFF2-40B4-BE49-F238E27FC236}">
                <a16:creationId xmlns:a16="http://schemas.microsoft.com/office/drawing/2014/main" id="{7BF463B9-34A6-AF02-187B-E5387EB78A4A}"/>
              </a:ext>
            </a:extLst>
          </p:cNvPr>
          <p:cNvSpPr/>
          <p:nvPr/>
        </p:nvSpPr>
        <p:spPr>
          <a:xfrm flipH="1">
            <a:off x="4914198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API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Server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9C783EE7-F231-BB4F-00DA-4B077DFF730B}"/>
              </a:ext>
            </a:extLst>
          </p:cNvPr>
          <p:cNvCxnSpPr>
            <a:cxnSpLocks/>
            <a:stCxn id="8" idx="0"/>
            <a:endCxn id="43" idx="2"/>
          </p:cNvCxnSpPr>
          <p:nvPr/>
        </p:nvCxnSpPr>
        <p:spPr>
          <a:xfrm flipV="1">
            <a:off x="5418254" y="598826"/>
            <a:ext cx="0" cy="24587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17">
            <a:extLst>
              <a:ext uri="{FF2B5EF4-FFF2-40B4-BE49-F238E27FC236}">
                <a16:creationId xmlns:a16="http://schemas.microsoft.com/office/drawing/2014/main" id="{5398320E-E2FC-6130-5A80-D4E3524367F3}"/>
              </a:ext>
            </a:extLst>
          </p:cNvPr>
          <p:cNvSpPr/>
          <p:nvPr/>
        </p:nvSpPr>
        <p:spPr>
          <a:xfrm flipH="1">
            <a:off x="1187625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Kubernetes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Client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52D151B3-171B-E4A2-56CB-61C0F0E43873}"/>
              </a:ext>
            </a:extLst>
          </p:cNvPr>
          <p:cNvCxnSpPr>
            <a:cxnSpLocks/>
            <a:stCxn id="60" idx="1"/>
            <a:endCxn id="43" idx="3"/>
          </p:cNvCxnSpPr>
          <p:nvPr/>
        </p:nvCxnSpPr>
        <p:spPr>
          <a:xfrm>
            <a:off x="2195737" y="368184"/>
            <a:ext cx="271846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B334B64C-A9B4-AEC7-193C-7CBF177F67D2}"/>
              </a:ext>
            </a:extLst>
          </p:cNvPr>
          <p:cNvSpPr txBox="1"/>
          <p:nvPr/>
        </p:nvSpPr>
        <p:spPr>
          <a:xfrm>
            <a:off x="2304962" y="367545"/>
            <a:ext cx="1512536" cy="1769715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gpu-app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sp>
        <p:nvSpPr>
          <p:cNvPr id="70" name="사각형: 둥근 모서리 71">
            <a:extLst>
              <a:ext uri="{FF2B5EF4-FFF2-40B4-BE49-F238E27FC236}">
                <a16:creationId xmlns:a16="http://schemas.microsoft.com/office/drawing/2014/main" id="{ACF5E18B-292C-AA38-714B-BB81DC5F478D}"/>
              </a:ext>
            </a:extLst>
          </p:cNvPr>
          <p:cNvSpPr/>
          <p:nvPr/>
        </p:nvSpPr>
        <p:spPr>
          <a:xfrm flipH="1">
            <a:off x="2190150" y="2138514"/>
            <a:ext cx="1741239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1. Create pod with GPU </a:t>
            </a:r>
            <a:endParaRPr lang="ko-KR" altLang="en-US" sz="1000" i="1"/>
          </a:p>
        </p:txBody>
      </p:sp>
      <p:sp>
        <p:nvSpPr>
          <p:cNvPr id="77" name="Rounded Rectangle 17">
            <a:extLst>
              <a:ext uri="{FF2B5EF4-FFF2-40B4-BE49-F238E27FC236}">
                <a16:creationId xmlns:a16="http://schemas.microsoft.com/office/drawing/2014/main" id="{E40500BD-09BC-520A-D980-8FFB1B440B46}"/>
              </a:ext>
            </a:extLst>
          </p:cNvPr>
          <p:cNvSpPr/>
          <p:nvPr/>
        </p:nvSpPr>
        <p:spPr>
          <a:xfrm flipH="1">
            <a:off x="4134943" y="1299249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Scheduler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5E7647A1-0305-012F-B70C-A2F9970B991D}"/>
              </a:ext>
            </a:extLst>
          </p:cNvPr>
          <p:cNvCxnSpPr>
            <a:cxnSpLocks/>
            <a:stCxn id="77" idx="1"/>
            <a:endCxn id="43" idx="2"/>
          </p:cNvCxnSpPr>
          <p:nvPr/>
        </p:nvCxnSpPr>
        <p:spPr>
          <a:xfrm flipV="1">
            <a:off x="5143055" y="598826"/>
            <a:ext cx="275199" cy="9310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사각형: 둥근 모서리 71">
            <a:extLst>
              <a:ext uri="{FF2B5EF4-FFF2-40B4-BE49-F238E27FC236}">
                <a16:creationId xmlns:a16="http://schemas.microsoft.com/office/drawing/2014/main" id="{18B5B633-731F-1EC7-0062-0F824FCBB0BD}"/>
              </a:ext>
            </a:extLst>
          </p:cNvPr>
          <p:cNvSpPr/>
          <p:nvPr/>
        </p:nvSpPr>
        <p:spPr>
          <a:xfrm flipH="1">
            <a:off x="4134943" y="883665"/>
            <a:ext cx="1138257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2. Get created pod info and </a:t>
            </a:r>
          </a:p>
          <a:p>
            <a:r>
              <a:rPr lang="en-US" altLang="ko-KR" sz="1000" i="1"/>
              <a:t>scheduling</a:t>
            </a:r>
            <a:endParaRPr lang="ko-KR" altLang="en-US" sz="1000" i="1"/>
          </a:p>
        </p:txBody>
      </p:sp>
      <p:sp>
        <p:nvSpPr>
          <p:cNvPr id="92" name="Rounded Rectangle 17">
            <a:extLst>
              <a:ext uri="{FF2B5EF4-FFF2-40B4-BE49-F238E27FC236}">
                <a16:creationId xmlns:a16="http://schemas.microsoft.com/office/drawing/2014/main" id="{E0E61386-EF74-6019-3E1D-05D6C97B661F}"/>
              </a:ext>
            </a:extLst>
          </p:cNvPr>
          <p:cNvSpPr/>
          <p:nvPr/>
        </p:nvSpPr>
        <p:spPr>
          <a:xfrm flipH="1">
            <a:off x="4914198" y="4185332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Pod with GPU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79D4EFDF-3696-971D-3058-DA901D08A8CB}"/>
              </a:ext>
            </a:extLst>
          </p:cNvPr>
          <p:cNvCxnSpPr>
            <a:cxnSpLocks/>
            <a:stCxn id="8" idx="2"/>
            <a:endCxn id="92" idx="0"/>
          </p:cNvCxnSpPr>
          <p:nvPr/>
        </p:nvCxnSpPr>
        <p:spPr>
          <a:xfrm>
            <a:off x="5418254" y="3518844"/>
            <a:ext cx="0" cy="66648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사각형: 둥근 모서리 71">
            <a:extLst>
              <a:ext uri="{FF2B5EF4-FFF2-40B4-BE49-F238E27FC236}">
                <a16:creationId xmlns:a16="http://schemas.microsoft.com/office/drawing/2014/main" id="{56E09EB7-568D-5187-7B3D-00479B9F13D5}"/>
              </a:ext>
            </a:extLst>
          </p:cNvPr>
          <p:cNvSpPr/>
          <p:nvPr/>
        </p:nvSpPr>
        <p:spPr>
          <a:xfrm flipH="1">
            <a:off x="3674605" y="3924936"/>
            <a:ext cx="1928787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5. Create pod with GPUs</a:t>
            </a:r>
            <a:endParaRPr lang="ko-KR" altLang="en-US" sz="1000" i="1"/>
          </a:p>
        </p:txBody>
      </p:sp>
      <p:cxnSp>
        <p:nvCxnSpPr>
          <p:cNvPr id="98" name="직선 화살표 연결선 97">
            <a:extLst>
              <a:ext uri="{FF2B5EF4-FFF2-40B4-BE49-F238E27FC236}">
                <a16:creationId xmlns:a16="http://schemas.microsoft.com/office/drawing/2014/main" id="{905C31C6-DBD3-DD22-34CB-185F71A4CCE5}"/>
              </a:ext>
            </a:extLst>
          </p:cNvPr>
          <p:cNvCxnSpPr>
            <a:cxnSpLocks/>
            <a:stCxn id="92" idx="3"/>
          </p:cNvCxnSpPr>
          <p:nvPr/>
        </p:nvCxnSpPr>
        <p:spPr>
          <a:xfrm flipH="1">
            <a:off x="3405903" y="4415975"/>
            <a:ext cx="1508295" cy="67126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30362FF8-3998-91C7-DB85-6A68C472B8B0}"/>
              </a:ext>
            </a:extLst>
          </p:cNvPr>
          <p:cNvCxnSpPr>
            <a:cxnSpLocks/>
            <a:stCxn id="92" idx="3"/>
          </p:cNvCxnSpPr>
          <p:nvPr/>
        </p:nvCxnSpPr>
        <p:spPr>
          <a:xfrm flipH="1" flipV="1">
            <a:off x="3312154" y="4405582"/>
            <a:ext cx="1602044" cy="10393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7">
            <a:extLst>
              <a:ext uri="{FF2B5EF4-FFF2-40B4-BE49-F238E27FC236}">
                <a16:creationId xmlns:a16="http://schemas.microsoft.com/office/drawing/2014/main" id="{BC5CD3A7-A1FF-5C75-2DDC-C8E6FA3837E5}"/>
              </a:ext>
            </a:extLst>
          </p:cNvPr>
          <p:cNvSpPr/>
          <p:nvPr/>
        </p:nvSpPr>
        <p:spPr>
          <a:xfrm flipH="1">
            <a:off x="2121390" y="4252458"/>
            <a:ext cx="1284513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GPUs</a:t>
            </a:r>
          </a:p>
        </p:txBody>
      </p:sp>
      <p:sp>
        <p:nvSpPr>
          <p:cNvPr id="12" name="사각형: 둥근 모서리 71">
            <a:extLst>
              <a:ext uri="{FF2B5EF4-FFF2-40B4-BE49-F238E27FC236}">
                <a16:creationId xmlns:a16="http://schemas.microsoft.com/office/drawing/2014/main" id="{A7E01AD0-9095-EDE7-78D4-286ED2796A61}"/>
              </a:ext>
            </a:extLst>
          </p:cNvPr>
          <p:cNvSpPr/>
          <p:nvPr/>
        </p:nvSpPr>
        <p:spPr>
          <a:xfrm flipH="1">
            <a:off x="4243133" y="2549630"/>
            <a:ext cx="1342130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3. Get scheduled </a:t>
            </a:r>
            <a:br>
              <a:rPr lang="en-US" altLang="ko-KR" sz="1000" i="1"/>
            </a:br>
            <a:r>
              <a:rPr lang="en-US" altLang="ko-KR" sz="1000" i="1"/>
              <a:t>pod info</a:t>
            </a:r>
          </a:p>
        </p:txBody>
      </p:sp>
    </p:spTree>
    <p:extLst>
      <p:ext uri="{BB962C8B-B14F-4D97-AF65-F5344CB8AC3E}">
        <p14:creationId xmlns:p14="http://schemas.microsoft.com/office/powerpoint/2010/main" val="31743362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729654-FCDE-BE44-D146-40F0538EAF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863496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055DC2-9FC4-ED63-DE80-4E89AC9D3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0EB1A4-5C67-9EB4-6EDE-A4E014F22A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8" name="사각형: 둥근 모서리 114">
            <a:extLst>
              <a:ext uri="{FF2B5EF4-FFF2-40B4-BE49-F238E27FC236}">
                <a16:creationId xmlns:a16="http://schemas.microsoft.com/office/drawing/2014/main" id="{24C10B2D-936C-B880-B18B-7449B5866FD4}"/>
              </a:ext>
            </a:extLst>
          </p:cNvPr>
          <p:cNvSpPr/>
          <p:nvPr/>
        </p:nvSpPr>
        <p:spPr>
          <a:xfrm>
            <a:off x="1547664" y="2249109"/>
            <a:ext cx="6043510" cy="1187198"/>
          </a:xfrm>
          <a:prstGeom prst="roundRect">
            <a:avLst>
              <a:gd name="adj" fmla="val 4925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Filesystem</a:t>
            </a:r>
            <a:endParaRPr lang="en-US" altLang="ko-KR" sz="1000" b="1" dirty="0"/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C10CC4A9-5042-F587-8343-C7AD921006B6}"/>
              </a:ext>
            </a:extLst>
          </p:cNvPr>
          <p:cNvSpPr/>
          <p:nvPr/>
        </p:nvSpPr>
        <p:spPr>
          <a:xfrm>
            <a:off x="1557988" y="4171338"/>
            <a:ext cx="6033186" cy="787990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Hardware</a:t>
            </a:r>
            <a:endParaRPr lang="en-US" altLang="ko-KR" sz="1000" b="1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7BF8E95B-2B85-0D6D-2E68-F60EA3C52311}"/>
              </a:ext>
            </a:extLst>
          </p:cNvPr>
          <p:cNvSpPr/>
          <p:nvPr/>
        </p:nvSpPr>
        <p:spPr>
          <a:xfrm>
            <a:off x="1552826" y="3436307"/>
            <a:ext cx="6043510" cy="739656"/>
          </a:xfrm>
          <a:prstGeom prst="roundRect">
            <a:avLst>
              <a:gd name="adj" fmla="val 720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Kernel</a:t>
            </a:r>
            <a:endParaRPr lang="en-US" altLang="ko-KR" sz="1000" b="1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5FC11722-AE37-4844-6A9C-06D25A007F78}"/>
              </a:ext>
            </a:extLst>
          </p:cNvPr>
          <p:cNvSpPr/>
          <p:nvPr/>
        </p:nvSpPr>
        <p:spPr>
          <a:xfrm>
            <a:off x="2145948" y="4287525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C5875DAF-88F1-54F8-EF19-B2243A76054C}"/>
              </a:ext>
            </a:extLst>
          </p:cNvPr>
          <p:cNvSpPr/>
          <p:nvPr/>
        </p:nvSpPr>
        <p:spPr>
          <a:xfrm>
            <a:off x="3405927" y="4287525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4E70790A-E369-E509-03BE-597DF8DF7AC4}"/>
              </a:ext>
            </a:extLst>
          </p:cNvPr>
          <p:cNvSpPr/>
          <p:nvPr/>
        </p:nvSpPr>
        <p:spPr>
          <a:xfrm>
            <a:off x="4665905" y="4287525"/>
            <a:ext cx="1077331" cy="383228"/>
          </a:xfrm>
          <a:prstGeom prst="roundRect">
            <a:avLst>
              <a:gd name="adj" fmla="val 1252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17" name="사각형: 둥근 모서리 114">
            <a:extLst>
              <a:ext uri="{FF2B5EF4-FFF2-40B4-BE49-F238E27FC236}">
                <a16:creationId xmlns:a16="http://schemas.microsoft.com/office/drawing/2014/main" id="{80002950-1B63-E164-C6E6-CDC8E72E1046}"/>
              </a:ext>
            </a:extLst>
          </p:cNvPr>
          <p:cNvSpPr/>
          <p:nvPr/>
        </p:nvSpPr>
        <p:spPr>
          <a:xfrm>
            <a:off x="5925884" y="4287525"/>
            <a:ext cx="1077331" cy="383228"/>
          </a:xfrm>
          <a:prstGeom prst="roundRect">
            <a:avLst>
              <a:gd name="adj" fmla="val 1605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93970A48-772B-0B0C-E7A8-DD9AFFCE6285}"/>
              </a:ext>
            </a:extLst>
          </p:cNvPr>
          <p:cNvSpPr/>
          <p:nvPr/>
        </p:nvSpPr>
        <p:spPr>
          <a:xfrm>
            <a:off x="734944" y="488998"/>
            <a:ext cx="2486761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E9835A0D-6932-6195-7EAA-F962F523A494}"/>
              </a:ext>
            </a:extLst>
          </p:cNvPr>
          <p:cNvSpPr/>
          <p:nvPr/>
        </p:nvSpPr>
        <p:spPr>
          <a:xfrm>
            <a:off x="822678" y="1683025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8F200ACA-EFE1-D238-52D2-50A0A8F78F6E}"/>
              </a:ext>
            </a:extLst>
          </p:cNvPr>
          <p:cNvSpPr/>
          <p:nvPr/>
        </p:nvSpPr>
        <p:spPr>
          <a:xfrm>
            <a:off x="2024278" y="1683025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5804350A-0FF8-246B-98BC-AD3DB86DDAFA}"/>
              </a:ext>
            </a:extLst>
          </p:cNvPr>
          <p:cNvSpPr/>
          <p:nvPr/>
        </p:nvSpPr>
        <p:spPr>
          <a:xfrm>
            <a:off x="822678" y="1212700"/>
            <a:ext cx="2301467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54" name="사각형: 둥근 모서리 114">
            <a:extLst>
              <a:ext uri="{FF2B5EF4-FFF2-40B4-BE49-F238E27FC236}">
                <a16:creationId xmlns:a16="http://schemas.microsoft.com/office/drawing/2014/main" id="{3FB0A47F-6143-39D1-AA0A-E3509CA0354F}"/>
              </a:ext>
            </a:extLst>
          </p:cNvPr>
          <p:cNvSpPr/>
          <p:nvPr/>
        </p:nvSpPr>
        <p:spPr>
          <a:xfrm>
            <a:off x="3346476" y="483518"/>
            <a:ext cx="3674596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5" name="사각형: 둥근 모서리 114">
            <a:extLst>
              <a:ext uri="{FF2B5EF4-FFF2-40B4-BE49-F238E27FC236}">
                <a16:creationId xmlns:a16="http://schemas.microsoft.com/office/drawing/2014/main" id="{5E2576F5-3123-6CB3-C050-8B120F072060}"/>
              </a:ext>
            </a:extLst>
          </p:cNvPr>
          <p:cNvSpPr/>
          <p:nvPr/>
        </p:nvSpPr>
        <p:spPr>
          <a:xfrm>
            <a:off x="3434210" y="1677546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56" name="사각형: 둥근 모서리 114">
            <a:extLst>
              <a:ext uri="{FF2B5EF4-FFF2-40B4-BE49-F238E27FC236}">
                <a16:creationId xmlns:a16="http://schemas.microsoft.com/office/drawing/2014/main" id="{BD35EE35-5BFE-59DC-BB00-2F2043B7BC5C}"/>
              </a:ext>
            </a:extLst>
          </p:cNvPr>
          <p:cNvSpPr/>
          <p:nvPr/>
        </p:nvSpPr>
        <p:spPr>
          <a:xfrm>
            <a:off x="4635810" y="1677546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57" name="사각형: 둥근 모서리 114">
            <a:extLst>
              <a:ext uri="{FF2B5EF4-FFF2-40B4-BE49-F238E27FC236}">
                <a16:creationId xmlns:a16="http://schemas.microsoft.com/office/drawing/2014/main" id="{9E22FAA8-9B80-5C2A-5944-C06551A79479}"/>
              </a:ext>
            </a:extLst>
          </p:cNvPr>
          <p:cNvSpPr/>
          <p:nvPr/>
        </p:nvSpPr>
        <p:spPr>
          <a:xfrm>
            <a:off x="3434210" y="1207220"/>
            <a:ext cx="3498895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85" name="사각형: 둥근 모서리 114">
            <a:extLst>
              <a:ext uri="{FF2B5EF4-FFF2-40B4-BE49-F238E27FC236}">
                <a16:creationId xmlns:a16="http://schemas.microsoft.com/office/drawing/2014/main" id="{2665613C-8058-E9D4-90DD-5C704703CBE3}"/>
              </a:ext>
            </a:extLst>
          </p:cNvPr>
          <p:cNvSpPr/>
          <p:nvPr/>
        </p:nvSpPr>
        <p:spPr>
          <a:xfrm>
            <a:off x="5833237" y="1677546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98A79F5A-E34D-7B4A-2CF6-7A749FA874C4}"/>
              </a:ext>
            </a:extLst>
          </p:cNvPr>
          <p:cNvSpPr/>
          <p:nvPr/>
        </p:nvSpPr>
        <p:spPr>
          <a:xfrm>
            <a:off x="7164288" y="48351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264AA2FF-B7E8-AEA2-8903-5EFB1C73659D}"/>
              </a:ext>
            </a:extLst>
          </p:cNvPr>
          <p:cNvSpPr/>
          <p:nvPr/>
        </p:nvSpPr>
        <p:spPr>
          <a:xfrm>
            <a:off x="7250134" y="167318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895A44D5-E430-69CF-73FA-7AFBFEB9D766}"/>
              </a:ext>
            </a:extLst>
          </p:cNvPr>
          <p:cNvSpPr/>
          <p:nvPr/>
        </p:nvSpPr>
        <p:spPr>
          <a:xfrm>
            <a:off x="7250133" y="120285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B5139FF9-FC24-0EF0-D655-7BCC816EDD11}"/>
              </a:ext>
            </a:extLst>
          </p:cNvPr>
          <p:cNvSpPr/>
          <p:nvPr/>
        </p:nvSpPr>
        <p:spPr>
          <a:xfrm>
            <a:off x="1692325" y="3564926"/>
            <a:ext cx="5759996" cy="383228"/>
          </a:xfrm>
          <a:prstGeom prst="roundRect">
            <a:avLst>
              <a:gd name="adj" fmla="val 1253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GPU Device Driver</a:t>
            </a:r>
            <a:endParaRPr lang="en-US" altLang="ko-KR" sz="1000" dirty="0"/>
          </a:p>
        </p:txBody>
      </p:sp>
      <p:sp>
        <p:nvSpPr>
          <p:cNvPr id="34" name="사각형: 둥근 모서리 114">
            <a:extLst>
              <a:ext uri="{FF2B5EF4-FFF2-40B4-BE49-F238E27FC236}">
                <a16:creationId xmlns:a16="http://schemas.microsoft.com/office/drawing/2014/main" id="{9038EB3F-C742-CCC4-C2D0-7CF9DC413C6C}"/>
              </a:ext>
            </a:extLst>
          </p:cNvPr>
          <p:cNvSpPr/>
          <p:nvPr/>
        </p:nvSpPr>
        <p:spPr>
          <a:xfrm>
            <a:off x="2141132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28E7B113-C60E-5FC4-CE7E-269CCDCB7E2D}"/>
              </a:ext>
            </a:extLst>
          </p:cNvPr>
          <p:cNvSpPr/>
          <p:nvPr/>
        </p:nvSpPr>
        <p:spPr>
          <a:xfrm>
            <a:off x="3405927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45" name="사각형: 둥근 모서리 114">
            <a:extLst>
              <a:ext uri="{FF2B5EF4-FFF2-40B4-BE49-F238E27FC236}">
                <a16:creationId xmlns:a16="http://schemas.microsoft.com/office/drawing/2014/main" id="{85471EA2-6174-1381-C846-34AD1D7EA8C3}"/>
              </a:ext>
            </a:extLst>
          </p:cNvPr>
          <p:cNvSpPr/>
          <p:nvPr/>
        </p:nvSpPr>
        <p:spPr>
          <a:xfrm>
            <a:off x="4665905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46" name="사각형: 둥근 모서리 114">
            <a:extLst>
              <a:ext uri="{FF2B5EF4-FFF2-40B4-BE49-F238E27FC236}">
                <a16:creationId xmlns:a16="http://schemas.microsoft.com/office/drawing/2014/main" id="{88273230-1443-43CD-9B68-20CDE4CAE7BE}"/>
              </a:ext>
            </a:extLst>
          </p:cNvPr>
          <p:cNvSpPr/>
          <p:nvPr/>
        </p:nvSpPr>
        <p:spPr>
          <a:xfrm>
            <a:off x="5925884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cxnSp>
        <p:nvCxnSpPr>
          <p:cNvPr id="52" name="직선 연결선 20">
            <a:extLst>
              <a:ext uri="{FF2B5EF4-FFF2-40B4-BE49-F238E27FC236}">
                <a16:creationId xmlns:a16="http://schemas.microsoft.com/office/drawing/2014/main" id="{CC32A74A-480F-C912-E0C2-659017726E2B}"/>
              </a:ext>
            </a:extLst>
          </p:cNvPr>
          <p:cNvCxnSpPr>
            <a:cxnSpLocks/>
            <a:stCxn id="44" idx="2"/>
            <a:endCxn id="15" idx="0"/>
          </p:cNvCxnSpPr>
          <p:nvPr/>
        </p:nvCxnSpPr>
        <p:spPr>
          <a:xfrm flipH="1">
            <a:off x="3944593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사각형: 둥근 모서리 114">
            <a:extLst>
              <a:ext uri="{FF2B5EF4-FFF2-40B4-BE49-F238E27FC236}">
                <a16:creationId xmlns:a16="http://schemas.microsoft.com/office/drawing/2014/main" id="{D74A65D1-E293-3296-FA0D-18B80F274D13}"/>
              </a:ext>
            </a:extLst>
          </p:cNvPr>
          <p:cNvSpPr/>
          <p:nvPr/>
        </p:nvSpPr>
        <p:spPr>
          <a:xfrm>
            <a:off x="2141132" y="2324202"/>
            <a:ext cx="4862083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117" name="직선 연결선 17">
            <a:extLst>
              <a:ext uri="{FF2B5EF4-FFF2-40B4-BE49-F238E27FC236}">
                <a16:creationId xmlns:a16="http://schemas.microsoft.com/office/drawing/2014/main" id="{3FD40730-CC5D-FD41-6055-FADD9ACF22C8}"/>
              </a:ext>
            </a:extLst>
          </p:cNvPr>
          <p:cNvCxnSpPr>
            <a:cxnSpLocks/>
            <a:stCxn id="34" idx="2"/>
            <a:endCxn id="14" idx="0"/>
          </p:cNvCxnSpPr>
          <p:nvPr/>
        </p:nvCxnSpPr>
        <p:spPr>
          <a:xfrm>
            <a:off x="2682206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직선 연결선 17">
            <a:extLst>
              <a:ext uri="{FF2B5EF4-FFF2-40B4-BE49-F238E27FC236}">
                <a16:creationId xmlns:a16="http://schemas.microsoft.com/office/drawing/2014/main" id="{8D90F5AB-0EE6-69E0-4FEC-23CDB3E602F7}"/>
              </a:ext>
            </a:extLst>
          </p:cNvPr>
          <p:cNvCxnSpPr>
            <a:cxnSpLocks/>
            <a:stCxn id="45" idx="2"/>
            <a:endCxn id="16" idx="0"/>
          </p:cNvCxnSpPr>
          <p:nvPr/>
        </p:nvCxnSpPr>
        <p:spPr>
          <a:xfrm flipH="1">
            <a:off x="5204571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연결선 26">
            <a:extLst>
              <a:ext uri="{FF2B5EF4-FFF2-40B4-BE49-F238E27FC236}">
                <a16:creationId xmlns:a16="http://schemas.microsoft.com/office/drawing/2014/main" id="{E764F1C6-8C8E-DFD2-2EDF-83927E729F21}"/>
              </a:ext>
            </a:extLst>
          </p:cNvPr>
          <p:cNvCxnSpPr>
            <a:cxnSpLocks/>
            <a:stCxn id="46" idx="2"/>
            <a:endCxn id="17" idx="0"/>
          </p:cNvCxnSpPr>
          <p:nvPr/>
        </p:nvCxnSpPr>
        <p:spPr>
          <a:xfrm flipH="1">
            <a:off x="6464550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16B4D401-95FD-7B0D-C0AE-64537247B9CB}"/>
              </a:ext>
            </a:extLst>
          </p:cNvPr>
          <p:cNvSpPr/>
          <p:nvPr/>
        </p:nvSpPr>
        <p:spPr>
          <a:xfrm>
            <a:off x="822678" y="761549"/>
            <a:ext cx="2301467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7" name="사각형: 둥근 모서리 114">
            <a:extLst>
              <a:ext uri="{FF2B5EF4-FFF2-40B4-BE49-F238E27FC236}">
                <a16:creationId xmlns:a16="http://schemas.microsoft.com/office/drawing/2014/main" id="{0C812B4E-9516-7DD2-F625-ED2C409F2BBE}"/>
              </a:ext>
            </a:extLst>
          </p:cNvPr>
          <p:cNvSpPr/>
          <p:nvPr/>
        </p:nvSpPr>
        <p:spPr>
          <a:xfrm>
            <a:off x="3434211" y="761549"/>
            <a:ext cx="3498894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94D5EEF9-402E-F413-D81A-BD1579EBCF10}"/>
              </a:ext>
            </a:extLst>
          </p:cNvPr>
          <p:cNvSpPr/>
          <p:nvPr/>
        </p:nvSpPr>
        <p:spPr>
          <a:xfrm>
            <a:off x="7250133" y="75718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cxnSp>
        <p:nvCxnSpPr>
          <p:cNvPr id="150" name="직선 연결선 26">
            <a:extLst>
              <a:ext uri="{FF2B5EF4-FFF2-40B4-BE49-F238E27FC236}">
                <a16:creationId xmlns:a16="http://schemas.microsoft.com/office/drawing/2014/main" id="{C2F9B89B-AFBC-D3D1-CF47-9595AC7FA842}"/>
              </a:ext>
            </a:extLst>
          </p:cNvPr>
          <p:cNvCxnSpPr>
            <a:cxnSpLocks/>
            <a:stCxn id="74" idx="2"/>
            <a:endCxn id="46" idx="0"/>
          </p:cNvCxnSpPr>
          <p:nvPr/>
        </p:nvCxnSpPr>
        <p:spPr>
          <a:xfrm flipH="1">
            <a:off x="6466958" y="2056409"/>
            <a:ext cx="1332532" cy="73965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직선 연결선 26">
            <a:extLst>
              <a:ext uri="{FF2B5EF4-FFF2-40B4-BE49-F238E27FC236}">
                <a16:creationId xmlns:a16="http://schemas.microsoft.com/office/drawing/2014/main" id="{47C28D2E-1906-16EE-DB16-E21D352AC590}"/>
              </a:ext>
            </a:extLst>
          </p:cNvPr>
          <p:cNvCxnSpPr>
            <a:cxnSpLocks/>
            <a:stCxn id="85" idx="2"/>
            <a:endCxn id="46" idx="0"/>
          </p:cNvCxnSpPr>
          <p:nvPr/>
        </p:nvCxnSpPr>
        <p:spPr>
          <a:xfrm>
            <a:off x="6383171" y="2060774"/>
            <a:ext cx="83787" cy="73529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연결선 26">
            <a:extLst>
              <a:ext uri="{FF2B5EF4-FFF2-40B4-BE49-F238E27FC236}">
                <a16:creationId xmlns:a16="http://schemas.microsoft.com/office/drawing/2014/main" id="{0DE4446A-CCBF-1591-E535-263E16E0449E}"/>
              </a:ext>
            </a:extLst>
          </p:cNvPr>
          <p:cNvCxnSpPr>
            <a:cxnSpLocks/>
            <a:stCxn id="56" idx="2"/>
            <a:endCxn id="45" idx="0"/>
          </p:cNvCxnSpPr>
          <p:nvPr/>
        </p:nvCxnSpPr>
        <p:spPr>
          <a:xfrm>
            <a:off x="5185744" y="2060774"/>
            <a:ext cx="21235" cy="73529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직선 연결선 20">
            <a:extLst>
              <a:ext uri="{FF2B5EF4-FFF2-40B4-BE49-F238E27FC236}">
                <a16:creationId xmlns:a16="http://schemas.microsoft.com/office/drawing/2014/main" id="{2F63F01C-23D6-7F90-AB1C-2AEEFDB8E18D}"/>
              </a:ext>
            </a:extLst>
          </p:cNvPr>
          <p:cNvCxnSpPr>
            <a:cxnSpLocks/>
            <a:stCxn id="55" idx="2"/>
            <a:endCxn id="34" idx="0"/>
          </p:cNvCxnSpPr>
          <p:nvPr/>
        </p:nvCxnSpPr>
        <p:spPr>
          <a:xfrm flipH="1">
            <a:off x="2682206" y="2060774"/>
            <a:ext cx="1302004" cy="73529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직선 연결선 20">
            <a:extLst>
              <a:ext uri="{FF2B5EF4-FFF2-40B4-BE49-F238E27FC236}">
                <a16:creationId xmlns:a16="http://schemas.microsoft.com/office/drawing/2014/main" id="{D1EF2D36-B7BE-AA59-23ED-60E3B82CFACE}"/>
              </a:ext>
            </a:extLst>
          </p:cNvPr>
          <p:cNvCxnSpPr>
            <a:cxnSpLocks/>
            <a:stCxn id="49" idx="2"/>
            <a:endCxn id="44" idx="0"/>
          </p:cNvCxnSpPr>
          <p:nvPr/>
        </p:nvCxnSpPr>
        <p:spPr>
          <a:xfrm>
            <a:off x="2574212" y="2066254"/>
            <a:ext cx="1372789" cy="72981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직선 연결선 17">
            <a:extLst>
              <a:ext uri="{FF2B5EF4-FFF2-40B4-BE49-F238E27FC236}">
                <a16:creationId xmlns:a16="http://schemas.microsoft.com/office/drawing/2014/main" id="{C2EB24B1-3E99-359D-E6CB-BA691A53945B}"/>
              </a:ext>
            </a:extLst>
          </p:cNvPr>
          <p:cNvCxnSpPr>
            <a:cxnSpLocks/>
            <a:stCxn id="48" idx="2"/>
            <a:endCxn id="34" idx="0"/>
          </p:cNvCxnSpPr>
          <p:nvPr/>
        </p:nvCxnSpPr>
        <p:spPr>
          <a:xfrm>
            <a:off x="1372678" y="2066254"/>
            <a:ext cx="1309528" cy="72981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직선 연결선 20">
            <a:extLst>
              <a:ext uri="{FF2B5EF4-FFF2-40B4-BE49-F238E27FC236}">
                <a16:creationId xmlns:a16="http://schemas.microsoft.com/office/drawing/2014/main" id="{307DE5AE-69EC-252E-9688-4381E7F6513D}"/>
              </a:ext>
            </a:extLst>
          </p:cNvPr>
          <p:cNvCxnSpPr>
            <a:cxnSpLocks/>
            <a:stCxn id="53" idx="2"/>
            <a:endCxn id="104" idx="0"/>
          </p:cNvCxnSpPr>
          <p:nvPr/>
        </p:nvCxnSpPr>
        <p:spPr>
          <a:xfrm>
            <a:off x="1973412" y="1595928"/>
            <a:ext cx="2598762" cy="72827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직선 연결선 20">
            <a:extLst>
              <a:ext uri="{FF2B5EF4-FFF2-40B4-BE49-F238E27FC236}">
                <a16:creationId xmlns:a16="http://schemas.microsoft.com/office/drawing/2014/main" id="{04C33049-F8C5-B672-E61D-2845A991520B}"/>
              </a:ext>
            </a:extLst>
          </p:cNvPr>
          <p:cNvCxnSpPr>
            <a:cxnSpLocks/>
            <a:stCxn id="57" idx="2"/>
            <a:endCxn id="104" idx="0"/>
          </p:cNvCxnSpPr>
          <p:nvPr/>
        </p:nvCxnSpPr>
        <p:spPr>
          <a:xfrm flipH="1">
            <a:off x="4572174" y="1590448"/>
            <a:ext cx="611484" cy="73375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연결선 20">
            <a:extLst>
              <a:ext uri="{FF2B5EF4-FFF2-40B4-BE49-F238E27FC236}">
                <a16:creationId xmlns:a16="http://schemas.microsoft.com/office/drawing/2014/main" id="{445D43A6-D407-B687-D4D0-51922467B389}"/>
              </a:ext>
            </a:extLst>
          </p:cNvPr>
          <p:cNvCxnSpPr>
            <a:cxnSpLocks/>
            <a:stCxn id="75" idx="2"/>
            <a:endCxn id="104" idx="0"/>
          </p:cNvCxnSpPr>
          <p:nvPr/>
        </p:nvCxnSpPr>
        <p:spPr>
          <a:xfrm flipH="1">
            <a:off x="4572174" y="1586083"/>
            <a:ext cx="3227315" cy="73811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580F60FE-C09F-1552-4644-8744638D2B6B}"/>
              </a:ext>
            </a:extLst>
          </p:cNvPr>
          <p:cNvSpPr txBox="1"/>
          <p:nvPr/>
        </p:nvSpPr>
        <p:spPr>
          <a:xfrm>
            <a:off x="691097" y="2141761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</p:spTree>
    <p:extLst>
      <p:ext uri="{BB962C8B-B14F-4D97-AF65-F5344CB8AC3E}">
        <p14:creationId xmlns:p14="http://schemas.microsoft.com/office/powerpoint/2010/main" val="34130521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8A532-583D-6519-89E1-7BA72F17C0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사각형: 둥근 모서리 114">
            <a:extLst>
              <a:ext uri="{FF2B5EF4-FFF2-40B4-BE49-F238E27FC236}">
                <a16:creationId xmlns:a16="http://schemas.microsoft.com/office/drawing/2014/main" id="{C199CB81-CDBC-8D21-C2FA-32EBEE482256}"/>
              </a:ext>
            </a:extLst>
          </p:cNvPr>
          <p:cNvSpPr/>
          <p:nvPr/>
        </p:nvSpPr>
        <p:spPr>
          <a:xfrm>
            <a:off x="1547664" y="1930664"/>
            <a:ext cx="6043510" cy="1282172"/>
          </a:xfrm>
          <a:prstGeom prst="roundRect">
            <a:avLst>
              <a:gd name="adj" fmla="val 720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Filesystem</a:t>
            </a:r>
            <a:endParaRPr lang="en-US" altLang="ko-KR" sz="1000" b="1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B1BE0E3-AAAE-3394-21D2-1C7654D84D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34224A9B-B36C-FEAF-FAD4-BC2C75C5343C}"/>
              </a:ext>
            </a:extLst>
          </p:cNvPr>
          <p:cNvSpPr/>
          <p:nvPr/>
        </p:nvSpPr>
        <p:spPr>
          <a:xfrm>
            <a:off x="1557988" y="4061207"/>
            <a:ext cx="6033186" cy="976265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Hardware</a:t>
            </a:r>
            <a:endParaRPr lang="en-US" altLang="ko-KR" sz="1000" b="1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98DED64C-EC4A-FD78-01AD-0D82FD99E58E}"/>
              </a:ext>
            </a:extLst>
          </p:cNvPr>
          <p:cNvSpPr/>
          <p:nvPr/>
        </p:nvSpPr>
        <p:spPr>
          <a:xfrm>
            <a:off x="1552826" y="3212363"/>
            <a:ext cx="6043510" cy="855136"/>
          </a:xfrm>
          <a:prstGeom prst="roundRect">
            <a:avLst>
              <a:gd name="adj" fmla="val 720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Kernel</a:t>
            </a:r>
            <a:endParaRPr lang="en-US" altLang="ko-KR" sz="1000" b="1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3BB4A784-EDE7-85B2-7F9F-16377AC2A591}"/>
              </a:ext>
            </a:extLst>
          </p:cNvPr>
          <p:cNvSpPr/>
          <p:nvPr/>
        </p:nvSpPr>
        <p:spPr>
          <a:xfrm>
            <a:off x="2145948" y="4173376"/>
            <a:ext cx="1077331" cy="57606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0C90FB03-5F15-E1F3-C0A7-39612FA4FD8A}"/>
              </a:ext>
            </a:extLst>
          </p:cNvPr>
          <p:cNvSpPr/>
          <p:nvPr/>
        </p:nvSpPr>
        <p:spPr>
          <a:xfrm>
            <a:off x="3405927" y="4173376"/>
            <a:ext cx="1077331" cy="57606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5FD6345F-4058-CF72-302F-E427E9FF2337}"/>
              </a:ext>
            </a:extLst>
          </p:cNvPr>
          <p:cNvSpPr/>
          <p:nvPr/>
        </p:nvSpPr>
        <p:spPr>
          <a:xfrm>
            <a:off x="4665905" y="4173376"/>
            <a:ext cx="1077331" cy="57606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17" name="사각형: 둥근 모서리 114">
            <a:extLst>
              <a:ext uri="{FF2B5EF4-FFF2-40B4-BE49-F238E27FC236}">
                <a16:creationId xmlns:a16="http://schemas.microsoft.com/office/drawing/2014/main" id="{D1AA0CD1-85DC-80F2-38A0-D98480E06713}"/>
              </a:ext>
            </a:extLst>
          </p:cNvPr>
          <p:cNvSpPr/>
          <p:nvPr/>
        </p:nvSpPr>
        <p:spPr>
          <a:xfrm>
            <a:off x="5925884" y="4173376"/>
            <a:ext cx="1077331" cy="57606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F7BDFE51-13AD-6F76-9BD3-4C8EA1093AF8}"/>
              </a:ext>
            </a:extLst>
          </p:cNvPr>
          <p:cNvSpPr/>
          <p:nvPr/>
        </p:nvSpPr>
        <p:spPr>
          <a:xfrm>
            <a:off x="734944" y="111692"/>
            <a:ext cx="2486761" cy="1717824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20FA5E8D-DE96-37DA-562B-3A9FB0AB0E31}"/>
              </a:ext>
            </a:extLst>
          </p:cNvPr>
          <p:cNvSpPr/>
          <p:nvPr/>
        </p:nvSpPr>
        <p:spPr>
          <a:xfrm>
            <a:off x="822678" y="1345650"/>
            <a:ext cx="1099999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28CDC012-AE30-4BD5-0233-E6598DF6893B}"/>
              </a:ext>
            </a:extLst>
          </p:cNvPr>
          <p:cNvSpPr/>
          <p:nvPr/>
        </p:nvSpPr>
        <p:spPr>
          <a:xfrm>
            <a:off x="2024278" y="1345650"/>
            <a:ext cx="1099868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6C60E83C-B6C7-5D9D-1B4A-EB539DC194AB}"/>
              </a:ext>
            </a:extLst>
          </p:cNvPr>
          <p:cNvSpPr/>
          <p:nvPr/>
        </p:nvSpPr>
        <p:spPr>
          <a:xfrm>
            <a:off x="822678" y="859596"/>
            <a:ext cx="2301467" cy="396044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54" name="사각형: 둥근 모서리 114">
            <a:extLst>
              <a:ext uri="{FF2B5EF4-FFF2-40B4-BE49-F238E27FC236}">
                <a16:creationId xmlns:a16="http://schemas.microsoft.com/office/drawing/2014/main" id="{F4292598-010D-2884-AF6A-98E96A77E4D9}"/>
              </a:ext>
            </a:extLst>
          </p:cNvPr>
          <p:cNvSpPr/>
          <p:nvPr/>
        </p:nvSpPr>
        <p:spPr>
          <a:xfrm>
            <a:off x="3346476" y="106029"/>
            <a:ext cx="3674596" cy="1717824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5" name="사각형: 둥근 모서리 114">
            <a:extLst>
              <a:ext uri="{FF2B5EF4-FFF2-40B4-BE49-F238E27FC236}">
                <a16:creationId xmlns:a16="http://schemas.microsoft.com/office/drawing/2014/main" id="{3A5559A4-65E5-C60B-2C81-7D11DC7DDC2E}"/>
              </a:ext>
            </a:extLst>
          </p:cNvPr>
          <p:cNvSpPr/>
          <p:nvPr/>
        </p:nvSpPr>
        <p:spPr>
          <a:xfrm>
            <a:off x="3434210" y="1339987"/>
            <a:ext cx="1099999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56" name="사각형: 둥근 모서리 114">
            <a:extLst>
              <a:ext uri="{FF2B5EF4-FFF2-40B4-BE49-F238E27FC236}">
                <a16:creationId xmlns:a16="http://schemas.microsoft.com/office/drawing/2014/main" id="{87E80D6F-CA6B-0CD2-F7F3-4D1E2532265A}"/>
              </a:ext>
            </a:extLst>
          </p:cNvPr>
          <p:cNvSpPr/>
          <p:nvPr/>
        </p:nvSpPr>
        <p:spPr>
          <a:xfrm>
            <a:off x="4635810" y="1339987"/>
            <a:ext cx="1099868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57" name="사각형: 둥근 모서리 114">
            <a:extLst>
              <a:ext uri="{FF2B5EF4-FFF2-40B4-BE49-F238E27FC236}">
                <a16:creationId xmlns:a16="http://schemas.microsoft.com/office/drawing/2014/main" id="{C75D87A0-04F8-1F73-C973-9BCA8466E434}"/>
              </a:ext>
            </a:extLst>
          </p:cNvPr>
          <p:cNvSpPr/>
          <p:nvPr/>
        </p:nvSpPr>
        <p:spPr>
          <a:xfrm>
            <a:off x="3434210" y="853933"/>
            <a:ext cx="3498895" cy="396044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85" name="사각형: 둥근 모서리 114">
            <a:extLst>
              <a:ext uri="{FF2B5EF4-FFF2-40B4-BE49-F238E27FC236}">
                <a16:creationId xmlns:a16="http://schemas.microsoft.com/office/drawing/2014/main" id="{C5FDFA61-ABCE-9AEF-A799-491CD47B2758}"/>
              </a:ext>
            </a:extLst>
          </p:cNvPr>
          <p:cNvSpPr/>
          <p:nvPr/>
        </p:nvSpPr>
        <p:spPr>
          <a:xfrm>
            <a:off x="5833237" y="1339987"/>
            <a:ext cx="1099868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FA29DEC7-E382-0E51-65A1-B16C42469C7D}"/>
              </a:ext>
            </a:extLst>
          </p:cNvPr>
          <p:cNvSpPr/>
          <p:nvPr/>
        </p:nvSpPr>
        <p:spPr>
          <a:xfrm>
            <a:off x="7164288" y="106029"/>
            <a:ext cx="1487816" cy="1717824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5B695D59-8F43-916E-95F0-6D4418AE445E}"/>
              </a:ext>
            </a:extLst>
          </p:cNvPr>
          <p:cNvSpPr/>
          <p:nvPr/>
        </p:nvSpPr>
        <p:spPr>
          <a:xfrm>
            <a:off x="7244475" y="1339987"/>
            <a:ext cx="1321799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5BCDFD41-1093-D72B-B30C-01417FCFEEFB}"/>
              </a:ext>
            </a:extLst>
          </p:cNvPr>
          <p:cNvSpPr/>
          <p:nvPr/>
        </p:nvSpPr>
        <p:spPr>
          <a:xfrm>
            <a:off x="7244475" y="853933"/>
            <a:ext cx="1321798" cy="396044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903A1291-6D6D-6C8A-34D6-A0E332AA9BA6}"/>
              </a:ext>
            </a:extLst>
          </p:cNvPr>
          <p:cNvSpPr/>
          <p:nvPr/>
        </p:nvSpPr>
        <p:spPr>
          <a:xfrm>
            <a:off x="1692325" y="3345284"/>
            <a:ext cx="5759996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GPU Device Driver</a:t>
            </a:r>
            <a:endParaRPr lang="en-US" altLang="ko-KR" sz="1000" dirty="0"/>
          </a:p>
        </p:txBody>
      </p:sp>
      <p:sp>
        <p:nvSpPr>
          <p:cNvPr id="34" name="사각형: 둥근 모서리 114">
            <a:extLst>
              <a:ext uri="{FF2B5EF4-FFF2-40B4-BE49-F238E27FC236}">
                <a16:creationId xmlns:a16="http://schemas.microsoft.com/office/drawing/2014/main" id="{39A21027-8ED4-F030-3914-5080D110E993}"/>
              </a:ext>
            </a:extLst>
          </p:cNvPr>
          <p:cNvSpPr/>
          <p:nvPr/>
        </p:nvSpPr>
        <p:spPr>
          <a:xfrm>
            <a:off x="2141132" y="2495911"/>
            <a:ext cx="1082148" cy="396044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42A1B64F-D463-0A87-A490-F6DAE23A34BA}"/>
              </a:ext>
            </a:extLst>
          </p:cNvPr>
          <p:cNvSpPr/>
          <p:nvPr/>
        </p:nvSpPr>
        <p:spPr>
          <a:xfrm>
            <a:off x="3405927" y="2495911"/>
            <a:ext cx="1082148" cy="396044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45" name="사각형: 둥근 모서리 114">
            <a:extLst>
              <a:ext uri="{FF2B5EF4-FFF2-40B4-BE49-F238E27FC236}">
                <a16:creationId xmlns:a16="http://schemas.microsoft.com/office/drawing/2014/main" id="{94F1A929-0CF1-5C8C-ACDD-4BD668EA5639}"/>
              </a:ext>
            </a:extLst>
          </p:cNvPr>
          <p:cNvSpPr/>
          <p:nvPr/>
        </p:nvSpPr>
        <p:spPr>
          <a:xfrm>
            <a:off x="4665905" y="2495911"/>
            <a:ext cx="1082148" cy="396044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46" name="사각형: 둥근 모서리 114">
            <a:extLst>
              <a:ext uri="{FF2B5EF4-FFF2-40B4-BE49-F238E27FC236}">
                <a16:creationId xmlns:a16="http://schemas.microsoft.com/office/drawing/2014/main" id="{D85E14B9-5E77-CB01-2E13-A9E59ECEB129}"/>
              </a:ext>
            </a:extLst>
          </p:cNvPr>
          <p:cNvSpPr/>
          <p:nvPr/>
        </p:nvSpPr>
        <p:spPr>
          <a:xfrm>
            <a:off x="5925884" y="2495911"/>
            <a:ext cx="1082148" cy="396044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cxnSp>
        <p:nvCxnSpPr>
          <p:cNvPr id="52" name="직선 연결선 20">
            <a:extLst>
              <a:ext uri="{FF2B5EF4-FFF2-40B4-BE49-F238E27FC236}">
                <a16:creationId xmlns:a16="http://schemas.microsoft.com/office/drawing/2014/main" id="{8418A54C-9041-9957-2D55-30E9F6DEDEED}"/>
              </a:ext>
            </a:extLst>
          </p:cNvPr>
          <p:cNvCxnSpPr>
            <a:cxnSpLocks/>
            <a:stCxn id="44" idx="2"/>
            <a:endCxn id="15" idx="0"/>
          </p:cNvCxnSpPr>
          <p:nvPr/>
        </p:nvCxnSpPr>
        <p:spPr>
          <a:xfrm flipH="1">
            <a:off x="3944593" y="2891955"/>
            <a:ext cx="2408" cy="1281421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사각형: 둥근 모서리 114">
            <a:extLst>
              <a:ext uri="{FF2B5EF4-FFF2-40B4-BE49-F238E27FC236}">
                <a16:creationId xmlns:a16="http://schemas.microsoft.com/office/drawing/2014/main" id="{9F88AE54-F7B3-6115-509D-C7BC2684476B}"/>
              </a:ext>
            </a:extLst>
          </p:cNvPr>
          <p:cNvSpPr/>
          <p:nvPr/>
        </p:nvSpPr>
        <p:spPr>
          <a:xfrm>
            <a:off x="2141132" y="2008269"/>
            <a:ext cx="4862083" cy="396044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117" name="직선 연결선 17">
            <a:extLst>
              <a:ext uri="{FF2B5EF4-FFF2-40B4-BE49-F238E27FC236}">
                <a16:creationId xmlns:a16="http://schemas.microsoft.com/office/drawing/2014/main" id="{8DB036BC-2665-371E-8697-DE705E04A412}"/>
              </a:ext>
            </a:extLst>
          </p:cNvPr>
          <p:cNvCxnSpPr>
            <a:cxnSpLocks/>
            <a:stCxn id="34" idx="2"/>
            <a:endCxn id="14" idx="0"/>
          </p:cNvCxnSpPr>
          <p:nvPr/>
        </p:nvCxnSpPr>
        <p:spPr>
          <a:xfrm>
            <a:off x="2682206" y="2891955"/>
            <a:ext cx="2408" cy="1281421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직선 연결선 17">
            <a:extLst>
              <a:ext uri="{FF2B5EF4-FFF2-40B4-BE49-F238E27FC236}">
                <a16:creationId xmlns:a16="http://schemas.microsoft.com/office/drawing/2014/main" id="{82B31B80-40F7-F2CC-4D61-CA46A71DCB00}"/>
              </a:ext>
            </a:extLst>
          </p:cNvPr>
          <p:cNvCxnSpPr>
            <a:cxnSpLocks/>
            <a:stCxn id="45" idx="2"/>
            <a:endCxn id="16" idx="0"/>
          </p:cNvCxnSpPr>
          <p:nvPr/>
        </p:nvCxnSpPr>
        <p:spPr>
          <a:xfrm flipH="1">
            <a:off x="5204571" y="2891955"/>
            <a:ext cx="2408" cy="1281421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연결선 26">
            <a:extLst>
              <a:ext uri="{FF2B5EF4-FFF2-40B4-BE49-F238E27FC236}">
                <a16:creationId xmlns:a16="http://schemas.microsoft.com/office/drawing/2014/main" id="{A88A0D96-25BA-6294-28D4-0BE6AE8CDE7F}"/>
              </a:ext>
            </a:extLst>
          </p:cNvPr>
          <p:cNvCxnSpPr>
            <a:cxnSpLocks/>
            <a:stCxn id="46" idx="2"/>
            <a:endCxn id="17" idx="0"/>
          </p:cNvCxnSpPr>
          <p:nvPr/>
        </p:nvCxnSpPr>
        <p:spPr>
          <a:xfrm flipH="1">
            <a:off x="6464550" y="2891955"/>
            <a:ext cx="2408" cy="1281421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71EDB53D-9A65-0610-FA05-601DE452BA72}"/>
              </a:ext>
            </a:extLst>
          </p:cNvPr>
          <p:cNvSpPr/>
          <p:nvPr/>
        </p:nvSpPr>
        <p:spPr>
          <a:xfrm>
            <a:off x="822678" y="393358"/>
            <a:ext cx="2301467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App with </a:t>
            </a:r>
          </a:p>
          <a:p>
            <a:pPr algn="ctr"/>
            <a:r>
              <a:rPr lang="en-US" altLang="ko-KR" sz="1000"/>
              <a:t>NVIDIA_VISIBLE_DEVICES Env  </a:t>
            </a:r>
            <a:endParaRPr lang="en-US" altLang="ko-KR" sz="1000" dirty="0"/>
          </a:p>
        </p:txBody>
      </p:sp>
      <p:sp>
        <p:nvSpPr>
          <p:cNvPr id="147" name="사각형: 둥근 모서리 114">
            <a:extLst>
              <a:ext uri="{FF2B5EF4-FFF2-40B4-BE49-F238E27FC236}">
                <a16:creationId xmlns:a16="http://schemas.microsoft.com/office/drawing/2014/main" id="{1756B9FA-12CF-3DD3-5BF0-B18628CBB1BD}"/>
              </a:ext>
            </a:extLst>
          </p:cNvPr>
          <p:cNvSpPr/>
          <p:nvPr/>
        </p:nvSpPr>
        <p:spPr>
          <a:xfrm>
            <a:off x="3434211" y="393358"/>
            <a:ext cx="3498894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App with </a:t>
            </a:r>
          </a:p>
          <a:p>
            <a:pPr algn="ctr"/>
            <a:r>
              <a:rPr lang="en-US" altLang="ko-KR" sz="1000"/>
              <a:t>NVIDIA_VISIBLE_DEVICES Env  </a:t>
            </a:r>
            <a:endParaRPr lang="en-US" altLang="ko-KR" sz="10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211B623A-BD4D-30BF-770A-2B4C2E43AD57}"/>
              </a:ext>
            </a:extLst>
          </p:cNvPr>
          <p:cNvSpPr/>
          <p:nvPr/>
        </p:nvSpPr>
        <p:spPr>
          <a:xfrm>
            <a:off x="7244474" y="393358"/>
            <a:ext cx="13217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App with </a:t>
            </a:r>
          </a:p>
          <a:p>
            <a:pPr algn="ctr"/>
            <a:r>
              <a:rPr lang="en-US" altLang="ko-KR" sz="1000"/>
              <a:t>NVIDIA_VISIBLE_</a:t>
            </a:r>
            <a:br>
              <a:rPr lang="en-US" altLang="ko-KR" sz="1000"/>
            </a:br>
            <a:r>
              <a:rPr lang="en-US" altLang="ko-KR" sz="1000"/>
              <a:t>DEVICES Env  </a:t>
            </a:r>
            <a:endParaRPr lang="en-US" altLang="ko-KR" sz="1000" dirty="0"/>
          </a:p>
        </p:txBody>
      </p:sp>
      <p:cxnSp>
        <p:nvCxnSpPr>
          <p:cNvPr id="150" name="직선 연결선 26">
            <a:extLst>
              <a:ext uri="{FF2B5EF4-FFF2-40B4-BE49-F238E27FC236}">
                <a16:creationId xmlns:a16="http://schemas.microsoft.com/office/drawing/2014/main" id="{0616933E-BB6C-7525-CFAB-90E8FBC41E87}"/>
              </a:ext>
            </a:extLst>
          </p:cNvPr>
          <p:cNvCxnSpPr>
            <a:cxnSpLocks/>
            <a:stCxn id="74" idx="2"/>
            <a:endCxn id="46" idx="0"/>
          </p:cNvCxnSpPr>
          <p:nvPr/>
        </p:nvCxnSpPr>
        <p:spPr>
          <a:xfrm flipH="1">
            <a:off x="6466958" y="1736031"/>
            <a:ext cx="1438417" cy="7598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직선 연결선 26">
            <a:extLst>
              <a:ext uri="{FF2B5EF4-FFF2-40B4-BE49-F238E27FC236}">
                <a16:creationId xmlns:a16="http://schemas.microsoft.com/office/drawing/2014/main" id="{DB76658E-9B68-B39A-C49B-F143F666F73D}"/>
              </a:ext>
            </a:extLst>
          </p:cNvPr>
          <p:cNvCxnSpPr>
            <a:cxnSpLocks/>
            <a:stCxn id="85" idx="2"/>
            <a:endCxn id="46" idx="0"/>
          </p:cNvCxnSpPr>
          <p:nvPr/>
        </p:nvCxnSpPr>
        <p:spPr>
          <a:xfrm>
            <a:off x="6383171" y="1736031"/>
            <a:ext cx="83787" cy="7598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연결선 26">
            <a:extLst>
              <a:ext uri="{FF2B5EF4-FFF2-40B4-BE49-F238E27FC236}">
                <a16:creationId xmlns:a16="http://schemas.microsoft.com/office/drawing/2014/main" id="{1F51A8F9-1B81-CCD9-9BFA-E84B1ED7FEB8}"/>
              </a:ext>
            </a:extLst>
          </p:cNvPr>
          <p:cNvCxnSpPr>
            <a:cxnSpLocks/>
            <a:stCxn id="56" idx="2"/>
            <a:endCxn id="45" idx="0"/>
          </p:cNvCxnSpPr>
          <p:nvPr/>
        </p:nvCxnSpPr>
        <p:spPr>
          <a:xfrm>
            <a:off x="5185744" y="1736031"/>
            <a:ext cx="21235" cy="7598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직선 연결선 20">
            <a:extLst>
              <a:ext uri="{FF2B5EF4-FFF2-40B4-BE49-F238E27FC236}">
                <a16:creationId xmlns:a16="http://schemas.microsoft.com/office/drawing/2014/main" id="{54A558F7-B7CF-58D9-5FA0-8FA89E14A0EF}"/>
              </a:ext>
            </a:extLst>
          </p:cNvPr>
          <p:cNvCxnSpPr>
            <a:cxnSpLocks/>
            <a:stCxn id="55" idx="2"/>
            <a:endCxn id="34" idx="0"/>
          </p:cNvCxnSpPr>
          <p:nvPr/>
        </p:nvCxnSpPr>
        <p:spPr>
          <a:xfrm flipH="1">
            <a:off x="2682206" y="1736031"/>
            <a:ext cx="1302004" cy="7598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직선 연결선 20">
            <a:extLst>
              <a:ext uri="{FF2B5EF4-FFF2-40B4-BE49-F238E27FC236}">
                <a16:creationId xmlns:a16="http://schemas.microsoft.com/office/drawing/2014/main" id="{29A0CA9D-6107-73A4-89EC-A2CD09F6B7B2}"/>
              </a:ext>
            </a:extLst>
          </p:cNvPr>
          <p:cNvCxnSpPr>
            <a:cxnSpLocks/>
            <a:stCxn id="49" idx="2"/>
            <a:endCxn id="44" idx="0"/>
          </p:cNvCxnSpPr>
          <p:nvPr/>
        </p:nvCxnSpPr>
        <p:spPr>
          <a:xfrm>
            <a:off x="2574212" y="1741694"/>
            <a:ext cx="1372789" cy="75421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직선 연결선 17">
            <a:extLst>
              <a:ext uri="{FF2B5EF4-FFF2-40B4-BE49-F238E27FC236}">
                <a16:creationId xmlns:a16="http://schemas.microsoft.com/office/drawing/2014/main" id="{34B9E027-5E8B-7C79-21CF-58A91E9E45C4}"/>
              </a:ext>
            </a:extLst>
          </p:cNvPr>
          <p:cNvCxnSpPr>
            <a:cxnSpLocks/>
            <a:stCxn id="48" idx="2"/>
            <a:endCxn id="34" idx="0"/>
          </p:cNvCxnSpPr>
          <p:nvPr/>
        </p:nvCxnSpPr>
        <p:spPr>
          <a:xfrm>
            <a:off x="1372678" y="1741694"/>
            <a:ext cx="1309528" cy="75421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직선 연결선 20">
            <a:extLst>
              <a:ext uri="{FF2B5EF4-FFF2-40B4-BE49-F238E27FC236}">
                <a16:creationId xmlns:a16="http://schemas.microsoft.com/office/drawing/2014/main" id="{559051FB-9F6F-2B58-3C88-90B363DF9865}"/>
              </a:ext>
            </a:extLst>
          </p:cNvPr>
          <p:cNvCxnSpPr>
            <a:cxnSpLocks/>
            <a:stCxn id="53" idx="2"/>
            <a:endCxn id="104" idx="0"/>
          </p:cNvCxnSpPr>
          <p:nvPr/>
        </p:nvCxnSpPr>
        <p:spPr>
          <a:xfrm>
            <a:off x="1973412" y="1255640"/>
            <a:ext cx="2598762" cy="75262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직선 연결선 20">
            <a:extLst>
              <a:ext uri="{FF2B5EF4-FFF2-40B4-BE49-F238E27FC236}">
                <a16:creationId xmlns:a16="http://schemas.microsoft.com/office/drawing/2014/main" id="{332D0C97-257F-4DD4-91A4-4425E485781C}"/>
              </a:ext>
            </a:extLst>
          </p:cNvPr>
          <p:cNvCxnSpPr>
            <a:cxnSpLocks/>
            <a:stCxn id="57" idx="2"/>
            <a:endCxn id="104" idx="0"/>
          </p:cNvCxnSpPr>
          <p:nvPr/>
        </p:nvCxnSpPr>
        <p:spPr>
          <a:xfrm flipH="1">
            <a:off x="4572174" y="1249977"/>
            <a:ext cx="611484" cy="75829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연결선 20">
            <a:extLst>
              <a:ext uri="{FF2B5EF4-FFF2-40B4-BE49-F238E27FC236}">
                <a16:creationId xmlns:a16="http://schemas.microsoft.com/office/drawing/2014/main" id="{C871A11D-E254-B9FE-8B43-7349A2B4422A}"/>
              </a:ext>
            </a:extLst>
          </p:cNvPr>
          <p:cNvCxnSpPr>
            <a:cxnSpLocks/>
            <a:stCxn id="75" idx="2"/>
            <a:endCxn id="104" idx="0"/>
          </p:cNvCxnSpPr>
          <p:nvPr/>
        </p:nvCxnSpPr>
        <p:spPr>
          <a:xfrm flipH="1">
            <a:off x="4572174" y="1249977"/>
            <a:ext cx="3333200" cy="75829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31C74496-FEB5-272A-C057-992757BE3C16}"/>
              </a:ext>
            </a:extLst>
          </p:cNvPr>
          <p:cNvSpPr txBox="1"/>
          <p:nvPr/>
        </p:nvSpPr>
        <p:spPr>
          <a:xfrm>
            <a:off x="691097" y="1819727"/>
            <a:ext cx="91563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</p:spTree>
    <p:extLst>
      <p:ext uri="{BB962C8B-B14F-4D97-AF65-F5344CB8AC3E}">
        <p14:creationId xmlns:p14="http://schemas.microsoft.com/office/powerpoint/2010/main" val="38370756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D20CD6-6009-E82A-7E91-471000AE8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ounded Rectangle 17">
            <a:extLst>
              <a:ext uri="{FF2B5EF4-FFF2-40B4-BE49-F238E27FC236}">
                <a16:creationId xmlns:a16="http://schemas.microsoft.com/office/drawing/2014/main" id="{35E6107C-6666-0972-E5FF-D90D07814202}"/>
              </a:ext>
            </a:extLst>
          </p:cNvPr>
          <p:cNvSpPr/>
          <p:nvPr/>
        </p:nvSpPr>
        <p:spPr>
          <a:xfrm flipH="1">
            <a:off x="1187624" y="2715766"/>
            <a:ext cx="5794527" cy="2160240"/>
          </a:xfrm>
          <a:prstGeom prst="roundRect">
            <a:avLst>
              <a:gd name="adj" fmla="val 5713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t"/>
          <a:lstStyle/>
          <a:p>
            <a:pPr algn="r"/>
            <a:r>
              <a:rPr lang="en-US" sz="1000" dirty="0">
                <a:solidFill>
                  <a:schemeClr val="tx1"/>
                </a:solidFill>
              </a:rPr>
              <a:t>NVIDIA GPU Node</a:t>
            </a:r>
            <a:endParaRPr lang="en-KR" sz="1000" dirty="0">
              <a:solidFill>
                <a:schemeClr val="tx1"/>
              </a:solidFill>
            </a:endParaRPr>
          </a:p>
        </p:txBody>
      </p:sp>
      <p:grpSp>
        <p:nvGrpSpPr>
          <p:cNvPr id="2" name="Group 18">
            <a:extLst>
              <a:ext uri="{FF2B5EF4-FFF2-40B4-BE49-F238E27FC236}">
                <a16:creationId xmlns:a16="http://schemas.microsoft.com/office/drawing/2014/main" id="{9F23D66B-EB3A-8168-7446-6C1F31F2FD0F}"/>
              </a:ext>
            </a:extLst>
          </p:cNvPr>
          <p:cNvGrpSpPr/>
          <p:nvPr/>
        </p:nvGrpSpPr>
        <p:grpSpPr>
          <a:xfrm flipH="1">
            <a:off x="1852107" y="4031119"/>
            <a:ext cx="1463038" cy="605106"/>
            <a:chOff x="4854687" y="4196486"/>
            <a:chExt cx="1463038" cy="702501"/>
          </a:xfrm>
          <a:solidFill>
            <a:schemeClr val="bg1"/>
          </a:solidFill>
        </p:grpSpPr>
        <p:sp>
          <p:nvSpPr>
            <p:cNvPr id="3" name="Rounded Rectangle 3">
              <a:extLst>
                <a:ext uri="{FF2B5EF4-FFF2-40B4-BE49-F238E27FC236}">
                  <a16:creationId xmlns:a16="http://schemas.microsoft.com/office/drawing/2014/main" id="{08F688CC-EB2B-AE47-C511-8985C660F20D}"/>
                </a:ext>
              </a:extLst>
            </p:cNvPr>
            <p:cNvSpPr/>
            <p:nvPr/>
          </p:nvSpPr>
          <p:spPr>
            <a:xfrm>
              <a:off x="5033212" y="419648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4" name="Rounded Rectangle 7">
              <a:extLst>
                <a:ext uri="{FF2B5EF4-FFF2-40B4-BE49-F238E27FC236}">
                  <a16:creationId xmlns:a16="http://schemas.microsoft.com/office/drawing/2014/main" id="{FFC84433-27C6-6557-938B-4BFBFE1E4BBD}"/>
                </a:ext>
              </a:extLst>
            </p:cNvPr>
            <p:cNvSpPr/>
            <p:nvPr/>
          </p:nvSpPr>
          <p:spPr>
            <a:xfrm>
              <a:off x="4945445" y="4276371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5" name="Rounded Rectangle 16">
              <a:extLst>
                <a:ext uri="{FF2B5EF4-FFF2-40B4-BE49-F238E27FC236}">
                  <a16:creationId xmlns:a16="http://schemas.microsoft.com/office/drawing/2014/main" id="{D26B2DE9-AC23-BC7F-4F27-E45C9F4FB3D1}"/>
                </a:ext>
              </a:extLst>
            </p:cNvPr>
            <p:cNvSpPr/>
            <p:nvPr/>
          </p:nvSpPr>
          <p:spPr>
            <a:xfrm>
              <a:off x="4854687" y="436345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</p:grpSp>
      <p:sp>
        <p:nvSpPr>
          <p:cNvPr id="7" name="Rounded Rectangle 17">
            <a:extLst>
              <a:ext uri="{FF2B5EF4-FFF2-40B4-BE49-F238E27FC236}">
                <a16:creationId xmlns:a16="http://schemas.microsoft.com/office/drawing/2014/main" id="{1777EF9E-BB5F-1E41-107C-716D1836007C}"/>
              </a:ext>
            </a:extLst>
          </p:cNvPr>
          <p:cNvSpPr/>
          <p:nvPr/>
        </p:nvSpPr>
        <p:spPr>
          <a:xfrm flipH="1">
            <a:off x="1852107" y="3057559"/>
            <a:ext cx="1553796" cy="461285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</a:t>
            </a:r>
            <a:r>
              <a:rPr lang="en-US" sz="1000" dirty="0">
                <a:solidFill>
                  <a:schemeClr val="tx1"/>
                </a:solidFill>
              </a:rPr>
              <a:t>Device Plugin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(DaemonSet Pod)</a:t>
            </a:r>
            <a:endParaRPr lang="en-KR" sz="1000" dirty="0">
              <a:solidFill>
                <a:schemeClr val="tx1"/>
              </a:solidFill>
            </a:endParaRPr>
          </a:p>
        </p:txBody>
      </p:sp>
      <p:sp>
        <p:nvSpPr>
          <p:cNvPr id="8" name="Rounded Rectangle 17">
            <a:extLst>
              <a:ext uri="{FF2B5EF4-FFF2-40B4-BE49-F238E27FC236}">
                <a16:creationId xmlns:a16="http://schemas.microsoft.com/office/drawing/2014/main" id="{36D841D6-BA5D-C348-CA73-AE7DAD8FB819}"/>
              </a:ext>
            </a:extLst>
          </p:cNvPr>
          <p:cNvSpPr/>
          <p:nvPr/>
        </p:nvSpPr>
        <p:spPr>
          <a:xfrm flipH="1">
            <a:off x="4914198" y="3057559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kubelet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5974B029-5619-3A89-AB64-AF9654FF9EB2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2629005" y="3518844"/>
            <a:ext cx="134641" cy="733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02028E12-FF34-1B5A-9AD3-C3CE0C63D4BC}"/>
              </a:ext>
            </a:extLst>
          </p:cNvPr>
          <p:cNvCxnSpPr>
            <a:cxnSpLocks/>
            <a:stCxn id="7" idx="2"/>
            <a:endCxn id="5" idx="0"/>
          </p:cNvCxnSpPr>
          <p:nvPr/>
        </p:nvCxnSpPr>
        <p:spPr>
          <a:xfrm>
            <a:off x="2629005" y="3518844"/>
            <a:ext cx="43883" cy="65609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6AA3E9E0-B1B7-3E13-95BA-AF8F93FFB123}"/>
              </a:ext>
            </a:extLst>
          </p:cNvPr>
          <p:cNvCxnSpPr>
            <a:cxnSpLocks/>
            <a:stCxn id="7" idx="2"/>
            <a:endCxn id="4" idx="0"/>
          </p:cNvCxnSpPr>
          <p:nvPr/>
        </p:nvCxnSpPr>
        <p:spPr>
          <a:xfrm flipH="1">
            <a:off x="2582130" y="3518844"/>
            <a:ext cx="46875" cy="5810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6B45D7A7-FCEA-A389-C74A-98743E5B18E3}"/>
              </a:ext>
            </a:extLst>
          </p:cNvPr>
          <p:cNvCxnSpPr>
            <a:cxnSpLocks/>
            <a:stCxn id="7" idx="2"/>
            <a:endCxn id="3" idx="0"/>
          </p:cNvCxnSpPr>
          <p:nvPr/>
        </p:nvCxnSpPr>
        <p:spPr>
          <a:xfrm flipH="1">
            <a:off x="2494363" y="3518844"/>
            <a:ext cx="134642" cy="5122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053EFA1A-18C9-F33A-E1EA-6634D2D12010}"/>
              </a:ext>
            </a:extLst>
          </p:cNvPr>
          <p:cNvCxnSpPr>
            <a:cxnSpLocks/>
          </p:cNvCxnSpPr>
          <p:nvPr/>
        </p:nvCxnSpPr>
        <p:spPr>
          <a:xfrm>
            <a:off x="3405903" y="3180670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4BEB6F63-24C9-7360-1099-5D4955E70DD8}"/>
              </a:ext>
            </a:extLst>
          </p:cNvPr>
          <p:cNvSpPr txBox="1"/>
          <p:nvPr/>
        </p:nvSpPr>
        <p:spPr>
          <a:xfrm flipH="1">
            <a:off x="1243607" y="3612567"/>
            <a:ext cx="12170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i="1"/>
              <a:t>2. Scan &amp; </a:t>
            </a:r>
            <a:br>
              <a:rPr kumimoji="1" lang="en-US" altLang="ko-KR" sz="1000" i="1"/>
            </a:br>
            <a:r>
              <a:rPr kumimoji="1" lang="en-US" altLang="ko-KR" sz="1000" i="1"/>
              <a:t>health check GPU</a:t>
            </a:r>
            <a:endParaRPr kumimoji="1" lang="ko-KR" altLang="en-US" sz="1000" i="1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BEC94CB-0D6E-E00F-B741-8F515265C1CE}"/>
              </a:ext>
            </a:extLst>
          </p:cNvPr>
          <p:cNvSpPr txBox="1"/>
          <p:nvPr/>
        </p:nvSpPr>
        <p:spPr>
          <a:xfrm flipH="1">
            <a:off x="1971113" y="2811338"/>
            <a:ext cx="135966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1. Start gRPC Server</a:t>
            </a:r>
            <a:endParaRPr kumimoji="1" lang="ko-KR" altLang="en-US" sz="1000" i="1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F399DA1-5E2B-73C1-1525-48F4E9A832C4}"/>
              </a:ext>
            </a:extLst>
          </p:cNvPr>
          <p:cNvSpPr txBox="1"/>
          <p:nvPr/>
        </p:nvSpPr>
        <p:spPr>
          <a:xfrm flipH="1">
            <a:off x="3582809" y="2934448"/>
            <a:ext cx="115448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i="1"/>
              <a:t>3. Register GPUs</a:t>
            </a:r>
            <a:endParaRPr kumimoji="1" lang="ko-KR" altLang="en-US" sz="1000" i="1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CD56ADF5-3BFA-14B7-55BD-74FF5B29B8C2}"/>
              </a:ext>
            </a:extLst>
          </p:cNvPr>
          <p:cNvCxnSpPr>
            <a:cxnSpLocks/>
          </p:cNvCxnSpPr>
          <p:nvPr/>
        </p:nvCxnSpPr>
        <p:spPr>
          <a:xfrm>
            <a:off x="3405903" y="3363838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4B95B5F3-47A4-6A3F-453D-9DCDB0C930BC}"/>
              </a:ext>
            </a:extLst>
          </p:cNvPr>
          <p:cNvSpPr txBox="1"/>
          <p:nvPr/>
        </p:nvSpPr>
        <p:spPr>
          <a:xfrm flipH="1">
            <a:off x="3149532" y="3366346"/>
            <a:ext cx="203132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i="1"/>
              <a:t>4. Call ListAndWatch()</a:t>
            </a:r>
          </a:p>
          <a:p>
            <a:pPr algn="ctr"/>
            <a:r>
              <a:rPr kumimoji="1" lang="en-US" altLang="ko-KR" sz="1000" i="1"/>
              <a:t>via gRPC</a:t>
            </a:r>
            <a:br>
              <a:rPr kumimoji="1" lang="en-US" altLang="ko-KR" sz="1000" i="1"/>
            </a:br>
            <a:r>
              <a:rPr kumimoji="1" lang="en-US" altLang="ko-KR" sz="1000" i="1"/>
              <a:t>(/var/lib/kubelet/</a:t>
            </a:r>
            <a:br>
              <a:rPr kumimoji="1" lang="en-US" altLang="ko-KR" sz="1000" i="1"/>
            </a:br>
            <a:r>
              <a:rPr kumimoji="1" lang="en-US" altLang="ko-KR" sz="1000" i="1"/>
              <a:t>device-plugins/nvidia-gpu.sock)</a:t>
            </a:r>
            <a:endParaRPr kumimoji="1" lang="ko-KR" altLang="en-US" sz="1000" i="1"/>
          </a:p>
        </p:txBody>
      </p:sp>
      <p:sp>
        <p:nvSpPr>
          <p:cNvPr id="43" name="Rounded Rectangle 17">
            <a:extLst>
              <a:ext uri="{FF2B5EF4-FFF2-40B4-BE49-F238E27FC236}">
                <a16:creationId xmlns:a16="http://schemas.microsoft.com/office/drawing/2014/main" id="{E96CBF2A-CB71-F8A9-8B42-73DE7BA2F764}"/>
              </a:ext>
            </a:extLst>
          </p:cNvPr>
          <p:cNvSpPr/>
          <p:nvPr/>
        </p:nvSpPr>
        <p:spPr>
          <a:xfrm flipH="1">
            <a:off x="4914198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API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Server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5E0BCBB3-13D2-4983-AE4A-34D5A7964A15}"/>
              </a:ext>
            </a:extLst>
          </p:cNvPr>
          <p:cNvCxnSpPr>
            <a:cxnSpLocks/>
          </p:cNvCxnSpPr>
          <p:nvPr/>
        </p:nvCxnSpPr>
        <p:spPr>
          <a:xfrm flipV="1">
            <a:off x="5320320" y="598826"/>
            <a:ext cx="0" cy="24587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150D6EE3-014F-F858-8F90-7B3019D17C45}"/>
              </a:ext>
            </a:extLst>
          </p:cNvPr>
          <p:cNvSpPr txBox="1"/>
          <p:nvPr/>
        </p:nvSpPr>
        <p:spPr>
          <a:xfrm flipH="1">
            <a:off x="4042026" y="1266269"/>
            <a:ext cx="1278293" cy="1215717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Node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…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status: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allocatable: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capacity: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</p:txBody>
      </p:sp>
      <p:sp>
        <p:nvSpPr>
          <p:cNvPr id="55" name="사각형: 둥근 모서리 71">
            <a:extLst>
              <a:ext uri="{FF2B5EF4-FFF2-40B4-BE49-F238E27FC236}">
                <a16:creationId xmlns:a16="http://schemas.microsoft.com/office/drawing/2014/main" id="{8C90BAED-B5FF-A139-2C73-8F4C70BD620B}"/>
              </a:ext>
            </a:extLst>
          </p:cNvPr>
          <p:cNvSpPr/>
          <p:nvPr/>
        </p:nvSpPr>
        <p:spPr>
          <a:xfrm flipH="1">
            <a:off x="3719564" y="802308"/>
            <a:ext cx="1741239" cy="460362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5. Patch node’s allocatable and capacity</a:t>
            </a:r>
          </a:p>
          <a:p>
            <a:pPr algn="ctr"/>
            <a:r>
              <a:rPr lang="en-US" altLang="ko-KR" sz="1000" i="1"/>
              <a:t>with GPU </a:t>
            </a:r>
            <a:endParaRPr lang="ko-KR" altLang="en-US" sz="1000" i="1"/>
          </a:p>
        </p:txBody>
      </p:sp>
      <p:sp>
        <p:nvSpPr>
          <p:cNvPr id="60" name="Rounded Rectangle 17">
            <a:extLst>
              <a:ext uri="{FF2B5EF4-FFF2-40B4-BE49-F238E27FC236}">
                <a16:creationId xmlns:a16="http://schemas.microsoft.com/office/drawing/2014/main" id="{50CF8128-8C73-A964-4036-0B5629268E0A}"/>
              </a:ext>
            </a:extLst>
          </p:cNvPr>
          <p:cNvSpPr/>
          <p:nvPr/>
        </p:nvSpPr>
        <p:spPr>
          <a:xfrm flipH="1">
            <a:off x="1187625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Kubernetes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Client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CFB15C87-80DC-4DC6-D0D9-2ECC497D9AED}"/>
              </a:ext>
            </a:extLst>
          </p:cNvPr>
          <p:cNvCxnSpPr>
            <a:cxnSpLocks/>
            <a:stCxn id="60" idx="1"/>
            <a:endCxn id="43" idx="3"/>
          </p:cNvCxnSpPr>
          <p:nvPr/>
        </p:nvCxnSpPr>
        <p:spPr>
          <a:xfrm>
            <a:off x="2195737" y="368184"/>
            <a:ext cx="271846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EA61FB47-C8FA-3347-3DA4-2C4CF0A2C50C}"/>
              </a:ext>
            </a:extLst>
          </p:cNvPr>
          <p:cNvSpPr txBox="1"/>
          <p:nvPr/>
        </p:nvSpPr>
        <p:spPr>
          <a:xfrm>
            <a:off x="2304962" y="367545"/>
            <a:ext cx="1512536" cy="1769715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gpu-app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sp>
        <p:nvSpPr>
          <p:cNvPr id="70" name="사각형: 둥근 모서리 71">
            <a:extLst>
              <a:ext uri="{FF2B5EF4-FFF2-40B4-BE49-F238E27FC236}">
                <a16:creationId xmlns:a16="http://schemas.microsoft.com/office/drawing/2014/main" id="{B50F750A-74C5-648D-852B-8252E20C1A2A}"/>
              </a:ext>
            </a:extLst>
          </p:cNvPr>
          <p:cNvSpPr/>
          <p:nvPr/>
        </p:nvSpPr>
        <p:spPr>
          <a:xfrm flipH="1">
            <a:off x="2190150" y="2138514"/>
            <a:ext cx="1741239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6. Create pod with GPU </a:t>
            </a:r>
            <a:endParaRPr lang="ko-KR" altLang="en-US" sz="1000" i="1"/>
          </a:p>
        </p:txBody>
      </p: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76AEEAE4-DAE1-EE6E-D39B-BD5C04CEF433}"/>
              </a:ext>
            </a:extLst>
          </p:cNvPr>
          <p:cNvCxnSpPr>
            <a:cxnSpLocks/>
          </p:cNvCxnSpPr>
          <p:nvPr/>
        </p:nvCxnSpPr>
        <p:spPr>
          <a:xfrm flipV="1">
            <a:off x="5580113" y="598826"/>
            <a:ext cx="0" cy="24587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17">
            <a:extLst>
              <a:ext uri="{FF2B5EF4-FFF2-40B4-BE49-F238E27FC236}">
                <a16:creationId xmlns:a16="http://schemas.microsoft.com/office/drawing/2014/main" id="{CF071117-4A19-B531-F031-5DF5FD8DE901}"/>
              </a:ext>
            </a:extLst>
          </p:cNvPr>
          <p:cNvSpPr/>
          <p:nvPr/>
        </p:nvSpPr>
        <p:spPr>
          <a:xfrm flipH="1">
            <a:off x="6903737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Scheduler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45DE1988-EC20-3F52-1BA3-A7BBCDC5BFF7}"/>
              </a:ext>
            </a:extLst>
          </p:cNvPr>
          <p:cNvCxnSpPr>
            <a:cxnSpLocks/>
            <a:stCxn id="77" idx="3"/>
            <a:endCxn id="43" idx="1"/>
          </p:cNvCxnSpPr>
          <p:nvPr/>
        </p:nvCxnSpPr>
        <p:spPr>
          <a:xfrm flipH="1">
            <a:off x="5922310" y="368184"/>
            <a:ext cx="98142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사각형: 둥근 모서리 71">
            <a:extLst>
              <a:ext uri="{FF2B5EF4-FFF2-40B4-BE49-F238E27FC236}">
                <a16:creationId xmlns:a16="http://schemas.microsoft.com/office/drawing/2014/main" id="{004DAD37-AB22-6BAA-F48E-D214DF762187}"/>
              </a:ext>
            </a:extLst>
          </p:cNvPr>
          <p:cNvSpPr/>
          <p:nvPr/>
        </p:nvSpPr>
        <p:spPr>
          <a:xfrm flipH="1">
            <a:off x="5843894" y="482830"/>
            <a:ext cx="1138257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7. Get created pod info and </a:t>
            </a:r>
          </a:p>
          <a:p>
            <a:pPr algn="ctr"/>
            <a:r>
              <a:rPr lang="en-US" altLang="ko-KR" sz="1000" i="1"/>
              <a:t>scheduling</a:t>
            </a:r>
            <a:endParaRPr lang="ko-KR" altLang="en-US" sz="1000" i="1"/>
          </a:p>
        </p:txBody>
      </p:sp>
      <p:sp>
        <p:nvSpPr>
          <p:cNvPr id="88" name="사각형: 둥근 모서리 71">
            <a:extLst>
              <a:ext uri="{FF2B5EF4-FFF2-40B4-BE49-F238E27FC236}">
                <a16:creationId xmlns:a16="http://schemas.microsoft.com/office/drawing/2014/main" id="{F2E53FFA-AF47-1AB5-5DDF-02717D70690B}"/>
              </a:ext>
            </a:extLst>
          </p:cNvPr>
          <p:cNvSpPr/>
          <p:nvPr/>
        </p:nvSpPr>
        <p:spPr>
          <a:xfrm flipH="1">
            <a:off x="5333707" y="1599298"/>
            <a:ext cx="1928787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8. Get scheduled pod</a:t>
            </a:r>
            <a:endParaRPr lang="ko-KR" altLang="en-US" sz="1000" i="1"/>
          </a:p>
        </p:txBody>
      </p:sp>
      <p:sp>
        <p:nvSpPr>
          <p:cNvPr id="92" name="Rounded Rectangle 17">
            <a:extLst>
              <a:ext uri="{FF2B5EF4-FFF2-40B4-BE49-F238E27FC236}">
                <a16:creationId xmlns:a16="http://schemas.microsoft.com/office/drawing/2014/main" id="{CAE9ED80-4A2D-0E48-3AF0-5DB1CC1B4DB7}"/>
              </a:ext>
            </a:extLst>
          </p:cNvPr>
          <p:cNvSpPr/>
          <p:nvPr/>
        </p:nvSpPr>
        <p:spPr>
          <a:xfrm flipH="1">
            <a:off x="4914198" y="4185332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Pod with GPU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16005FA6-5F1C-D697-BC99-AA7962D591F9}"/>
              </a:ext>
            </a:extLst>
          </p:cNvPr>
          <p:cNvCxnSpPr>
            <a:cxnSpLocks/>
            <a:stCxn id="8" idx="2"/>
            <a:endCxn id="92" idx="0"/>
          </p:cNvCxnSpPr>
          <p:nvPr/>
        </p:nvCxnSpPr>
        <p:spPr>
          <a:xfrm>
            <a:off x="5418254" y="3518844"/>
            <a:ext cx="0" cy="66648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사각형: 둥근 모서리 71">
            <a:extLst>
              <a:ext uri="{FF2B5EF4-FFF2-40B4-BE49-F238E27FC236}">
                <a16:creationId xmlns:a16="http://schemas.microsoft.com/office/drawing/2014/main" id="{FB610359-4984-003E-38D7-636A9D226D83}"/>
              </a:ext>
            </a:extLst>
          </p:cNvPr>
          <p:cNvSpPr/>
          <p:nvPr/>
        </p:nvSpPr>
        <p:spPr>
          <a:xfrm flipH="1">
            <a:off x="5208915" y="3678156"/>
            <a:ext cx="1928787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9. Create pod with GPU</a:t>
            </a:r>
            <a:endParaRPr lang="ko-KR" altLang="en-US" sz="1000" i="1"/>
          </a:p>
        </p:txBody>
      </p:sp>
      <p:cxnSp>
        <p:nvCxnSpPr>
          <p:cNvPr id="98" name="직선 화살표 연결선 97">
            <a:extLst>
              <a:ext uri="{FF2B5EF4-FFF2-40B4-BE49-F238E27FC236}">
                <a16:creationId xmlns:a16="http://schemas.microsoft.com/office/drawing/2014/main" id="{8DC6F8BE-6056-4B18-E8B2-1F4F5A4759D1}"/>
              </a:ext>
            </a:extLst>
          </p:cNvPr>
          <p:cNvCxnSpPr>
            <a:cxnSpLocks/>
            <a:stCxn id="92" idx="3"/>
          </p:cNvCxnSpPr>
          <p:nvPr/>
        </p:nvCxnSpPr>
        <p:spPr>
          <a:xfrm flipH="1">
            <a:off x="3405903" y="4415975"/>
            <a:ext cx="1508295" cy="67126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A2DD4267-70E5-ED9A-123F-ED3FE1B75DB8}"/>
              </a:ext>
            </a:extLst>
          </p:cNvPr>
          <p:cNvCxnSpPr>
            <a:cxnSpLocks/>
            <a:stCxn id="92" idx="3"/>
          </p:cNvCxnSpPr>
          <p:nvPr/>
        </p:nvCxnSpPr>
        <p:spPr>
          <a:xfrm flipH="1" flipV="1">
            <a:off x="3312154" y="4405582"/>
            <a:ext cx="1602044" cy="10393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7">
            <a:extLst>
              <a:ext uri="{FF2B5EF4-FFF2-40B4-BE49-F238E27FC236}">
                <a16:creationId xmlns:a16="http://schemas.microsoft.com/office/drawing/2014/main" id="{986D7BF0-0782-2260-05D8-8645AFE288D3}"/>
              </a:ext>
            </a:extLst>
          </p:cNvPr>
          <p:cNvSpPr/>
          <p:nvPr/>
        </p:nvSpPr>
        <p:spPr>
          <a:xfrm flipH="1">
            <a:off x="2121390" y="4252458"/>
            <a:ext cx="1284513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GPUs</a:t>
            </a:r>
          </a:p>
        </p:txBody>
      </p:sp>
    </p:spTree>
    <p:extLst>
      <p:ext uri="{BB962C8B-B14F-4D97-AF65-F5344CB8AC3E}">
        <p14:creationId xmlns:p14="http://schemas.microsoft.com/office/powerpoint/2010/main" val="14980427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42F791-B7D2-6E11-3F70-CAEEEDD309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ounded Rectangle 17">
            <a:extLst>
              <a:ext uri="{FF2B5EF4-FFF2-40B4-BE49-F238E27FC236}">
                <a16:creationId xmlns:a16="http://schemas.microsoft.com/office/drawing/2014/main" id="{10F2B23F-9AEF-2C88-E9B9-9945188B25B3}"/>
              </a:ext>
            </a:extLst>
          </p:cNvPr>
          <p:cNvSpPr/>
          <p:nvPr/>
        </p:nvSpPr>
        <p:spPr>
          <a:xfrm flipH="1">
            <a:off x="1187624" y="2845719"/>
            <a:ext cx="4857803" cy="2160240"/>
          </a:xfrm>
          <a:prstGeom prst="roundRect">
            <a:avLst>
              <a:gd name="adj" fmla="val 5713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b"/>
          <a:lstStyle/>
          <a:p>
            <a:pPr algn="r"/>
            <a:r>
              <a:rPr lang="en-US" sz="1000" dirty="0">
                <a:solidFill>
                  <a:schemeClr val="tx1"/>
                </a:solidFill>
              </a:rPr>
              <a:t>NVIDIA GPU Node</a:t>
            </a:r>
            <a:endParaRPr lang="en-KR" sz="1000" dirty="0">
              <a:solidFill>
                <a:schemeClr val="tx1"/>
              </a:solidFill>
            </a:endParaRPr>
          </a:p>
        </p:txBody>
      </p:sp>
      <p:grpSp>
        <p:nvGrpSpPr>
          <p:cNvPr id="2" name="Group 18">
            <a:extLst>
              <a:ext uri="{FF2B5EF4-FFF2-40B4-BE49-F238E27FC236}">
                <a16:creationId xmlns:a16="http://schemas.microsoft.com/office/drawing/2014/main" id="{85B6B43C-0D2B-C04E-2303-E8F2540CF601}"/>
              </a:ext>
            </a:extLst>
          </p:cNvPr>
          <p:cNvGrpSpPr/>
          <p:nvPr/>
        </p:nvGrpSpPr>
        <p:grpSpPr>
          <a:xfrm flipH="1">
            <a:off x="1852106" y="4161072"/>
            <a:ext cx="1553796" cy="682624"/>
            <a:chOff x="4763929" y="4196486"/>
            <a:chExt cx="1553796" cy="792496"/>
          </a:xfrm>
          <a:solidFill>
            <a:schemeClr val="bg1"/>
          </a:solidFill>
        </p:grpSpPr>
        <p:sp>
          <p:nvSpPr>
            <p:cNvPr id="3" name="Rounded Rectangle 3">
              <a:extLst>
                <a:ext uri="{FF2B5EF4-FFF2-40B4-BE49-F238E27FC236}">
                  <a16:creationId xmlns:a16="http://schemas.microsoft.com/office/drawing/2014/main" id="{27BC3A99-D86C-7B81-95A6-0E6E0832948B}"/>
                </a:ext>
              </a:extLst>
            </p:cNvPr>
            <p:cNvSpPr/>
            <p:nvPr/>
          </p:nvSpPr>
          <p:spPr>
            <a:xfrm>
              <a:off x="5033212" y="419648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4" name="Rounded Rectangle 7">
              <a:extLst>
                <a:ext uri="{FF2B5EF4-FFF2-40B4-BE49-F238E27FC236}">
                  <a16:creationId xmlns:a16="http://schemas.microsoft.com/office/drawing/2014/main" id="{AC71AA69-81B7-EAF1-B2D7-B03FF50AE636}"/>
                </a:ext>
              </a:extLst>
            </p:cNvPr>
            <p:cNvSpPr/>
            <p:nvPr/>
          </p:nvSpPr>
          <p:spPr>
            <a:xfrm>
              <a:off x="4945445" y="4276371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5" name="Rounded Rectangle 16">
              <a:extLst>
                <a:ext uri="{FF2B5EF4-FFF2-40B4-BE49-F238E27FC236}">
                  <a16:creationId xmlns:a16="http://schemas.microsoft.com/office/drawing/2014/main" id="{F795EF5C-EBD4-49B6-125C-E55CF988F689}"/>
                </a:ext>
              </a:extLst>
            </p:cNvPr>
            <p:cNvSpPr/>
            <p:nvPr/>
          </p:nvSpPr>
          <p:spPr>
            <a:xfrm>
              <a:off x="4854687" y="436345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6" name="Rounded Rectangle 17">
              <a:extLst>
                <a:ext uri="{FF2B5EF4-FFF2-40B4-BE49-F238E27FC236}">
                  <a16:creationId xmlns:a16="http://schemas.microsoft.com/office/drawing/2014/main" id="{70B81519-226B-C572-B436-93D80EDAC78E}"/>
                </a:ext>
              </a:extLst>
            </p:cNvPr>
            <p:cNvSpPr/>
            <p:nvPr/>
          </p:nvSpPr>
          <p:spPr>
            <a:xfrm>
              <a:off x="4763929" y="4453451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000" dirty="0">
                  <a:solidFill>
                    <a:schemeClr val="tx1"/>
                  </a:solidFill>
                </a:rPr>
                <a:t>NVIDIA GPUs</a:t>
              </a:r>
            </a:p>
          </p:txBody>
        </p:sp>
      </p:grpSp>
      <p:sp>
        <p:nvSpPr>
          <p:cNvPr id="7" name="Rounded Rectangle 17">
            <a:extLst>
              <a:ext uri="{FF2B5EF4-FFF2-40B4-BE49-F238E27FC236}">
                <a16:creationId xmlns:a16="http://schemas.microsoft.com/office/drawing/2014/main" id="{E993DECE-74A3-6960-C89D-37242CC8FD72}"/>
              </a:ext>
            </a:extLst>
          </p:cNvPr>
          <p:cNvSpPr/>
          <p:nvPr/>
        </p:nvSpPr>
        <p:spPr>
          <a:xfrm flipH="1">
            <a:off x="1852106" y="3187512"/>
            <a:ext cx="1553796" cy="461285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</a:t>
            </a:r>
            <a:r>
              <a:rPr lang="en-US" sz="1000" dirty="0">
                <a:solidFill>
                  <a:schemeClr val="tx1"/>
                </a:solidFill>
              </a:rPr>
              <a:t>Device Plugin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(DaemonSet Pod)</a:t>
            </a:r>
            <a:endParaRPr lang="en-KR" sz="1000" dirty="0">
              <a:solidFill>
                <a:schemeClr val="tx1"/>
              </a:solidFill>
            </a:endParaRPr>
          </a:p>
        </p:txBody>
      </p:sp>
      <p:sp>
        <p:nvSpPr>
          <p:cNvPr id="8" name="Rounded Rectangle 17">
            <a:extLst>
              <a:ext uri="{FF2B5EF4-FFF2-40B4-BE49-F238E27FC236}">
                <a16:creationId xmlns:a16="http://schemas.microsoft.com/office/drawing/2014/main" id="{CB1A56F0-E0B0-94B0-890B-059040F76C2B}"/>
              </a:ext>
            </a:extLst>
          </p:cNvPr>
          <p:cNvSpPr/>
          <p:nvPr/>
        </p:nvSpPr>
        <p:spPr>
          <a:xfrm flipH="1">
            <a:off x="4914197" y="3187512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kubelet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E5F9DACD-E278-43DB-E041-49E5110C80E5}"/>
              </a:ext>
            </a:extLst>
          </p:cNvPr>
          <p:cNvCxnSpPr>
            <a:stCxn id="7" idx="2"/>
            <a:endCxn id="6" idx="0"/>
          </p:cNvCxnSpPr>
          <p:nvPr/>
        </p:nvCxnSpPr>
        <p:spPr>
          <a:xfrm>
            <a:off x="2629004" y="3648797"/>
            <a:ext cx="134641" cy="733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761AADB4-2E6F-E74E-769A-217109A93683}"/>
              </a:ext>
            </a:extLst>
          </p:cNvPr>
          <p:cNvCxnSpPr>
            <a:cxnSpLocks/>
            <a:stCxn id="7" idx="2"/>
            <a:endCxn id="5" idx="0"/>
          </p:cNvCxnSpPr>
          <p:nvPr/>
        </p:nvCxnSpPr>
        <p:spPr>
          <a:xfrm>
            <a:off x="2629004" y="3648797"/>
            <a:ext cx="43883" cy="65609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421AA32C-FF57-2BA2-742B-38D0344F0F47}"/>
              </a:ext>
            </a:extLst>
          </p:cNvPr>
          <p:cNvCxnSpPr>
            <a:cxnSpLocks/>
            <a:stCxn id="7" idx="2"/>
            <a:endCxn id="4" idx="0"/>
          </p:cNvCxnSpPr>
          <p:nvPr/>
        </p:nvCxnSpPr>
        <p:spPr>
          <a:xfrm flipH="1">
            <a:off x="2582129" y="3648797"/>
            <a:ext cx="46875" cy="5810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4C8E81CF-AE3B-FF1C-F3E0-B6FD9B99AD73}"/>
              </a:ext>
            </a:extLst>
          </p:cNvPr>
          <p:cNvCxnSpPr>
            <a:cxnSpLocks/>
            <a:stCxn id="7" idx="2"/>
            <a:endCxn id="3" idx="0"/>
          </p:cNvCxnSpPr>
          <p:nvPr/>
        </p:nvCxnSpPr>
        <p:spPr>
          <a:xfrm flipH="1">
            <a:off x="2494362" y="3648797"/>
            <a:ext cx="134642" cy="5122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6F20EECB-6672-E419-CF83-32CA132732BD}"/>
              </a:ext>
            </a:extLst>
          </p:cNvPr>
          <p:cNvCxnSpPr>
            <a:cxnSpLocks/>
          </p:cNvCxnSpPr>
          <p:nvPr/>
        </p:nvCxnSpPr>
        <p:spPr>
          <a:xfrm>
            <a:off x="3405902" y="3310623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63BD2527-7D7B-8BD8-F8B6-EEC33DEE45AB}"/>
              </a:ext>
            </a:extLst>
          </p:cNvPr>
          <p:cNvSpPr txBox="1"/>
          <p:nvPr/>
        </p:nvSpPr>
        <p:spPr>
          <a:xfrm flipH="1">
            <a:off x="1243606" y="3742520"/>
            <a:ext cx="12170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i="1"/>
              <a:t>2. Scan &amp; </a:t>
            </a:r>
            <a:br>
              <a:rPr kumimoji="1" lang="en-US" altLang="ko-KR" sz="1000" i="1"/>
            </a:br>
            <a:r>
              <a:rPr kumimoji="1" lang="en-US" altLang="ko-KR" sz="1000" i="1"/>
              <a:t>health check GPU</a:t>
            </a:r>
            <a:endParaRPr kumimoji="1" lang="ko-KR" altLang="en-US" sz="1000" i="1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302EF75-92EA-9B9C-3222-70ED568B484C}"/>
              </a:ext>
            </a:extLst>
          </p:cNvPr>
          <p:cNvSpPr txBox="1"/>
          <p:nvPr/>
        </p:nvSpPr>
        <p:spPr>
          <a:xfrm flipH="1">
            <a:off x="1971112" y="2941291"/>
            <a:ext cx="135966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1. Start gRPC Server</a:t>
            </a:r>
            <a:endParaRPr kumimoji="1" lang="ko-KR" altLang="en-US" sz="1000" i="1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D2B8C4A-728C-A5B7-F884-F22D81C534AE}"/>
              </a:ext>
            </a:extLst>
          </p:cNvPr>
          <p:cNvSpPr txBox="1"/>
          <p:nvPr/>
        </p:nvSpPr>
        <p:spPr>
          <a:xfrm flipH="1">
            <a:off x="3582808" y="3064401"/>
            <a:ext cx="115448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i="1"/>
              <a:t>3. Register GPUs</a:t>
            </a:r>
            <a:endParaRPr kumimoji="1" lang="ko-KR" altLang="en-US" sz="1000" i="1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BA4B641C-6DFC-AFC4-E0C6-B1AB1AABB76A}"/>
              </a:ext>
            </a:extLst>
          </p:cNvPr>
          <p:cNvCxnSpPr>
            <a:cxnSpLocks/>
          </p:cNvCxnSpPr>
          <p:nvPr/>
        </p:nvCxnSpPr>
        <p:spPr>
          <a:xfrm>
            <a:off x="3405902" y="3493791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B4B555DE-5AB9-3CF5-44A6-7F90CDDDB744}"/>
              </a:ext>
            </a:extLst>
          </p:cNvPr>
          <p:cNvSpPr txBox="1"/>
          <p:nvPr/>
        </p:nvSpPr>
        <p:spPr>
          <a:xfrm flipH="1">
            <a:off x="3149531" y="3496299"/>
            <a:ext cx="203132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i="1"/>
              <a:t>4. Call ListAndWatch()</a:t>
            </a:r>
          </a:p>
          <a:p>
            <a:pPr algn="ctr"/>
            <a:r>
              <a:rPr kumimoji="1" lang="en-US" altLang="ko-KR" sz="1000" i="1"/>
              <a:t>via gRPC</a:t>
            </a:r>
            <a:br>
              <a:rPr kumimoji="1" lang="en-US" altLang="ko-KR" sz="1000" i="1"/>
            </a:br>
            <a:r>
              <a:rPr kumimoji="1" lang="en-US" altLang="ko-KR" sz="1000" i="1"/>
              <a:t>(/var/lib/kubelet/</a:t>
            </a:r>
            <a:br>
              <a:rPr kumimoji="1" lang="en-US" altLang="ko-KR" sz="1000" i="1"/>
            </a:br>
            <a:r>
              <a:rPr kumimoji="1" lang="en-US" altLang="ko-KR" sz="1000" i="1"/>
              <a:t>device-plugins/nvidia-gpu.sock)</a:t>
            </a:r>
            <a:endParaRPr kumimoji="1" lang="ko-KR" altLang="en-US" sz="1000" i="1"/>
          </a:p>
        </p:txBody>
      </p:sp>
      <p:sp>
        <p:nvSpPr>
          <p:cNvPr id="43" name="Rounded Rectangle 17">
            <a:extLst>
              <a:ext uri="{FF2B5EF4-FFF2-40B4-BE49-F238E27FC236}">
                <a16:creationId xmlns:a16="http://schemas.microsoft.com/office/drawing/2014/main" id="{34C1E1E8-C14F-2CD9-24D1-DB777E3F5DCE}"/>
              </a:ext>
            </a:extLst>
          </p:cNvPr>
          <p:cNvSpPr/>
          <p:nvPr/>
        </p:nvSpPr>
        <p:spPr>
          <a:xfrm flipH="1">
            <a:off x="4914197" y="267494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API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Server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C0D54F16-75F9-3D87-1966-DA926CF208B4}"/>
              </a:ext>
            </a:extLst>
          </p:cNvPr>
          <p:cNvCxnSpPr>
            <a:cxnSpLocks/>
            <a:stCxn id="8" idx="0"/>
            <a:endCxn id="43" idx="2"/>
          </p:cNvCxnSpPr>
          <p:nvPr/>
        </p:nvCxnSpPr>
        <p:spPr>
          <a:xfrm flipV="1">
            <a:off x="5418253" y="728779"/>
            <a:ext cx="0" cy="24587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CAE4B9E8-974C-42F7-AECA-8C9CB3CE9D3A}"/>
              </a:ext>
            </a:extLst>
          </p:cNvPr>
          <p:cNvSpPr txBox="1"/>
          <p:nvPr/>
        </p:nvSpPr>
        <p:spPr>
          <a:xfrm flipH="1">
            <a:off x="4139959" y="1396222"/>
            <a:ext cx="1278293" cy="1215717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Node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…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status: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allocatable: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capacity: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</p:txBody>
      </p:sp>
      <p:sp>
        <p:nvSpPr>
          <p:cNvPr id="55" name="사각형: 둥근 모서리 71">
            <a:extLst>
              <a:ext uri="{FF2B5EF4-FFF2-40B4-BE49-F238E27FC236}">
                <a16:creationId xmlns:a16="http://schemas.microsoft.com/office/drawing/2014/main" id="{0D0D2218-FF1E-6FF2-C87F-1F429C114352}"/>
              </a:ext>
            </a:extLst>
          </p:cNvPr>
          <p:cNvSpPr/>
          <p:nvPr/>
        </p:nvSpPr>
        <p:spPr>
          <a:xfrm flipH="1">
            <a:off x="3817497" y="932261"/>
            <a:ext cx="1741239" cy="460362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5. Patch node’s allocatable and capacity</a:t>
            </a:r>
          </a:p>
          <a:p>
            <a:pPr algn="ctr"/>
            <a:r>
              <a:rPr lang="en-US" altLang="ko-KR" sz="1000" i="1"/>
              <a:t>with GPU </a:t>
            </a:r>
            <a:endParaRPr lang="ko-KR" altLang="en-US" sz="1000" i="1"/>
          </a:p>
        </p:txBody>
      </p:sp>
      <p:sp>
        <p:nvSpPr>
          <p:cNvPr id="60" name="Rounded Rectangle 17">
            <a:extLst>
              <a:ext uri="{FF2B5EF4-FFF2-40B4-BE49-F238E27FC236}">
                <a16:creationId xmlns:a16="http://schemas.microsoft.com/office/drawing/2014/main" id="{DB22DC89-89BD-60EE-276F-F63F2107C4A1}"/>
              </a:ext>
            </a:extLst>
          </p:cNvPr>
          <p:cNvSpPr/>
          <p:nvPr/>
        </p:nvSpPr>
        <p:spPr>
          <a:xfrm flipH="1">
            <a:off x="1187624" y="267494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Kubernetes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Client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314F79C6-0618-FC4A-D2B6-CFD3971985C1}"/>
              </a:ext>
            </a:extLst>
          </p:cNvPr>
          <p:cNvCxnSpPr>
            <a:cxnSpLocks/>
            <a:stCxn id="60" idx="1"/>
            <a:endCxn id="43" idx="3"/>
          </p:cNvCxnSpPr>
          <p:nvPr/>
        </p:nvCxnSpPr>
        <p:spPr>
          <a:xfrm>
            <a:off x="2195736" y="498137"/>
            <a:ext cx="271846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06CB174C-1DCE-6237-9278-F070013C046C}"/>
              </a:ext>
            </a:extLst>
          </p:cNvPr>
          <p:cNvSpPr txBox="1"/>
          <p:nvPr/>
        </p:nvSpPr>
        <p:spPr>
          <a:xfrm>
            <a:off x="2304961" y="497498"/>
            <a:ext cx="1512536" cy="1769715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gpu-app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sp>
        <p:nvSpPr>
          <p:cNvPr id="70" name="사각형: 둥근 모서리 71">
            <a:extLst>
              <a:ext uri="{FF2B5EF4-FFF2-40B4-BE49-F238E27FC236}">
                <a16:creationId xmlns:a16="http://schemas.microsoft.com/office/drawing/2014/main" id="{3E63D929-28A7-1BEA-CAA7-A1A0061B61A6}"/>
              </a:ext>
            </a:extLst>
          </p:cNvPr>
          <p:cNvSpPr/>
          <p:nvPr/>
        </p:nvSpPr>
        <p:spPr>
          <a:xfrm flipH="1">
            <a:off x="2190149" y="2268467"/>
            <a:ext cx="1741239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6. Create pod with GPU </a:t>
            </a:r>
            <a:endParaRPr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41283127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A0DA45-FFE6-20D2-57EF-B9DC712167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EFE877C4-66CF-A466-BBDA-C110A5F992AE}"/>
              </a:ext>
            </a:extLst>
          </p:cNvPr>
          <p:cNvSpPr/>
          <p:nvPr/>
        </p:nvSpPr>
        <p:spPr>
          <a:xfrm>
            <a:off x="4452121" y="843557"/>
            <a:ext cx="1665290" cy="1709575"/>
          </a:xfrm>
          <a:prstGeom prst="roundRect">
            <a:avLst>
              <a:gd name="adj" fmla="val 391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8" name="사각형: 둥근 모서리 114">
            <a:extLst>
              <a:ext uri="{FF2B5EF4-FFF2-40B4-BE49-F238E27FC236}">
                <a16:creationId xmlns:a16="http://schemas.microsoft.com/office/drawing/2014/main" id="{990BBAE9-CBD1-9942-AE8D-DC8358E04673}"/>
              </a:ext>
            </a:extLst>
          </p:cNvPr>
          <p:cNvSpPr/>
          <p:nvPr/>
        </p:nvSpPr>
        <p:spPr>
          <a:xfrm>
            <a:off x="79063" y="843557"/>
            <a:ext cx="4092354" cy="1709575"/>
          </a:xfrm>
          <a:prstGeom prst="roundRect">
            <a:avLst>
              <a:gd name="adj" fmla="val 428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사각형: 둥근 모서리 114">
            <a:extLst>
              <a:ext uri="{FF2B5EF4-FFF2-40B4-BE49-F238E27FC236}">
                <a16:creationId xmlns:a16="http://schemas.microsoft.com/office/drawing/2014/main" id="{B0160E73-56A0-D29E-F984-848864432BD9}"/>
              </a:ext>
            </a:extLst>
          </p:cNvPr>
          <p:cNvSpPr/>
          <p:nvPr/>
        </p:nvSpPr>
        <p:spPr>
          <a:xfrm>
            <a:off x="84225" y="3507854"/>
            <a:ext cx="6033186" cy="976265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Hardware</a:t>
            </a:r>
            <a:endParaRPr lang="en-US" altLang="ko-KR" sz="1000" b="1" dirty="0"/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19B8C55D-9759-1216-90A7-4060BD798FB4}"/>
              </a:ext>
            </a:extLst>
          </p:cNvPr>
          <p:cNvSpPr/>
          <p:nvPr/>
        </p:nvSpPr>
        <p:spPr>
          <a:xfrm>
            <a:off x="79063" y="2659010"/>
            <a:ext cx="6043510" cy="855136"/>
          </a:xfrm>
          <a:prstGeom prst="roundRect">
            <a:avLst>
              <a:gd name="adj" fmla="val 416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Kernel</a:t>
            </a:r>
            <a:endParaRPr lang="en-US" altLang="ko-KR" sz="1000" b="1" dirty="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7428988E-C06C-5498-D7AC-C92B54858738}"/>
              </a:ext>
            </a:extLst>
          </p:cNvPr>
          <p:cNvSpPr/>
          <p:nvPr/>
        </p:nvSpPr>
        <p:spPr>
          <a:xfrm>
            <a:off x="672185" y="3620023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5" name="사각형: 둥근 모서리 114">
            <a:extLst>
              <a:ext uri="{FF2B5EF4-FFF2-40B4-BE49-F238E27FC236}">
                <a16:creationId xmlns:a16="http://schemas.microsoft.com/office/drawing/2014/main" id="{28A41BF5-6288-F66D-6B18-A1C27C57BCD2}"/>
              </a:ext>
            </a:extLst>
          </p:cNvPr>
          <p:cNvSpPr/>
          <p:nvPr/>
        </p:nvSpPr>
        <p:spPr>
          <a:xfrm>
            <a:off x="1932164" y="3620023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6" name="사각형: 둥근 모서리 114">
            <a:extLst>
              <a:ext uri="{FF2B5EF4-FFF2-40B4-BE49-F238E27FC236}">
                <a16:creationId xmlns:a16="http://schemas.microsoft.com/office/drawing/2014/main" id="{AB117318-4CD7-BD97-5351-1F6F61156CD5}"/>
              </a:ext>
            </a:extLst>
          </p:cNvPr>
          <p:cNvSpPr/>
          <p:nvPr/>
        </p:nvSpPr>
        <p:spPr>
          <a:xfrm>
            <a:off x="3192142" y="3620023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C21EA64B-D360-1D11-4ECB-24E796346C00}"/>
              </a:ext>
            </a:extLst>
          </p:cNvPr>
          <p:cNvSpPr/>
          <p:nvPr/>
        </p:nvSpPr>
        <p:spPr>
          <a:xfrm>
            <a:off x="4452121" y="3620023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8" name="사각형: 둥근 모서리 114">
            <a:extLst>
              <a:ext uri="{FF2B5EF4-FFF2-40B4-BE49-F238E27FC236}">
                <a16:creationId xmlns:a16="http://schemas.microsoft.com/office/drawing/2014/main" id="{065A5E74-B440-BA3F-5A07-8CDCDFF2E427}"/>
              </a:ext>
            </a:extLst>
          </p:cNvPr>
          <p:cNvSpPr/>
          <p:nvPr/>
        </p:nvSpPr>
        <p:spPr>
          <a:xfrm>
            <a:off x="186295" y="1209261"/>
            <a:ext cx="1276737" cy="1265622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769415EB-0A2D-50D7-44F6-1F81A018E10C}"/>
              </a:ext>
            </a:extLst>
          </p:cNvPr>
          <p:cNvSpPr/>
          <p:nvPr/>
        </p:nvSpPr>
        <p:spPr>
          <a:xfrm>
            <a:off x="274029" y="1991019"/>
            <a:ext cx="10999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A5B1B74D-0B82-73B1-5F00-44CC5F744F4A}"/>
              </a:ext>
            </a:extLst>
          </p:cNvPr>
          <p:cNvSpPr/>
          <p:nvPr/>
        </p:nvSpPr>
        <p:spPr>
          <a:xfrm>
            <a:off x="274029" y="1504965"/>
            <a:ext cx="10999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13" name="사각형: 둥근 모서리 114">
            <a:extLst>
              <a:ext uri="{FF2B5EF4-FFF2-40B4-BE49-F238E27FC236}">
                <a16:creationId xmlns:a16="http://schemas.microsoft.com/office/drawing/2014/main" id="{F1F3EEC6-6CC4-CE00-13AC-F53EED26A83F}"/>
              </a:ext>
            </a:extLst>
          </p:cNvPr>
          <p:cNvSpPr/>
          <p:nvPr/>
        </p:nvSpPr>
        <p:spPr>
          <a:xfrm>
            <a:off x="1598372" y="1203598"/>
            <a:ext cx="2474164" cy="1265622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1EAB6A47-5F20-094B-0D4A-E766A80A2A60}"/>
              </a:ext>
            </a:extLst>
          </p:cNvPr>
          <p:cNvSpPr/>
          <p:nvPr/>
        </p:nvSpPr>
        <p:spPr>
          <a:xfrm>
            <a:off x="1686106" y="1985356"/>
            <a:ext cx="10999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/dev/nvdia0</a:t>
            </a:r>
            <a:endParaRPr lang="en-US" altLang="ko-KR" sz="100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7201475F-A4A4-46B2-84B6-A45CE1664B47}"/>
              </a:ext>
            </a:extLst>
          </p:cNvPr>
          <p:cNvSpPr/>
          <p:nvPr/>
        </p:nvSpPr>
        <p:spPr>
          <a:xfrm>
            <a:off x="2887706" y="1985356"/>
            <a:ext cx="109986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/dev/nvdia2</a:t>
            </a:r>
            <a:endParaRPr lang="en-US" altLang="ko-KR" sz="100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1B3E5041-0778-66C8-1F90-7570D9731483}"/>
              </a:ext>
            </a:extLst>
          </p:cNvPr>
          <p:cNvSpPr/>
          <p:nvPr/>
        </p:nvSpPr>
        <p:spPr>
          <a:xfrm>
            <a:off x="1686107" y="1499302"/>
            <a:ext cx="230146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18" name="사각형: 둥근 모서리 114">
            <a:extLst>
              <a:ext uri="{FF2B5EF4-FFF2-40B4-BE49-F238E27FC236}">
                <a16:creationId xmlns:a16="http://schemas.microsoft.com/office/drawing/2014/main" id="{28995F5A-7DC0-2507-432E-914678470451}"/>
              </a:ext>
            </a:extLst>
          </p:cNvPr>
          <p:cNvSpPr/>
          <p:nvPr/>
        </p:nvSpPr>
        <p:spPr>
          <a:xfrm>
            <a:off x="4537508" y="1203598"/>
            <a:ext cx="1487816" cy="1265622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9" name="사각형: 둥근 모서리 114">
            <a:extLst>
              <a:ext uri="{FF2B5EF4-FFF2-40B4-BE49-F238E27FC236}">
                <a16:creationId xmlns:a16="http://schemas.microsoft.com/office/drawing/2014/main" id="{16CFA239-2511-9D27-E71A-172A3FA07324}"/>
              </a:ext>
            </a:extLst>
          </p:cNvPr>
          <p:cNvSpPr/>
          <p:nvPr/>
        </p:nvSpPr>
        <p:spPr>
          <a:xfrm>
            <a:off x="4617695" y="1985356"/>
            <a:ext cx="13217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/dev/nvdia3</a:t>
            </a:r>
            <a:endParaRPr lang="en-US" altLang="ko-KR" sz="1000" dirty="0"/>
          </a:p>
        </p:txBody>
      </p:sp>
      <p:sp>
        <p:nvSpPr>
          <p:cNvPr id="20" name="사각형: 둥근 모서리 114">
            <a:extLst>
              <a:ext uri="{FF2B5EF4-FFF2-40B4-BE49-F238E27FC236}">
                <a16:creationId xmlns:a16="http://schemas.microsoft.com/office/drawing/2014/main" id="{D5E1B1C4-5B6E-85F7-FDAB-04642D4057A6}"/>
              </a:ext>
            </a:extLst>
          </p:cNvPr>
          <p:cNvSpPr/>
          <p:nvPr/>
        </p:nvSpPr>
        <p:spPr>
          <a:xfrm>
            <a:off x="4617695" y="1499302"/>
            <a:ext cx="132179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21" name="직선 연결선 17">
            <a:extLst>
              <a:ext uri="{FF2B5EF4-FFF2-40B4-BE49-F238E27FC236}">
                <a16:creationId xmlns:a16="http://schemas.microsoft.com/office/drawing/2014/main" id="{BBE57953-324C-8070-7D38-3BAD3665DB8C}"/>
              </a:ext>
            </a:extLst>
          </p:cNvPr>
          <p:cNvCxnSpPr>
            <a:cxnSpLocks/>
            <a:stCxn id="9" idx="2"/>
            <a:endCxn id="4" idx="0"/>
          </p:cNvCxnSpPr>
          <p:nvPr/>
        </p:nvCxnSpPr>
        <p:spPr>
          <a:xfrm>
            <a:off x="824029" y="2387063"/>
            <a:ext cx="386822" cy="12329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0">
            <a:extLst>
              <a:ext uri="{FF2B5EF4-FFF2-40B4-BE49-F238E27FC236}">
                <a16:creationId xmlns:a16="http://schemas.microsoft.com/office/drawing/2014/main" id="{22C12797-54A8-2874-270D-D393650E397D}"/>
              </a:ext>
            </a:extLst>
          </p:cNvPr>
          <p:cNvCxnSpPr>
            <a:cxnSpLocks/>
            <a:stCxn id="14" idx="2"/>
            <a:endCxn id="5" idx="0"/>
          </p:cNvCxnSpPr>
          <p:nvPr/>
        </p:nvCxnSpPr>
        <p:spPr>
          <a:xfrm>
            <a:off x="2236106" y="2381400"/>
            <a:ext cx="234724" cy="123862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17">
            <a:extLst>
              <a:ext uri="{FF2B5EF4-FFF2-40B4-BE49-F238E27FC236}">
                <a16:creationId xmlns:a16="http://schemas.microsoft.com/office/drawing/2014/main" id="{2945351D-D086-4FB4-4382-C9127B2ED274}"/>
              </a:ext>
            </a:extLst>
          </p:cNvPr>
          <p:cNvCxnSpPr>
            <a:cxnSpLocks/>
            <a:stCxn id="15" idx="2"/>
            <a:endCxn id="6" idx="0"/>
          </p:cNvCxnSpPr>
          <p:nvPr/>
        </p:nvCxnSpPr>
        <p:spPr>
          <a:xfrm>
            <a:off x="3437640" y="2381400"/>
            <a:ext cx="293168" cy="123862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6">
            <a:extLst>
              <a:ext uri="{FF2B5EF4-FFF2-40B4-BE49-F238E27FC236}">
                <a16:creationId xmlns:a16="http://schemas.microsoft.com/office/drawing/2014/main" id="{A6841772-5FAC-52D2-D93A-BF3E1BF471DF}"/>
              </a:ext>
            </a:extLst>
          </p:cNvPr>
          <p:cNvCxnSpPr>
            <a:cxnSpLocks/>
            <a:stCxn id="19" idx="2"/>
            <a:endCxn id="7" idx="0"/>
          </p:cNvCxnSpPr>
          <p:nvPr/>
        </p:nvCxnSpPr>
        <p:spPr>
          <a:xfrm flipH="1">
            <a:off x="4990787" y="2381400"/>
            <a:ext cx="287808" cy="123862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사각형: 둥근 모서리 114">
            <a:extLst>
              <a:ext uri="{FF2B5EF4-FFF2-40B4-BE49-F238E27FC236}">
                <a16:creationId xmlns:a16="http://schemas.microsoft.com/office/drawing/2014/main" id="{87AAA4FF-5355-0B8E-2C4A-7B3DEB8558AB}"/>
              </a:ext>
            </a:extLst>
          </p:cNvPr>
          <p:cNvSpPr/>
          <p:nvPr/>
        </p:nvSpPr>
        <p:spPr>
          <a:xfrm>
            <a:off x="218562" y="2791931"/>
            <a:ext cx="5759996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GPU Device Driver</a:t>
            </a:r>
            <a:endParaRPr lang="en-US" altLang="ko-KR" sz="1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87DAA5F-A54B-025A-21E9-FA0AC9BF51AF}"/>
              </a:ext>
            </a:extLst>
          </p:cNvPr>
          <p:cNvSpPr txBox="1"/>
          <p:nvPr/>
        </p:nvSpPr>
        <p:spPr>
          <a:xfrm>
            <a:off x="7965348" y="483518"/>
            <a:ext cx="1665155" cy="1769715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PodB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070C16E-B348-642F-E3BF-7E2C0BD51AB8}"/>
              </a:ext>
            </a:extLst>
          </p:cNvPr>
          <p:cNvSpPr txBox="1"/>
          <p:nvPr/>
        </p:nvSpPr>
        <p:spPr>
          <a:xfrm>
            <a:off x="6300058" y="483518"/>
            <a:ext cx="1665290" cy="260071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PodA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cs typeface="Al Bayan Plain" pitchFamily="2" charset="-78"/>
              </a:rPr>
              <a:t>     - name: ContainerB</a:t>
            </a:r>
          </a:p>
          <a:p>
            <a:r>
              <a:rPr lang="en-US" altLang="ko-KR" sz="900" kern="0" dirty="0">
                <a:cs typeface="Al Bayan Plain" pitchFamily="2" charset="-78"/>
              </a:rPr>
              <a:t>       resources: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</p:spTree>
    <p:extLst>
      <p:ext uri="{BB962C8B-B14F-4D97-AF65-F5344CB8AC3E}">
        <p14:creationId xmlns:p14="http://schemas.microsoft.com/office/powerpoint/2010/main" val="20116554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8CC31052-D46C-415C-AC5E-9F519A0CE552}"/>
              </a:ext>
            </a:extLst>
          </p:cNvPr>
          <p:cNvSpPr/>
          <p:nvPr/>
        </p:nvSpPr>
        <p:spPr>
          <a:xfrm>
            <a:off x="1557988" y="3660955"/>
            <a:ext cx="6033186" cy="976265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 b="1"/>
              <a:t>Host Hardware</a:t>
            </a:r>
            <a:endParaRPr lang="en-US" altLang="ko-KR" sz="1200" b="1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79F6D168-BB65-4F50-9582-4A29196F3F72}"/>
              </a:ext>
            </a:extLst>
          </p:cNvPr>
          <p:cNvSpPr/>
          <p:nvPr/>
        </p:nvSpPr>
        <p:spPr>
          <a:xfrm>
            <a:off x="1552826" y="2812111"/>
            <a:ext cx="6043510" cy="855136"/>
          </a:xfrm>
          <a:prstGeom prst="roundRect">
            <a:avLst>
              <a:gd name="adj" fmla="val 416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 b="1"/>
              <a:t>Host Kernel</a:t>
            </a:r>
            <a:endParaRPr lang="en-US" altLang="ko-KR" sz="1200" b="1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1A39F0A4-CB41-4000-A6B3-276C8699113E}"/>
              </a:ext>
            </a:extLst>
          </p:cNvPr>
          <p:cNvSpPr/>
          <p:nvPr/>
        </p:nvSpPr>
        <p:spPr>
          <a:xfrm>
            <a:off x="2145948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</a:t>
            </a:r>
          </a:p>
          <a:p>
            <a:pPr algn="ctr"/>
            <a:r>
              <a:rPr lang="en-US" altLang="ko-KR" sz="1050"/>
              <a:t>GPU 0</a:t>
            </a:r>
            <a:endParaRPr lang="en-US" altLang="ko-KR" sz="105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444230E6-BF6C-47E3-875F-1BF325B264E8}"/>
              </a:ext>
            </a:extLst>
          </p:cNvPr>
          <p:cNvSpPr/>
          <p:nvPr/>
        </p:nvSpPr>
        <p:spPr>
          <a:xfrm>
            <a:off x="3405927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</a:t>
            </a:r>
          </a:p>
          <a:p>
            <a:pPr algn="ctr"/>
            <a:r>
              <a:rPr lang="en-US" altLang="ko-KR" sz="1050"/>
              <a:t>GPU 1</a:t>
            </a:r>
            <a:endParaRPr lang="en-US" altLang="ko-KR" sz="105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32771B95-FEAB-4B5F-8E1D-1879E0D35C73}"/>
              </a:ext>
            </a:extLst>
          </p:cNvPr>
          <p:cNvSpPr/>
          <p:nvPr/>
        </p:nvSpPr>
        <p:spPr>
          <a:xfrm>
            <a:off x="4665905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</a:t>
            </a:r>
          </a:p>
          <a:p>
            <a:pPr algn="ctr"/>
            <a:r>
              <a:rPr lang="en-US" altLang="ko-KR" sz="1050"/>
              <a:t>GPU 2</a:t>
            </a:r>
            <a:endParaRPr lang="en-US" altLang="ko-KR" sz="1050" dirty="0"/>
          </a:p>
        </p:txBody>
      </p:sp>
      <p:sp>
        <p:nvSpPr>
          <p:cNvPr id="17" name="사각형: 둥근 모서리 114">
            <a:extLst>
              <a:ext uri="{FF2B5EF4-FFF2-40B4-BE49-F238E27FC236}">
                <a16:creationId xmlns:a16="http://schemas.microsoft.com/office/drawing/2014/main" id="{FA743878-415F-4F3F-8BD0-44868C250DED}"/>
              </a:ext>
            </a:extLst>
          </p:cNvPr>
          <p:cNvSpPr/>
          <p:nvPr/>
        </p:nvSpPr>
        <p:spPr>
          <a:xfrm>
            <a:off x="5925884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</a:t>
            </a:r>
          </a:p>
          <a:p>
            <a:pPr algn="ctr"/>
            <a:r>
              <a:rPr lang="en-US" altLang="ko-KR" sz="1050"/>
              <a:t>GPU 3</a:t>
            </a:r>
            <a:endParaRPr lang="en-US" altLang="ko-KR" sz="1050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CF76CF1D-B8E6-443A-80C5-A21C41477750}"/>
              </a:ext>
            </a:extLst>
          </p:cNvPr>
          <p:cNvSpPr/>
          <p:nvPr/>
        </p:nvSpPr>
        <p:spPr>
          <a:xfrm>
            <a:off x="683568" y="1393942"/>
            <a:ext cx="2486761" cy="1317955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 b="1"/>
              <a:t>Container A</a:t>
            </a:r>
            <a:endParaRPr lang="ko-KR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A803DAF7-99B0-4292-A5DB-3EC24AB08296}"/>
              </a:ext>
            </a:extLst>
          </p:cNvPr>
          <p:cNvSpPr/>
          <p:nvPr/>
        </p:nvSpPr>
        <p:spPr>
          <a:xfrm>
            <a:off x="771302" y="2228033"/>
            <a:ext cx="10999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/dev/nvidia0</a:t>
            </a:r>
            <a:endParaRPr lang="en-US" altLang="ko-KR" sz="105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D2F56706-879C-45B5-A8D5-3807D53C29AC}"/>
              </a:ext>
            </a:extLst>
          </p:cNvPr>
          <p:cNvSpPr/>
          <p:nvPr/>
        </p:nvSpPr>
        <p:spPr>
          <a:xfrm>
            <a:off x="1972902" y="2228033"/>
            <a:ext cx="109986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/dev/nvidia1</a:t>
            </a:r>
            <a:endParaRPr lang="en-US" altLang="ko-KR" sz="105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D0D7C7AC-1E28-4E6E-BABF-ED8C7548D800}"/>
              </a:ext>
            </a:extLst>
          </p:cNvPr>
          <p:cNvSpPr/>
          <p:nvPr/>
        </p:nvSpPr>
        <p:spPr>
          <a:xfrm>
            <a:off x="771302" y="1741979"/>
            <a:ext cx="2301467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 CUDA Lib/Toolkit</a:t>
            </a:r>
            <a:endParaRPr lang="en-US" altLang="ko-KR" sz="1050" dirty="0"/>
          </a:p>
        </p:txBody>
      </p: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55283E46-F286-4ADA-9E5B-DCE0F42F1436}"/>
              </a:ext>
            </a:extLst>
          </p:cNvPr>
          <p:cNvGrpSpPr/>
          <p:nvPr/>
        </p:nvGrpSpPr>
        <p:grpSpPr>
          <a:xfrm>
            <a:off x="3295100" y="1388279"/>
            <a:ext cx="3674596" cy="1317955"/>
            <a:chOff x="3328619" y="1015999"/>
            <a:chExt cx="3674596" cy="1317955"/>
          </a:xfrm>
        </p:grpSpPr>
        <p:sp>
          <p:nvSpPr>
            <p:cNvPr id="54" name="사각형: 둥근 모서리 114">
              <a:extLst>
                <a:ext uri="{FF2B5EF4-FFF2-40B4-BE49-F238E27FC236}">
                  <a16:creationId xmlns:a16="http://schemas.microsoft.com/office/drawing/2014/main" id="{A18B781E-389B-4EBF-A817-D4569C2D6423}"/>
                </a:ext>
              </a:extLst>
            </p:cNvPr>
            <p:cNvSpPr/>
            <p:nvPr/>
          </p:nvSpPr>
          <p:spPr>
            <a:xfrm>
              <a:off x="3328619" y="1015999"/>
              <a:ext cx="3674596" cy="1317955"/>
            </a:xfrm>
            <a:prstGeom prst="roundRect">
              <a:avLst>
                <a:gd name="adj" fmla="val 67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altLang="ko-KR" sz="1200" b="1"/>
                <a:t>Container B</a:t>
              </a:r>
              <a:endParaRPr lang="ko-KR" altLang="en-US" sz="1200" b="1" dirty="0">
                <a:solidFill>
                  <a:schemeClr val="accent2">
                    <a:lumMod val="75000"/>
                  </a:schemeClr>
                </a:solidFill>
              </a:endParaRPr>
            </a:p>
          </p:txBody>
        </p:sp>
        <p:sp>
          <p:nvSpPr>
            <p:cNvPr id="55" name="사각형: 둥근 모서리 114">
              <a:extLst>
                <a:ext uri="{FF2B5EF4-FFF2-40B4-BE49-F238E27FC236}">
                  <a16:creationId xmlns:a16="http://schemas.microsoft.com/office/drawing/2014/main" id="{CA8E074B-D8A6-4E92-8563-585CEF736C89}"/>
                </a:ext>
              </a:extLst>
            </p:cNvPr>
            <p:cNvSpPr/>
            <p:nvPr/>
          </p:nvSpPr>
          <p:spPr>
            <a:xfrm>
              <a:off x="3416353" y="1850090"/>
              <a:ext cx="1099999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/dev/nvdia0</a:t>
              </a:r>
              <a:endParaRPr lang="en-US" altLang="ko-KR" sz="1000" dirty="0"/>
            </a:p>
          </p:txBody>
        </p:sp>
        <p:sp>
          <p:nvSpPr>
            <p:cNvPr id="56" name="사각형: 둥근 모서리 114">
              <a:extLst>
                <a:ext uri="{FF2B5EF4-FFF2-40B4-BE49-F238E27FC236}">
                  <a16:creationId xmlns:a16="http://schemas.microsoft.com/office/drawing/2014/main" id="{9AC5B223-6762-4A94-BC2D-48F317D9D503}"/>
                </a:ext>
              </a:extLst>
            </p:cNvPr>
            <p:cNvSpPr/>
            <p:nvPr/>
          </p:nvSpPr>
          <p:spPr>
            <a:xfrm>
              <a:off x="4617953" y="1850090"/>
              <a:ext cx="1099868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/dev/nvdia2</a:t>
              </a:r>
              <a:endParaRPr lang="en-US" altLang="ko-KR" sz="1000" dirty="0"/>
            </a:p>
          </p:txBody>
        </p:sp>
        <p:sp>
          <p:nvSpPr>
            <p:cNvPr id="57" name="사각형: 둥근 모서리 114">
              <a:extLst>
                <a:ext uri="{FF2B5EF4-FFF2-40B4-BE49-F238E27FC236}">
                  <a16:creationId xmlns:a16="http://schemas.microsoft.com/office/drawing/2014/main" id="{FE359AF7-218F-44C6-B474-8140E31271D1}"/>
                </a:ext>
              </a:extLst>
            </p:cNvPr>
            <p:cNvSpPr/>
            <p:nvPr/>
          </p:nvSpPr>
          <p:spPr>
            <a:xfrm>
              <a:off x="3416353" y="1364036"/>
              <a:ext cx="3498895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NVIDIA CUDA Lib/Toolkit</a:t>
              </a:r>
              <a:endParaRPr lang="en-US" altLang="ko-KR" sz="1000" dirty="0"/>
            </a:p>
          </p:txBody>
        </p:sp>
        <p:sp>
          <p:nvSpPr>
            <p:cNvPr id="85" name="사각형: 둥근 모서리 114">
              <a:extLst>
                <a:ext uri="{FF2B5EF4-FFF2-40B4-BE49-F238E27FC236}">
                  <a16:creationId xmlns:a16="http://schemas.microsoft.com/office/drawing/2014/main" id="{BCC0956D-C3F7-49C0-A9F2-EEC64131C57C}"/>
                </a:ext>
              </a:extLst>
            </p:cNvPr>
            <p:cNvSpPr/>
            <p:nvPr/>
          </p:nvSpPr>
          <p:spPr>
            <a:xfrm>
              <a:off x="5815380" y="1850090"/>
              <a:ext cx="1099868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/dev/nvdia3</a:t>
              </a:r>
              <a:endParaRPr lang="en-US" altLang="ko-KR" sz="1000" dirty="0"/>
            </a:p>
          </p:txBody>
        </p:sp>
      </p:grp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13DCC872-5499-4CEA-9CA8-FA20591EB069}"/>
              </a:ext>
            </a:extLst>
          </p:cNvPr>
          <p:cNvSpPr/>
          <p:nvPr/>
        </p:nvSpPr>
        <p:spPr>
          <a:xfrm>
            <a:off x="7112912" y="1388279"/>
            <a:ext cx="1487816" cy="1317955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 b="1"/>
              <a:t>Container C</a:t>
            </a:r>
            <a:endParaRPr lang="ko-KR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3D3CC5C5-2615-49A4-A2AE-C361BD4D1BBE}"/>
              </a:ext>
            </a:extLst>
          </p:cNvPr>
          <p:cNvSpPr/>
          <p:nvPr/>
        </p:nvSpPr>
        <p:spPr>
          <a:xfrm>
            <a:off x="7193099" y="2222370"/>
            <a:ext cx="13217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/dev/nvdia3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B29ABC0B-15DC-450D-8FC3-49C53EDE5F1E}"/>
              </a:ext>
            </a:extLst>
          </p:cNvPr>
          <p:cNvSpPr/>
          <p:nvPr/>
        </p:nvSpPr>
        <p:spPr>
          <a:xfrm>
            <a:off x="7193099" y="1736316"/>
            <a:ext cx="132179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CF314586-C0C4-4879-A3CB-8E4469478D11}"/>
              </a:ext>
            </a:extLst>
          </p:cNvPr>
          <p:cNvCxnSpPr>
            <a:cxnSpLocks/>
            <a:stCxn id="48" idx="2"/>
            <a:endCxn id="14" idx="0"/>
          </p:cNvCxnSpPr>
          <p:nvPr/>
        </p:nvCxnSpPr>
        <p:spPr>
          <a:xfrm>
            <a:off x="1321302" y="2624077"/>
            <a:ext cx="1363312" cy="11490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D7F73344-7CBD-4515-AF8F-57B32D20BE1C}"/>
              </a:ext>
            </a:extLst>
          </p:cNvPr>
          <p:cNvCxnSpPr>
            <a:cxnSpLocks/>
            <a:stCxn id="55" idx="2"/>
            <a:endCxn id="14" idx="0"/>
          </p:cNvCxnSpPr>
          <p:nvPr/>
        </p:nvCxnSpPr>
        <p:spPr>
          <a:xfrm flipH="1">
            <a:off x="2684614" y="2618414"/>
            <a:ext cx="1248220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17">
            <a:extLst>
              <a:ext uri="{FF2B5EF4-FFF2-40B4-BE49-F238E27FC236}">
                <a16:creationId xmlns:a16="http://schemas.microsoft.com/office/drawing/2014/main" id="{03B70D87-E8F1-636E-2734-08D20B84587A}"/>
              </a:ext>
            </a:extLst>
          </p:cNvPr>
          <p:cNvCxnSpPr>
            <a:cxnSpLocks/>
            <a:stCxn id="49" idx="2"/>
            <a:endCxn id="15" idx="0"/>
          </p:cNvCxnSpPr>
          <p:nvPr/>
        </p:nvCxnSpPr>
        <p:spPr>
          <a:xfrm>
            <a:off x="2522836" y="2624077"/>
            <a:ext cx="1421757" cy="11490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17">
            <a:extLst>
              <a:ext uri="{FF2B5EF4-FFF2-40B4-BE49-F238E27FC236}">
                <a16:creationId xmlns:a16="http://schemas.microsoft.com/office/drawing/2014/main" id="{5E8C92FC-DD69-18A4-74EC-834FCCD7F2E2}"/>
              </a:ext>
            </a:extLst>
          </p:cNvPr>
          <p:cNvCxnSpPr>
            <a:cxnSpLocks/>
            <a:stCxn id="56" idx="2"/>
            <a:endCxn id="16" idx="0"/>
          </p:cNvCxnSpPr>
          <p:nvPr/>
        </p:nvCxnSpPr>
        <p:spPr>
          <a:xfrm>
            <a:off x="5134368" y="2618414"/>
            <a:ext cx="70203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0C25B297-C471-4983-B26F-9B6D9298B3BB}"/>
              </a:ext>
            </a:extLst>
          </p:cNvPr>
          <p:cNvCxnSpPr>
            <a:cxnSpLocks/>
            <a:stCxn id="85" idx="2"/>
            <a:endCxn id="17" idx="0"/>
          </p:cNvCxnSpPr>
          <p:nvPr/>
        </p:nvCxnSpPr>
        <p:spPr>
          <a:xfrm>
            <a:off x="6331795" y="2618414"/>
            <a:ext cx="132755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6">
            <a:extLst>
              <a:ext uri="{FF2B5EF4-FFF2-40B4-BE49-F238E27FC236}">
                <a16:creationId xmlns:a16="http://schemas.microsoft.com/office/drawing/2014/main" id="{B6F4D2A3-59C5-B078-E593-8F85D1EEF940}"/>
              </a:ext>
            </a:extLst>
          </p:cNvPr>
          <p:cNvCxnSpPr>
            <a:cxnSpLocks/>
            <a:stCxn id="74" idx="2"/>
            <a:endCxn id="17" idx="0"/>
          </p:cNvCxnSpPr>
          <p:nvPr/>
        </p:nvCxnSpPr>
        <p:spPr>
          <a:xfrm flipH="1">
            <a:off x="6464550" y="2618414"/>
            <a:ext cx="1389449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8204B16C-CA82-4791-8D0F-1EE9DCEDA54F}"/>
              </a:ext>
            </a:extLst>
          </p:cNvPr>
          <p:cNvSpPr/>
          <p:nvPr/>
        </p:nvSpPr>
        <p:spPr>
          <a:xfrm>
            <a:off x="1692325" y="2945032"/>
            <a:ext cx="5759996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 GPU Device Driver</a:t>
            </a:r>
            <a:endParaRPr lang="en-US" altLang="ko-KR" sz="1050" dirty="0"/>
          </a:p>
        </p:txBody>
      </p:sp>
    </p:spTree>
    <p:extLst>
      <p:ext uri="{BB962C8B-B14F-4D97-AF65-F5344CB8AC3E}">
        <p14:creationId xmlns:p14="http://schemas.microsoft.com/office/powerpoint/2010/main" val="7180217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51860</TotalTime>
  <Words>1370</Words>
  <Application>Microsoft Macintosh PowerPoint</Application>
  <PresentationFormat>화면 슬라이드 쇼(16:9)</PresentationFormat>
  <Paragraphs>370</Paragraphs>
  <Slides>10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4" baseType="lpstr">
      <vt:lpstr>맑은 고딕</vt:lpstr>
      <vt:lpstr>Al Bayan Plain</vt:lpstr>
      <vt:lpstr>Arial</vt:lpstr>
      <vt:lpstr>Office 테마</vt:lpstr>
      <vt:lpstr>CUDA Container Stack</vt:lpstr>
      <vt:lpstr>PowerPoint 프레젠테이션</vt:lpstr>
      <vt:lpstr>PowerPoint 프레젠테이션</vt:lpstr>
      <vt:lpstr>PowerPoint 프레젠테이션</vt:lpstr>
      <vt:lpstr>CUDA Container Stack</vt:lpstr>
      <vt:lpstr>CUDA Container Stack</vt:lpstr>
      <vt:lpstr>PowerPoint 프레젠테이션</vt:lpstr>
      <vt:lpstr>PowerPoint 프레젠테이션</vt:lpstr>
      <vt:lpstr>PowerPoint 프레젠테이션</vt:lpstr>
      <vt:lpstr>CUDA Container Stack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6316</cp:revision>
  <dcterms:created xsi:type="dcterms:W3CDTF">2006-10-05T04:04:58Z</dcterms:created>
  <dcterms:modified xsi:type="dcterms:W3CDTF">2026-03-04T15:52:00Z</dcterms:modified>
</cp:coreProperties>
</file>