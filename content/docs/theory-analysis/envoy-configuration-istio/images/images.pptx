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387" r:id="rId2"/>
    <p:sldId id="407" r:id="rId3"/>
    <p:sldId id="408" r:id="rId4"/>
    <p:sldId id="406" r:id="rId5"/>
    <p:sldId id="412" r:id="rId6"/>
    <p:sldId id="413" r:id="rId7"/>
    <p:sldId id="410" r:id="rId8"/>
    <p:sldId id="411" r:id="rId9"/>
    <p:sldId id="409" r:id="rId10"/>
  </p:sldIdLst>
  <p:sldSz cx="9144000" cy="5143500" type="screen16x9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  <p15:guide id="3" orient="horz" pos="162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보통 스타일 2 - 강조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B301B821-A1FF-4177-AEE7-76D212191A09}" styleName="보통 스타일 1 - 강조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BC89EF96-8CEA-46FF-86C4-4CE0E7609802}" styleName="밝은 스타일 3 - 강조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16DA210-FB5B-4158-B5E0-FEB733F419BA}" styleName="밝은 스타일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9D7B26C5-4107-4FEC-AEDC-1716B250A1EF}" styleName="밝은 스타일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856" autoAdjust="0"/>
    <p:restoredTop sz="81275" autoAdjust="0"/>
  </p:normalViewPr>
  <p:slideViewPr>
    <p:cSldViewPr>
      <p:cViewPr>
        <p:scale>
          <a:sx n="200" d="100"/>
          <a:sy n="200" d="100"/>
        </p:scale>
        <p:origin x="472" y="1760"/>
      </p:cViewPr>
      <p:guideLst>
        <p:guide orient="horz" pos="2160"/>
        <p:guide pos="2880"/>
        <p:guide orient="horz" pos="162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CD5550B-26C4-49A9-A5BA-636EF7BE6CE9}" type="datetimeFigureOut">
              <a:rPr lang="ko-KR" altLang="en-US" smtClean="0"/>
              <a:t>2026. 8. 31.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A5DFA43-8D57-47FB-BC46-057616015C3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733502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1597820"/>
            <a:ext cx="7772400" cy="1102519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2026. 8. 31.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2026. 8. 31.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2026. 8. 31.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2026. 8. 31.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8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8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2026. 8. 31.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2026. 8. 31.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2026. 8. 31.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3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04789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3" y="1076327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2026. 8. 31.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3600451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4025504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2026. 8. 31.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2026. 8. 31.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05980"/>
            <a:ext cx="2057400" cy="4388644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05980"/>
            <a:ext cx="6019800" cy="4388644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2026. 8. 31.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B30EDBD-1C2D-4C1E-B459-B60219FAB484}" type="datetimeFigureOut">
              <a:rPr lang="ko-KR" altLang="en-US" smtClean="0"/>
              <a:t>2026. 8. 31.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4798B2-BEF3-EBF2-A9DE-81B629C340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모서리가 둥근 직사각형 1">
            <a:extLst>
              <a:ext uri="{FF2B5EF4-FFF2-40B4-BE49-F238E27FC236}">
                <a16:creationId xmlns:a16="http://schemas.microsoft.com/office/drawing/2014/main" id="{69E43EBA-0B39-3325-ED2A-AFDAFE26E482}"/>
              </a:ext>
            </a:extLst>
          </p:cNvPr>
          <p:cNvSpPr/>
          <p:nvPr/>
        </p:nvSpPr>
        <p:spPr>
          <a:xfrm>
            <a:off x="1475656" y="1203598"/>
            <a:ext cx="1213749" cy="387034"/>
          </a:xfrm>
          <a:prstGeom prst="roundRect">
            <a:avLst>
              <a:gd name="adj" fmla="val 8082"/>
            </a:avLst>
          </a:prstGeom>
          <a:solidFill>
            <a:schemeClr val="bg1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000" b="1">
                <a:solidFill>
                  <a:schemeClr val="tx1"/>
                </a:solidFill>
              </a:rPr>
              <a:t>client</a:t>
            </a:r>
          </a:p>
          <a:p>
            <a:pPr algn="ctr"/>
            <a:r>
              <a:rPr kumimoji="1" lang="en-US" altLang="ko-KR" sz="1000">
                <a:solidFill>
                  <a:schemeClr val="tx1"/>
                </a:solidFill>
              </a:rPr>
              <a:t>Pod</a:t>
            </a:r>
          </a:p>
        </p:txBody>
      </p:sp>
      <p:sp>
        <p:nvSpPr>
          <p:cNvPr id="3" name="모서리가 둥근 직사각형 2">
            <a:extLst>
              <a:ext uri="{FF2B5EF4-FFF2-40B4-BE49-F238E27FC236}">
                <a16:creationId xmlns:a16="http://schemas.microsoft.com/office/drawing/2014/main" id="{328C4129-05F6-EFD3-6EAD-04FAF65DD323}"/>
              </a:ext>
            </a:extLst>
          </p:cNvPr>
          <p:cNvSpPr/>
          <p:nvPr/>
        </p:nvSpPr>
        <p:spPr>
          <a:xfrm>
            <a:off x="3358251" y="1203598"/>
            <a:ext cx="1213749" cy="387034"/>
          </a:xfrm>
          <a:prstGeom prst="roundRect">
            <a:avLst>
              <a:gd name="adj" fmla="val 8082"/>
            </a:avLst>
          </a:prstGeom>
          <a:solidFill>
            <a:schemeClr val="bg1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000" b="1">
                <a:solidFill>
                  <a:schemeClr val="tx1"/>
                </a:solidFill>
              </a:rPr>
              <a:t>server-b :8080</a:t>
            </a:r>
          </a:p>
          <a:p>
            <a:pPr algn="ctr"/>
            <a:r>
              <a:rPr kumimoji="1" lang="en-US" altLang="ko-KR" sz="1000">
                <a:solidFill>
                  <a:schemeClr val="tx1"/>
                </a:solidFill>
              </a:rPr>
              <a:t>Service</a:t>
            </a:r>
          </a:p>
        </p:txBody>
      </p:sp>
      <p:sp>
        <p:nvSpPr>
          <p:cNvPr id="4" name="모서리가 둥근 직사각형 3">
            <a:extLst>
              <a:ext uri="{FF2B5EF4-FFF2-40B4-BE49-F238E27FC236}">
                <a16:creationId xmlns:a16="http://schemas.microsoft.com/office/drawing/2014/main" id="{ED7459B9-4454-BDED-9746-F6EA66AA7A7E}"/>
              </a:ext>
            </a:extLst>
          </p:cNvPr>
          <p:cNvSpPr/>
          <p:nvPr/>
        </p:nvSpPr>
        <p:spPr>
          <a:xfrm>
            <a:off x="5241342" y="1203598"/>
            <a:ext cx="1213749" cy="387034"/>
          </a:xfrm>
          <a:prstGeom prst="roundRect">
            <a:avLst>
              <a:gd name="adj" fmla="val 8082"/>
            </a:avLst>
          </a:prstGeom>
          <a:solidFill>
            <a:schemeClr val="bg1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000" b="1">
                <a:solidFill>
                  <a:schemeClr val="tx1"/>
                </a:solidFill>
              </a:rPr>
              <a:t>server-b :8080</a:t>
            </a:r>
          </a:p>
          <a:p>
            <a:pPr algn="ctr"/>
            <a:r>
              <a:rPr kumimoji="1" lang="en-US" altLang="ko-KR" sz="1000">
                <a:solidFill>
                  <a:schemeClr val="tx1"/>
                </a:solidFill>
              </a:rPr>
              <a:t>Pod</a:t>
            </a:r>
          </a:p>
        </p:txBody>
      </p:sp>
      <p:cxnSp>
        <p:nvCxnSpPr>
          <p:cNvPr id="5" name="직선 화살표 연결선 4">
            <a:extLst>
              <a:ext uri="{FF2B5EF4-FFF2-40B4-BE49-F238E27FC236}">
                <a16:creationId xmlns:a16="http://schemas.microsoft.com/office/drawing/2014/main" id="{A31368CB-64A4-FD41-5C33-1AAE6DB7D546}"/>
              </a:ext>
            </a:extLst>
          </p:cNvPr>
          <p:cNvCxnSpPr>
            <a:cxnSpLocks/>
            <a:stCxn id="2" idx="3"/>
            <a:endCxn id="3" idx="1"/>
          </p:cNvCxnSpPr>
          <p:nvPr/>
        </p:nvCxnSpPr>
        <p:spPr>
          <a:xfrm>
            <a:off x="2689405" y="1397115"/>
            <a:ext cx="668846" cy="0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직선 화살표 연결선 7">
            <a:extLst>
              <a:ext uri="{FF2B5EF4-FFF2-40B4-BE49-F238E27FC236}">
                <a16:creationId xmlns:a16="http://schemas.microsoft.com/office/drawing/2014/main" id="{5881DBA8-99F0-D42B-9C78-35EED136552D}"/>
              </a:ext>
            </a:extLst>
          </p:cNvPr>
          <p:cNvCxnSpPr>
            <a:cxnSpLocks/>
            <a:stCxn id="3" idx="3"/>
            <a:endCxn id="4" idx="1"/>
          </p:cNvCxnSpPr>
          <p:nvPr/>
        </p:nvCxnSpPr>
        <p:spPr>
          <a:xfrm>
            <a:off x="4572000" y="1397115"/>
            <a:ext cx="669342" cy="0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모서리가 둥근 직사각형 13">
            <a:extLst>
              <a:ext uri="{FF2B5EF4-FFF2-40B4-BE49-F238E27FC236}">
                <a16:creationId xmlns:a16="http://schemas.microsoft.com/office/drawing/2014/main" id="{1BCDE6EC-6A2A-1A4E-0729-C2939016C478}"/>
              </a:ext>
            </a:extLst>
          </p:cNvPr>
          <p:cNvSpPr/>
          <p:nvPr/>
        </p:nvSpPr>
        <p:spPr>
          <a:xfrm>
            <a:off x="3358251" y="483518"/>
            <a:ext cx="1213749" cy="387034"/>
          </a:xfrm>
          <a:prstGeom prst="roundRect">
            <a:avLst>
              <a:gd name="adj" fmla="val 8082"/>
            </a:avLst>
          </a:prstGeom>
          <a:solidFill>
            <a:schemeClr val="bg1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000" b="1">
                <a:solidFill>
                  <a:schemeClr val="tx1"/>
                </a:solidFill>
              </a:rPr>
              <a:t>server-a :8080</a:t>
            </a:r>
          </a:p>
          <a:p>
            <a:pPr algn="ctr"/>
            <a:r>
              <a:rPr kumimoji="1" lang="en-US" altLang="ko-KR" sz="1000">
                <a:solidFill>
                  <a:schemeClr val="tx1"/>
                </a:solidFill>
              </a:rPr>
              <a:t>Service</a:t>
            </a:r>
            <a:endParaRPr kumimoji="1" lang="en-US" altLang="ko-KR" sz="1000" b="1">
              <a:solidFill>
                <a:schemeClr val="tx1"/>
              </a:solidFill>
            </a:endParaRPr>
          </a:p>
        </p:txBody>
      </p:sp>
      <p:sp>
        <p:nvSpPr>
          <p:cNvPr id="16" name="모서리가 둥근 직사각형 15">
            <a:extLst>
              <a:ext uri="{FF2B5EF4-FFF2-40B4-BE49-F238E27FC236}">
                <a16:creationId xmlns:a16="http://schemas.microsoft.com/office/drawing/2014/main" id="{98D9EF2D-36DC-75B3-61CB-04846969984B}"/>
              </a:ext>
            </a:extLst>
          </p:cNvPr>
          <p:cNvSpPr/>
          <p:nvPr/>
        </p:nvSpPr>
        <p:spPr>
          <a:xfrm>
            <a:off x="5241342" y="483518"/>
            <a:ext cx="1213749" cy="387034"/>
          </a:xfrm>
          <a:prstGeom prst="roundRect">
            <a:avLst>
              <a:gd name="adj" fmla="val 8082"/>
            </a:avLst>
          </a:prstGeom>
          <a:solidFill>
            <a:schemeClr val="bg1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000" b="1">
                <a:solidFill>
                  <a:schemeClr val="tx1"/>
                </a:solidFill>
              </a:rPr>
              <a:t>server-a :8080</a:t>
            </a:r>
          </a:p>
          <a:p>
            <a:pPr algn="ctr"/>
            <a:r>
              <a:rPr kumimoji="1" lang="en-US" altLang="ko-KR" sz="1000">
                <a:solidFill>
                  <a:schemeClr val="tx1"/>
                </a:solidFill>
              </a:rPr>
              <a:t>Pod</a:t>
            </a:r>
          </a:p>
        </p:txBody>
      </p:sp>
      <p:sp>
        <p:nvSpPr>
          <p:cNvPr id="17" name="모서리가 둥근 직사각형 16">
            <a:extLst>
              <a:ext uri="{FF2B5EF4-FFF2-40B4-BE49-F238E27FC236}">
                <a16:creationId xmlns:a16="http://schemas.microsoft.com/office/drawing/2014/main" id="{5FAE3543-F6A7-A5B0-091F-E1D895F4C85E}"/>
              </a:ext>
            </a:extLst>
          </p:cNvPr>
          <p:cNvSpPr/>
          <p:nvPr/>
        </p:nvSpPr>
        <p:spPr>
          <a:xfrm>
            <a:off x="3358251" y="1923678"/>
            <a:ext cx="1213749" cy="387034"/>
          </a:xfrm>
          <a:prstGeom prst="roundRect">
            <a:avLst>
              <a:gd name="adj" fmla="val 8082"/>
            </a:avLst>
          </a:prstGeom>
          <a:solidFill>
            <a:schemeClr val="bg1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000" b="1">
                <a:solidFill>
                  <a:schemeClr val="tx1"/>
                </a:solidFill>
              </a:rPr>
              <a:t>server-c :9090</a:t>
            </a:r>
          </a:p>
          <a:p>
            <a:pPr algn="ctr"/>
            <a:r>
              <a:rPr kumimoji="1" lang="en-US" altLang="ko-KR" sz="1000">
                <a:solidFill>
                  <a:schemeClr val="tx1"/>
                </a:solidFill>
              </a:rPr>
              <a:t>Service</a:t>
            </a:r>
          </a:p>
        </p:txBody>
      </p:sp>
      <p:sp>
        <p:nvSpPr>
          <p:cNvPr id="18" name="모서리가 둥근 직사각형 17">
            <a:extLst>
              <a:ext uri="{FF2B5EF4-FFF2-40B4-BE49-F238E27FC236}">
                <a16:creationId xmlns:a16="http://schemas.microsoft.com/office/drawing/2014/main" id="{5AC3E544-5D56-140C-ED7D-CDA389F1FAEB}"/>
              </a:ext>
            </a:extLst>
          </p:cNvPr>
          <p:cNvSpPr/>
          <p:nvPr/>
        </p:nvSpPr>
        <p:spPr>
          <a:xfrm>
            <a:off x="5241342" y="1923678"/>
            <a:ext cx="1213749" cy="387034"/>
          </a:xfrm>
          <a:prstGeom prst="roundRect">
            <a:avLst>
              <a:gd name="adj" fmla="val 8082"/>
            </a:avLst>
          </a:prstGeom>
          <a:solidFill>
            <a:schemeClr val="bg1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000" b="1">
                <a:solidFill>
                  <a:schemeClr val="tx1"/>
                </a:solidFill>
              </a:rPr>
              <a:t>server-c :9090</a:t>
            </a:r>
          </a:p>
          <a:p>
            <a:pPr algn="ctr"/>
            <a:r>
              <a:rPr kumimoji="1" lang="en-US" altLang="ko-KR" sz="1000">
                <a:solidFill>
                  <a:schemeClr val="tx1"/>
                </a:solidFill>
              </a:rPr>
              <a:t>Pod</a:t>
            </a:r>
          </a:p>
        </p:txBody>
      </p:sp>
      <p:cxnSp>
        <p:nvCxnSpPr>
          <p:cNvPr id="19" name="직선 화살표 연결선 18">
            <a:extLst>
              <a:ext uri="{FF2B5EF4-FFF2-40B4-BE49-F238E27FC236}">
                <a16:creationId xmlns:a16="http://schemas.microsoft.com/office/drawing/2014/main" id="{B2999036-FFC0-2459-B7C7-0414D3BD6E20}"/>
              </a:ext>
            </a:extLst>
          </p:cNvPr>
          <p:cNvCxnSpPr>
            <a:cxnSpLocks/>
            <a:stCxn id="2" idx="3"/>
            <a:endCxn id="17" idx="1"/>
          </p:cNvCxnSpPr>
          <p:nvPr/>
        </p:nvCxnSpPr>
        <p:spPr>
          <a:xfrm>
            <a:off x="2689405" y="1397115"/>
            <a:ext cx="668846" cy="720080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직선 화살표 연결선 21">
            <a:extLst>
              <a:ext uri="{FF2B5EF4-FFF2-40B4-BE49-F238E27FC236}">
                <a16:creationId xmlns:a16="http://schemas.microsoft.com/office/drawing/2014/main" id="{C56B28E9-FCE3-1B77-AFBE-64EE94C8B3F6}"/>
              </a:ext>
            </a:extLst>
          </p:cNvPr>
          <p:cNvCxnSpPr>
            <a:cxnSpLocks/>
            <a:stCxn id="2" idx="3"/>
            <a:endCxn id="14" idx="1"/>
          </p:cNvCxnSpPr>
          <p:nvPr/>
        </p:nvCxnSpPr>
        <p:spPr>
          <a:xfrm flipV="1">
            <a:off x="2689405" y="677035"/>
            <a:ext cx="668846" cy="720080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화살표 연결선 24">
            <a:extLst>
              <a:ext uri="{FF2B5EF4-FFF2-40B4-BE49-F238E27FC236}">
                <a16:creationId xmlns:a16="http://schemas.microsoft.com/office/drawing/2014/main" id="{EB8EB277-D1D6-FB84-C14C-9867EC1B7D37}"/>
              </a:ext>
            </a:extLst>
          </p:cNvPr>
          <p:cNvCxnSpPr>
            <a:cxnSpLocks/>
            <a:stCxn id="17" idx="3"/>
            <a:endCxn id="18" idx="1"/>
          </p:cNvCxnSpPr>
          <p:nvPr/>
        </p:nvCxnSpPr>
        <p:spPr>
          <a:xfrm>
            <a:off x="4572000" y="2117195"/>
            <a:ext cx="669342" cy="0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직선 화살표 연결선 27">
            <a:extLst>
              <a:ext uri="{FF2B5EF4-FFF2-40B4-BE49-F238E27FC236}">
                <a16:creationId xmlns:a16="http://schemas.microsoft.com/office/drawing/2014/main" id="{F0461819-246E-088F-0F5A-4D9932CBCBC5}"/>
              </a:ext>
            </a:extLst>
          </p:cNvPr>
          <p:cNvCxnSpPr>
            <a:cxnSpLocks/>
            <a:stCxn id="14" idx="3"/>
            <a:endCxn id="16" idx="1"/>
          </p:cNvCxnSpPr>
          <p:nvPr/>
        </p:nvCxnSpPr>
        <p:spPr>
          <a:xfrm>
            <a:off x="4572000" y="677035"/>
            <a:ext cx="669342" cy="0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589648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125F1B-23EE-BC77-1B15-F9DFC59D54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모서리가 둥근 직사각형 5">
            <a:extLst>
              <a:ext uri="{FF2B5EF4-FFF2-40B4-BE49-F238E27FC236}">
                <a16:creationId xmlns:a16="http://schemas.microsoft.com/office/drawing/2014/main" id="{64D8DC90-4ACA-7A44-2016-6C8E91B214BE}"/>
              </a:ext>
            </a:extLst>
          </p:cNvPr>
          <p:cNvSpPr/>
          <p:nvPr/>
        </p:nvSpPr>
        <p:spPr>
          <a:xfrm>
            <a:off x="107504" y="174972"/>
            <a:ext cx="9001000" cy="4845050"/>
          </a:xfrm>
          <a:prstGeom prst="roundRect">
            <a:avLst>
              <a:gd name="adj" fmla="val 1452"/>
            </a:avLst>
          </a:prstGeom>
          <a:solidFill>
            <a:schemeClr val="bg1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kumimoji="1" lang="en-US" altLang="ko-KR" sz="800" b="1">
                <a:solidFill>
                  <a:schemeClr val="tx1"/>
                </a:solidFill>
              </a:rPr>
              <a:t>client</a:t>
            </a:r>
            <a:r>
              <a:rPr kumimoji="1" lang="ko-KR" altLang="en-US" sz="800" b="1">
                <a:solidFill>
                  <a:schemeClr val="tx1"/>
                </a:solidFill>
              </a:rPr>
              <a:t> </a:t>
            </a:r>
            <a:r>
              <a:rPr kumimoji="1" lang="en-US" altLang="ko-KR" sz="800">
                <a:solidFill>
                  <a:schemeClr val="tx1"/>
                </a:solidFill>
              </a:rPr>
              <a:t>Pod</a:t>
            </a:r>
          </a:p>
        </p:txBody>
      </p:sp>
      <p:sp>
        <p:nvSpPr>
          <p:cNvPr id="7" name="모서리가 둥근 직사각형 6">
            <a:extLst>
              <a:ext uri="{FF2B5EF4-FFF2-40B4-BE49-F238E27FC236}">
                <a16:creationId xmlns:a16="http://schemas.microsoft.com/office/drawing/2014/main" id="{C0EB552D-DC21-4666-D83E-D57C19F44D15}"/>
              </a:ext>
            </a:extLst>
          </p:cNvPr>
          <p:cNvSpPr/>
          <p:nvPr/>
        </p:nvSpPr>
        <p:spPr>
          <a:xfrm>
            <a:off x="179513" y="847629"/>
            <a:ext cx="936103" cy="277654"/>
          </a:xfrm>
          <a:prstGeom prst="roundRect">
            <a:avLst>
              <a:gd name="adj" fmla="val 14645"/>
            </a:avLst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 b="1">
                <a:solidFill>
                  <a:schemeClr val="tx1"/>
                </a:solidFill>
              </a:rPr>
              <a:t>shell (Client)</a:t>
            </a:r>
            <a:endParaRPr kumimoji="1" lang="en-US" altLang="ko-KR" sz="800">
              <a:solidFill>
                <a:schemeClr val="tx1"/>
              </a:solidFill>
            </a:endParaRPr>
          </a:p>
        </p:txBody>
      </p:sp>
      <p:sp>
        <p:nvSpPr>
          <p:cNvPr id="9" name="모서리가 둥근 직사각형 8">
            <a:extLst>
              <a:ext uri="{FF2B5EF4-FFF2-40B4-BE49-F238E27FC236}">
                <a16:creationId xmlns:a16="http://schemas.microsoft.com/office/drawing/2014/main" id="{9B95E9EF-CAF4-72CF-823E-769369C6B76B}"/>
              </a:ext>
            </a:extLst>
          </p:cNvPr>
          <p:cNvSpPr/>
          <p:nvPr/>
        </p:nvSpPr>
        <p:spPr>
          <a:xfrm>
            <a:off x="1259633" y="251172"/>
            <a:ext cx="7776863" cy="4699000"/>
          </a:xfrm>
          <a:prstGeom prst="roundRect">
            <a:avLst>
              <a:gd name="adj" fmla="val 2107"/>
            </a:avLst>
          </a:prstGeom>
          <a:solidFill>
            <a:schemeClr val="bg1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r"/>
            <a:r>
              <a:rPr kumimoji="1" lang="en-US" altLang="ko-KR" sz="800" b="1">
                <a:solidFill>
                  <a:schemeClr val="tx1"/>
                </a:solidFill>
              </a:rPr>
              <a:t>Sidecar Envoy</a:t>
            </a:r>
            <a:endParaRPr kumimoji="1" lang="en-US" altLang="ko-KR" sz="800">
              <a:solidFill>
                <a:schemeClr val="tx1"/>
              </a:solidFill>
            </a:endParaRPr>
          </a:p>
        </p:txBody>
      </p:sp>
      <p:sp>
        <p:nvSpPr>
          <p:cNvPr id="10" name="모서리가 둥근 직사각형 9">
            <a:extLst>
              <a:ext uri="{FF2B5EF4-FFF2-40B4-BE49-F238E27FC236}">
                <a16:creationId xmlns:a16="http://schemas.microsoft.com/office/drawing/2014/main" id="{9D3036C0-7420-3F9E-289B-89AB4EE3B65C}"/>
              </a:ext>
            </a:extLst>
          </p:cNvPr>
          <p:cNvSpPr/>
          <p:nvPr/>
        </p:nvSpPr>
        <p:spPr>
          <a:xfrm>
            <a:off x="1390650" y="384522"/>
            <a:ext cx="4260100" cy="1026027"/>
          </a:xfrm>
          <a:prstGeom prst="roundRect">
            <a:avLst>
              <a:gd name="adj" fmla="val 6946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kumimoji="1" lang="en-US" altLang="ko-KR" sz="800" b="1">
                <a:solidFill>
                  <a:schemeClr val="tx1"/>
                </a:solidFill>
              </a:rPr>
              <a:t>virtualOutbound </a:t>
            </a:r>
            <a:r>
              <a:rPr kumimoji="1" lang="en-US" altLang="ko-KR" sz="800">
                <a:solidFill>
                  <a:schemeClr val="tx1"/>
                </a:solidFill>
              </a:rPr>
              <a:t>Listener (:15001)</a:t>
            </a:r>
          </a:p>
        </p:txBody>
      </p:sp>
      <p:sp>
        <p:nvSpPr>
          <p:cNvPr id="11" name="모서리가 둥근 직사각형 10">
            <a:extLst>
              <a:ext uri="{FF2B5EF4-FFF2-40B4-BE49-F238E27FC236}">
                <a16:creationId xmlns:a16="http://schemas.microsoft.com/office/drawing/2014/main" id="{62C81001-552F-C05D-0D81-0D74A6BEE2CC}"/>
              </a:ext>
            </a:extLst>
          </p:cNvPr>
          <p:cNvSpPr/>
          <p:nvPr/>
        </p:nvSpPr>
        <p:spPr>
          <a:xfrm>
            <a:off x="1619671" y="1560788"/>
            <a:ext cx="3606379" cy="2960058"/>
          </a:xfrm>
          <a:prstGeom prst="roundRect">
            <a:avLst>
              <a:gd name="adj" fmla="val 1872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kumimoji="1" lang="en-US" altLang="ko-KR" sz="800" b="1">
                <a:solidFill>
                  <a:schemeClr val="tx1"/>
                </a:solidFill>
              </a:rPr>
              <a:t>0.0.0.0_8080 </a:t>
            </a:r>
            <a:r>
              <a:rPr kumimoji="1" lang="en-US" altLang="ko-KR" sz="800">
                <a:solidFill>
                  <a:schemeClr val="tx1"/>
                </a:solidFill>
              </a:rPr>
              <a:t>Listener</a:t>
            </a:r>
          </a:p>
        </p:txBody>
      </p:sp>
      <p:cxnSp>
        <p:nvCxnSpPr>
          <p:cNvPr id="12" name="직선 화살표 연결선 11">
            <a:extLst>
              <a:ext uri="{FF2B5EF4-FFF2-40B4-BE49-F238E27FC236}">
                <a16:creationId xmlns:a16="http://schemas.microsoft.com/office/drawing/2014/main" id="{7DC9660F-929A-F857-94DE-00F5EC344A9D}"/>
              </a:ext>
            </a:extLst>
          </p:cNvPr>
          <p:cNvCxnSpPr>
            <a:cxnSpLocks/>
            <a:stCxn id="7" idx="3"/>
            <a:endCxn id="238" idx="1"/>
          </p:cNvCxnSpPr>
          <p:nvPr/>
        </p:nvCxnSpPr>
        <p:spPr>
          <a:xfrm>
            <a:off x="1115616" y="986456"/>
            <a:ext cx="340950" cy="1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모서리가 둥근 직사각형 19">
            <a:extLst>
              <a:ext uri="{FF2B5EF4-FFF2-40B4-BE49-F238E27FC236}">
                <a16:creationId xmlns:a16="http://schemas.microsoft.com/office/drawing/2014/main" id="{C6AFE5E5-1C93-DE28-0CE4-DBD5DB5549EF}"/>
              </a:ext>
            </a:extLst>
          </p:cNvPr>
          <p:cNvSpPr/>
          <p:nvPr/>
        </p:nvSpPr>
        <p:spPr>
          <a:xfrm>
            <a:off x="6251027" y="3006419"/>
            <a:ext cx="2016223" cy="277654"/>
          </a:xfrm>
          <a:prstGeom prst="roundRect">
            <a:avLst>
              <a:gd name="adj" fmla="val 14645"/>
            </a:avLst>
          </a:prstGeom>
          <a:solidFill>
            <a:schemeClr val="tx2">
              <a:lumMod val="20000"/>
              <a:lumOff val="8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 b="1">
                <a:solidFill>
                  <a:schemeClr val="tx1"/>
                </a:solidFill>
              </a:rPr>
              <a:t>outbound|8080||server-b</a:t>
            </a:r>
            <a:br>
              <a:rPr kumimoji="1" lang="en-US" altLang="ko-KR" sz="800" b="1">
                <a:solidFill>
                  <a:schemeClr val="tx1"/>
                </a:solidFill>
              </a:rPr>
            </a:br>
            <a:r>
              <a:rPr kumimoji="1" lang="en-US" altLang="ko-KR" sz="800" b="1">
                <a:solidFill>
                  <a:schemeClr val="tx1"/>
                </a:solidFill>
              </a:rPr>
              <a:t>.default.svc.cluster.local </a:t>
            </a:r>
            <a:r>
              <a:rPr kumimoji="1" lang="en-US" altLang="ko-KR" sz="800">
                <a:solidFill>
                  <a:schemeClr val="tx1"/>
                </a:solidFill>
              </a:rPr>
              <a:t>Cluster</a:t>
            </a:r>
          </a:p>
        </p:txBody>
      </p:sp>
      <p:sp>
        <p:nvSpPr>
          <p:cNvPr id="21" name="모서리가 둥근 직사각형 20">
            <a:extLst>
              <a:ext uri="{FF2B5EF4-FFF2-40B4-BE49-F238E27FC236}">
                <a16:creationId xmlns:a16="http://schemas.microsoft.com/office/drawing/2014/main" id="{1FAAEBBE-0D73-175C-78CC-0875114B8F6F}"/>
              </a:ext>
            </a:extLst>
          </p:cNvPr>
          <p:cNvSpPr/>
          <p:nvPr/>
        </p:nvSpPr>
        <p:spPr>
          <a:xfrm>
            <a:off x="5925784" y="909213"/>
            <a:ext cx="2016223" cy="277654"/>
          </a:xfrm>
          <a:prstGeom prst="roundRect">
            <a:avLst>
              <a:gd name="adj" fmla="val 14645"/>
            </a:avLst>
          </a:prstGeom>
          <a:solidFill>
            <a:schemeClr val="tx2">
              <a:lumMod val="20000"/>
              <a:lumOff val="8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 b="1">
                <a:solidFill>
                  <a:schemeClr val="tx1"/>
                </a:solidFill>
              </a:rPr>
              <a:t>BlackHoleCluster </a:t>
            </a:r>
            <a:r>
              <a:rPr kumimoji="1" lang="en-US" altLang="ko-KR" sz="800">
                <a:solidFill>
                  <a:schemeClr val="tx1"/>
                </a:solidFill>
              </a:rPr>
              <a:t>Cluster</a:t>
            </a:r>
          </a:p>
        </p:txBody>
      </p:sp>
      <p:sp>
        <p:nvSpPr>
          <p:cNvPr id="23" name="모서리가 둥근 직사각형 22">
            <a:extLst>
              <a:ext uri="{FF2B5EF4-FFF2-40B4-BE49-F238E27FC236}">
                <a16:creationId xmlns:a16="http://schemas.microsoft.com/office/drawing/2014/main" id="{D18E74CB-51DB-E649-492D-52E5B73347E7}"/>
              </a:ext>
            </a:extLst>
          </p:cNvPr>
          <p:cNvSpPr/>
          <p:nvPr/>
        </p:nvSpPr>
        <p:spPr>
          <a:xfrm>
            <a:off x="6251027" y="2593045"/>
            <a:ext cx="2016223" cy="277654"/>
          </a:xfrm>
          <a:prstGeom prst="roundRect">
            <a:avLst>
              <a:gd name="adj" fmla="val 14645"/>
            </a:avLst>
          </a:prstGeom>
          <a:solidFill>
            <a:schemeClr val="tx2">
              <a:lumMod val="20000"/>
              <a:lumOff val="8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 b="1">
                <a:solidFill>
                  <a:schemeClr val="tx1"/>
                </a:solidFill>
              </a:rPr>
              <a:t>outbound|8080||server-a</a:t>
            </a:r>
            <a:br>
              <a:rPr kumimoji="1" lang="en-US" altLang="ko-KR" sz="800" b="1">
                <a:solidFill>
                  <a:schemeClr val="tx1"/>
                </a:solidFill>
              </a:rPr>
            </a:br>
            <a:r>
              <a:rPr kumimoji="1" lang="en-US" altLang="ko-KR" sz="800" b="1">
                <a:solidFill>
                  <a:schemeClr val="tx1"/>
                </a:solidFill>
              </a:rPr>
              <a:t>.default.svc.cluster.local </a:t>
            </a:r>
            <a:r>
              <a:rPr kumimoji="1" lang="en-US" altLang="ko-KR" sz="800">
                <a:solidFill>
                  <a:schemeClr val="tx1"/>
                </a:solidFill>
              </a:rPr>
              <a:t>Cluster</a:t>
            </a:r>
          </a:p>
        </p:txBody>
      </p:sp>
      <p:sp>
        <p:nvSpPr>
          <p:cNvPr id="26" name="모서리가 둥근 직사각형 25">
            <a:extLst>
              <a:ext uri="{FF2B5EF4-FFF2-40B4-BE49-F238E27FC236}">
                <a16:creationId xmlns:a16="http://schemas.microsoft.com/office/drawing/2014/main" id="{793D9E3E-18CD-ACA7-3175-4EAA956C5CDF}"/>
              </a:ext>
            </a:extLst>
          </p:cNvPr>
          <p:cNvSpPr/>
          <p:nvPr/>
        </p:nvSpPr>
        <p:spPr>
          <a:xfrm>
            <a:off x="5418664" y="3006419"/>
            <a:ext cx="674682" cy="277654"/>
          </a:xfrm>
          <a:prstGeom prst="roundRect">
            <a:avLst>
              <a:gd name="adj" fmla="val 14645"/>
            </a:avLst>
          </a:prstGeom>
          <a:solidFill>
            <a:schemeClr val="bg2">
              <a:lumMod val="9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 b="1">
                <a:solidFill>
                  <a:schemeClr val="tx1"/>
                </a:solidFill>
              </a:rPr>
              <a:t>8080 </a:t>
            </a:r>
            <a:br>
              <a:rPr kumimoji="1" lang="en-US" altLang="ko-KR" sz="800" b="1">
                <a:solidFill>
                  <a:schemeClr val="tx1"/>
                </a:solidFill>
              </a:rPr>
            </a:br>
            <a:r>
              <a:rPr kumimoji="1" lang="en-US" altLang="ko-KR" sz="800">
                <a:solidFill>
                  <a:schemeClr val="tx1"/>
                </a:solidFill>
              </a:rPr>
              <a:t>Router</a:t>
            </a:r>
          </a:p>
        </p:txBody>
      </p:sp>
      <p:sp>
        <p:nvSpPr>
          <p:cNvPr id="27" name="모서리가 둥근 직사각형 26">
            <a:extLst>
              <a:ext uri="{FF2B5EF4-FFF2-40B4-BE49-F238E27FC236}">
                <a16:creationId xmlns:a16="http://schemas.microsoft.com/office/drawing/2014/main" id="{37102762-9BBF-B0C2-1EE3-C3DB9CD4EBFA}"/>
              </a:ext>
            </a:extLst>
          </p:cNvPr>
          <p:cNvSpPr/>
          <p:nvPr/>
        </p:nvSpPr>
        <p:spPr>
          <a:xfrm>
            <a:off x="5418664" y="4015715"/>
            <a:ext cx="674682" cy="277654"/>
          </a:xfrm>
          <a:prstGeom prst="roundRect">
            <a:avLst>
              <a:gd name="adj" fmla="val 14645"/>
            </a:avLst>
          </a:prstGeom>
          <a:solidFill>
            <a:schemeClr val="bg2">
              <a:lumMod val="9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 b="1">
                <a:solidFill>
                  <a:schemeClr val="tx1"/>
                </a:solidFill>
              </a:rPr>
              <a:t>9090 </a:t>
            </a:r>
            <a:br>
              <a:rPr kumimoji="1" lang="en-US" altLang="ko-KR" sz="800" b="1">
                <a:solidFill>
                  <a:schemeClr val="tx1"/>
                </a:solidFill>
              </a:rPr>
            </a:br>
            <a:r>
              <a:rPr kumimoji="1" lang="en-US" altLang="ko-KR" sz="800">
                <a:solidFill>
                  <a:schemeClr val="tx1"/>
                </a:solidFill>
              </a:rPr>
              <a:t>Router</a:t>
            </a:r>
          </a:p>
        </p:txBody>
      </p:sp>
      <p:sp>
        <p:nvSpPr>
          <p:cNvPr id="29" name="모서리가 둥근 직사각형 28">
            <a:extLst>
              <a:ext uri="{FF2B5EF4-FFF2-40B4-BE49-F238E27FC236}">
                <a16:creationId xmlns:a16="http://schemas.microsoft.com/office/drawing/2014/main" id="{59B7514F-A2FA-00E5-DF21-521D3DDDAB9B}"/>
              </a:ext>
            </a:extLst>
          </p:cNvPr>
          <p:cNvSpPr/>
          <p:nvPr/>
        </p:nvSpPr>
        <p:spPr>
          <a:xfrm>
            <a:off x="5925784" y="1499746"/>
            <a:ext cx="2016223" cy="277654"/>
          </a:xfrm>
          <a:prstGeom prst="roundRect">
            <a:avLst>
              <a:gd name="adj" fmla="val 14645"/>
            </a:avLst>
          </a:prstGeom>
          <a:solidFill>
            <a:schemeClr val="tx2">
              <a:lumMod val="20000"/>
              <a:lumOff val="8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 b="1">
                <a:solidFill>
                  <a:schemeClr val="tx1"/>
                </a:solidFill>
              </a:rPr>
              <a:t>PassthroughCluster </a:t>
            </a:r>
            <a:r>
              <a:rPr kumimoji="1" lang="en-US" altLang="ko-KR" sz="800">
                <a:solidFill>
                  <a:schemeClr val="tx1"/>
                </a:solidFill>
              </a:rPr>
              <a:t>Cluster</a:t>
            </a:r>
          </a:p>
        </p:txBody>
      </p:sp>
      <p:sp>
        <p:nvSpPr>
          <p:cNvPr id="40" name="모서리가 둥근 직사각형 39">
            <a:extLst>
              <a:ext uri="{FF2B5EF4-FFF2-40B4-BE49-F238E27FC236}">
                <a16:creationId xmlns:a16="http://schemas.microsoft.com/office/drawing/2014/main" id="{B27EFB00-F651-0FFE-F10E-7DFD005DAC89}"/>
              </a:ext>
            </a:extLst>
          </p:cNvPr>
          <p:cNvSpPr/>
          <p:nvPr/>
        </p:nvSpPr>
        <p:spPr>
          <a:xfrm>
            <a:off x="6251027" y="4048473"/>
            <a:ext cx="2016223" cy="277654"/>
          </a:xfrm>
          <a:prstGeom prst="roundRect">
            <a:avLst>
              <a:gd name="adj" fmla="val 14645"/>
            </a:avLst>
          </a:prstGeom>
          <a:solidFill>
            <a:schemeClr val="tx2">
              <a:lumMod val="20000"/>
              <a:lumOff val="8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 b="1">
                <a:solidFill>
                  <a:schemeClr val="tx1"/>
                </a:solidFill>
              </a:rPr>
              <a:t>outbound|9090||server-c</a:t>
            </a:r>
            <a:br>
              <a:rPr kumimoji="1" lang="en-US" altLang="ko-KR" sz="800" b="1">
                <a:solidFill>
                  <a:schemeClr val="tx1"/>
                </a:solidFill>
              </a:rPr>
            </a:br>
            <a:r>
              <a:rPr kumimoji="1" lang="en-US" altLang="ko-KR" sz="800" b="1">
                <a:solidFill>
                  <a:schemeClr val="tx1"/>
                </a:solidFill>
              </a:rPr>
              <a:t>.default.svc.cluster.local </a:t>
            </a:r>
            <a:r>
              <a:rPr kumimoji="1" lang="en-US" altLang="ko-KR" sz="800">
                <a:solidFill>
                  <a:schemeClr val="tx1"/>
                </a:solidFill>
              </a:rPr>
              <a:t>Cluster</a:t>
            </a:r>
          </a:p>
        </p:txBody>
      </p:sp>
      <p:sp>
        <p:nvSpPr>
          <p:cNvPr id="41" name="모서리가 둥근 직사각형 40">
            <a:extLst>
              <a:ext uri="{FF2B5EF4-FFF2-40B4-BE49-F238E27FC236}">
                <a16:creationId xmlns:a16="http://schemas.microsoft.com/office/drawing/2014/main" id="{99F596FF-ADF5-FFD0-1086-75E2B744BC74}"/>
              </a:ext>
            </a:extLst>
          </p:cNvPr>
          <p:cNvSpPr/>
          <p:nvPr/>
        </p:nvSpPr>
        <p:spPr>
          <a:xfrm>
            <a:off x="1698425" y="1829528"/>
            <a:ext cx="3449637" cy="575914"/>
          </a:xfrm>
          <a:prstGeom prst="roundRect">
            <a:avLst>
              <a:gd name="adj" fmla="val 7526"/>
            </a:avLst>
          </a:prstGeom>
          <a:solidFill>
            <a:schemeClr val="accent3">
              <a:lumMod val="20000"/>
              <a:lumOff val="8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kumimoji="1" lang="en-US" altLang="ko-KR" sz="800">
                <a:solidFill>
                  <a:schemeClr val="tx1"/>
                </a:solidFill>
              </a:rPr>
              <a:t>Listener Filters</a:t>
            </a:r>
          </a:p>
        </p:txBody>
      </p:sp>
      <p:sp>
        <p:nvSpPr>
          <p:cNvPr id="37" name="모서리가 둥근 직사각형 36">
            <a:extLst>
              <a:ext uri="{FF2B5EF4-FFF2-40B4-BE49-F238E27FC236}">
                <a16:creationId xmlns:a16="http://schemas.microsoft.com/office/drawing/2014/main" id="{D2EAF130-E706-E71F-FA19-1AE0AA15A22C}"/>
              </a:ext>
            </a:extLst>
          </p:cNvPr>
          <p:cNvSpPr/>
          <p:nvPr/>
        </p:nvSpPr>
        <p:spPr>
          <a:xfrm>
            <a:off x="1784275" y="2013485"/>
            <a:ext cx="3291780" cy="158193"/>
          </a:xfrm>
          <a:prstGeom prst="roundRect">
            <a:avLst>
              <a:gd name="adj" fmla="val 14645"/>
            </a:avLst>
          </a:prstGeom>
          <a:solidFill>
            <a:schemeClr val="accent3">
              <a:lumMod val="40000"/>
              <a:lumOff val="6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ko-KR" sz="800">
                <a:solidFill>
                  <a:schemeClr val="tx1"/>
                </a:solidFill>
              </a:rPr>
              <a:t>envoy.filters.listener.tls_inspector</a:t>
            </a:r>
          </a:p>
        </p:txBody>
      </p:sp>
      <p:sp>
        <p:nvSpPr>
          <p:cNvPr id="38" name="모서리가 둥근 직사각형 37">
            <a:extLst>
              <a:ext uri="{FF2B5EF4-FFF2-40B4-BE49-F238E27FC236}">
                <a16:creationId xmlns:a16="http://schemas.microsoft.com/office/drawing/2014/main" id="{1720A449-2B86-B7CD-A2D7-56EF3CED06CF}"/>
              </a:ext>
            </a:extLst>
          </p:cNvPr>
          <p:cNvSpPr/>
          <p:nvPr/>
        </p:nvSpPr>
        <p:spPr>
          <a:xfrm>
            <a:off x="1784275" y="2171373"/>
            <a:ext cx="3291780" cy="158193"/>
          </a:xfrm>
          <a:prstGeom prst="roundRect">
            <a:avLst>
              <a:gd name="adj" fmla="val 14645"/>
            </a:avLst>
          </a:prstGeom>
          <a:solidFill>
            <a:schemeClr val="accent3">
              <a:lumMod val="40000"/>
              <a:lumOff val="6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ko-KR" sz="800">
                <a:solidFill>
                  <a:schemeClr val="tx1"/>
                </a:solidFill>
              </a:rPr>
              <a:t>envoy.filters.listener.http_inspector</a:t>
            </a:r>
          </a:p>
        </p:txBody>
      </p:sp>
      <p:sp>
        <p:nvSpPr>
          <p:cNvPr id="42" name="모서리가 둥근 직사각형 41">
            <a:extLst>
              <a:ext uri="{FF2B5EF4-FFF2-40B4-BE49-F238E27FC236}">
                <a16:creationId xmlns:a16="http://schemas.microsoft.com/office/drawing/2014/main" id="{5BAC734E-4599-6ED3-02EE-D72E0D23D1BE}"/>
              </a:ext>
            </a:extLst>
          </p:cNvPr>
          <p:cNvSpPr/>
          <p:nvPr/>
        </p:nvSpPr>
        <p:spPr>
          <a:xfrm>
            <a:off x="1698426" y="2518936"/>
            <a:ext cx="3449638" cy="1938623"/>
          </a:xfrm>
          <a:prstGeom prst="roundRect">
            <a:avLst>
              <a:gd name="adj" fmla="val 2943"/>
            </a:avLst>
          </a:prstGeom>
          <a:solidFill>
            <a:schemeClr val="accent6">
              <a:lumMod val="20000"/>
              <a:lumOff val="8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kumimoji="1" lang="en-US" altLang="ko-KR" sz="800">
                <a:solidFill>
                  <a:schemeClr val="tx1"/>
                </a:solidFill>
              </a:rPr>
              <a:t>Network Filters</a:t>
            </a:r>
          </a:p>
        </p:txBody>
      </p:sp>
      <p:sp>
        <p:nvSpPr>
          <p:cNvPr id="43" name="모서리가 둥근 직사각형 42">
            <a:extLst>
              <a:ext uri="{FF2B5EF4-FFF2-40B4-BE49-F238E27FC236}">
                <a16:creationId xmlns:a16="http://schemas.microsoft.com/office/drawing/2014/main" id="{1615E0C6-5C90-CCE3-3BBC-B9F0B36E4545}"/>
              </a:ext>
            </a:extLst>
          </p:cNvPr>
          <p:cNvSpPr/>
          <p:nvPr/>
        </p:nvSpPr>
        <p:spPr>
          <a:xfrm>
            <a:off x="1784275" y="2745924"/>
            <a:ext cx="3291780" cy="600039"/>
          </a:xfrm>
          <a:prstGeom prst="roundRect">
            <a:avLst>
              <a:gd name="adj" fmla="val 7799"/>
            </a:avLst>
          </a:prstGeom>
          <a:solidFill>
            <a:schemeClr val="accent6">
              <a:lumMod val="40000"/>
              <a:lumOff val="6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kumimoji="1" lang="en-US" altLang="ko-KR" sz="800" b="1">
                <a:solidFill>
                  <a:schemeClr val="tx1"/>
                </a:solidFill>
              </a:rPr>
              <a:t>PassthroughFilterChain</a:t>
            </a:r>
            <a:r>
              <a:rPr kumimoji="1" lang="en-US" altLang="ko-KR" sz="800">
                <a:solidFill>
                  <a:schemeClr val="tx1"/>
                </a:solidFill>
              </a:rPr>
              <a:t> Chain</a:t>
            </a:r>
            <a:endParaRPr kumimoji="1" lang="en-US" altLang="ko-KR" sz="800" b="1">
              <a:solidFill>
                <a:schemeClr val="tx1"/>
              </a:solidFill>
            </a:endParaRPr>
          </a:p>
        </p:txBody>
      </p:sp>
      <p:sp>
        <p:nvSpPr>
          <p:cNvPr id="44" name="모서리가 둥근 직사각형 43">
            <a:extLst>
              <a:ext uri="{FF2B5EF4-FFF2-40B4-BE49-F238E27FC236}">
                <a16:creationId xmlns:a16="http://schemas.microsoft.com/office/drawing/2014/main" id="{59055D73-063F-704F-8DE0-C2F62ADF2E06}"/>
              </a:ext>
            </a:extLst>
          </p:cNvPr>
          <p:cNvSpPr/>
          <p:nvPr/>
        </p:nvSpPr>
        <p:spPr>
          <a:xfrm>
            <a:off x="1784275" y="3407488"/>
            <a:ext cx="3291780" cy="990851"/>
          </a:xfrm>
          <a:prstGeom prst="roundRect">
            <a:avLst>
              <a:gd name="adj" fmla="val 5394"/>
            </a:avLst>
          </a:prstGeom>
          <a:solidFill>
            <a:schemeClr val="accent6">
              <a:lumMod val="40000"/>
              <a:lumOff val="6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kumimoji="1" lang="en-US" altLang="ko-KR" sz="800" b="1">
                <a:solidFill>
                  <a:schemeClr val="tx1"/>
                </a:solidFill>
              </a:rPr>
              <a:t>HTTP/HTTP2</a:t>
            </a:r>
            <a:r>
              <a:rPr kumimoji="1" lang="en-US" altLang="ko-KR" sz="800">
                <a:solidFill>
                  <a:schemeClr val="tx1"/>
                </a:solidFill>
              </a:rPr>
              <a:t> Chain</a:t>
            </a:r>
            <a:endParaRPr kumimoji="1" lang="en-US" altLang="ko-KR" sz="800" b="1">
              <a:solidFill>
                <a:schemeClr val="tx1"/>
              </a:solidFill>
            </a:endParaRPr>
          </a:p>
        </p:txBody>
      </p:sp>
      <p:sp>
        <p:nvSpPr>
          <p:cNvPr id="45" name="모서리가 둥근 직사각형 44">
            <a:extLst>
              <a:ext uri="{FF2B5EF4-FFF2-40B4-BE49-F238E27FC236}">
                <a16:creationId xmlns:a16="http://schemas.microsoft.com/office/drawing/2014/main" id="{ACDD7E9C-2C8F-3859-2393-B64558A66AF0}"/>
              </a:ext>
            </a:extLst>
          </p:cNvPr>
          <p:cNvSpPr/>
          <p:nvPr/>
        </p:nvSpPr>
        <p:spPr>
          <a:xfrm>
            <a:off x="1861428" y="2962773"/>
            <a:ext cx="3142619" cy="158193"/>
          </a:xfrm>
          <a:prstGeom prst="roundRect">
            <a:avLst>
              <a:gd name="adj" fmla="val 14645"/>
            </a:avLst>
          </a:prstGeom>
          <a:solidFill>
            <a:schemeClr val="accent5">
              <a:lumMod val="20000"/>
              <a:lumOff val="8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ko-KR" sz="800">
                <a:solidFill>
                  <a:schemeClr val="tx1"/>
                </a:solidFill>
              </a:rPr>
              <a:t>istio.stats</a:t>
            </a:r>
          </a:p>
        </p:txBody>
      </p:sp>
      <p:sp>
        <p:nvSpPr>
          <p:cNvPr id="46" name="모서리가 둥근 직사각형 45">
            <a:extLst>
              <a:ext uri="{FF2B5EF4-FFF2-40B4-BE49-F238E27FC236}">
                <a16:creationId xmlns:a16="http://schemas.microsoft.com/office/drawing/2014/main" id="{D0299BE7-ACBF-8D23-ACD4-A71BEDA7A3CC}"/>
              </a:ext>
            </a:extLst>
          </p:cNvPr>
          <p:cNvSpPr/>
          <p:nvPr/>
        </p:nvSpPr>
        <p:spPr>
          <a:xfrm>
            <a:off x="1861429" y="3120120"/>
            <a:ext cx="3142620" cy="158193"/>
          </a:xfrm>
          <a:prstGeom prst="roundRect">
            <a:avLst>
              <a:gd name="adj" fmla="val 14645"/>
            </a:avLst>
          </a:prstGeom>
          <a:solidFill>
            <a:schemeClr val="accent5">
              <a:lumMod val="20000"/>
              <a:lumOff val="8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ko-KR" sz="800">
                <a:solidFill>
                  <a:schemeClr val="tx1"/>
                </a:solidFill>
              </a:rPr>
              <a:t>envoy.filters.network.tcp_proxy</a:t>
            </a:r>
          </a:p>
        </p:txBody>
      </p:sp>
      <p:sp>
        <p:nvSpPr>
          <p:cNvPr id="47" name="모서리가 둥근 직사각형 46">
            <a:extLst>
              <a:ext uri="{FF2B5EF4-FFF2-40B4-BE49-F238E27FC236}">
                <a16:creationId xmlns:a16="http://schemas.microsoft.com/office/drawing/2014/main" id="{B67E05C6-25B5-4E98-DB22-EA2622C8CC91}"/>
              </a:ext>
            </a:extLst>
          </p:cNvPr>
          <p:cNvSpPr/>
          <p:nvPr/>
        </p:nvSpPr>
        <p:spPr>
          <a:xfrm>
            <a:off x="1861427" y="3609039"/>
            <a:ext cx="3142622" cy="734635"/>
          </a:xfrm>
          <a:prstGeom prst="roundRect">
            <a:avLst>
              <a:gd name="adj" fmla="val 5504"/>
            </a:avLst>
          </a:prstGeom>
          <a:solidFill>
            <a:schemeClr val="accent5">
              <a:lumMod val="20000"/>
              <a:lumOff val="8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kumimoji="1" lang="en-US" altLang="ko-KR" sz="800">
                <a:solidFill>
                  <a:schemeClr val="tx1"/>
                </a:solidFill>
              </a:rPr>
              <a:t>envoy.filters.network.http_connection_manager</a:t>
            </a:r>
          </a:p>
        </p:txBody>
      </p:sp>
      <p:sp>
        <p:nvSpPr>
          <p:cNvPr id="48" name="모서리가 둥근 직사각형 47">
            <a:extLst>
              <a:ext uri="{FF2B5EF4-FFF2-40B4-BE49-F238E27FC236}">
                <a16:creationId xmlns:a16="http://schemas.microsoft.com/office/drawing/2014/main" id="{602A6C23-E360-56BD-1689-16164026249E}"/>
              </a:ext>
            </a:extLst>
          </p:cNvPr>
          <p:cNvSpPr/>
          <p:nvPr/>
        </p:nvSpPr>
        <p:spPr>
          <a:xfrm>
            <a:off x="1943727" y="3791857"/>
            <a:ext cx="1501878" cy="121532"/>
          </a:xfrm>
          <a:prstGeom prst="roundRect">
            <a:avLst>
              <a:gd name="adj" fmla="val 14645"/>
            </a:avLst>
          </a:prstGeom>
          <a:solidFill>
            <a:schemeClr val="accent5">
              <a:lumMod val="40000"/>
              <a:lumOff val="6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ko-KR" sz="800">
                <a:solidFill>
                  <a:schemeClr val="tx1"/>
                </a:solidFill>
              </a:rPr>
              <a:t>istio.metadata_exchange</a:t>
            </a:r>
          </a:p>
        </p:txBody>
      </p:sp>
      <p:sp>
        <p:nvSpPr>
          <p:cNvPr id="49" name="모서리가 둥근 직사각형 48">
            <a:extLst>
              <a:ext uri="{FF2B5EF4-FFF2-40B4-BE49-F238E27FC236}">
                <a16:creationId xmlns:a16="http://schemas.microsoft.com/office/drawing/2014/main" id="{4327C6C9-9E12-E820-1168-F41DE11097E1}"/>
              </a:ext>
            </a:extLst>
          </p:cNvPr>
          <p:cNvSpPr/>
          <p:nvPr/>
        </p:nvSpPr>
        <p:spPr>
          <a:xfrm>
            <a:off x="1943727" y="3913390"/>
            <a:ext cx="1501878" cy="121532"/>
          </a:xfrm>
          <a:prstGeom prst="roundRect">
            <a:avLst>
              <a:gd name="adj" fmla="val 14645"/>
            </a:avLst>
          </a:prstGeom>
          <a:solidFill>
            <a:schemeClr val="accent5">
              <a:lumMod val="40000"/>
              <a:lumOff val="6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ko-KR" sz="800">
                <a:solidFill>
                  <a:schemeClr val="tx1"/>
                </a:solidFill>
              </a:rPr>
              <a:t>envoy.filters.http.grpc_stats</a:t>
            </a:r>
          </a:p>
        </p:txBody>
      </p:sp>
      <p:sp>
        <p:nvSpPr>
          <p:cNvPr id="50" name="모서리가 둥근 직사각형 49">
            <a:extLst>
              <a:ext uri="{FF2B5EF4-FFF2-40B4-BE49-F238E27FC236}">
                <a16:creationId xmlns:a16="http://schemas.microsoft.com/office/drawing/2014/main" id="{B98D42F8-46BC-0D56-1847-F8775BB2B134}"/>
              </a:ext>
            </a:extLst>
          </p:cNvPr>
          <p:cNvSpPr/>
          <p:nvPr/>
        </p:nvSpPr>
        <p:spPr>
          <a:xfrm>
            <a:off x="1943727" y="4034621"/>
            <a:ext cx="1501878" cy="121532"/>
          </a:xfrm>
          <a:prstGeom prst="roundRect">
            <a:avLst>
              <a:gd name="adj" fmla="val 14645"/>
            </a:avLst>
          </a:prstGeom>
          <a:solidFill>
            <a:schemeClr val="accent5">
              <a:lumMod val="40000"/>
              <a:lumOff val="6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ko-KR" sz="800">
                <a:solidFill>
                  <a:schemeClr val="tx1"/>
                </a:solidFill>
              </a:rPr>
              <a:t>istio.alpn</a:t>
            </a:r>
          </a:p>
        </p:txBody>
      </p:sp>
      <p:sp>
        <p:nvSpPr>
          <p:cNvPr id="52" name="모서리가 둥근 직사각형 51">
            <a:extLst>
              <a:ext uri="{FF2B5EF4-FFF2-40B4-BE49-F238E27FC236}">
                <a16:creationId xmlns:a16="http://schemas.microsoft.com/office/drawing/2014/main" id="{9FC5ED65-74F5-CAA3-808F-482CE5A7753A}"/>
              </a:ext>
            </a:extLst>
          </p:cNvPr>
          <p:cNvSpPr/>
          <p:nvPr/>
        </p:nvSpPr>
        <p:spPr>
          <a:xfrm>
            <a:off x="1943727" y="4156454"/>
            <a:ext cx="1501878" cy="121532"/>
          </a:xfrm>
          <a:prstGeom prst="roundRect">
            <a:avLst>
              <a:gd name="adj" fmla="val 14645"/>
            </a:avLst>
          </a:prstGeom>
          <a:solidFill>
            <a:schemeClr val="accent5">
              <a:lumMod val="40000"/>
              <a:lumOff val="6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ko-KR" sz="800">
                <a:solidFill>
                  <a:schemeClr val="tx1"/>
                </a:solidFill>
              </a:rPr>
              <a:t>envoy.filters.http.fault</a:t>
            </a:r>
          </a:p>
        </p:txBody>
      </p:sp>
      <p:sp>
        <p:nvSpPr>
          <p:cNvPr id="53" name="모서리가 둥근 직사각형 52">
            <a:extLst>
              <a:ext uri="{FF2B5EF4-FFF2-40B4-BE49-F238E27FC236}">
                <a16:creationId xmlns:a16="http://schemas.microsoft.com/office/drawing/2014/main" id="{58B914D2-1316-E969-667F-64A2335778CA}"/>
              </a:ext>
            </a:extLst>
          </p:cNvPr>
          <p:cNvSpPr/>
          <p:nvPr/>
        </p:nvSpPr>
        <p:spPr>
          <a:xfrm>
            <a:off x="3644149" y="3797675"/>
            <a:ext cx="1291711" cy="121532"/>
          </a:xfrm>
          <a:prstGeom prst="roundRect">
            <a:avLst>
              <a:gd name="adj" fmla="val 14645"/>
            </a:avLst>
          </a:prstGeom>
          <a:solidFill>
            <a:schemeClr val="accent5">
              <a:lumMod val="40000"/>
              <a:lumOff val="6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ko-KR" sz="800">
                <a:solidFill>
                  <a:schemeClr val="tx1"/>
                </a:solidFill>
              </a:rPr>
              <a:t>envoy.filters.http.cors</a:t>
            </a:r>
          </a:p>
        </p:txBody>
      </p:sp>
      <p:sp>
        <p:nvSpPr>
          <p:cNvPr id="54" name="모서리가 둥근 직사각형 53">
            <a:extLst>
              <a:ext uri="{FF2B5EF4-FFF2-40B4-BE49-F238E27FC236}">
                <a16:creationId xmlns:a16="http://schemas.microsoft.com/office/drawing/2014/main" id="{C34C8CDB-7201-976C-7826-F8F9107F76DA}"/>
              </a:ext>
            </a:extLst>
          </p:cNvPr>
          <p:cNvSpPr/>
          <p:nvPr/>
        </p:nvSpPr>
        <p:spPr>
          <a:xfrm>
            <a:off x="3644149" y="3916358"/>
            <a:ext cx="1291711" cy="121532"/>
          </a:xfrm>
          <a:prstGeom prst="roundRect">
            <a:avLst>
              <a:gd name="adj" fmla="val 14645"/>
            </a:avLst>
          </a:prstGeom>
          <a:solidFill>
            <a:schemeClr val="accent5">
              <a:lumMod val="40000"/>
              <a:lumOff val="6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ko-KR" sz="800">
                <a:solidFill>
                  <a:schemeClr val="tx1"/>
                </a:solidFill>
              </a:rPr>
              <a:t>istio.stats</a:t>
            </a:r>
          </a:p>
        </p:txBody>
      </p:sp>
      <p:sp>
        <p:nvSpPr>
          <p:cNvPr id="55" name="모서리가 둥근 직사각형 54">
            <a:extLst>
              <a:ext uri="{FF2B5EF4-FFF2-40B4-BE49-F238E27FC236}">
                <a16:creationId xmlns:a16="http://schemas.microsoft.com/office/drawing/2014/main" id="{1870A272-B80C-3618-2167-4F98C50205B9}"/>
              </a:ext>
            </a:extLst>
          </p:cNvPr>
          <p:cNvSpPr/>
          <p:nvPr/>
        </p:nvSpPr>
        <p:spPr>
          <a:xfrm>
            <a:off x="3644149" y="4034621"/>
            <a:ext cx="1291711" cy="121532"/>
          </a:xfrm>
          <a:prstGeom prst="roundRect">
            <a:avLst>
              <a:gd name="adj" fmla="val 14645"/>
            </a:avLst>
          </a:prstGeom>
          <a:solidFill>
            <a:schemeClr val="accent5">
              <a:lumMod val="40000"/>
              <a:lumOff val="6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ko-KR" sz="800">
                <a:solidFill>
                  <a:schemeClr val="tx1"/>
                </a:solidFill>
              </a:rPr>
              <a:t>envoy.filters.http.router</a:t>
            </a:r>
          </a:p>
        </p:txBody>
      </p:sp>
      <p:cxnSp>
        <p:nvCxnSpPr>
          <p:cNvPr id="59" name="직선 화살표 연결선 58">
            <a:extLst>
              <a:ext uri="{FF2B5EF4-FFF2-40B4-BE49-F238E27FC236}">
                <a16:creationId xmlns:a16="http://schemas.microsoft.com/office/drawing/2014/main" id="{C4452B2D-8450-3CAB-716C-0E5E45B7AE56}"/>
              </a:ext>
            </a:extLst>
          </p:cNvPr>
          <p:cNvCxnSpPr>
            <a:cxnSpLocks/>
            <a:stCxn id="41" idx="2"/>
            <a:endCxn id="42" idx="0"/>
          </p:cNvCxnSpPr>
          <p:nvPr/>
        </p:nvCxnSpPr>
        <p:spPr>
          <a:xfrm>
            <a:off x="3423244" y="2405442"/>
            <a:ext cx="1" cy="113494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직선 화살표 연결선 83">
            <a:extLst>
              <a:ext uri="{FF2B5EF4-FFF2-40B4-BE49-F238E27FC236}">
                <a16:creationId xmlns:a16="http://schemas.microsoft.com/office/drawing/2014/main" id="{FD3F113B-5036-1280-5C9E-7E430D863D86}"/>
              </a:ext>
            </a:extLst>
          </p:cNvPr>
          <p:cNvCxnSpPr>
            <a:cxnSpLocks/>
            <a:stCxn id="26" idx="3"/>
            <a:endCxn id="20" idx="1"/>
          </p:cNvCxnSpPr>
          <p:nvPr/>
        </p:nvCxnSpPr>
        <p:spPr>
          <a:xfrm>
            <a:off x="6093346" y="3145246"/>
            <a:ext cx="157681" cy="0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7" name="모서리가 둥근 직사각형 126">
            <a:extLst>
              <a:ext uri="{FF2B5EF4-FFF2-40B4-BE49-F238E27FC236}">
                <a16:creationId xmlns:a16="http://schemas.microsoft.com/office/drawing/2014/main" id="{54F00335-3170-C8A7-DD99-96A10CF1022B}"/>
              </a:ext>
            </a:extLst>
          </p:cNvPr>
          <p:cNvSpPr/>
          <p:nvPr/>
        </p:nvSpPr>
        <p:spPr>
          <a:xfrm>
            <a:off x="1619671" y="4633772"/>
            <a:ext cx="3606379" cy="187236"/>
          </a:xfrm>
          <a:prstGeom prst="roundRect">
            <a:avLst>
              <a:gd name="adj" fmla="val 24593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kumimoji="1" lang="en-US" altLang="ko-KR" sz="800" b="1">
                <a:solidFill>
                  <a:schemeClr val="tx1"/>
                </a:solidFill>
              </a:rPr>
              <a:t>0.0.0.0_9090 </a:t>
            </a:r>
            <a:r>
              <a:rPr kumimoji="1" lang="en-US" altLang="ko-KR" sz="800">
                <a:solidFill>
                  <a:schemeClr val="tx1"/>
                </a:solidFill>
              </a:rPr>
              <a:t>Listener …</a:t>
            </a:r>
          </a:p>
        </p:txBody>
      </p:sp>
      <p:cxnSp>
        <p:nvCxnSpPr>
          <p:cNvPr id="147" name="직선 화살표 연결선 146">
            <a:extLst>
              <a:ext uri="{FF2B5EF4-FFF2-40B4-BE49-F238E27FC236}">
                <a16:creationId xmlns:a16="http://schemas.microsoft.com/office/drawing/2014/main" id="{57BEC7DC-7FF0-D60E-951D-20AC3220684D}"/>
              </a:ext>
            </a:extLst>
          </p:cNvPr>
          <p:cNvCxnSpPr>
            <a:cxnSpLocks/>
            <a:endCxn id="40" idx="1"/>
          </p:cNvCxnSpPr>
          <p:nvPr/>
        </p:nvCxnSpPr>
        <p:spPr>
          <a:xfrm>
            <a:off x="6093346" y="4187300"/>
            <a:ext cx="157681" cy="0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5" name="모서리가 둥근 직사각형 174">
            <a:extLst>
              <a:ext uri="{FF2B5EF4-FFF2-40B4-BE49-F238E27FC236}">
                <a16:creationId xmlns:a16="http://schemas.microsoft.com/office/drawing/2014/main" id="{AA3E6838-D975-9C00-B5B3-D7B92DB2A1F4}"/>
              </a:ext>
            </a:extLst>
          </p:cNvPr>
          <p:cNvSpPr/>
          <p:nvPr/>
        </p:nvSpPr>
        <p:spPr>
          <a:xfrm>
            <a:off x="6878454" y="2103914"/>
            <a:ext cx="2016223" cy="277654"/>
          </a:xfrm>
          <a:prstGeom prst="roundRect">
            <a:avLst>
              <a:gd name="adj" fmla="val 14645"/>
            </a:avLst>
          </a:prstGeom>
          <a:solidFill>
            <a:schemeClr val="accent4">
              <a:lumMod val="20000"/>
              <a:lumOff val="8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 b="1">
                <a:solidFill>
                  <a:schemeClr val="tx1"/>
                </a:solidFill>
              </a:rPr>
              <a:t>outbound|8080||server-a</a:t>
            </a:r>
            <a:br>
              <a:rPr kumimoji="1" lang="en-US" altLang="ko-KR" sz="800" b="1">
                <a:solidFill>
                  <a:schemeClr val="tx1"/>
                </a:solidFill>
              </a:rPr>
            </a:br>
            <a:r>
              <a:rPr kumimoji="1" lang="en-US" altLang="ko-KR" sz="800" b="1">
                <a:solidFill>
                  <a:schemeClr val="tx1"/>
                </a:solidFill>
              </a:rPr>
              <a:t>.default.svc.cluster.local </a:t>
            </a:r>
            <a:r>
              <a:rPr kumimoji="1" lang="en-US" altLang="ko-KR" sz="800">
                <a:solidFill>
                  <a:schemeClr val="tx1"/>
                </a:solidFill>
              </a:rPr>
              <a:t>Endpoint</a:t>
            </a:r>
          </a:p>
        </p:txBody>
      </p:sp>
      <p:sp>
        <p:nvSpPr>
          <p:cNvPr id="176" name="모서리가 둥근 직사각형 175">
            <a:extLst>
              <a:ext uri="{FF2B5EF4-FFF2-40B4-BE49-F238E27FC236}">
                <a16:creationId xmlns:a16="http://schemas.microsoft.com/office/drawing/2014/main" id="{AF947647-97DC-F07E-40A1-1B21CC646822}"/>
              </a:ext>
            </a:extLst>
          </p:cNvPr>
          <p:cNvSpPr/>
          <p:nvPr/>
        </p:nvSpPr>
        <p:spPr>
          <a:xfrm>
            <a:off x="6878454" y="3499032"/>
            <a:ext cx="2016223" cy="277654"/>
          </a:xfrm>
          <a:prstGeom prst="roundRect">
            <a:avLst>
              <a:gd name="adj" fmla="val 14645"/>
            </a:avLst>
          </a:prstGeom>
          <a:solidFill>
            <a:schemeClr val="accent4">
              <a:lumMod val="20000"/>
              <a:lumOff val="8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 b="1">
                <a:solidFill>
                  <a:schemeClr val="tx1"/>
                </a:solidFill>
              </a:rPr>
              <a:t>outbound|8080||server-b</a:t>
            </a:r>
            <a:br>
              <a:rPr kumimoji="1" lang="en-US" altLang="ko-KR" sz="800" b="1">
                <a:solidFill>
                  <a:schemeClr val="tx1"/>
                </a:solidFill>
              </a:rPr>
            </a:br>
            <a:r>
              <a:rPr kumimoji="1" lang="en-US" altLang="ko-KR" sz="800" b="1">
                <a:solidFill>
                  <a:schemeClr val="tx1"/>
                </a:solidFill>
              </a:rPr>
              <a:t>.default.svc.cluster.local </a:t>
            </a:r>
            <a:r>
              <a:rPr kumimoji="1" lang="en-US" altLang="ko-KR" sz="800">
                <a:solidFill>
                  <a:schemeClr val="tx1"/>
                </a:solidFill>
              </a:rPr>
              <a:t>Endpoint</a:t>
            </a:r>
          </a:p>
        </p:txBody>
      </p:sp>
      <p:sp>
        <p:nvSpPr>
          <p:cNvPr id="177" name="모서리가 둥근 직사각형 176">
            <a:extLst>
              <a:ext uri="{FF2B5EF4-FFF2-40B4-BE49-F238E27FC236}">
                <a16:creationId xmlns:a16="http://schemas.microsoft.com/office/drawing/2014/main" id="{59A3272E-0499-C044-569C-C6CC186C07A0}"/>
              </a:ext>
            </a:extLst>
          </p:cNvPr>
          <p:cNvSpPr/>
          <p:nvPr/>
        </p:nvSpPr>
        <p:spPr>
          <a:xfrm>
            <a:off x="6878454" y="4541745"/>
            <a:ext cx="2016223" cy="277654"/>
          </a:xfrm>
          <a:prstGeom prst="roundRect">
            <a:avLst>
              <a:gd name="adj" fmla="val 14645"/>
            </a:avLst>
          </a:prstGeom>
          <a:solidFill>
            <a:schemeClr val="accent4">
              <a:lumMod val="20000"/>
              <a:lumOff val="8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 b="1">
                <a:solidFill>
                  <a:schemeClr val="tx1"/>
                </a:solidFill>
              </a:rPr>
              <a:t>outbound|8080||server-a</a:t>
            </a:r>
            <a:br>
              <a:rPr kumimoji="1" lang="en-US" altLang="ko-KR" sz="800" b="1">
                <a:solidFill>
                  <a:schemeClr val="tx1"/>
                </a:solidFill>
              </a:rPr>
            </a:br>
            <a:r>
              <a:rPr kumimoji="1" lang="en-US" altLang="ko-KR" sz="800" b="1">
                <a:solidFill>
                  <a:schemeClr val="tx1"/>
                </a:solidFill>
              </a:rPr>
              <a:t>.default.svc.cluster.local </a:t>
            </a:r>
            <a:r>
              <a:rPr kumimoji="1" lang="en-US" altLang="ko-KR" sz="800">
                <a:solidFill>
                  <a:schemeClr val="tx1"/>
                </a:solidFill>
              </a:rPr>
              <a:t>Endpoint</a:t>
            </a:r>
          </a:p>
        </p:txBody>
      </p:sp>
      <p:sp>
        <p:nvSpPr>
          <p:cNvPr id="238" name="모서리가 둥근 직사각형 237">
            <a:extLst>
              <a:ext uri="{FF2B5EF4-FFF2-40B4-BE49-F238E27FC236}">
                <a16:creationId xmlns:a16="http://schemas.microsoft.com/office/drawing/2014/main" id="{3828E303-919F-3EE1-ED88-75BA602FA439}"/>
              </a:ext>
            </a:extLst>
          </p:cNvPr>
          <p:cNvSpPr/>
          <p:nvPr/>
        </p:nvSpPr>
        <p:spPr>
          <a:xfrm>
            <a:off x="1456566" y="625781"/>
            <a:ext cx="4124174" cy="721351"/>
          </a:xfrm>
          <a:prstGeom prst="roundRect">
            <a:avLst>
              <a:gd name="adj" fmla="val 8136"/>
            </a:avLst>
          </a:prstGeom>
          <a:solidFill>
            <a:schemeClr val="accent6">
              <a:lumMod val="20000"/>
              <a:lumOff val="8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kumimoji="1" lang="en-US" altLang="ko-KR" sz="800">
                <a:solidFill>
                  <a:schemeClr val="tx1"/>
                </a:solidFill>
              </a:rPr>
              <a:t>Network Filters</a:t>
            </a:r>
          </a:p>
        </p:txBody>
      </p:sp>
      <p:sp>
        <p:nvSpPr>
          <p:cNvPr id="239" name="모서리가 둥근 직사각형 238">
            <a:extLst>
              <a:ext uri="{FF2B5EF4-FFF2-40B4-BE49-F238E27FC236}">
                <a16:creationId xmlns:a16="http://schemas.microsoft.com/office/drawing/2014/main" id="{23815DE1-4127-CD10-E565-489ADF3B7591}"/>
              </a:ext>
            </a:extLst>
          </p:cNvPr>
          <p:cNvSpPr/>
          <p:nvPr/>
        </p:nvSpPr>
        <p:spPr>
          <a:xfrm>
            <a:off x="1537426" y="832108"/>
            <a:ext cx="1955826" cy="457874"/>
          </a:xfrm>
          <a:prstGeom prst="roundRect">
            <a:avLst>
              <a:gd name="adj" fmla="val 7799"/>
            </a:avLst>
          </a:prstGeom>
          <a:solidFill>
            <a:schemeClr val="accent6">
              <a:lumMod val="40000"/>
              <a:lumOff val="6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kumimoji="1" lang="en-US" altLang="ko-KR" sz="800" b="1">
                <a:solidFill>
                  <a:schemeClr val="tx1"/>
                </a:solidFill>
              </a:rPr>
              <a:t>virtualOutbound-blackhole</a:t>
            </a:r>
            <a:r>
              <a:rPr kumimoji="1" lang="en-US" altLang="ko-KR" sz="800">
                <a:solidFill>
                  <a:schemeClr val="tx1"/>
                </a:solidFill>
              </a:rPr>
              <a:t> Chain</a:t>
            </a:r>
            <a:endParaRPr kumimoji="1" lang="en-US" altLang="ko-KR" sz="800" b="1">
              <a:solidFill>
                <a:schemeClr val="tx1"/>
              </a:solidFill>
            </a:endParaRPr>
          </a:p>
        </p:txBody>
      </p:sp>
      <p:sp>
        <p:nvSpPr>
          <p:cNvPr id="241" name="모서리가 둥근 직사각형 240">
            <a:extLst>
              <a:ext uri="{FF2B5EF4-FFF2-40B4-BE49-F238E27FC236}">
                <a16:creationId xmlns:a16="http://schemas.microsoft.com/office/drawing/2014/main" id="{37E1055E-7BF3-613A-23BB-21A79FAF2109}"/>
              </a:ext>
            </a:extLst>
          </p:cNvPr>
          <p:cNvSpPr/>
          <p:nvPr/>
        </p:nvSpPr>
        <p:spPr>
          <a:xfrm>
            <a:off x="1610712" y="1068422"/>
            <a:ext cx="1809254" cy="163277"/>
          </a:xfrm>
          <a:prstGeom prst="roundRect">
            <a:avLst>
              <a:gd name="adj" fmla="val 14645"/>
            </a:avLst>
          </a:prstGeom>
          <a:solidFill>
            <a:schemeClr val="accent5">
              <a:lumMod val="20000"/>
              <a:lumOff val="8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ko-KR" sz="800">
                <a:solidFill>
                  <a:schemeClr val="tx1"/>
                </a:solidFill>
              </a:rPr>
              <a:t>envoy.filters.network.tcp_proxy</a:t>
            </a:r>
          </a:p>
        </p:txBody>
      </p:sp>
      <p:sp>
        <p:nvSpPr>
          <p:cNvPr id="257" name="모서리가 둥근 직사각형 256">
            <a:extLst>
              <a:ext uri="{FF2B5EF4-FFF2-40B4-BE49-F238E27FC236}">
                <a16:creationId xmlns:a16="http://schemas.microsoft.com/office/drawing/2014/main" id="{0A6E3B04-BC46-FCAA-44E0-66D973B9863E}"/>
              </a:ext>
            </a:extLst>
          </p:cNvPr>
          <p:cNvSpPr/>
          <p:nvPr/>
        </p:nvSpPr>
        <p:spPr>
          <a:xfrm>
            <a:off x="3565260" y="832108"/>
            <a:ext cx="1955826" cy="457874"/>
          </a:xfrm>
          <a:prstGeom prst="roundRect">
            <a:avLst>
              <a:gd name="adj" fmla="val 7799"/>
            </a:avLst>
          </a:prstGeom>
          <a:solidFill>
            <a:schemeClr val="accent6">
              <a:lumMod val="40000"/>
              <a:lumOff val="6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kumimoji="1" lang="en-US" altLang="ko-KR" sz="800" b="1">
                <a:solidFill>
                  <a:schemeClr val="tx1"/>
                </a:solidFill>
              </a:rPr>
              <a:t>virtualOutbound-catchall-tcp</a:t>
            </a:r>
            <a:r>
              <a:rPr kumimoji="1" lang="en-US" altLang="ko-KR" sz="800">
                <a:solidFill>
                  <a:schemeClr val="tx1"/>
                </a:solidFill>
              </a:rPr>
              <a:t> Chain</a:t>
            </a:r>
            <a:endParaRPr kumimoji="1" lang="en-US" altLang="ko-KR" sz="800" b="1">
              <a:solidFill>
                <a:schemeClr val="tx1"/>
              </a:solidFill>
            </a:endParaRPr>
          </a:p>
        </p:txBody>
      </p:sp>
      <p:sp>
        <p:nvSpPr>
          <p:cNvPr id="258" name="모서리가 둥근 직사각형 257">
            <a:extLst>
              <a:ext uri="{FF2B5EF4-FFF2-40B4-BE49-F238E27FC236}">
                <a16:creationId xmlns:a16="http://schemas.microsoft.com/office/drawing/2014/main" id="{4A5E874C-8A41-BC06-5D32-E42CB48AF414}"/>
              </a:ext>
            </a:extLst>
          </p:cNvPr>
          <p:cNvSpPr/>
          <p:nvPr/>
        </p:nvSpPr>
        <p:spPr>
          <a:xfrm>
            <a:off x="3639824" y="1068422"/>
            <a:ext cx="1809254" cy="163277"/>
          </a:xfrm>
          <a:prstGeom prst="roundRect">
            <a:avLst>
              <a:gd name="adj" fmla="val 14645"/>
            </a:avLst>
          </a:prstGeom>
          <a:solidFill>
            <a:schemeClr val="accent5">
              <a:lumMod val="20000"/>
              <a:lumOff val="8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ko-KR" sz="800">
                <a:solidFill>
                  <a:schemeClr val="tx1"/>
                </a:solidFill>
              </a:rPr>
              <a:t>envoy.filters.network.tcp_proxy</a:t>
            </a:r>
          </a:p>
        </p:txBody>
      </p:sp>
      <p:cxnSp>
        <p:nvCxnSpPr>
          <p:cNvPr id="382" name="꺾인 연결선[E] 381">
            <a:extLst>
              <a:ext uri="{FF2B5EF4-FFF2-40B4-BE49-F238E27FC236}">
                <a16:creationId xmlns:a16="http://schemas.microsoft.com/office/drawing/2014/main" id="{0202F558-2A30-CF80-0FF5-2B5D3431BC89}"/>
              </a:ext>
            </a:extLst>
          </p:cNvPr>
          <p:cNvCxnSpPr>
            <a:cxnSpLocks/>
            <a:stCxn id="52" idx="3"/>
            <a:endCxn id="53" idx="1"/>
          </p:cNvCxnSpPr>
          <p:nvPr/>
        </p:nvCxnSpPr>
        <p:spPr>
          <a:xfrm flipV="1">
            <a:off x="3445605" y="3858441"/>
            <a:ext cx="198544" cy="358779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5" name="꺾인 연결선[E] 384">
            <a:extLst>
              <a:ext uri="{FF2B5EF4-FFF2-40B4-BE49-F238E27FC236}">
                <a16:creationId xmlns:a16="http://schemas.microsoft.com/office/drawing/2014/main" id="{E55865F5-2A7E-A1EE-3398-E51B03575BEA}"/>
              </a:ext>
            </a:extLst>
          </p:cNvPr>
          <p:cNvCxnSpPr>
            <a:cxnSpLocks/>
            <a:endCxn id="127" idx="1"/>
          </p:cNvCxnSpPr>
          <p:nvPr/>
        </p:nvCxnSpPr>
        <p:spPr>
          <a:xfrm rot="16200000" flipH="1">
            <a:off x="-106060" y="3001659"/>
            <a:ext cx="3317690" cy="133771"/>
          </a:xfrm>
          <a:prstGeom prst="bentConnector2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9" name="꺾인 연결선[E] 388">
            <a:extLst>
              <a:ext uri="{FF2B5EF4-FFF2-40B4-BE49-F238E27FC236}">
                <a16:creationId xmlns:a16="http://schemas.microsoft.com/office/drawing/2014/main" id="{6A3EDE38-C153-6118-441B-1ED7F04FB72C}"/>
              </a:ext>
            </a:extLst>
          </p:cNvPr>
          <p:cNvCxnSpPr>
            <a:cxnSpLocks/>
            <a:endCxn id="41" idx="1"/>
          </p:cNvCxnSpPr>
          <p:nvPr/>
        </p:nvCxnSpPr>
        <p:spPr>
          <a:xfrm rot="16200000" flipH="1">
            <a:off x="1238267" y="1657327"/>
            <a:ext cx="707788" cy="212528"/>
          </a:xfrm>
          <a:prstGeom prst="bentConnector2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2" name="꺾인 연결선[E] 391">
            <a:extLst>
              <a:ext uri="{FF2B5EF4-FFF2-40B4-BE49-F238E27FC236}">
                <a16:creationId xmlns:a16="http://schemas.microsoft.com/office/drawing/2014/main" id="{72D80B7B-6B49-09EF-4889-CF7B3DBE4317}"/>
              </a:ext>
            </a:extLst>
          </p:cNvPr>
          <p:cNvCxnSpPr>
            <a:cxnSpLocks/>
            <a:stCxn id="241" idx="3"/>
            <a:endCxn id="21" idx="0"/>
          </p:cNvCxnSpPr>
          <p:nvPr/>
        </p:nvCxnSpPr>
        <p:spPr>
          <a:xfrm flipV="1">
            <a:off x="3419966" y="909213"/>
            <a:ext cx="3513930" cy="240848"/>
          </a:xfrm>
          <a:prstGeom prst="bentConnector4">
            <a:avLst>
              <a:gd name="adj1" fmla="val 3127"/>
              <a:gd name="adj2" fmla="val 194915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6" name="꺾인 연결선[E] 395">
            <a:extLst>
              <a:ext uri="{FF2B5EF4-FFF2-40B4-BE49-F238E27FC236}">
                <a16:creationId xmlns:a16="http://schemas.microsoft.com/office/drawing/2014/main" id="{024B20EE-82FA-AC9E-024D-3628CA0DF058}"/>
              </a:ext>
            </a:extLst>
          </p:cNvPr>
          <p:cNvCxnSpPr>
            <a:cxnSpLocks/>
            <a:stCxn id="258" idx="3"/>
            <a:endCxn id="29" idx="1"/>
          </p:cNvCxnSpPr>
          <p:nvPr/>
        </p:nvCxnSpPr>
        <p:spPr>
          <a:xfrm>
            <a:off x="5449078" y="1150061"/>
            <a:ext cx="476706" cy="488512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0" name="꺾인 연결선[E] 399">
            <a:extLst>
              <a:ext uri="{FF2B5EF4-FFF2-40B4-BE49-F238E27FC236}">
                <a16:creationId xmlns:a16="http://schemas.microsoft.com/office/drawing/2014/main" id="{52250D87-04F7-C19C-8292-1BE75350D66B}"/>
              </a:ext>
            </a:extLst>
          </p:cNvPr>
          <p:cNvCxnSpPr>
            <a:cxnSpLocks/>
            <a:stCxn id="55" idx="3"/>
            <a:endCxn id="26" idx="1"/>
          </p:cNvCxnSpPr>
          <p:nvPr/>
        </p:nvCxnSpPr>
        <p:spPr>
          <a:xfrm flipV="1">
            <a:off x="4935860" y="3145246"/>
            <a:ext cx="482804" cy="950141"/>
          </a:xfrm>
          <a:prstGeom prst="bentConnector3">
            <a:avLst>
              <a:gd name="adj1" fmla="val 74989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4" name="꺾인 연결선[E] 403">
            <a:extLst>
              <a:ext uri="{FF2B5EF4-FFF2-40B4-BE49-F238E27FC236}">
                <a16:creationId xmlns:a16="http://schemas.microsoft.com/office/drawing/2014/main" id="{9D2EE40D-9443-8848-7A81-32CC16068CF2}"/>
              </a:ext>
            </a:extLst>
          </p:cNvPr>
          <p:cNvCxnSpPr>
            <a:cxnSpLocks/>
            <a:stCxn id="127" idx="3"/>
            <a:endCxn id="27" idx="1"/>
          </p:cNvCxnSpPr>
          <p:nvPr/>
        </p:nvCxnSpPr>
        <p:spPr>
          <a:xfrm flipV="1">
            <a:off x="5226050" y="4154542"/>
            <a:ext cx="192614" cy="572848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7" name="꺾인 연결선[E] 406">
            <a:extLst>
              <a:ext uri="{FF2B5EF4-FFF2-40B4-BE49-F238E27FC236}">
                <a16:creationId xmlns:a16="http://schemas.microsoft.com/office/drawing/2014/main" id="{49751435-153C-7635-5D99-7433D6F8B277}"/>
              </a:ext>
            </a:extLst>
          </p:cNvPr>
          <p:cNvCxnSpPr>
            <a:cxnSpLocks/>
            <a:stCxn id="46" idx="3"/>
            <a:endCxn id="29" idx="1"/>
          </p:cNvCxnSpPr>
          <p:nvPr/>
        </p:nvCxnSpPr>
        <p:spPr>
          <a:xfrm flipV="1">
            <a:off x="5004049" y="1638573"/>
            <a:ext cx="921735" cy="1560644"/>
          </a:xfrm>
          <a:prstGeom prst="bentConnector3">
            <a:avLst>
              <a:gd name="adj1" fmla="val 19688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8" name="꺾인 연결선[E] 417">
            <a:extLst>
              <a:ext uri="{FF2B5EF4-FFF2-40B4-BE49-F238E27FC236}">
                <a16:creationId xmlns:a16="http://schemas.microsoft.com/office/drawing/2014/main" id="{E476EB01-A352-F95A-4250-94FB92F4A999}"/>
              </a:ext>
            </a:extLst>
          </p:cNvPr>
          <p:cNvCxnSpPr>
            <a:cxnSpLocks/>
            <a:stCxn id="26" idx="3"/>
            <a:endCxn id="23" idx="1"/>
          </p:cNvCxnSpPr>
          <p:nvPr/>
        </p:nvCxnSpPr>
        <p:spPr>
          <a:xfrm flipV="1">
            <a:off x="6093346" y="2731872"/>
            <a:ext cx="157681" cy="413374"/>
          </a:xfrm>
          <a:prstGeom prst="bentConnector3">
            <a:avLst>
              <a:gd name="adj1" fmla="val 29865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8" name="꺾인 연결선[E] 427">
            <a:extLst>
              <a:ext uri="{FF2B5EF4-FFF2-40B4-BE49-F238E27FC236}">
                <a16:creationId xmlns:a16="http://schemas.microsoft.com/office/drawing/2014/main" id="{47CA50DF-F1F5-3405-767C-6430B1B31CA0}"/>
              </a:ext>
            </a:extLst>
          </p:cNvPr>
          <p:cNvCxnSpPr>
            <a:cxnSpLocks/>
            <a:stCxn id="23" idx="0"/>
            <a:endCxn id="175" idx="2"/>
          </p:cNvCxnSpPr>
          <p:nvPr/>
        </p:nvCxnSpPr>
        <p:spPr>
          <a:xfrm rot="5400000" flipH="1" flipV="1">
            <a:off x="7467114" y="2173594"/>
            <a:ext cx="211477" cy="627427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6" name="꺾인 연결선[E] 435">
            <a:extLst>
              <a:ext uri="{FF2B5EF4-FFF2-40B4-BE49-F238E27FC236}">
                <a16:creationId xmlns:a16="http://schemas.microsoft.com/office/drawing/2014/main" id="{07880437-4FD6-C3DE-84C3-C905D31D363D}"/>
              </a:ext>
            </a:extLst>
          </p:cNvPr>
          <p:cNvCxnSpPr>
            <a:cxnSpLocks/>
            <a:stCxn id="20" idx="2"/>
            <a:endCxn id="176" idx="0"/>
          </p:cNvCxnSpPr>
          <p:nvPr/>
        </p:nvCxnSpPr>
        <p:spPr>
          <a:xfrm rot="16200000" flipH="1">
            <a:off x="7465373" y="3077838"/>
            <a:ext cx="214959" cy="627427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0" name="꺾인 연결선[E] 439">
            <a:extLst>
              <a:ext uri="{FF2B5EF4-FFF2-40B4-BE49-F238E27FC236}">
                <a16:creationId xmlns:a16="http://schemas.microsoft.com/office/drawing/2014/main" id="{A121E9DA-CD52-C365-9675-9F67E160BE56}"/>
              </a:ext>
            </a:extLst>
          </p:cNvPr>
          <p:cNvCxnSpPr>
            <a:cxnSpLocks/>
            <a:stCxn id="40" idx="2"/>
            <a:endCxn id="177" idx="0"/>
          </p:cNvCxnSpPr>
          <p:nvPr/>
        </p:nvCxnSpPr>
        <p:spPr>
          <a:xfrm rot="16200000" flipH="1">
            <a:off x="7465043" y="4120222"/>
            <a:ext cx="215618" cy="627427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001452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32B287-8E0B-AFD4-DDFD-09FAE81581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모서리가 둥근 직사각형 5">
            <a:extLst>
              <a:ext uri="{FF2B5EF4-FFF2-40B4-BE49-F238E27FC236}">
                <a16:creationId xmlns:a16="http://schemas.microsoft.com/office/drawing/2014/main" id="{0B316763-FD89-F1E3-43C9-AD7A52792D8F}"/>
              </a:ext>
            </a:extLst>
          </p:cNvPr>
          <p:cNvSpPr/>
          <p:nvPr/>
        </p:nvSpPr>
        <p:spPr>
          <a:xfrm>
            <a:off x="107504" y="127000"/>
            <a:ext cx="9001000" cy="4823754"/>
          </a:xfrm>
          <a:prstGeom prst="roundRect">
            <a:avLst>
              <a:gd name="adj" fmla="val 1960"/>
            </a:avLst>
          </a:prstGeom>
          <a:solidFill>
            <a:schemeClr val="bg1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r"/>
            <a:r>
              <a:rPr kumimoji="1" lang="en-US" altLang="ko-KR" sz="800" b="1">
                <a:solidFill>
                  <a:schemeClr val="tx1"/>
                </a:solidFill>
              </a:rPr>
              <a:t>server-a</a:t>
            </a:r>
            <a:r>
              <a:rPr kumimoji="1" lang="ko-KR" altLang="en-US" sz="800" b="1">
                <a:solidFill>
                  <a:schemeClr val="tx1"/>
                </a:solidFill>
              </a:rPr>
              <a:t> </a:t>
            </a:r>
            <a:r>
              <a:rPr kumimoji="1" lang="en-US" altLang="ko-KR" sz="800">
                <a:solidFill>
                  <a:schemeClr val="tx1"/>
                </a:solidFill>
              </a:rPr>
              <a:t>Pod</a:t>
            </a:r>
          </a:p>
        </p:txBody>
      </p:sp>
      <p:sp>
        <p:nvSpPr>
          <p:cNvPr id="7" name="모서리가 둥근 직사각형 6">
            <a:extLst>
              <a:ext uri="{FF2B5EF4-FFF2-40B4-BE49-F238E27FC236}">
                <a16:creationId xmlns:a16="http://schemas.microsoft.com/office/drawing/2014/main" id="{2A105D3C-29AA-6990-0B62-DC98731D93DC}"/>
              </a:ext>
            </a:extLst>
          </p:cNvPr>
          <p:cNvSpPr/>
          <p:nvPr/>
        </p:nvSpPr>
        <p:spPr>
          <a:xfrm>
            <a:off x="8109223" y="865230"/>
            <a:ext cx="936103" cy="286351"/>
          </a:xfrm>
          <a:prstGeom prst="roundRect">
            <a:avLst>
              <a:gd name="adj" fmla="val 14645"/>
            </a:avLst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 b="1">
                <a:solidFill>
                  <a:schemeClr val="tx1"/>
                </a:solidFill>
              </a:rPr>
              <a:t>server-a</a:t>
            </a:r>
            <a:endParaRPr kumimoji="1" lang="en-US" altLang="ko-KR" sz="800">
              <a:solidFill>
                <a:schemeClr val="tx1"/>
              </a:solidFill>
            </a:endParaRPr>
          </a:p>
        </p:txBody>
      </p:sp>
      <p:sp>
        <p:nvSpPr>
          <p:cNvPr id="9" name="모서리가 둥근 직사각형 8">
            <a:extLst>
              <a:ext uri="{FF2B5EF4-FFF2-40B4-BE49-F238E27FC236}">
                <a16:creationId xmlns:a16="http://schemas.microsoft.com/office/drawing/2014/main" id="{A9627C39-A7CF-3172-2B6A-D4010F4F7CC6}"/>
              </a:ext>
            </a:extLst>
          </p:cNvPr>
          <p:cNvSpPr/>
          <p:nvPr/>
        </p:nvSpPr>
        <p:spPr>
          <a:xfrm>
            <a:off x="179512" y="192747"/>
            <a:ext cx="7776863" cy="4697516"/>
          </a:xfrm>
          <a:prstGeom prst="roundRect">
            <a:avLst>
              <a:gd name="adj" fmla="val 2107"/>
            </a:avLst>
          </a:prstGeom>
          <a:solidFill>
            <a:schemeClr val="bg1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kumimoji="1" lang="en-US" altLang="ko-KR" sz="800" b="1">
                <a:solidFill>
                  <a:schemeClr val="tx1"/>
                </a:solidFill>
              </a:rPr>
              <a:t>Sidecar Envoy</a:t>
            </a:r>
            <a:endParaRPr kumimoji="1" lang="en-US" altLang="ko-KR" sz="800">
              <a:solidFill>
                <a:schemeClr val="tx1"/>
              </a:solidFill>
            </a:endParaRPr>
          </a:p>
        </p:txBody>
      </p:sp>
      <p:sp>
        <p:nvSpPr>
          <p:cNvPr id="11" name="모서리가 둥근 직사각형 10">
            <a:extLst>
              <a:ext uri="{FF2B5EF4-FFF2-40B4-BE49-F238E27FC236}">
                <a16:creationId xmlns:a16="http://schemas.microsoft.com/office/drawing/2014/main" id="{D46553DE-3052-CF12-953D-EC74DDC3D2F8}"/>
              </a:ext>
            </a:extLst>
          </p:cNvPr>
          <p:cNvSpPr/>
          <p:nvPr/>
        </p:nvSpPr>
        <p:spPr>
          <a:xfrm>
            <a:off x="318295" y="414997"/>
            <a:ext cx="5765874" cy="4371787"/>
          </a:xfrm>
          <a:prstGeom prst="roundRect">
            <a:avLst>
              <a:gd name="adj" fmla="val 1872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kumimoji="1" lang="en-US" altLang="ko-KR" sz="800" b="1">
                <a:solidFill>
                  <a:schemeClr val="tx1"/>
                </a:solidFill>
              </a:rPr>
              <a:t>virtualInbound </a:t>
            </a:r>
            <a:r>
              <a:rPr kumimoji="1" lang="en-US" altLang="ko-KR" sz="800">
                <a:solidFill>
                  <a:schemeClr val="tx1"/>
                </a:solidFill>
              </a:rPr>
              <a:t>Listener (:15006)</a:t>
            </a:r>
          </a:p>
        </p:txBody>
      </p:sp>
      <p:sp>
        <p:nvSpPr>
          <p:cNvPr id="21" name="모서리가 둥근 직사각형 20">
            <a:extLst>
              <a:ext uri="{FF2B5EF4-FFF2-40B4-BE49-F238E27FC236}">
                <a16:creationId xmlns:a16="http://schemas.microsoft.com/office/drawing/2014/main" id="{9D453533-EC65-06F5-B03E-F04385D36E9E}"/>
              </a:ext>
            </a:extLst>
          </p:cNvPr>
          <p:cNvSpPr/>
          <p:nvPr/>
        </p:nvSpPr>
        <p:spPr>
          <a:xfrm>
            <a:off x="6228184" y="865231"/>
            <a:ext cx="1584176" cy="286351"/>
          </a:xfrm>
          <a:prstGeom prst="roundRect">
            <a:avLst>
              <a:gd name="adj" fmla="val 14645"/>
            </a:avLst>
          </a:prstGeom>
          <a:solidFill>
            <a:schemeClr val="tx2">
              <a:lumMod val="20000"/>
              <a:lumOff val="8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 b="1">
                <a:solidFill>
                  <a:schemeClr val="tx1"/>
                </a:solidFill>
              </a:rPr>
              <a:t>inbound|8080||</a:t>
            </a:r>
            <a:br>
              <a:rPr kumimoji="1" lang="en-US" altLang="ko-KR" sz="800" b="1">
                <a:solidFill>
                  <a:schemeClr val="tx1"/>
                </a:solidFill>
              </a:rPr>
            </a:br>
            <a:r>
              <a:rPr kumimoji="1" lang="en-US" altLang="ko-KR" sz="800">
                <a:solidFill>
                  <a:schemeClr val="tx1"/>
                </a:solidFill>
              </a:rPr>
              <a:t>Cluster</a:t>
            </a:r>
          </a:p>
        </p:txBody>
      </p:sp>
      <p:sp>
        <p:nvSpPr>
          <p:cNvPr id="29" name="모서리가 둥근 직사각형 28">
            <a:extLst>
              <a:ext uri="{FF2B5EF4-FFF2-40B4-BE49-F238E27FC236}">
                <a16:creationId xmlns:a16="http://schemas.microsoft.com/office/drawing/2014/main" id="{F8694C70-CA35-9FF9-B244-82A7D12D62CC}"/>
              </a:ext>
            </a:extLst>
          </p:cNvPr>
          <p:cNvSpPr/>
          <p:nvPr/>
        </p:nvSpPr>
        <p:spPr>
          <a:xfrm>
            <a:off x="6228184" y="1316156"/>
            <a:ext cx="1584176" cy="286351"/>
          </a:xfrm>
          <a:prstGeom prst="roundRect">
            <a:avLst>
              <a:gd name="adj" fmla="val 14645"/>
            </a:avLst>
          </a:prstGeom>
          <a:solidFill>
            <a:schemeClr val="tx2">
              <a:lumMod val="20000"/>
              <a:lumOff val="8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 b="1">
                <a:solidFill>
                  <a:schemeClr val="tx1"/>
                </a:solidFill>
              </a:rPr>
              <a:t>InboundPassthroughCluster</a:t>
            </a:r>
            <a:br>
              <a:rPr kumimoji="1" lang="en-US" altLang="ko-KR" sz="800" b="1">
                <a:solidFill>
                  <a:schemeClr val="tx1"/>
                </a:solidFill>
              </a:rPr>
            </a:br>
            <a:r>
              <a:rPr kumimoji="1" lang="en-US" altLang="ko-KR" sz="800">
                <a:solidFill>
                  <a:schemeClr val="tx1"/>
                </a:solidFill>
              </a:rPr>
              <a:t>Cluster</a:t>
            </a:r>
          </a:p>
        </p:txBody>
      </p:sp>
      <p:sp>
        <p:nvSpPr>
          <p:cNvPr id="41" name="모서리가 둥근 직사각형 40">
            <a:extLst>
              <a:ext uri="{FF2B5EF4-FFF2-40B4-BE49-F238E27FC236}">
                <a16:creationId xmlns:a16="http://schemas.microsoft.com/office/drawing/2014/main" id="{55C3DEF3-202F-B792-BA2F-06722F268F4F}"/>
              </a:ext>
            </a:extLst>
          </p:cNvPr>
          <p:cNvSpPr/>
          <p:nvPr/>
        </p:nvSpPr>
        <p:spPr>
          <a:xfrm>
            <a:off x="397049" y="640936"/>
            <a:ext cx="3449637" cy="766415"/>
          </a:xfrm>
          <a:prstGeom prst="roundRect">
            <a:avLst>
              <a:gd name="adj" fmla="val 7526"/>
            </a:avLst>
          </a:prstGeom>
          <a:solidFill>
            <a:schemeClr val="accent3">
              <a:lumMod val="20000"/>
              <a:lumOff val="8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kumimoji="1" lang="en-US" altLang="ko-KR" sz="800">
                <a:solidFill>
                  <a:schemeClr val="tx1"/>
                </a:solidFill>
              </a:rPr>
              <a:t>Listener Filters</a:t>
            </a:r>
          </a:p>
        </p:txBody>
      </p:sp>
      <p:sp>
        <p:nvSpPr>
          <p:cNvPr id="37" name="모서리가 둥근 직사각형 36">
            <a:extLst>
              <a:ext uri="{FF2B5EF4-FFF2-40B4-BE49-F238E27FC236}">
                <a16:creationId xmlns:a16="http://schemas.microsoft.com/office/drawing/2014/main" id="{556918C8-F321-E5A8-B655-2BB4210102EB}"/>
              </a:ext>
            </a:extLst>
          </p:cNvPr>
          <p:cNvSpPr/>
          <p:nvPr/>
        </p:nvSpPr>
        <p:spPr>
          <a:xfrm>
            <a:off x="482899" y="860939"/>
            <a:ext cx="3291780" cy="163148"/>
          </a:xfrm>
          <a:prstGeom prst="roundRect">
            <a:avLst>
              <a:gd name="adj" fmla="val 14645"/>
            </a:avLst>
          </a:prstGeom>
          <a:solidFill>
            <a:schemeClr val="accent3">
              <a:lumMod val="40000"/>
              <a:lumOff val="6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ko-KR" sz="800">
                <a:solidFill>
                  <a:schemeClr val="tx1"/>
                </a:solidFill>
              </a:rPr>
              <a:t>envoy.filters.listener.original_dst</a:t>
            </a:r>
          </a:p>
        </p:txBody>
      </p:sp>
      <p:sp>
        <p:nvSpPr>
          <p:cNvPr id="38" name="모서리가 둥근 직사각형 37">
            <a:extLst>
              <a:ext uri="{FF2B5EF4-FFF2-40B4-BE49-F238E27FC236}">
                <a16:creationId xmlns:a16="http://schemas.microsoft.com/office/drawing/2014/main" id="{BD119341-4CE5-DA2C-254D-92480642FF34}"/>
              </a:ext>
            </a:extLst>
          </p:cNvPr>
          <p:cNvSpPr/>
          <p:nvPr/>
        </p:nvSpPr>
        <p:spPr>
          <a:xfrm>
            <a:off x="482899" y="1023772"/>
            <a:ext cx="3291780" cy="163148"/>
          </a:xfrm>
          <a:prstGeom prst="roundRect">
            <a:avLst>
              <a:gd name="adj" fmla="val 14645"/>
            </a:avLst>
          </a:prstGeom>
          <a:solidFill>
            <a:schemeClr val="accent3">
              <a:lumMod val="40000"/>
              <a:lumOff val="6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ko-KR" sz="800">
                <a:solidFill>
                  <a:schemeClr val="tx1"/>
                </a:solidFill>
              </a:rPr>
              <a:t>envoy.filters.listener.tls_inspector</a:t>
            </a:r>
          </a:p>
        </p:txBody>
      </p:sp>
      <p:sp>
        <p:nvSpPr>
          <p:cNvPr id="42" name="모서리가 둥근 직사각형 41">
            <a:extLst>
              <a:ext uri="{FF2B5EF4-FFF2-40B4-BE49-F238E27FC236}">
                <a16:creationId xmlns:a16="http://schemas.microsoft.com/office/drawing/2014/main" id="{A54913A8-8372-EA12-531C-040431474B43}"/>
              </a:ext>
            </a:extLst>
          </p:cNvPr>
          <p:cNvSpPr/>
          <p:nvPr/>
        </p:nvSpPr>
        <p:spPr>
          <a:xfrm>
            <a:off x="397049" y="1504337"/>
            <a:ext cx="5499485" cy="3224166"/>
          </a:xfrm>
          <a:prstGeom prst="roundRect">
            <a:avLst>
              <a:gd name="adj" fmla="val 2943"/>
            </a:avLst>
          </a:prstGeom>
          <a:solidFill>
            <a:schemeClr val="accent6">
              <a:lumMod val="20000"/>
              <a:lumOff val="8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kumimoji="1" lang="en-US" altLang="ko-KR" sz="800">
                <a:solidFill>
                  <a:schemeClr val="tx1"/>
                </a:solidFill>
              </a:rPr>
              <a:t>Network Filters</a:t>
            </a:r>
          </a:p>
        </p:txBody>
      </p:sp>
      <p:sp>
        <p:nvSpPr>
          <p:cNvPr id="43" name="모서리가 둥근 직사각형 42">
            <a:extLst>
              <a:ext uri="{FF2B5EF4-FFF2-40B4-BE49-F238E27FC236}">
                <a16:creationId xmlns:a16="http://schemas.microsoft.com/office/drawing/2014/main" id="{568F81FE-A86B-9E4B-FA21-28350F49E9EB}"/>
              </a:ext>
            </a:extLst>
          </p:cNvPr>
          <p:cNvSpPr/>
          <p:nvPr/>
        </p:nvSpPr>
        <p:spPr>
          <a:xfrm>
            <a:off x="482899" y="1835044"/>
            <a:ext cx="2598315" cy="782041"/>
          </a:xfrm>
          <a:prstGeom prst="roundRect">
            <a:avLst>
              <a:gd name="adj" fmla="val 7799"/>
            </a:avLst>
          </a:prstGeom>
          <a:solidFill>
            <a:schemeClr val="accent6">
              <a:lumMod val="40000"/>
              <a:lumOff val="6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kumimoji="1" lang="en-US" altLang="ko-KR" sz="800" b="1">
                <a:solidFill>
                  <a:schemeClr val="tx1"/>
                </a:solidFill>
              </a:rPr>
              <a:t>virtualInbound-blackhole</a:t>
            </a:r>
            <a:r>
              <a:rPr kumimoji="1" lang="en-US" altLang="ko-KR" sz="800">
                <a:solidFill>
                  <a:schemeClr val="tx1"/>
                </a:solidFill>
              </a:rPr>
              <a:t> Chain</a:t>
            </a:r>
            <a:endParaRPr kumimoji="1" lang="en-US" altLang="ko-KR" sz="800" b="1">
              <a:solidFill>
                <a:schemeClr val="tx1"/>
              </a:solidFill>
            </a:endParaRPr>
          </a:p>
        </p:txBody>
      </p:sp>
      <p:sp>
        <p:nvSpPr>
          <p:cNvPr id="45" name="모서리가 둥근 직사각형 44">
            <a:extLst>
              <a:ext uri="{FF2B5EF4-FFF2-40B4-BE49-F238E27FC236}">
                <a16:creationId xmlns:a16="http://schemas.microsoft.com/office/drawing/2014/main" id="{445D645B-6614-F410-6C78-6F8251D1588B}"/>
              </a:ext>
            </a:extLst>
          </p:cNvPr>
          <p:cNvSpPr/>
          <p:nvPr/>
        </p:nvSpPr>
        <p:spPr>
          <a:xfrm>
            <a:off x="560052" y="2059437"/>
            <a:ext cx="2427770" cy="163148"/>
          </a:xfrm>
          <a:prstGeom prst="roundRect">
            <a:avLst>
              <a:gd name="adj" fmla="val 14645"/>
            </a:avLst>
          </a:prstGeom>
          <a:solidFill>
            <a:schemeClr val="accent5">
              <a:lumMod val="20000"/>
              <a:lumOff val="8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ko-KR" sz="800">
                <a:solidFill>
                  <a:schemeClr val="tx1"/>
                </a:solidFill>
              </a:rPr>
              <a:t>istio.metadata_exchange</a:t>
            </a:r>
          </a:p>
        </p:txBody>
      </p:sp>
      <p:sp>
        <p:nvSpPr>
          <p:cNvPr id="46" name="모서리가 둥근 직사각형 45">
            <a:extLst>
              <a:ext uri="{FF2B5EF4-FFF2-40B4-BE49-F238E27FC236}">
                <a16:creationId xmlns:a16="http://schemas.microsoft.com/office/drawing/2014/main" id="{21DE3007-90BF-4742-4E81-A7E9C646E489}"/>
              </a:ext>
            </a:extLst>
          </p:cNvPr>
          <p:cNvSpPr/>
          <p:nvPr/>
        </p:nvSpPr>
        <p:spPr>
          <a:xfrm>
            <a:off x="560052" y="2221712"/>
            <a:ext cx="2427771" cy="163148"/>
          </a:xfrm>
          <a:prstGeom prst="roundRect">
            <a:avLst>
              <a:gd name="adj" fmla="val 14645"/>
            </a:avLst>
          </a:prstGeom>
          <a:solidFill>
            <a:schemeClr val="accent5">
              <a:lumMod val="20000"/>
              <a:lumOff val="8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ko-KR" sz="800">
                <a:solidFill>
                  <a:schemeClr val="tx1"/>
                </a:solidFill>
              </a:rPr>
              <a:t>istio.stats</a:t>
            </a:r>
          </a:p>
        </p:txBody>
      </p:sp>
      <p:sp>
        <p:nvSpPr>
          <p:cNvPr id="2" name="모서리가 둥근 직사각형 1">
            <a:extLst>
              <a:ext uri="{FF2B5EF4-FFF2-40B4-BE49-F238E27FC236}">
                <a16:creationId xmlns:a16="http://schemas.microsoft.com/office/drawing/2014/main" id="{C0796049-AC9D-8654-157B-CD251EF0EC74}"/>
              </a:ext>
            </a:extLst>
          </p:cNvPr>
          <p:cNvSpPr/>
          <p:nvPr/>
        </p:nvSpPr>
        <p:spPr>
          <a:xfrm>
            <a:off x="482899" y="1185606"/>
            <a:ext cx="3291780" cy="163148"/>
          </a:xfrm>
          <a:prstGeom prst="roundRect">
            <a:avLst>
              <a:gd name="adj" fmla="val 14645"/>
            </a:avLst>
          </a:prstGeom>
          <a:solidFill>
            <a:schemeClr val="accent3">
              <a:lumMod val="40000"/>
              <a:lumOff val="6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ko-KR" sz="800">
                <a:solidFill>
                  <a:schemeClr val="tx1"/>
                </a:solidFill>
              </a:rPr>
              <a:t>envoy.filters.listener.http_inspector</a:t>
            </a:r>
          </a:p>
        </p:txBody>
      </p:sp>
      <p:cxnSp>
        <p:nvCxnSpPr>
          <p:cNvPr id="13" name="직선 화살표 연결선 12">
            <a:extLst>
              <a:ext uri="{FF2B5EF4-FFF2-40B4-BE49-F238E27FC236}">
                <a16:creationId xmlns:a16="http://schemas.microsoft.com/office/drawing/2014/main" id="{71426536-2703-A48A-82CD-82A9D6AABD64}"/>
              </a:ext>
            </a:extLst>
          </p:cNvPr>
          <p:cNvCxnSpPr>
            <a:cxnSpLocks/>
            <a:stCxn id="21" idx="3"/>
            <a:endCxn id="7" idx="1"/>
          </p:cNvCxnSpPr>
          <p:nvPr/>
        </p:nvCxnSpPr>
        <p:spPr>
          <a:xfrm flipV="1">
            <a:off x="7812360" y="1008406"/>
            <a:ext cx="296863" cy="1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모서리가 둥근 직사각형 16">
            <a:extLst>
              <a:ext uri="{FF2B5EF4-FFF2-40B4-BE49-F238E27FC236}">
                <a16:creationId xmlns:a16="http://schemas.microsoft.com/office/drawing/2014/main" id="{2E329873-65E2-192B-9A68-548FB968EEFE}"/>
              </a:ext>
            </a:extLst>
          </p:cNvPr>
          <p:cNvSpPr/>
          <p:nvPr/>
        </p:nvSpPr>
        <p:spPr>
          <a:xfrm>
            <a:off x="560052" y="2383987"/>
            <a:ext cx="2427771" cy="163148"/>
          </a:xfrm>
          <a:prstGeom prst="roundRect">
            <a:avLst>
              <a:gd name="adj" fmla="val 14645"/>
            </a:avLst>
          </a:prstGeom>
          <a:solidFill>
            <a:schemeClr val="accent5">
              <a:lumMod val="20000"/>
              <a:lumOff val="8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ko-KR" sz="800">
                <a:solidFill>
                  <a:schemeClr val="tx1"/>
                </a:solidFill>
              </a:rPr>
              <a:t>envoy.filters.network.tcp_proxy</a:t>
            </a:r>
          </a:p>
        </p:txBody>
      </p:sp>
      <p:sp>
        <p:nvSpPr>
          <p:cNvPr id="19" name="모서리가 둥근 직사각형 18">
            <a:extLst>
              <a:ext uri="{FF2B5EF4-FFF2-40B4-BE49-F238E27FC236}">
                <a16:creationId xmlns:a16="http://schemas.microsoft.com/office/drawing/2014/main" id="{B576733F-EA42-18BC-F36B-8ED511A651A3}"/>
              </a:ext>
            </a:extLst>
          </p:cNvPr>
          <p:cNvSpPr/>
          <p:nvPr/>
        </p:nvSpPr>
        <p:spPr>
          <a:xfrm>
            <a:off x="482899" y="2685240"/>
            <a:ext cx="2598315" cy="613221"/>
          </a:xfrm>
          <a:prstGeom prst="roundRect">
            <a:avLst>
              <a:gd name="adj" fmla="val 7799"/>
            </a:avLst>
          </a:prstGeom>
          <a:solidFill>
            <a:schemeClr val="accent6">
              <a:lumMod val="40000"/>
              <a:lumOff val="6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kumimoji="1" lang="en-US" altLang="ko-KR" sz="800" b="1">
                <a:solidFill>
                  <a:schemeClr val="tx1"/>
                </a:solidFill>
              </a:rPr>
              <a:t>0.0.0.0_8080 </a:t>
            </a:r>
            <a:r>
              <a:rPr kumimoji="1" lang="en-US" altLang="ko-KR" sz="800">
                <a:solidFill>
                  <a:schemeClr val="tx1"/>
                </a:solidFill>
              </a:rPr>
              <a:t>Chain</a:t>
            </a:r>
            <a:endParaRPr kumimoji="1" lang="en-US" altLang="ko-KR" sz="800" b="1">
              <a:solidFill>
                <a:schemeClr val="tx1"/>
              </a:solidFill>
            </a:endParaRPr>
          </a:p>
        </p:txBody>
      </p:sp>
      <p:sp>
        <p:nvSpPr>
          <p:cNvPr id="22" name="모서리가 둥근 직사각형 21">
            <a:extLst>
              <a:ext uri="{FF2B5EF4-FFF2-40B4-BE49-F238E27FC236}">
                <a16:creationId xmlns:a16="http://schemas.microsoft.com/office/drawing/2014/main" id="{4620AAE5-1868-11BA-4B50-994D15B17436}"/>
              </a:ext>
            </a:extLst>
          </p:cNvPr>
          <p:cNvSpPr/>
          <p:nvPr/>
        </p:nvSpPr>
        <p:spPr>
          <a:xfrm>
            <a:off x="560052" y="2921095"/>
            <a:ext cx="2427772" cy="163148"/>
          </a:xfrm>
          <a:prstGeom prst="roundRect">
            <a:avLst>
              <a:gd name="adj" fmla="val 14645"/>
            </a:avLst>
          </a:prstGeom>
          <a:solidFill>
            <a:schemeClr val="accent5">
              <a:lumMod val="20000"/>
              <a:lumOff val="8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ko-KR" sz="800">
                <a:solidFill>
                  <a:schemeClr val="tx1"/>
                </a:solidFill>
              </a:rPr>
              <a:t>istio.metadata_exchange</a:t>
            </a:r>
          </a:p>
        </p:txBody>
      </p:sp>
      <p:sp>
        <p:nvSpPr>
          <p:cNvPr id="25" name="모서리가 둥근 직사각형 24">
            <a:extLst>
              <a:ext uri="{FF2B5EF4-FFF2-40B4-BE49-F238E27FC236}">
                <a16:creationId xmlns:a16="http://schemas.microsoft.com/office/drawing/2014/main" id="{A9C60598-3D00-DBA8-5474-EA14AFC4065A}"/>
              </a:ext>
            </a:extLst>
          </p:cNvPr>
          <p:cNvSpPr/>
          <p:nvPr/>
        </p:nvSpPr>
        <p:spPr>
          <a:xfrm>
            <a:off x="560053" y="3083370"/>
            <a:ext cx="2427772" cy="163148"/>
          </a:xfrm>
          <a:prstGeom prst="roundRect">
            <a:avLst>
              <a:gd name="adj" fmla="val 14645"/>
            </a:avLst>
          </a:prstGeom>
          <a:solidFill>
            <a:schemeClr val="accent5">
              <a:lumMod val="20000"/>
              <a:lumOff val="8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ko-KR" sz="800">
                <a:solidFill>
                  <a:schemeClr val="tx1"/>
                </a:solidFill>
              </a:rPr>
              <a:t>envoy.filters.network.http_connection_manager</a:t>
            </a:r>
          </a:p>
        </p:txBody>
      </p:sp>
      <p:sp>
        <p:nvSpPr>
          <p:cNvPr id="28" name="모서리가 둥근 직사각형 27">
            <a:extLst>
              <a:ext uri="{FF2B5EF4-FFF2-40B4-BE49-F238E27FC236}">
                <a16:creationId xmlns:a16="http://schemas.microsoft.com/office/drawing/2014/main" id="{BFB24C6C-DC5B-4E2E-7ABD-21928A2980F7}"/>
              </a:ext>
            </a:extLst>
          </p:cNvPr>
          <p:cNvSpPr/>
          <p:nvPr/>
        </p:nvSpPr>
        <p:spPr>
          <a:xfrm>
            <a:off x="485018" y="3370232"/>
            <a:ext cx="2598315" cy="613221"/>
          </a:xfrm>
          <a:prstGeom prst="roundRect">
            <a:avLst>
              <a:gd name="adj" fmla="val 7799"/>
            </a:avLst>
          </a:prstGeom>
          <a:solidFill>
            <a:schemeClr val="accent6">
              <a:lumMod val="40000"/>
              <a:lumOff val="6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kumimoji="1" lang="en-US" altLang="ko-KR" sz="800" b="1">
                <a:solidFill>
                  <a:schemeClr val="tx1"/>
                </a:solidFill>
              </a:rPr>
              <a:t>raw_buffer </a:t>
            </a:r>
            <a:r>
              <a:rPr kumimoji="1" lang="en-US" altLang="ko-KR" sz="800">
                <a:solidFill>
                  <a:schemeClr val="tx1"/>
                </a:solidFill>
              </a:rPr>
              <a:t>Chain</a:t>
            </a:r>
            <a:endParaRPr kumimoji="1" lang="en-US" altLang="ko-KR" sz="800" b="1">
              <a:solidFill>
                <a:schemeClr val="tx1"/>
              </a:solidFill>
            </a:endParaRPr>
          </a:p>
        </p:txBody>
      </p:sp>
      <p:sp>
        <p:nvSpPr>
          <p:cNvPr id="31" name="모서리가 둥근 직사각형 30">
            <a:extLst>
              <a:ext uri="{FF2B5EF4-FFF2-40B4-BE49-F238E27FC236}">
                <a16:creationId xmlns:a16="http://schemas.microsoft.com/office/drawing/2014/main" id="{E5AA8F28-751C-DE02-59F0-A6B52F937332}"/>
              </a:ext>
            </a:extLst>
          </p:cNvPr>
          <p:cNvSpPr/>
          <p:nvPr/>
        </p:nvSpPr>
        <p:spPr>
          <a:xfrm>
            <a:off x="562171" y="3592463"/>
            <a:ext cx="2427772" cy="163148"/>
          </a:xfrm>
          <a:prstGeom prst="roundRect">
            <a:avLst>
              <a:gd name="adj" fmla="val 14645"/>
            </a:avLst>
          </a:prstGeom>
          <a:solidFill>
            <a:schemeClr val="accent5">
              <a:lumMod val="20000"/>
              <a:lumOff val="8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ko-KR" sz="800">
                <a:solidFill>
                  <a:schemeClr val="tx1"/>
                </a:solidFill>
              </a:rPr>
              <a:t>istio.metadata_exchange</a:t>
            </a:r>
          </a:p>
        </p:txBody>
      </p:sp>
      <p:sp>
        <p:nvSpPr>
          <p:cNvPr id="32" name="모서리가 둥근 직사각형 31">
            <a:extLst>
              <a:ext uri="{FF2B5EF4-FFF2-40B4-BE49-F238E27FC236}">
                <a16:creationId xmlns:a16="http://schemas.microsoft.com/office/drawing/2014/main" id="{425651E0-3FFF-D81C-EC7F-4BBDE65E2518}"/>
              </a:ext>
            </a:extLst>
          </p:cNvPr>
          <p:cNvSpPr/>
          <p:nvPr/>
        </p:nvSpPr>
        <p:spPr>
          <a:xfrm>
            <a:off x="562172" y="3754738"/>
            <a:ext cx="2427772" cy="163148"/>
          </a:xfrm>
          <a:prstGeom prst="roundRect">
            <a:avLst>
              <a:gd name="adj" fmla="val 14645"/>
            </a:avLst>
          </a:prstGeom>
          <a:solidFill>
            <a:schemeClr val="accent5">
              <a:lumMod val="20000"/>
              <a:lumOff val="8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ko-KR" sz="800">
                <a:solidFill>
                  <a:schemeClr val="tx1"/>
                </a:solidFill>
              </a:rPr>
              <a:t>envoy.filters.network.http_connection_manager</a:t>
            </a:r>
          </a:p>
        </p:txBody>
      </p:sp>
      <p:sp>
        <p:nvSpPr>
          <p:cNvPr id="33" name="모서리가 둥근 직사각형 32">
            <a:extLst>
              <a:ext uri="{FF2B5EF4-FFF2-40B4-BE49-F238E27FC236}">
                <a16:creationId xmlns:a16="http://schemas.microsoft.com/office/drawing/2014/main" id="{8C1AD70E-5417-6B02-A1CD-ED32BF8D99E2}"/>
              </a:ext>
            </a:extLst>
          </p:cNvPr>
          <p:cNvSpPr/>
          <p:nvPr/>
        </p:nvSpPr>
        <p:spPr>
          <a:xfrm>
            <a:off x="3219996" y="1588019"/>
            <a:ext cx="2598315" cy="782041"/>
          </a:xfrm>
          <a:prstGeom prst="roundRect">
            <a:avLst>
              <a:gd name="adj" fmla="val 7799"/>
            </a:avLst>
          </a:prstGeom>
          <a:solidFill>
            <a:schemeClr val="accent6">
              <a:lumMod val="40000"/>
              <a:lumOff val="6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kumimoji="1" lang="en-US" altLang="ko-KR" sz="800" b="1">
                <a:solidFill>
                  <a:schemeClr val="tx1"/>
                </a:solidFill>
              </a:rPr>
              <a:t>virtualInbound Sidecar mTLS</a:t>
            </a:r>
            <a:r>
              <a:rPr kumimoji="1" lang="en-US" altLang="ko-KR" sz="800">
                <a:solidFill>
                  <a:schemeClr val="tx1"/>
                </a:solidFill>
              </a:rPr>
              <a:t> Chain</a:t>
            </a:r>
            <a:endParaRPr kumimoji="1" lang="en-US" altLang="ko-KR" sz="800" b="1">
              <a:solidFill>
                <a:schemeClr val="tx1"/>
              </a:solidFill>
            </a:endParaRPr>
          </a:p>
        </p:txBody>
      </p:sp>
      <p:sp>
        <p:nvSpPr>
          <p:cNvPr id="34" name="모서리가 둥근 직사각형 33">
            <a:extLst>
              <a:ext uri="{FF2B5EF4-FFF2-40B4-BE49-F238E27FC236}">
                <a16:creationId xmlns:a16="http://schemas.microsoft.com/office/drawing/2014/main" id="{1031AF03-BBF9-F484-B027-260396C1EA53}"/>
              </a:ext>
            </a:extLst>
          </p:cNvPr>
          <p:cNvSpPr/>
          <p:nvPr/>
        </p:nvSpPr>
        <p:spPr>
          <a:xfrm>
            <a:off x="3303608" y="1812413"/>
            <a:ext cx="2421536" cy="163148"/>
          </a:xfrm>
          <a:prstGeom prst="roundRect">
            <a:avLst>
              <a:gd name="adj" fmla="val 14645"/>
            </a:avLst>
          </a:prstGeom>
          <a:solidFill>
            <a:schemeClr val="accent5">
              <a:lumMod val="20000"/>
              <a:lumOff val="8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ko-KR" sz="800">
                <a:solidFill>
                  <a:schemeClr val="tx1"/>
                </a:solidFill>
              </a:rPr>
              <a:t>istio.metadata_exchange</a:t>
            </a:r>
          </a:p>
        </p:txBody>
      </p:sp>
      <p:sp>
        <p:nvSpPr>
          <p:cNvPr id="35" name="모서리가 둥근 직사각형 34">
            <a:extLst>
              <a:ext uri="{FF2B5EF4-FFF2-40B4-BE49-F238E27FC236}">
                <a16:creationId xmlns:a16="http://schemas.microsoft.com/office/drawing/2014/main" id="{729FF19A-4DE6-7329-94D5-ED7BC90CD283}"/>
              </a:ext>
            </a:extLst>
          </p:cNvPr>
          <p:cNvSpPr/>
          <p:nvPr/>
        </p:nvSpPr>
        <p:spPr>
          <a:xfrm>
            <a:off x="3303608" y="1974688"/>
            <a:ext cx="2421537" cy="163148"/>
          </a:xfrm>
          <a:prstGeom prst="roundRect">
            <a:avLst>
              <a:gd name="adj" fmla="val 14645"/>
            </a:avLst>
          </a:prstGeom>
          <a:solidFill>
            <a:schemeClr val="accent5">
              <a:lumMod val="20000"/>
              <a:lumOff val="8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ko-KR" sz="800">
                <a:solidFill>
                  <a:schemeClr val="tx1"/>
                </a:solidFill>
              </a:rPr>
              <a:t>istio.stats</a:t>
            </a:r>
          </a:p>
        </p:txBody>
      </p:sp>
      <p:sp>
        <p:nvSpPr>
          <p:cNvPr id="36" name="모서리가 둥근 직사각형 35">
            <a:extLst>
              <a:ext uri="{FF2B5EF4-FFF2-40B4-BE49-F238E27FC236}">
                <a16:creationId xmlns:a16="http://schemas.microsoft.com/office/drawing/2014/main" id="{140FD710-2EBB-C66B-9CDC-FA297186DB05}"/>
              </a:ext>
            </a:extLst>
          </p:cNvPr>
          <p:cNvSpPr/>
          <p:nvPr/>
        </p:nvSpPr>
        <p:spPr>
          <a:xfrm>
            <a:off x="3303608" y="2136963"/>
            <a:ext cx="2421537" cy="163148"/>
          </a:xfrm>
          <a:prstGeom prst="roundRect">
            <a:avLst>
              <a:gd name="adj" fmla="val 14645"/>
            </a:avLst>
          </a:prstGeom>
          <a:solidFill>
            <a:schemeClr val="accent5">
              <a:lumMod val="20000"/>
              <a:lumOff val="8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ko-KR" sz="800">
                <a:solidFill>
                  <a:schemeClr val="tx1"/>
                </a:solidFill>
              </a:rPr>
              <a:t>envoy.filters.network.tcp_proxy</a:t>
            </a:r>
          </a:p>
        </p:txBody>
      </p:sp>
      <p:sp>
        <p:nvSpPr>
          <p:cNvPr id="39" name="모서리가 둥근 직사각형 38">
            <a:extLst>
              <a:ext uri="{FF2B5EF4-FFF2-40B4-BE49-F238E27FC236}">
                <a16:creationId xmlns:a16="http://schemas.microsoft.com/office/drawing/2014/main" id="{58E422A6-07F4-FCA1-4859-5E8EEECAB96D}"/>
              </a:ext>
            </a:extLst>
          </p:cNvPr>
          <p:cNvSpPr/>
          <p:nvPr/>
        </p:nvSpPr>
        <p:spPr>
          <a:xfrm>
            <a:off x="3219997" y="2416137"/>
            <a:ext cx="2598314" cy="782041"/>
          </a:xfrm>
          <a:prstGeom prst="roundRect">
            <a:avLst>
              <a:gd name="adj" fmla="val 7799"/>
            </a:avLst>
          </a:prstGeom>
          <a:solidFill>
            <a:schemeClr val="accent6">
              <a:lumMod val="40000"/>
              <a:lumOff val="6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kumimoji="1" lang="en-US" altLang="ko-KR" sz="800" b="1">
                <a:solidFill>
                  <a:schemeClr val="tx1"/>
                </a:solidFill>
              </a:rPr>
              <a:t>virtualInbound Sidecar Plaintext</a:t>
            </a:r>
            <a:r>
              <a:rPr kumimoji="1" lang="en-US" altLang="ko-KR" sz="800">
                <a:solidFill>
                  <a:schemeClr val="tx1"/>
                </a:solidFill>
              </a:rPr>
              <a:t> Chain</a:t>
            </a:r>
            <a:endParaRPr kumimoji="1" lang="en-US" altLang="ko-KR" sz="800" b="1">
              <a:solidFill>
                <a:schemeClr val="tx1"/>
              </a:solidFill>
            </a:endParaRPr>
          </a:p>
        </p:txBody>
      </p:sp>
      <p:sp>
        <p:nvSpPr>
          <p:cNvPr id="51" name="모서리가 둥근 직사각형 50">
            <a:extLst>
              <a:ext uri="{FF2B5EF4-FFF2-40B4-BE49-F238E27FC236}">
                <a16:creationId xmlns:a16="http://schemas.microsoft.com/office/drawing/2014/main" id="{DBD6FA63-4B66-4997-3D48-EA7DB936BA01}"/>
              </a:ext>
            </a:extLst>
          </p:cNvPr>
          <p:cNvSpPr/>
          <p:nvPr/>
        </p:nvSpPr>
        <p:spPr>
          <a:xfrm>
            <a:off x="3303608" y="2640531"/>
            <a:ext cx="2421536" cy="163148"/>
          </a:xfrm>
          <a:prstGeom prst="roundRect">
            <a:avLst>
              <a:gd name="adj" fmla="val 14645"/>
            </a:avLst>
          </a:prstGeom>
          <a:solidFill>
            <a:schemeClr val="accent5">
              <a:lumMod val="20000"/>
              <a:lumOff val="8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ko-KR" sz="800">
                <a:solidFill>
                  <a:schemeClr val="tx1"/>
                </a:solidFill>
              </a:rPr>
              <a:t>istio.metadata_exchange</a:t>
            </a:r>
          </a:p>
        </p:txBody>
      </p:sp>
      <p:sp>
        <p:nvSpPr>
          <p:cNvPr id="56" name="모서리가 둥근 직사각형 55">
            <a:extLst>
              <a:ext uri="{FF2B5EF4-FFF2-40B4-BE49-F238E27FC236}">
                <a16:creationId xmlns:a16="http://schemas.microsoft.com/office/drawing/2014/main" id="{404BFDAE-E10C-5545-3DC6-1F0DF8BF9ECE}"/>
              </a:ext>
            </a:extLst>
          </p:cNvPr>
          <p:cNvSpPr/>
          <p:nvPr/>
        </p:nvSpPr>
        <p:spPr>
          <a:xfrm>
            <a:off x="3303608" y="2802806"/>
            <a:ext cx="2421537" cy="163148"/>
          </a:xfrm>
          <a:prstGeom prst="roundRect">
            <a:avLst>
              <a:gd name="adj" fmla="val 14645"/>
            </a:avLst>
          </a:prstGeom>
          <a:solidFill>
            <a:schemeClr val="accent5">
              <a:lumMod val="20000"/>
              <a:lumOff val="8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ko-KR" sz="800">
                <a:solidFill>
                  <a:schemeClr val="tx1"/>
                </a:solidFill>
              </a:rPr>
              <a:t>istio.stats</a:t>
            </a:r>
          </a:p>
        </p:txBody>
      </p:sp>
      <p:sp>
        <p:nvSpPr>
          <p:cNvPr id="57" name="모서리가 둥근 직사각형 56">
            <a:extLst>
              <a:ext uri="{FF2B5EF4-FFF2-40B4-BE49-F238E27FC236}">
                <a16:creationId xmlns:a16="http://schemas.microsoft.com/office/drawing/2014/main" id="{A13FC256-18ED-81A8-1E18-1FC295C7D920}"/>
              </a:ext>
            </a:extLst>
          </p:cNvPr>
          <p:cNvSpPr/>
          <p:nvPr/>
        </p:nvSpPr>
        <p:spPr>
          <a:xfrm>
            <a:off x="3303608" y="2965081"/>
            <a:ext cx="2421537" cy="163148"/>
          </a:xfrm>
          <a:prstGeom prst="roundRect">
            <a:avLst>
              <a:gd name="adj" fmla="val 14645"/>
            </a:avLst>
          </a:prstGeom>
          <a:solidFill>
            <a:schemeClr val="accent5">
              <a:lumMod val="20000"/>
              <a:lumOff val="8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ko-KR" sz="800">
                <a:solidFill>
                  <a:schemeClr val="tx1"/>
                </a:solidFill>
              </a:rPr>
              <a:t>envoy.filters.network.tcp_proxy</a:t>
            </a:r>
          </a:p>
        </p:txBody>
      </p:sp>
      <p:sp>
        <p:nvSpPr>
          <p:cNvPr id="58" name="모서리가 둥근 직사각형 57">
            <a:extLst>
              <a:ext uri="{FF2B5EF4-FFF2-40B4-BE49-F238E27FC236}">
                <a16:creationId xmlns:a16="http://schemas.microsoft.com/office/drawing/2014/main" id="{4CE138DD-0CA4-3449-7FB1-58CAB404738A}"/>
              </a:ext>
            </a:extLst>
          </p:cNvPr>
          <p:cNvSpPr/>
          <p:nvPr/>
        </p:nvSpPr>
        <p:spPr>
          <a:xfrm>
            <a:off x="3219996" y="3246496"/>
            <a:ext cx="2598313" cy="782041"/>
          </a:xfrm>
          <a:prstGeom prst="roundRect">
            <a:avLst>
              <a:gd name="adj" fmla="val 7799"/>
            </a:avLst>
          </a:prstGeom>
          <a:solidFill>
            <a:schemeClr val="accent6">
              <a:lumMod val="40000"/>
              <a:lumOff val="6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kumimoji="1" lang="en-US" altLang="ko-KR" sz="800" b="1">
                <a:solidFill>
                  <a:schemeClr val="tx1"/>
                </a:solidFill>
              </a:rPr>
              <a:t>virtualInbound Other mTLS </a:t>
            </a:r>
            <a:r>
              <a:rPr kumimoji="1" lang="en-US" altLang="ko-KR" sz="800">
                <a:solidFill>
                  <a:schemeClr val="tx1"/>
                </a:solidFill>
              </a:rPr>
              <a:t>Chain</a:t>
            </a:r>
            <a:endParaRPr kumimoji="1" lang="en-US" altLang="ko-KR" sz="800" b="1">
              <a:solidFill>
                <a:schemeClr val="tx1"/>
              </a:solidFill>
            </a:endParaRPr>
          </a:p>
        </p:txBody>
      </p:sp>
      <p:sp>
        <p:nvSpPr>
          <p:cNvPr id="60" name="모서리가 둥근 직사각형 59">
            <a:extLst>
              <a:ext uri="{FF2B5EF4-FFF2-40B4-BE49-F238E27FC236}">
                <a16:creationId xmlns:a16="http://schemas.microsoft.com/office/drawing/2014/main" id="{63D8F240-6C41-3037-A330-1F49B47CD7CC}"/>
              </a:ext>
            </a:extLst>
          </p:cNvPr>
          <p:cNvSpPr/>
          <p:nvPr/>
        </p:nvSpPr>
        <p:spPr>
          <a:xfrm>
            <a:off x="3303608" y="3470890"/>
            <a:ext cx="2421536" cy="163148"/>
          </a:xfrm>
          <a:prstGeom prst="roundRect">
            <a:avLst>
              <a:gd name="adj" fmla="val 14645"/>
            </a:avLst>
          </a:prstGeom>
          <a:solidFill>
            <a:schemeClr val="accent5">
              <a:lumMod val="20000"/>
              <a:lumOff val="8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ko-KR" sz="800">
                <a:solidFill>
                  <a:schemeClr val="tx1"/>
                </a:solidFill>
              </a:rPr>
              <a:t>istio.metadata_exchange</a:t>
            </a:r>
          </a:p>
        </p:txBody>
      </p:sp>
      <p:sp>
        <p:nvSpPr>
          <p:cNvPr id="61" name="모서리가 둥근 직사각형 60">
            <a:extLst>
              <a:ext uri="{FF2B5EF4-FFF2-40B4-BE49-F238E27FC236}">
                <a16:creationId xmlns:a16="http://schemas.microsoft.com/office/drawing/2014/main" id="{D1E49DD6-C5F0-025D-8CC0-9DF76DB35BC5}"/>
              </a:ext>
            </a:extLst>
          </p:cNvPr>
          <p:cNvSpPr/>
          <p:nvPr/>
        </p:nvSpPr>
        <p:spPr>
          <a:xfrm>
            <a:off x="3303608" y="3633165"/>
            <a:ext cx="2421537" cy="163148"/>
          </a:xfrm>
          <a:prstGeom prst="roundRect">
            <a:avLst>
              <a:gd name="adj" fmla="val 14645"/>
            </a:avLst>
          </a:prstGeom>
          <a:solidFill>
            <a:schemeClr val="accent5">
              <a:lumMod val="20000"/>
              <a:lumOff val="8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ko-KR" sz="800">
                <a:solidFill>
                  <a:schemeClr val="tx1"/>
                </a:solidFill>
              </a:rPr>
              <a:t>istio.stats</a:t>
            </a:r>
          </a:p>
        </p:txBody>
      </p:sp>
      <p:sp>
        <p:nvSpPr>
          <p:cNvPr id="62" name="모서리가 둥근 직사각형 61">
            <a:extLst>
              <a:ext uri="{FF2B5EF4-FFF2-40B4-BE49-F238E27FC236}">
                <a16:creationId xmlns:a16="http://schemas.microsoft.com/office/drawing/2014/main" id="{BE141D88-3147-6956-C57F-50D55147432C}"/>
              </a:ext>
            </a:extLst>
          </p:cNvPr>
          <p:cNvSpPr/>
          <p:nvPr/>
        </p:nvSpPr>
        <p:spPr>
          <a:xfrm>
            <a:off x="3303608" y="3795440"/>
            <a:ext cx="2421537" cy="163148"/>
          </a:xfrm>
          <a:prstGeom prst="roundRect">
            <a:avLst>
              <a:gd name="adj" fmla="val 14645"/>
            </a:avLst>
          </a:prstGeom>
          <a:solidFill>
            <a:schemeClr val="accent5">
              <a:lumMod val="20000"/>
              <a:lumOff val="8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ko-KR" sz="800">
                <a:solidFill>
                  <a:schemeClr val="tx1"/>
                </a:solidFill>
              </a:rPr>
              <a:t>envoy.filters.network.tcp_proxy</a:t>
            </a:r>
          </a:p>
        </p:txBody>
      </p:sp>
      <p:sp>
        <p:nvSpPr>
          <p:cNvPr id="66" name="모서리가 둥근 직사각형 65">
            <a:extLst>
              <a:ext uri="{FF2B5EF4-FFF2-40B4-BE49-F238E27FC236}">
                <a16:creationId xmlns:a16="http://schemas.microsoft.com/office/drawing/2014/main" id="{06778DDB-7E63-B729-F417-212C7C7FB648}"/>
              </a:ext>
            </a:extLst>
          </p:cNvPr>
          <p:cNvSpPr/>
          <p:nvPr/>
        </p:nvSpPr>
        <p:spPr>
          <a:xfrm>
            <a:off x="482899" y="4046761"/>
            <a:ext cx="2598315" cy="613221"/>
          </a:xfrm>
          <a:prstGeom prst="roundRect">
            <a:avLst>
              <a:gd name="adj" fmla="val 7799"/>
            </a:avLst>
          </a:prstGeom>
          <a:solidFill>
            <a:schemeClr val="accent6">
              <a:lumMod val="40000"/>
              <a:lumOff val="6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kumimoji="1" lang="en-US" altLang="ko-KR" sz="800" b="1">
                <a:solidFill>
                  <a:schemeClr val="tx1"/>
                </a:solidFill>
              </a:rPr>
              <a:t>virtualInbound-catchall-http Sidecar mTLS</a:t>
            </a:r>
            <a:r>
              <a:rPr kumimoji="1" lang="en-US" altLang="ko-KR" sz="800">
                <a:solidFill>
                  <a:schemeClr val="tx1"/>
                </a:solidFill>
              </a:rPr>
              <a:t> Chain</a:t>
            </a:r>
            <a:endParaRPr kumimoji="1" lang="en-US" altLang="ko-KR" sz="800" b="1">
              <a:solidFill>
                <a:schemeClr val="tx1"/>
              </a:solidFill>
            </a:endParaRPr>
          </a:p>
        </p:txBody>
      </p:sp>
      <p:sp>
        <p:nvSpPr>
          <p:cNvPr id="67" name="모서리가 둥근 직사각형 66">
            <a:extLst>
              <a:ext uri="{FF2B5EF4-FFF2-40B4-BE49-F238E27FC236}">
                <a16:creationId xmlns:a16="http://schemas.microsoft.com/office/drawing/2014/main" id="{65B54A9B-E3F5-E6D8-76EB-D93C19BF3B3E}"/>
              </a:ext>
            </a:extLst>
          </p:cNvPr>
          <p:cNvSpPr/>
          <p:nvPr/>
        </p:nvSpPr>
        <p:spPr>
          <a:xfrm>
            <a:off x="560052" y="4268992"/>
            <a:ext cx="2427772" cy="163148"/>
          </a:xfrm>
          <a:prstGeom prst="roundRect">
            <a:avLst>
              <a:gd name="adj" fmla="val 14645"/>
            </a:avLst>
          </a:prstGeom>
          <a:solidFill>
            <a:schemeClr val="accent5">
              <a:lumMod val="20000"/>
              <a:lumOff val="8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ko-KR" sz="800">
                <a:solidFill>
                  <a:schemeClr val="tx1"/>
                </a:solidFill>
              </a:rPr>
              <a:t>istio.metadata_exchange</a:t>
            </a:r>
          </a:p>
        </p:txBody>
      </p:sp>
      <p:sp>
        <p:nvSpPr>
          <p:cNvPr id="68" name="모서리가 둥근 직사각형 67">
            <a:extLst>
              <a:ext uri="{FF2B5EF4-FFF2-40B4-BE49-F238E27FC236}">
                <a16:creationId xmlns:a16="http://schemas.microsoft.com/office/drawing/2014/main" id="{629D37AF-C530-2403-F247-8DBEF17E4590}"/>
              </a:ext>
            </a:extLst>
          </p:cNvPr>
          <p:cNvSpPr/>
          <p:nvPr/>
        </p:nvSpPr>
        <p:spPr>
          <a:xfrm>
            <a:off x="560053" y="4431267"/>
            <a:ext cx="2427772" cy="163148"/>
          </a:xfrm>
          <a:prstGeom prst="roundRect">
            <a:avLst>
              <a:gd name="adj" fmla="val 14645"/>
            </a:avLst>
          </a:prstGeom>
          <a:solidFill>
            <a:schemeClr val="accent5">
              <a:lumMod val="20000"/>
              <a:lumOff val="8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ko-KR" sz="800">
                <a:solidFill>
                  <a:schemeClr val="tx1"/>
                </a:solidFill>
              </a:rPr>
              <a:t>envoy.filters.network.http_connection_manager</a:t>
            </a:r>
          </a:p>
        </p:txBody>
      </p:sp>
      <p:sp>
        <p:nvSpPr>
          <p:cNvPr id="93" name="모서리가 둥근 직사각형 92">
            <a:extLst>
              <a:ext uri="{FF2B5EF4-FFF2-40B4-BE49-F238E27FC236}">
                <a16:creationId xmlns:a16="http://schemas.microsoft.com/office/drawing/2014/main" id="{D32C8F49-E40F-9EBB-3751-01BC3583D263}"/>
              </a:ext>
            </a:extLst>
          </p:cNvPr>
          <p:cNvSpPr/>
          <p:nvPr/>
        </p:nvSpPr>
        <p:spPr>
          <a:xfrm>
            <a:off x="6222952" y="423949"/>
            <a:ext cx="1584175" cy="277654"/>
          </a:xfrm>
          <a:prstGeom prst="roundRect">
            <a:avLst>
              <a:gd name="adj" fmla="val 14645"/>
            </a:avLst>
          </a:prstGeom>
          <a:solidFill>
            <a:schemeClr val="tx2">
              <a:lumMod val="20000"/>
              <a:lumOff val="8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 b="1">
                <a:solidFill>
                  <a:schemeClr val="tx1"/>
                </a:solidFill>
              </a:rPr>
              <a:t>BlackHoleCluster </a:t>
            </a:r>
            <a:r>
              <a:rPr kumimoji="1" lang="en-US" altLang="ko-KR" sz="800">
                <a:solidFill>
                  <a:schemeClr val="tx1"/>
                </a:solidFill>
              </a:rPr>
              <a:t>Cluster</a:t>
            </a:r>
          </a:p>
        </p:txBody>
      </p:sp>
      <p:cxnSp>
        <p:nvCxnSpPr>
          <p:cNvPr id="99" name="직선 화살표 연결선 98">
            <a:extLst>
              <a:ext uri="{FF2B5EF4-FFF2-40B4-BE49-F238E27FC236}">
                <a16:creationId xmlns:a16="http://schemas.microsoft.com/office/drawing/2014/main" id="{370C5A88-A6DE-85AD-63F8-4F5BCB6BB8F3}"/>
              </a:ext>
            </a:extLst>
          </p:cNvPr>
          <p:cNvCxnSpPr>
            <a:cxnSpLocks/>
            <a:stCxn id="41" idx="2"/>
          </p:cNvCxnSpPr>
          <p:nvPr/>
        </p:nvCxnSpPr>
        <p:spPr>
          <a:xfrm>
            <a:off x="2121868" y="1407351"/>
            <a:ext cx="0" cy="96986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1" name="모서리가 둥근 직사각형 140">
            <a:extLst>
              <a:ext uri="{FF2B5EF4-FFF2-40B4-BE49-F238E27FC236}">
                <a16:creationId xmlns:a16="http://schemas.microsoft.com/office/drawing/2014/main" id="{0315EC91-8B27-BE03-13DD-FD6304E10760}"/>
              </a:ext>
            </a:extLst>
          </p:cNvPr>
          <p:cNvSpPr/>
          <p:nvPr/>
        </p:nvSpPr>
        <p:spPr>
          <a:xfrm>
            <a:off x="3219996" y="4075481"/>
            <a:ext cx="2598315" cy="613221"/>
          </a:xfrm>
          <a:prstGeom prst="roundRect">
            <a:avLst>
              <a:gd name="adj" fmla="val 7799"/>
            </a:avLst>
          </a:prstGeom>
          <a:solidFill>
            <a:schemeClr val="accent6">
              <a:lumMod val="40000"/>
              <a:lumOff val="6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kumimoji="1" lang="en-US" altLang="ko-KR" sz="800" b="1">
                <a:solidFill>
                  <a:schemeClr val="tx1"/>
                </a:solidFill>
              </a:rPr>
              <a:t>virtualInbound-catchall-http Plaintext</a:t>
            </a:r>
            <a:r>
              <a:rPr kumimoji="1" lang="en-US" altLang="ko-KR" sz="800">
                <a:solidFill>
                  <a:schemeClr val="tx1"/>
                </a:solidFill>
              </a:rPr>
              <a:t> Chain</a:t>
            </a:r>
            <a:endParaRPr kumimoji="1" lang="en-US" altLang="ko-KR" sz="800" b="1">
              <a:solidFill>
                <a:schemeClr val="tx1"/>
              </a:solidFill>
            </a:endParaRPr>
          </a:p>
        </p:txBody>
      </p:sp>
      <p:sp>
        <p:nvSpPr>
          <p:cNvPr id="142" name="모서리가 둥근 직사각형 141">
            <a:extLst>
              <a:ext uri="{FF2B5EF4-FFF2-40B4-BE49-F238E27FC236}">
                <a16:creationId xmlns:a16="http://schemas.microsoft.com/office/drawing/2014/main" id="{FF8F8BF9-ABF6-95AE-2CB9-F81EADFD7BA4}"/>
              </a:ext>
            </a:extLst>
          </p:cNvPr>
          <p:cNvSpPr/>
          <p:nvPr/>
        </p:nvSpPr>
        <p:spPr>
          <a:xfrm>
            <a:off x="3297149" y="4297712"/>
            <a:ext cx="2427772" cy="163148"/>
          </a:xfrm>
          <a:prstGeom prst="roundRect">
            <a:avLst>
              <a:gd name="adj" fmla="val 14645"/>
            </a:avLst>
          </a:prstGeom>
          <a:solidFill>
            <a:schemeClr val="accent5">
              <a:lumMod val="20000"/>
              <a:lumOff val="8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ko-KR" sz="800">
                <a:solidFill>
                  <a:schemeClr val="tx1"/>
                </a:solidFill>
              </a:rPr>
              <a:t>istio.metadata_exchange</a:t>
            </a:r>
          </a:p>
        </p:txBody>
      </p:sp>
      <p:sp>
        <p:nvSpPr>
          <p:cNvPr id="143" name="모서리가 둥근 직사각형 142">
            <a:extLst>
              <a:ext uri="{FF2B5EF4-FFF2-40B4-BE49-F238E27FC236}">
                <a16:creationId xmlns:a16="http://schemas.microsoft.com/office/drawing/2014/main" id="{3EA3AB9B-4EC8-D3D6-145C-B63E96C52B97}"/>
              </a:ext>
            </a:extLst>
          </p:cNvPr>
          <p:cNvSpPr/>
          <p:nvPr/>
        </p:nvSpPr>
        <p:spPr>
          <a:xfrm>
            <a:off x="3297150" y="4459987"/>
            <a:ext cx="2427772" cy="163148"/>
          </a:xfrm>
          <a:prstGeom prst="roundRect">
            <a:avLst>
              <a:gd name="adj" fmla="val 14645"/>
            </a:avLst>
          </a:prstGeom>
          <a:solidFill>
            <a:schemeClr val="accent5">
              <a:lumMod val="20000"/>
              <a:lumOff val="8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ko-KR" sz="800">
                <a:solidFill>
                  <a:schemeClr val="tx1"/>
                </a:solidFill>
              </a:rPr>
              <a:t>envoy.filters.network.http_connection_manager</a:t>
            </a:r>
          </a:p>
        </p:txBody>
      </p:sp>
      <p:sp>
        <p:nvSpPr>
          <p:cNvPr id="70" name="모서리가 둥근 직사각형 69">
            <a:extLst>
              <a:ext uri="{FF2B5EF4-FFF2-40B4-BE49-F238E27FC236}">
                <a16:creationId xmlns:a16="http://schemas.microsoft.com/office/drawing/2014/main" id="{934944BD-1F7F-5373-EFBF-81C2413E5CE2}"/>
              </a:ext>
            </a:extLst>
          </p:cNvPr>
          <p:cNvSpPr/>
          <p:nvPr/>
        </p:nvSpPr>
        <p:spPr>
          <a:xfrm>
            <a:off x="5925084" y="3651870"/>
            <a:ext cx="3142622" cy="782042"/>
          </a:xfrm>
          <a:prstGeom prst="roundRect">
            <a:avLst>
              <a:gd name="adj" fmla="val 5504"/>
            </a:avLst>
          </a:prstGeom>
          <a:solidFill>
            <a:schemeClr val="accent5">
              <a:lumMod val="20000"/>
              <a:lumOff val="8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kumimoji="1" lang="en-US" altLang="ko-KR" sz="800">
                <a:solidFill>
                  <a:schemeClr val="tx1"/>
                </a:solidFill>
              </a:rPr>
              <a:t>envoy.filters.network.http_connection_manager</a:t>
            </a:r>
          </a:p>
        </p:txBody>
      </p:sp>
      <p:sp>
        <p:nvSpPr>
          <p:cNvPr id="72" name="모서리가 둥근 직사각형 71">
            <a:extLst>
              <a:ext uri="{FF2B5EF4-FFF2-40B4-BE49-F238E27FC236}">
                <a16:creationId xmlns:a16="http://schemas.microsoft.com/office/drawing/2014/main" id="{7D8CF314-D6BA-5CEF-15A5-F009321FEDAD}"/>
              </a:ext>
            </a:extLst>
          </p:cNvPr>
          <p:cNvSpPr/>
          <p:nvPr/>
        </p:nvSpPr>
        <p:spPr>
          <a:xfrm>
            <a:off x="6007384" y="3880870"/>
            <a:ext cx="1501878" cy="152233"/>
          </a:xfrm>
          <a:prstGeom prst="roundRect">
            <a:avLst>
              <a:gd name="adj" fmla="val 14645"/>
            </a:avLst>
          </a:prstGeom>
          <a:solidFill>
            <a:schemeClr val="accent5">
              <a:lumMod val="40000"/>
              <a:lumOff val="6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ko-KR" sz="800">
                <a:solidFill>
                  <a:schemeClr val="tx1"/>
                </a:solidFill>
              </a:rPr>
              <a:t>istio.metadata_exchange</a:t>
            </a:r>
          </a:p>
        </p:txBody>
      </p:sp>
      <p:sp>
        <p:nvSpPr>
          <p:cNvPr id="73" name="모서리가 둥근 직사각형 72">
            <a:extLst>
              <a:ext uri="{FF2B5EF4-FFF2-40B4-BE49-F238E27FC236}">
                <a16:creationId xmlns:a16="http://schemas.microsoft.com/office/drawing/2014/main" id="{4AF683B9-D6E1-9466-F46E-62F516AFEE0D}"/>
              </a:ext>
            </a:extLst>
          </p:cNvPr>
          <p:cNvSpPr/>
          <p:nvPr/>
        </p:nvSpPr>
        <p:spPr>
          <a:xfrm>
            <a:off x="6007384" y="4033103"/>
            <a:ext cx="1501878" cy="152233"/>
          </a:xfrm>
          <a:prstGeom prst="roundRect">
            <a:avLst>
              <a:gd name="adj" fmla="val 14645"/>
            </a:avLst>
          </a:prstGeom>
          <a:solidFill>
            <a:schemeClr val="accent5">
              <a:lumMod val="40000"/>
              <a:lumOff val="6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ko-KR" sz="800">
                <a:solidFill>
                  <a:schemeClr val="tx1"/>
                </a:solidFill>
              </a:rPr>
              <a:t>envoy.filters.http.grpc_stats</a:t>
            </a:r>
          </a:p>
        </p:txBody>
      </p:sp>
      <p:sp>
        <p:nvSpPr>
          <p:cNvPr id="75" name="모서리가 둥근 직사각형 74">
            <a:extLst>
              <a:ext uri="{FF2B5EF4-FFF2-40B4-BE49-F238E27FC236}">
                <a16:creationId xmlns:a16="http://schemas.microsoft.com/office/drawing/2014/main" id="{611EACA1-C032-4B1E-5C1A-5E13089863B1}"/>
              </a:ext>
            </a:extLst>
          </p:cNvPr>
          <p:cNvSpPr/>
          <p:nvPr/>
        </p:nvSpPr>
        <p:spPr>
          <a:xfrm>
            <a:off x="6007384" y="4184959"/>
            <a:ext cx="1501878" cy="152233"/>
          </a:xfrm>
          <a:prstGeom prst="roundRect">
            <a:avLst>
              <a:gd name="adj" fmla="val 14645"/>
            </a:avLst>
          </a:prstGeom>
          <a:solidFill>
            <a:schemeClr val="accent5">
              <a:lumMod val="40000"/>
              <a:lumOff val="6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ko-KR" sz="800">
                <a:solidFill>
                  <a:schemeClr val="tx1"/>
                </a:solidFill>
              </a:rPr>
              <a:t>envoy.filters.http.fault</a:t>
            </a:r>
          </a:p>
        </p:txBody>
      </p:sp>
      <p:sp>
        <p:nvSpPr>
          <p:cNvPr id="76" name="모서리가 둥근 직사각형 75">
            <a:extLst>
              <a:ext uri="{FF2B5EF4-FFF2-40B4-BE49-F238E27FC236}">
                <a16:creationId xmlns:a16="http://schemas.microsoft.com/office/drawing/2014/main" id="{CABFC18B-8923-3E5A-F301-D21826E2F7C6}"/>
              </a:ext>
            </a:extLst>
          </p:cNvPr>
          <p:cNvSpPr/>
          <p:nvPr/>
        </p:nvSpPr>
        <p:spPr>
          <a:xfrm>
            <a:off x="7707806" y="3888157"/>
            <a:ext cx="1291711" cy="152233"/>
          </a:xfrm>
          <a:prstGeom prst="roundRect">
            <a:avLst>
              <a:gd name="adj" fmla="val 14645"/>
            </a:avLst>
          </a:prstGeom>
          <a:solidFill>
            <a:schemeClr val="accent5">
              <a:lumMod val="40000"/>
              <a:lumOff val="6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ko-KR" sz="800">
                <a:solidFill>
                  <a:schemeClr val="tx1"/>
                </a:solidFill>
              </a:rPr>
              <a:t>envoy.filters.http.cors</a:t>
            </a:r>
          </a:p>
        </p:txBody>
      </p:sp>
      <p:sp>
        <p:nvSpPr>
          <p:cNvPr id="78" name="모서리가 둥근 직사각형 77">
            <a:extLst>
              <a:ext uri="{FF2B5EF4-FFF2-40B4-BE49-F238E27FC236}">
                <a16:creationId xmlns:a16="http://schemas.microsoft.com/office/drawing/2014/main" id="{F35105D2-D9AD-045A-507B-7094174888B3}"/>
              </a:ext>
            </a:extLst>
          </p:cNvPr>
          <p:cNvSpPr/>
          <p:nvPr/>
        </p:nvSpPr>
        <p:spPr>
          <a:xfrm>
            <a:off x="7707806" y="4036821"/>
            <a:ext cx="1291711" cy="152233"/>
          </a:xfrm>
          <a:prstGeom prst="roundRect">
            <a:avLst>
              <a:gd name="adj" fmla="val 14645"/>
            </a:avLst>
          </a:prstGeom>
          <a:solidFill>
            <a:schemeClr val="accent5">
              <a:lumMod val="40000"/>
              <a:lumOff val="6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ko-KR" sz="800">
                <a:solidFill>
                  <a:schemeClr val="tx1"/>
                </a:solidFill>
              </a:rPr>
              <a:t>istio.stats</a:t>
            </a:r>
          </a:p>
        </p:txBody>
      </p:sp>
      <p:sp>
        <p:nvSpPr>
          <p:cNvPr id="79" name="모서리가 둥근 직사각형 78">
            <a:extLst>
              <a:ext uri="{FF2B5EF4-FFF2-40B4-BE49-F238E27FC236}">
                <a16:creationId xmlns:a16="http://schemas.microsoft.com/office/drawing/2014/main" id="{A0A9C9E1-FAC4-D42F-3CE5-62CD754B1E2C}"/>
              </a:ext>
            </a:extLst>
          </p:cNvPr>
          <p:cNvSpPr/>
          <p:nvPr/>
        </p:nvSpPr>
        <p:spPr>
          <a:xfrm>
            <a:off x="7707806" y="4184959"/>
            <a:ext cx="1291711" cy="152233"/>
          </a:xfrm>
          <a:prstGeom prst="roundRect">
            <a:avLst>
              <a:gd name="adj" fmla="val 14645"/>
            </a:avLst>
          </a:prstGeom>
          <a:solidFill>
            <a:schemeClr val="accent5">
              <a:lumMod val="40000"/>
              <a:lumOff val="6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ko-KR" sz="800">
                <a:solidFill>
                  <a:schemeClr val="tx1"/>
                </a:solidFill>
              </a:rPr>
              <a:t>envoy.filters.http.router</a:t>
            </a:r>
          </a:p>
        </p:txBody>
      </p:sp>
      <p:cxnSp>
        <p:nvCxnSpPr>
          <p:cNvPr id="187" name="꺾인 연결선[E] 186">
            <a:extLst>
              <a:ext uri="{FF2B5EF4-FFF2-40B4-BE49-F238E27FC236}">
                <a16:creationId xmlns:a16="http://schemas.microsoft.com/office/drawing/2014/main" id="{3D9CB3F7-10DA-C7BC-90B2-852204987BA2}"/>
              </a:ext>
            </a:extLst>
          </p:cNvPr>
          <p:cNvCxnSpPr>
            <a:stCxn id="17" idx="3"/>
            <a:endCxn id="93" idx="1"/>
          </p:cNvCxnSpPr>
          <p:nvPr/>
        </p:nvCxnSpPr>
        <p:spPr>
          <a:xfrm flipV="1">
            <a:off x="2987823" y="562776"/>
            <a:ext cx="3235129" cy="1902785"/>
          </a:xfrm>
          <a:prstGeom prst="bentConnector3">
            <a:avLst>
              <a:gd name="adj1" fmla="val 4278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1" name="꺾인 연결선[E] 190">
            <a:extLst>
              <a:ext uri="{FF2B5EF4-FFF2-40B4-BE49-F238E27FC236}">
                <a16:creationId xmlns:a16="http://schemas.microsoft.com/office/drawing/2014/main" id="{8F38E023-8626-89D6-A77A-00631D70932C}"/>
              </a:ext>
            </a:extLst>
          </p:cNvPr>
          <p:cNvCxnSpPr>
            <a:cxnSpLocks/>
            <a:stCxn id="25" idx="3"/>
            <a:endCxn id="21" idx="1"/>
          </p:cNvCxnSpPr>
          <p:nvPr/>
        </p:nvCxnSpPr>
        <p:spPr>
          <a:xfrm flipV="1">
            <a:off x="2987825" y="1008407"/>
            <a:ext cx="3240359" cy="2156537"/>
          </a:xfrm>
          <a:prstGeom prst="bentConnector3">
            <a:avLst>
              <a:gd name="adj1" fmla="val 6011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9" name="꺾인 연결선[E] 198">
            <a:extLst>
              <a:ext uri="{FF2B5EF4-FFF2-40B4-BE49-F238E27FC236}">
                <a16:creationId xmlns:a16="http://schemas.microsoft.com/office/drawing/2014/main" id="{CF5D24AC-F02F-9160-5FD7-8FCAD4214F73}"/>
              </a:ext>
            </a:extLst>
          </p:cNvPr>
          <p:cNvCxnSpPr>
            <a:cxnSpLocks/>
            <a:stCxn id="32" idx="3"/>
            <a:endCxn id="21" idx="1"/>
          </p:cNvCxnSpPr>
          <p:nvPr/>
        </p:nvCxnSpPr>
        <p:spPr>
          <a:xfrm flipV="1">
            <a:off x="2989944" y="1008407"/>
            <a:ext cx="3238240" cy="2827905"/>
          </a:xfrm>
          <a:prstGeom prst="bentConnector3">
            <a:avLst>
              <a:gd name="adj1" fmla="val 5971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3" name="꺾인 연결선[E] 202">
            <a:extLst>
              <a:ext uri="{FF2B5EF4-FFF2-40B4-BE49-F238E27FC236}">
                <a16:creationId xmlns:a16="http://schemas.microsoft.com/office/drawing/2014/main" id="{5DE69114-1B94-DD46-491A-7C93F03C5F3E}"/>
              </a:ext>
            </a:extLst>
          </p:cNvPr>
          <p:cNvCxnSpPr>
            <a:cxnSpLocks/>
            <a:stCxn id="68" idx="3"/>
            <a:endCxn id="29" idx="1"/>
          </p:cNvCxnSpPr>
          <p:nvPr/>
        </p:nvCxnSpPr>
        <p:spPr>
          <a:xfrm flipV="1">
            <a:off x="2987825" y="1459332"/>
            <a:ext cx="3240359" cy="3053509"/>
          </a:xfrm>
          <a:prstGeom prst="bentConnector3">
            <a:avLst>
              <a:gd name="adj1" fmla="val 8502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9" name="꺾인 연결선[E] 218">
            <a:extLst>
              <a:ext uri="{FF2B5EF4-FFF2-40B4-BE49-F238E27FC236}">
                <a16:creationId xmlns:a16="http://schemas.microsoft.com/office/drawing/2014/main" id="{BBCFD2C6-42FA-134E-B18B-9EAC669BCFAE}"/>
              </a:ext>
            </a:extLst>
          </p:cNvPr>
          <p:cNvCxnSpPr>
            <a:cxnSpLocks/>
            <a:stCxn id="36" idx="3"/>
            <a:endCxn id="29" idx="1"/>
          </p:cNvCxnSpPr>
          <p:nvPr/>
        </p:nvCxnSpPr>
        <p:spPr>
          <a:xfrm flipV="1">
            <a:off x="5725145" y="1459332"/>
            <a:ext cx="503039" cy="759205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2" name="꺾인 연결선[E] 221">
            <a:extLst>
              <a:ext uri="{FF2B5EF4-FFF2-40B4-BE49-F238E27FC236}">
                <a16:creationId xmlns:a16="http://schemas.microsoft.com/office/drawing/2014/main" id="{09324AD0-A7C2-6C4D-81F3-EE777D104E1F}"/>
              </a:ext>
            </a:extLst>
          </p:cNvPr>
          <p:cNvCxnSpPr>
            <a:cxnSpLocks/>
            <a:stCxn id="57" idx="3"/>
            <a:endCxn id="29" idx="1"/>
          </p:cNvCxnSpPr>
          <p:nvPr/>
        </p:nvCxnSpPr>
        <p:spPr>
          <a:xfrm flipV="1">
            <a:off x="5725145" y="1459332"/>
            <a:ext cx="503039" cy="1587323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5" name="꺾인 연결선[E] 224">
            <a:extLst>
              <a:ext uri="{FF2B5EF4-FFF2-40B4-BE49-F238E27FC236}">
                <a16:creationId xmlns:a16="http://schemas.microsoft.com/office/drawing/2014/main" id="{0FC48950-F55E-40AA-09D5-139AC50C1CDC}"/>
              </a:ext>
            </a:extLst>
          </p:cNvPr>
          <p:cNvCxnSpPr>
            <a:cxnSpLocks/>
            <a:stCxn id="62" idx="3"/>
            <a:endCxn id="29" idx="1"/>
          </p:cNvCxnSpPr>
          <p:nvPr/>
        </p:nvCxnSpPr>
        <p:spPr>
          <a:xfrm flipV="1">
            <a:off x="5725145" y="1459332"/>
            <a:ext cx="503039" cy="2417682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8" name="꺾인 연결선[E] 227">
            <a:extLst>
              <a:ext uri="{FF2B5EF4-FFF2-40B4-BE49-F238E27FC236}">
                <a16:creationId xmlns:a16="http://schemas.microsoft.com/office/drawing/2014/main" id="{32608FE5-FD78-3538-9AAF-CB020B45A024}"/>
              </a:ext>
            </a:extLst>
          </p:cNvPr>
          <p:cNvCxnSpPr>
            <a:cxnSpLocks/>
            <a:stCxn id="143" idx="3"/>
            <a:endCxn id="29" idx="1"/>
          </p:cNvCxnSpPr>
          <p:nvPr/>
        </p:nvCxnSpPr>
        <p:spPr>
          <a:xfrm flipV="1">
            <a:off x="5724922" y="1459332"/>
            <a:ext cx="503262" cy="3082229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0" name="꺾인 연결선[E] 239">
            <a:extLst>
              <a:ext uri="{FF2B5EF4-FFF2-40B4-BE49-F238E27FC236}">
                <a16:creationId xmlns:a16="http://schemas.microsoft.com/office/drawing/2014/main" id="{911FF6F5-7329-6AD8-C57F-50B4A1EBBF4E}"/>
              </a:ext>
            </a:extLst>
          </p:cNvPr>
          <p:cNvCxnSpPr>
            <a:cxnSpLocks/>
            <a:stCxn id="75" idx="3"/>
            <a:endCxn id="76" idx="1"/>
          </p:cNvCxnSpPr>
          <p:nvPr/>
        </p:nvCxnSpPr>
        <p:spPr>
          <a:xfrm flipV="1">
            <a:off x="7509262" y="3964274"/>
            <a:ext cx="198544" cy="296802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꺾인 연결선[E] 3">
            <a:extLst>
              <a:ext uri="{FF2B5EF4-FFF2-40B4-BE49-F238E27FC236}">
                <a16:creationId xmlns:a16="http://schemas.microsoft.com/office/drawing/2014/main" id="{C9DA5823-31FE-FE20-645E-8D51901BF8D1}"/>
              </a:ext>
            </a:extLst>
          </p:cNvPr>
          <p:cNvCxnSpPr>
            <a:cxnSpLocks/>
            <a:stCxn id="29" idx="3"/>
            <a:endCxn id="7" idx="2"/>
          </p:cNvCxnSpPr>
          <p:nvPr/>
        </p:nvCxnSpPr>
        <p:spPr>
          <a:xfrm flipV="1">
            <a:off x="7812360" y="1151581"/>
            <a:ext cx="764915" cy="307751"/>
          </a:xfrm>
          <a:prstGeom prst="bentConnector2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782371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220012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5C6FDF-12E7-143E-1A56-A32843077A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모서리가 둥근 직사각형 5">
            <a:extLst>
              <a:ext uri="{FF2B5EF4-FFF2-40B4-BE49-F238E27FC236}">
                <a16:creationId xmlns:a16="http://schemas.microsoft.com/office/drawing/2014/main" id="{4438076F-BE46-076D-CC41-68F55D0B5A59}"/>
              </a:ext>
            </a:extLst>
          </p:cNvPr>
          <p:cNvSpPr/>
          <p:nvPr/>
        </p:nvSpPr>
        <p:spPr>
          <a:xfrm>
            <a:off x="107504" y="174972"/>
            <a:ext cx="9001000" cy="4845050"/>
          </a:xfrm>
          <a:prstGeom prst="roundRect">
            <a:avLst>
              <a:gd name="adj" fmla="val 1452"/>
            </a:avLst>
          </a:prstGeom>
          <a:solidFill>
            <a:schemeClr val="bg1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kumimoji="1" lang="en-US" altLang="ko-KR" sz="800" b="1">
                <a:solidFill>
                  <a:schemeClr val="tx1"/>
                </a:solidFill>
              </a:rPr>
              <a:t>client</a:t>
            </a:r>
            <a:r>
              <a:rPr kumimoji="1" lang="ko-KR" altLang="en-US" sz="800" b="1">
                <a:solidFill>
                  <a:schemeClr val="tx1"/>
                </a:solidFill>
              </a:rPr>
              <a:t> </a:t>
            </a:r>
            <a:r>
              <a:rPr kumimoji="1" lang="en-US" altLang="ko-KR" sz="800">
                <a:solidFill>
                  <a:schemeClr val="tx1"/>
                </a:solidFill>
              </a:rPr>
              <a:t>Pod</a:t>
            </a:r>
          </a:p>
        </p:txBody>
      </p:sp>
      <p:sp>
        <p:nvSpPr>
          <p:cNvPr id="7" name="모서리가 둥근 직사각형 6">
            <a:extLst>
              <a:ext uri="{FF2B5EF4-FFF2-40B4-BE49-F238E27FC236}">
                <a16:creationId xmlns:a16="http://schemas.microsoft.com/office/drawing/2014/main" id="{9723FD3F-BBD2-BFA7-CA61-0CF1AE792992}"/>
              </a:ext>
            </a:extLst>
          </p:cNvPr>
          <p:cNvSpPr/>
          <p:nvPr/>
        </p:nvSpPr>
        <p:spPr>
          <a:xfrm>
            <a:off x="179513" y="758709"/>
            <a:ext cx="936103" cy="277654"/>
          </a:xfrm>
          <a:prstGeom prst="roundRect">
            <a:avLst>
              <a:gd name="adj" fmla="val 14645"/>
            </a:avLst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 b="1">
                <a:solidFill>
                  <a:schemeClr val="tx1"/>
                </a:solidFill>
              </a:rPr>
              <a:t>shell (Client)</a:t>
            </a:r>
            <a:endParaRPr kumimoji="1" lang="en-US" altLang="ko-KR" sz="800">
              <a:solidFill>
                <a:schemeClr val="tx1"/>
              </a:solidFill>
            </a:endParaRPr>
          </a:p>
        </p:txBody>
      </p:sp>
      <p:sp>
        <p:nvSpPr>
          <p:cNvPr id="9" name="모서리가 둥근 직사각형 8">
            <a:extLst>
              <a:ext uri="{FF2B5EF4-FFF2-40B4-BE49-F238E27FC236}">
                <a16:creationId xmlns:a16="http://schemas.microsoft.com/office/drawing/2014/main" id="{EE214C54-2F03-2911-6570-764E6C37914C}"/>
              </a:ext>
            </a:extLst>
          </p:cNvPr>
          <p:cNvSpPr/>
          <p:nvPr/>
        </p:nvSpPr>
        <p:spPr>
          <a:xfrm>
            <a:off x="1259633" y="251172"/>
            <a:ext cx="7776863" cy="4699000"/>
          </a:xfrm>
          <a:prstGeom prst="roundRect">
            <a:avLst>
              <a:gd name="adj" fmla="val 2107"/>
            </a:avLst>
          </a:prstGeom>
          <a:solidFill>
            <a:schemeClr val="bg1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r"/>
            <a:r>
              <a:rPr kumimoji="1" lang="en-US" altLang="ko-KR" sz="800" b="1">
                <a:solidFill>
                  <a:schemeClr val="tx1"/>
                </a:solidFill>
              </a:rPr>
              <a:t>Sidecar Envoy</a:t>
            </a:r>
            <a:endParaRPr kumimoji="1" lang="en-US" altLang="ko-KR" sz="800">
              <a:solidFill>
                <a:schemeClr val="tx1"/>
              </a:solidFill>
            </a:endParaRPr>
          </a:p>
        </p:txBody>
      </p:sp>
      <p:sp>
        <p:nvSpPr>
          <p:cNvPr id="10" name="모서리가 둥근 직사각형 9">
            <a:extLst>
              <a:ext uri="{FF2B5EF4-FFF2-40B4-BE49-F238E27FC236}">
                <a16:creationId xmlns:a16="http://schemas.microsoft.com/office/drawing/2014/main" id="{0A8E2861-743C-A41D-D9BC-298B539E26FD}"/>
              </a:ext>
            </a:extLst>
          </p:cNvPr>
          <p:cNvSpPr/>
          <p:nvPr/>
        </p:nvSpPr>
        <p:spPr>
          <a:xfrm>
            <a:off x="1390650" y="384522"/>
            <a:ext cx="4260100" cy="1026027"/>
          </a:xfrm>
          <a:prstGeom prst="roundRect">
            <a:avLst>
              <a:gd name="adj" fmla="val 6946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kumimoji="1" lang="en-US" altLang="ko-KR" sz="800" b="1">
                <a:solidFill>
                  <a:schemeClr val="tx1"/>
                </a:solidFill>
              </a:rPr>
              <a:t>virtualOutbound </a:t>
            </a:r>
            <a:r>
              <a:rPr kumimoji="1" lang="en-US" altLang="ko-KR" sz="800">
                <a:solidFill>
                  <a:schemeClr val="tx1"/>
                </a:solidFill>
              </a:rPr>
              <a:t>Listener (:15001)</a:t>
            </a:r>
          </a:p>
        </p:txBody>
      </p:sp>
      <p:sp>
        <p:nvSpPr>
          <p:cNvPr id="11" name="모서리가 둥근 직사각형 10">
            <a:extLst>
              <a:ext uri="{FF2B5EF4-FFF2-40B4-BE49-F238E27FC236}">
                <a16:creationId xmlns:a16="http://schemas.microsoft.com/office/drawing/2014/main" id="{361C5DB0-9373-90C4-5492-53E7DD7D172D}"/>
              </a:ext>
            </a:extLst>
          </p:cNvPr>
          <p:cNvSpPr/>
          <p:nvPr/>
        </p:nvSpPr>
        <p:spPr>
          <a:xfrm>
            <a:off x="1619671" y="1560788"/>
            <a:ext cx="3606379" cy="2960058"/>
          </a:xfrm>
          <a:prstGeom prst="roundRect">
            <a:avLst>
              <a:gd name="adj" fmla="val 1872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kumimoji="1" lang="en-US" altLang="ko-KR" sz="800" b="1">
                <a:solidFill>
                  <a:schemeClr val="tx1"/>
                </a:solidFill>
              </a:rPr>
              <a:t>0.0.0.0_8080 </a:t>
            </a:r>
            <a:r>
              <a:rPr kumimoji="1" lang="en-US" altLang="ko-KR" sz="800">
                <a:solidFill>
                  <a:schemeClr val="tx1"/>
                </a:solidFill>
              </a:rPr>
              <a:t>Listener</a:t>
            </a:r>
          </a:p>
        </p:txBody>
      </p:sp>
      <p:cxnSp>
        <p:nvCxnSpPr>
          <p:cNvPr id="12" name="직선 화살표 연결선 11">
            <a:extLst>
              <a:ext uri="{FF2B5EF4-FFF2-40B4-BE49-F238E27FC236}">
                <a16:creationId xmlns:a16="http://schemas.microsoft.com/office/drawing/2014/main" id="{9C5D1FA2-25B5-805C-D52C-4DF5F70CF27D}"/>
              </a:ext>
            </a:extLst>
          </p:cNvPr>
          <p:cNvCxnSpPr>
            <a:cxnSpLocks/>
            <a:stCxn id="7" idx="3"/>
            <a:endCxn id="10" idx="1"/>
          </p:cNvCxnSpPr>
          <p:nvPr/>
        </p:nvCxnSpPr>
        <p:spPr>
          <a:xfrm>
            <a:off x="1115616" y="897536"/>
            <a:ext cx="275034" cy="0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모서리가 둥근 직사각형 19">
            <a:extLst>
              <a:ext uri="{FF2B5EF4-FFF2-40B4-BE49-F238E27FC236}">
                <a16:creationId xmlns:a16="http://schemas.microsoft.com/office/drawing/2014/main" id="{21B187B7-D4A7-8E68-3D9E-C8336D56B537}"/>
              </a:ext>
            </a:extLst>
          </p:cNvPr>
          <p:cNvSpPr/>
          <p:nvPr/>
        </p:nvSpPr>
        <p:spPr>
          <a:xfrm>
            <a:off x="6251027" y="3006419"/>
            <a:ext cx="2016223" cy="277654"/>
          </a:xfrm>
          <a:prstGeom prst="roundRect">
            <a:avLst>
              <a:gd name="adj" fmla="val 14645"/>
            </a:avLst>
          </a:prstGeom>
          <a:solidFill>
            <a:schemeClr val="tx2">
              <a:lumMod val="20000"/>
              <a:lumOff val="8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 b="1">
                <a:solidFill>
                  <a:schemeClr val="tx1"/>
                </a:solidFill>
              </a:rPr>
              <a:t>outbound|8080||server-b</a:t>
            </a:r>
            <a:br>
              <a:rPr kumimoji="1" lang="en-US" altLang="ko-KR" sz="800" b="1">
                <a:solidFill>
                  <a:schemeClr val="tx1"/>
                </a:solidFill>
              </a:rPr>
            </a:br>
            <a:r>
              <a:rPr kumimoji="1" lang="en-US" altLang="ko-KR" sz="800" b="1">
                <a:solidFill>
                  <a:schemeClr val="tx1"/>
                </a:solidFill>
              </a:rPr>
              <a:t>.default.svc.cluster.local </a:t>
            </a:r>
            <a:r>
              <a:rPr kumimoji="1" lang="en-US" altLang="ko-KR" sz="800">
                <a:solidFill>
                  <a:schemeClr val="tx1"/>
                </a:solidFill>
              </a:rPr>
              <a:t>Cluster</a:t>
            </a:r>
          </a:p>
        </p:txBody>
      </p:sp>
      <p:sp>
        <p:nvSpPr>
          <p:cNvPr id="21" name="모서리가 둥근 직사각형 20">
            <a:extLst>
              <a:ext uri="{FF2B5EF4-FFF2-40B4-BE49-F238E27FC236}">
                <a16:creationId xmlns:a16="http://schemas.microsoft.com/office/drawing/2014/main" id="{4CDD232E-D4B5-1C2B-1450-5E80F2988D92}"/>
              </a:ext>
            </a:extLst>
          </p:cNvPr>
          <p:cNvSpPr/>
          <p:nvPr/>
        </p:nvSpPr>
        <p:spPr>
          <a:xfrm>
            <a:off x="5925784" y="909213"/>
            <a:ext cx="2016223" cy="277654"/>
          </a:xfrm>
          <a:prstGeom prst="roundRect">
            <a:avLst>
              <a:gd name="adj" fmla="val 14645"/>
            </a:avLst>
          </a:prstGeom>
          <a:solidFill>
            <a:schemeClr val="tx2">
              <a:lumMod val="20000"/>
              <a:lumOff val="8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 b="1">
                <a:solidFill>
                  <a:schemeClr val="tx1"/>
                </a:solidFill>
              </a:rPr>
              <a:t>BlackHoleCluster </a:t>
            </a:r>
            <a:r>
              <a:rPr kumimoji="1" lang="en-US" altLang="ko-KR" sz="800">
                <a:solidFill>
                  <a:schemeClr val="tx1"/>
                </a:solidFill>
              </a:rPr>
              <a:t>Cluster</a:t>
            </a:r>
          </a:p>
        </p:txBody>
      </p:sp>
      <p:sp>
        <p:nvSpPr>
          <p:cNvPr id="23" name="모서리가 둥근 직사각형 22">
            <a:extLst>
              <a:ext uri="{FF2B5EF4-FFF2-40B4-BE49-F238E27FC236}">
                <a16:creationId xmlns:a16="http://schemas.microsoft.com/office/drawing/2014/main" id="{88ACF81F-0A46-6B83-CACC-C6E88627F426}"/>
              </a:ext>
            </a:extLst>
          </p:cNvPr>
          <p:cNvSpPr/>
          <p:nvPr/>
        </p:nvSpPr>
        <p:spPr>
          <a:xfrm>
            <a:off x="6251027" y="2593045"/>
            <a:ext cx="2016223" cy="277654"/>
          </a:xfrm>
          <a:prstGeom prst="roundRect">
            <a:avLst>
              <a:gd name="adj" fmla="val 14645"/>
            </a:avLst>
          </a:prstGeom>
          <a:solidFill>
            <a:schemeClr val="tx2">
              <a:lumMod val="20000"/>
              <a:lumOff val="8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 b="1">
                <a:solidFill>
                  <a:schemeClr val="tx1"/>
                </a:solidFill>
              </a:rPr>
              <a:t>outbound|8080||server-a</a:t>
            </a:r>
            <a:br>
              <a:rPr kumimoji="1" lang="en-US" altLang="ko-KR" sz="800" b="1">
                <a:solidFill>
                  <a:schemeClr val="tx1"/>
                </a:solidFill>
              </a:rPr>
            </a:br>
            <a:r>
              <a:rPr kumimoji="1" lang="en-US" altLang="ko-KR" sz="800" b="1">
                <a:solidFill>
                  <a:schemeClr val="tx1"/>
                </a:solidFill>
              </a:rPr>
              <a:t>.default.svc.cluster.local </a:t>
            </a:r>
            <a:r>
              <a:rPr kumimoji="1" lang="en-US" altLang="ko-KR" sz="800">
                <a:solidFill>
                  <a:schemeClr val="tx1"/>
                </a:solidFill>
              </a:rPr>
              <a:t>Cluster</a:t>
            </a:r>
          </a:p>
        </p:txBody>
      </p:sp>
      <p:sp>
        <p:nvSpPr>
          <p:cNvPr id="26" name="모서리가 둥근 직사각형 25">
            <a:extLst>
              <a:ext uri="{FF2B5EF4-FFF2-40B4-BE49-F238E27FC236}">
                <a16:creationId xmlns:a16="http://schemas.microsoft.com/office/drawing/2014/main" id="{F72C4B02-8540-712F-EB3C-95DB1CA2EF2B}"/>
              </a:ext>
            </a:extLst>
          </p:cNvPr>
          <p:cNvSpPr/>
          <p:nvPr/>
        </p:nvSpPr>
        <p:spPr>
          <a:xfrm>
            <a:off x="5418664" y="2973661"/>
            <a:ext cx="674682" cy="277654"/>
          </a:xfrm>
          <a:prstGeom prst="roundRect">
            <a:avLst>
              <a:gd name="adj" fmla="val 14645"/>
            </a:avLst>
          </a:prstGeom>
          <a:solidFill>
            <a:schemeClr val="bg2">
              <a:lumMod val="9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 b="1">
                <a:solidFill>
                  <a:schemeClr val="tx1"/>
                </a:solidFill>
              </a:rPr>
              <a:t>8080 </a:t>
            </a:r>
            <a:br>
              <a:rPr kumimoji="1" lang="en-US" altLang="ko-KR" sz="800" b="1">
                <a:solidFill>
                  <a:schemeClr val="tx1"/>
                </a:solidFill>
              </a:rPr>
            </a:br>
            <a:r>
              <a:rPr kumimoji="1" lang="en-US" altLang="ko-KR" sz="800">
                <a:solidFill>
                  <a:schemeClr val="tx1"/>
                </a:solidFill>
              </a:rPr>
              <a:t>Router</a:t>
            </a:r>
          </a:p>
        </p:txBody>
      </p:sp>
      <p:sp>
        <p:nvSpPr>
          <p:cNvPr id="27" name="모서리가 둥근 직사각형 26">
            <a:extLst>
              <a:ext uri="{FF2B5EF4-FFF2-40B4-BE49-F238E27FC236}">
                <a16:creationId xmlns:a16="http://schemas.microsoft.com/office/drawing/2014/main" id="{0ED654E3-FDF2-F465-204E-EF45953C983A}"/>
              </a:ext>
            </a:extLst>
          </p:cNvPr>
          <p:cNvSpPr/>
          <p:nvPr/>
        </p:nvSpPr>
        <p:spPr>
          <a:xfrm>
            <a:off x="5418664" y="4095914"/>
            <a:ext cx="674682" cy="277654"/>
          </a:xfrm>
          <a:prstGeom prst="roundRect">
            <a:avLst>
              <a:gd name="adj" fmla="val 14645"/>
            </a:avLst>
          </a:prstGeom>
          <a:solidFill>
            <a:schemeClr val="bg2">
              <a:lumMod val="9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 b="1">
                <a:solidFill>
                  <a:schemeClr val="tx1"/>
                </a:solidFill>
              </a:rPr>
              <a:t>9090 </a:t>
            </a:r>
            <a:br>
              <a:rPr kumimoji="1" lang="en-US" altLang="ko-KR" sz="800" b="1">
                <a:solidFill>
                  <a:schemeClr val="tx1"/>
                </a:solidFill>
              </a:rPr>
            </a:br>
            <a:r>
              <a:rPr kumimoji="1" lang="en-US" altLang="ko-KR" sz="800">
                <a:solidFill>
                  <a:schemeClr val="tx1"/>
                </a:solidFill>
              </a:rPr>
              <a:t>Router</a:t>
            </a:r>
          </a:p>
        </p:txBody>
      </p:sp>
      <p:sp>
        <p:nvSpPr>
          <p:cNvPr id="29" name="모서리가 둥근 직사각형 28">
            <a:extLst>
              <a:ext uri="{FF2B5EF4-FFF2-40B4-BE49-F238E27FC236}">
                <a16:creationId xmlns:a16="http://schemas.microsoft.com/office/drawing/2014/main" id="{903DB4E9-C503-DC24-8AFC-7AA7202351F3}"/>
              </a:ext>
            </a:extLst>
          </p:cNvPr>
          <p:cNvSpPr/>
          <p:nvPr/>
        </p:nvSpPr>
        <p:spPr>
          <a:xfrm>
            <a:off x="5925784" y="1424215"/>
            <a:ext cx="2016223" cy="277654"/>
          </a:xfrm>
          <a:prstGeom prst="roundRect">
            <a:avLst>
              <a:gd name="adj" fmla="val 14645"/>
            </a:avLst>
          </a:prstGeom>
          <a:solidFill>
            <a:schemeClr val="tx2">
              <a:lumMod val="20000"/>
              <a:lumOff val="8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 b="1">
                <a:solidFill>
                  <a:schemeClr val="tx1"/>
                </a:solidFill>
              </a:rPr>
              <a:t>PassthroughCluster </a:t>
            </a:r>
            <a:r>
              <a:rPr kumimoji="1" lang="en-US" altLang="ko-KR" sz="800">
                <a:solidFill>
                  <a:schemeClr val="tx1"/>
                </a:solidFill>
              </a:rPr>
              <a:t>Cluster</a:t>
            </a:r>
          </a:p>
        </p:txBody>
      </p:sp>
      <p:sp>
        <p:nvSpPr>
          <p:cNvPr id="40" name="모서리가 둥근 직사각형 39">
            <a:extLst>
              <a:ext uri="{FF2B5EF4-FFF2-40B4-BE49-F238E27FC236}">
                <a16:creationId xmlns:a16="http://schemas.microsoft.com/office/drawing/2014/main" id="{3393FC15-332D-B94A-AA3C-3028C8EFA3CB}"/>
              </a:ext>
            </a:extLst>
          </p:cNvPr>
          <p:cNvSpPr/>
          <p:nvPr/>
        </p:nvSpPr>
        <p:spPr>
          <a:xfrm>
            <a:off x="6251027" y="4128672"/>
            <a:ext cx="2016223" cy="277654"/>
          </a:xfrm>
          <a:prstGeom prst="roundRect">
            <a:avLst>
              <a:gd name="adj" fmla="val 14645"/>
            </a:avLst>
          </a:prstGeom>
          <a:solidFill>
            <a:schemeClr val="tx2">
              <a:lumMod val="20000"/>
              <a:lumOff val="8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 b="1">
                <a:solidFill>
                  <a:schemeClr val="tx1"/>
                </a:solidFill>
              </a:rPr>
              <a:t>outbound|9090||server-c</a:t>
            </a:r>
            <a:br>
              <a:rPr kumimoji="1" lang="en-US" altLang="ko-KR" sz="800" b="1">
                <a:solidFill>
                  <a:schemeClr val="tx1"/>
                </a:solidFill>
              </a:rPr>
            </a:br>
            <a:r>
              <a:rPr kumimoji="1" lang="en-US" altLang="ko-KR" sz="800" b="1">
                <a:solidFill>
                  <a:schemeClr val="tx1"/>
                </a:solidFill>
              </a:rPr>
              <a:t>.default.svc.cluster.local </a:t>
            </a:r>
            <a:r>
              <a:rPr kumimoji="1" lang="en-US" altLang="ko-KR" sz="800">
                <a:solidFill>
                  <a:schemeClr val="tx1"/>
                </a:solidFill>
              </a:rPr>
              <a:t>Cluster</a:t>
            </a:r>
          </a:p>
        </p:txBody>
      </p:sp>
      <p:sp>
        <p:nvSpPr>
          <p:cNvPr id="41" name="모서리가 둥근 직사각형 40">
            <a:extLst>
              <a:ext uri="{FF2B5EF4-FFF2-40B4-BE49-F238E27FC236}">
                <a16:creationId xmlns:a16="http://schemas.microsoft.com/office/drawing/2014/main" id="{74F493A9-DF36-CB85-0D6F-DE92453C38E5}"/>
              </a:ext>
            </a:extLst>
          </p:cNvPr>
          <p:cNvSpPr/>
          <p:nvPr/>
        </p:nvSpPr>
        <p:spPr>
          <a:xfrm>
            <a:off x="1698425" y="1829528"/>
            <a:ext cx="3449637" cy="575914"/>
          </a:xfrm>
          <a:prstGeom prst="roundRect">
            <a:avLst>
              <a:gd name="adj" fmla="val 7526"/>
            </a:avLst>
          </a:prstGeom>
          <a:solidFill>
            <a:schemeClr val="accent3">
              <a:lumMod val="20000"/>
              <a:lumOff val="8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kumimoji="1" lang="en-US" altLang="ko-KR" sz="800">
                <a:solidFill>
                  <a:schemeClr val="tx1"/>
                </a:solidFill>
              </a:rPr>
              <a:t>Listener Filters</a:t>
            </a:r>
          </a:p>
        </p:txBody>
      </p:sp>
      <p:sp>
        <p:nvSpPr>
          <p:cNvPr id="37" name="모서리가 둥근 직사각형 36">
            <a:extLst>
              <a:ext uri="{FF2B5EF4-FFF2-40B4-BE49-F238E27FC236}">
                <a16:creationId xmlns:a16="http://schemas.microsoft.com/office/drawing/2014/main" id="{4D29AB7B-4C76-D96B-C674-4B8CF87F9C63}"/>
              </a:ext>
            </a:extLst>
          </p:cNvPr>
          <p:cNvSpPr/>
          <p:nvPr/>
        </p:nvSpPr>
        <p:spPr>
          <a:xfrm>
            <a:off x="1784275" y="2013485"/>
            <a:ext cx="3291780" cy="158193"/>
          </a:xfrm>
          <a:prstGeom prst="roundRect">
            <a:avLst>
              <a:gd name="adj" fmla="val 14645"/>
            </a:avLst>
          </a:prstGeom>
          <a:solidFill>
            <a:schemeClr val="accent3">
              <a:lumMod val="40000"/>
              <a:lumOff val="6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ko-KR" sz="800">
                <a:solidFill>
                  <a:schemeClr val="tx1"/>
                </a:solidFill>
              </a:rPr>
              <a:t>envoy.filters.listener.tls_inspector</a:t>
            </a:r>
          </a:p>
        </p:txBody>
      </p:sp>
      <p:sp>
        <p:nvSpPr>
          <p:cNvPr id="38" name="모서리가 둥근 직사각형 37">
            <a:extLst>
              <a:ext uri="{FF2B5EF4-FFF2-40B4-BE49-F238E27FC236}">
                <a16:creationId xmlns:a16="http://schemas.microsoft.com/office/drawing/2014/main" id="{0C7D2C6C-1DF2-467D-B2D5-39C1D47CA98A}"/>
              </a:ext>
            </a:extLst>
          </p:cNvPr>
          <p:cNvSpPr/>
          <p:nvPr/>
        </p:nvSpPr>
        <p:spPr>
          <a:xfrm>
            <a:off x="1784275" y="2171373"/>
            <a:ext cx="3291780" cy="158193"/>
          </a:xfrm>
          <a:prstGeom prst="roundRect">
            <a:avLst>
              <a:gd name="adj" fmla="val 14645"/>
            </a:avLst>
          </a:prstGeom>
          <a:solidFill>
            <a:schemeClr val="accent3">
              <a:lumMod val="40000"/>
              <a:lumOff val="6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ko-KR" sz="800">
                <a:solidFill>
                  <a:schemeClr val="tx1"/>
                </a:solidFill>
              </a:rPr>
              <a:t>envoy.filters.listener.http_inspector</a:t>
            </a:r>
          </a:p>
        </p:txBody>
      </p:sp>
      <p:sp>
        <p:nvSpPr>
          <p:cNvPr id="42" name="모서리가 둥근 직사각형 41">
            <a:extLst>
              <a:ext uri="{FF2B5EF4-FFF2-40B4-BE49-F238E27FC236}">
                <a16:creationId xmlns:a16="http://schemas.microsoft.com/office/drawing/2014/main" id="{CD98B323-01F3-9055-78A4-3500CB188211}"/>
              </a:ext>
            </a:extLst>
          </p:cNvPr>
          <p:cNvSpPr/>
          <p:nvPr/>
        </p:nvSpPr>
        <p:spPr>
          <a:xfrm>
            <a:off x="1698426" y="2518936"/>
            <a:ext cx="3449638" cy="1938623"/>
          </a:xfrm>
          <a:prstGeom prst="roundRect">
            <a:avLst>
              <a:gd name="adj" fmla="val 2943"/>
            </a:avLst>
          </a:prstGeom>
          <a:solidFill>
            <a:schemeClr val="accent6">
              <a:lumMod val="20000"/>
              <a:lumOff val="8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kumimoji="1" lang="en-US" altLang="ko-KR" sz="800">
                <a:solidFill>
                  <a:schemeClr val="tx1"/>
                </a:solidFill>
              </a:rPr>
              <a:t>Network Filters</a:t>
            </a:r>
          </a:p>
        </p:txBody>
      </p:sp>
      <p:sp>
        <p:nvSpPr>
          <p:cNvPr id="43" name="모서리가 둥근 직사각형 42">
            <a:extLst>
              <a:ext uri="{FF2B5EF4-FFF2-40B4-BE49-F238E27FC236}">
                <a16:creationId xmlns:a16="http://schemas.microsoft.com/office/drawing/2014/main" id="{11DE07C0-6F8C-D2C7-FEC8-8B6F4FB4101F}"/>
              </a:ext>
            </a:extLst>
          </p:cNvPr>
          <p:cNvSpPr/>
          <p:nvPr/>
        </p:nvSpPr>
        <p:spPr>
          <a:xfrm>
            <a:off x="1784275" y="2745924"/>
            <a:ext cx="3291780" cy="600039"/>
          </a:xfrm>
          <a:prstGeom prst="roundRect">
            <a:avLst>
              <a:gd name="adj" fmla="val 7799"/>
            </a:avLst>
          </a:prstGeom>
          <a:solidFill>
            <a:schemeClr val="accent6">
              <a:lumMod val="40000"/>
              <a:lumOff val="6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kumimoji="1" lang="en-US" altLang="ko-KR" sz="800" b="1">
                <a:solidFill>
                  <a:schemeClr val="tx1"/>
                </a:solidFill>
              </a:rPr>
              <a:t>PassthroughFilterChain</a:t>
            </a:r>
            <a:r>
              <a:rPr kumimoji="1" lang="en-US" altLang="ko-KR" sz="800">
                <a:solidFill>
                  <a:schemeClr val="tx1"/>
                </a:solidFill>
              </a:rPr>
              <a:t> Chain</a:t>
            </a:r>
            <a:endParaRPr kumimoji="1" lang="en-US" altLang="ko-KR" sz="800" b="1">
              <a:solidFill>
                <a:schemeClr val="tx1"/>
              </a:solidFill>
            </a:endParaRPr>
          </a:p>
        </p:txBody>
      </p:sp>
      <p:sp>
        <p:nvSpPr>
          <p:cNvPr id="44" name="모서리가 둥근 직사각형 43">
            <a:extLst>
              <a:ext uri="{FF2B5EF4-FFF2-40B4-BE49-F238E27FC236}">
                <a16:creationId xmlns:a16="http://schemas.microsoft.com/office/drawing/2014/main" id="{BDCCC782-4A03-5CDD-D508-F1EEBEDD12EE}"/>
              </a:ext>
            </a:extLst>
          </p:cNvPr>
          <p:cNvSpPr/>
          <p:nvPr/>
        </p:nvSpPr>
        <p:spPr>
          <a:xfrm>
            <a:off x="1784275" y="3407488"/>
            <a:ext cx="3291780" cy="990851"/>
          </a:xfrm>
          <a:prstGeom prst="roundRect">
            <a:avLst>
              <a:gd name="adj" fmla="val 5394"/>
            </a:avLst>
          </a:prstGeom>
          <a:solidFill>
            <a:schemeClr val="accent6">
              <a:lumMod val="40000"/>
              <a:lumOff val="6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kumimoji="1" lang="en-US" altLang="ko-KR" sz="800" b="1">
                <a:solidFill>
                  <a:schemeClr val="tx1"/>
                </a:solidFill>
              </a:rPr>
              <a:t>HTTP/HTTP2</a:t>
            </a:r>
            <a:r>
              <a:rPr kumimoji="1" lang="en-US" altLang="ko-KR" sz="800">
                <a:solidFill>
                  <a:schemeClr val="tx1"/>
                </a:solidFill>
              </a:rPr>
              <a:t> Chain</a:t>
            </a:r>
            <a:endParaRPr kumimoji="1" lang="en-US" altLang="ko-KR" sz="800" b="1">
              <a:solidFill>
                <a:schemeClr val="tx1"/>
              </a:solidFill>
            </a:endParaRPr>
          </a:p>
        </p:txBody>
      </p:sp>
      <p:sp>
        <p:nvSpPr>
          <p:cNvPr id="45" name="모서리가 둥근 직사각형 44">
            <a:extLst>
              <a:ext uri="{FF2B5EF4-FFF2-40B4-BE49-F238E27FC236}">
                <a16:creationId xmlns:a16="http://schemas.microsoft.com/office/drawing/2014/main" id="{4A67D17A-34F9-C3C1-1175-9C1F39C989AB}"/>
              </a:ext>
            </a:extLst>
          </p:cNvPr>
          <p:cNvSpPr/>
          <p:nvPr/>
        </p:nvSpPr>
        <p:spPr>
          <a:xfrm>
            <a:off x="1861428" y="2962773"/>
            <a:ext cx="3142619" cy="158193"/>
          </a:xfrm>
          <a:prstGeom prst="roundRect">
            <a:avLst>
              <a:gd name="adj" fmla="val 14645"/>
            </a:avLst>
          </a:prstGeom>
          <a:solidFill>
            <a:schemeClr val="accent5">
              <a:lumMod val="20000"/>
              <a:lumOff val="8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ko-KR" sz="800">
                <a:solidFill>
                  <a:schemeClr val="tx1"/>
                </a:solidFill>
              </a:rPr>
              <a:t>istio.stats</a:t>
            </a:r>
          </a:p>
        </p:txBody>
      </p:sp>
      <p:sp>
        <p:nvSpPr>
          <p:cNvPr id="46" name="모서리가 둥근 직사각형 45">
            <a:extLst>
              <a:ext uri="{FF2B5EF4-FFF2-40B4-BE49-F238E27FC236}">
                <a16:creationId xmlns:a16="http://schemas.microsoft.com/office/drawing/2014/main" id="{0137CA31-B759-FDE8-01CF-B4CB4FE99039}"/>
              </a:ext>
            </a:extLst>
          </p:cNvPr>
          <p:cNvSpPr/>
          <p:nvPr/>
        </p:nvSpPr>
        <p:spPr>
          <a:xfrm>
            <a:off x="1861429" y="3120120"/>
            <a:ext cx="3142620" cy="158193"/>
          </a:xfrm>
          <a:prstGeom prst="roundRect">
            <a:avLst>
              <a:gd name="adj" fmla="val 14645"/>
            </a:avLst>
          </a:prstGeom>
          <a:solidFill>
            <a:schemeClr val="accent5">
              <a:lumMod val="20000"/>
              <a:lumOff val="8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ko-KR" sz="800">
                <a:solidFill>
                  <a:schemeClr val="tx1"/>
                </a:solidFill>
              </a:rPr>
              <a:t>envoy.filters.network.tcp_proxy</a:t>
            </a:r>
          </a:p>
        </p:txBody>
      </p:sp>
      <p:sp>
        <p:nvSpPr>
          <p:cNvPr id="47" name="모서리가 둥근 직사각형 46">
            <a:extLst>
              <a:ext uri="{FF2B5EF4-FFF2-40B4-BE49-F238E27FC236}">
                <a16:creationId xmlns:a16="http://schemas.microsoft.com/office/drawing/2014/main" id="{3D5DF8B7-D262-C672-38BE-D1C40E1FFC76}"/>
              </a:ext>
            </a:extLst>
          </p:cNvPr>
          <p:cNvSpPr/>
          <p:nvPr/>
        </p:nvSpPr>
        <p:spPr>
          <a:xfrm>
            <a:off x="1861427" y="3609039"/>
            <a:ext cx="3142622" cy="734635"/>
          </a:xfrm>
          <a:prstGeom prst="roundRect">
            <a:avLst>
              <a:gd name="adj" fmla="val 5504"/>
            </a:avLst>
          </a:prstGeom>
          <a:solidFill>
            <a:schemeClr val="accent5">
              <a:lumMod val="20000"/>
              <a:lumOff val="8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kumimoji="1" lang="en-US" altLang="ko-KR" sz="800">
                <a:solidFill>
                  <a:schemeClr val="tx1"/>
                </a:solidFill>
              </a:rPr>
              <a:t>envoy.filters.network.http_connection_manager</a:t>
            </a:r>
          </a:p>
        </p:txBody>
      </p:sp>
      <p:sp>
        <p:nvSpPr>
          <p:cNvPr id="48" name="모서리가 둥근 직사각형 47">
            <a:extLst>
              <a:ext uri="{FF2B5EF4-FFF2-40B4-BE49-F238E27FC236}">
                <a16:creationId xmlns:a16="http://schemas.microsoft.com/office/drawing/2014/main" id="{C3B09B0E-F5EE-E733-2788-3FD252C2E16B}"/>
              </a:ext>
            </a:extLst>
          </p:cNvPr>
          <p:cNvSpPr/>
          <p:nvPr/>
        </p:nvSpPr>
        <p:spPr>
          <a:xfrm>
            <a:off x="1943727" y="3791857"/>
            <a:ext cx="1501878" cy="121532"/>
          </a:xfrm>
          <a:prstGeom prst="roundRect">
            <a:avLst>
              <a:gd name="adj" fmla="val 14645"/>
            </a:avLst>
          </a:prstGeom>
          <a:solidFill>
            <a:schemeClr val="accent5">
              <a:lumMod val="40000"/>
              <a:lumOff val="6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ko-KR" sz="800">
                <a:solidFill>
                  <a:schemeClr val="tx1"/>
                </a:solidFill>
              </a:rPr>
              <a:t>istio.metadata_exchange</a:t>
            </a:r>
          </a:p>
        </p:txBody>
      </p:sp>
      <p:sp>
        <p:nvSpPr>
          <p:cNvPr id="49" name="모서리가 둥근 직사각형 48">
            <a:extLst>
              <a:ext uri="{FF2B5EF4-FFF2-40B4-BE49-F238E27FC236}">
                <a16:creationId xmlns:a16="http://schemas.microsoft.com/office/drawing/2014/main" id="{FC997CE7-AC8D-BAEC-224A-14FDB01563E3}"/>
              </a:ext>
            </a:extLst>
          </p:cNvPr>
          <p:cNvSpPr/>
          <p:nvPr/>
        </p:nvSpPr>
        <p:spPr>
          <a:xfrm>
            <a:off x="1943727" y="3913390"/>
            <a:ext cx="1501878" cy="121532"/>
          </a:xfrm>
          <a:prstGeom prst="roundRect">
            <a:avLst>
              <a:gd name="adj" fmla="val 14645"/>
            </a:avLst>
          </a:prstGeom>
          <a:solidFill>
            <a:schemeClr val="accent5">
              <a:lumMod val="40000"/>
              <a:lumOff val="6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ko-KR" sz="800">
                <a:solidFill>
                  <a:schemeClr val="tx1"/>
                </a:solidFill>
              </a:rPr>
              <a:t>envoy.filters.http.grpc_stats</a:t>
            </a:r>
          </a:p>
        </p:txBody>
      </p:sp>
      <p:sp>
        <p:nvSpPr>
          <p:cNvPr id="50" name="모서리가 둥근 직사각형 49">
            <a:extLst>
              <a:ext uri="{FF2B5EF4-FFF2-40B4-BE49-F238E27FC236}">
                <a16:creationId xmlns:a16="http://schemas.microsoft.com/office/drawing/2014/main" id="{7F8CB6C4-78A5-FFD7-04A6-957C18BBE1B6}"/>
              </a:ext>
            </a:extLst>
          </p:cNvPr>
          <p:cNvSpPr/>
          <p:nvPr/>
        </p:nvSpPr>
        <p:spPr>
          <a:xfrm>
            <a:off x="1943727" y="4034621"/>
            <a:ext cx="1501878" cy="121532"/>
          </a:xfrm>
          <a:prstGeom prst="roundRect">
            <a:avLst>
              <a:gd name="adj" fmla="val 14645"/>
            </a:avLst>
          </a:prstGeom>
          <a:solidFill>
            <a:schemeClr val="accent5">
              <a:lumMod val="40000"/>
              <a:lumOff val="6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ko-KR" sz="800">
                <a:solidFill>
                  <a:schemeClr val="tx1"/>
                </a:solidFill>
              </a:rPr>
              <a:t>istio.alpn</a:t>
            </a:r>
          </a:p>
        </p:txBody>
      </p:sp>
      <p:sp>
        <p:nvSpPr>
          <p:cNvPr id="52" name="모서리가 둥근 직사각형 51">
            <a:extLst>
              <a:ext uri="{FF2B5EF4-FFF2-40B4-BE49-F238E27FC236}">
                <a16:creationId xmlns:a16="http://schemas.microsoft.com/office/drawing/2014/main" id="{34AA979A-FB51-E9C6-2CE7-0CEC0CDB6DBD}"/>
              </a:ext>
            </a:extLst>
          </p:cNvPr>
          <p:cNvSpPr/>
          <p:nvPr/>
        </p:nvSpPr>
        <p:spPr>
          <a:xfrm>
            <a:off x="1943727" y="4156454"/>
            <a:ext cx="1501878" cy="121532"/>
          </a:xfrm>
          <a:prstGeom prst="roundRect">
            <a:avLst>
              <a:gd name="adj" fmla="val 14645"/>
            </a:avLst>
          </a:prstGeom>
          <a:solidFill>
            <a:schemeClr val="accent5">
              <a:lumMod val="40000"/>
              <a:lumOff val="6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ko-KR" sz="800">
                <a:solidFill>
                  <a:schemeClr val="tx1"/>
                </a:solidFill>
              </a:rPr>
              <a:t>envoy.filters.http.fault</a:t>
            </a:r>
          </a:p>
        </p:txBody>
      </p:sp>
      <p:sp>
        <p:nvSpPr>
          <p:cNvPr id="53" name="모서리가 둥근 직사각형 52">
            <a:extLst>
              <a:ext uri="{FF2B5EF4-FFF2-40B4-BE49-F238E27FC236}">
                <a16:creationId xmlns:a16="http://schemas.microsoft.com/office/drawing/2014/main" id="{1D3BD293-43F9-9B90-A954-44BCD5678157}"/>
              </a:ext>
            </a:extLst>
          </p:cNvPr>
          <p:cNvSpPr/>
          <p:nvPr/>
        </p:nvSpPr>
        <p:spPr>
          <a:xfrm>
            <a:off x="3644149" y="3797675"/>
            <a:ext cx="1291711" cy="121532"/>
          </a:xfrm>
          <a:prstGeom prst="roundRect">
            <a:avLst>
              <a:gd name="adj" fmla="val 14645"/>
            </a:avLst>
          </a:prstGeom>
          <a:solidFill>
            <a:schemeClr val="accent5">
              <a:lumMod val="40000"/>
              <a:lumOff val="6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ko-KR" sz="800">
                <a:solidFill>
                  <a:schemeClr val="tx1"/>
                </a:solidFill>
              </a:rPr>
              <a:t>envoy.filters.http.cors</a:t>
            </a:r>
          </a:p>
        </p:txBody>
      </p:sp>
      <p:sp>
        <p:nvSpPr>
          <p:cNvPr id="54" name="모서리가 둥근 직사각형 53">
            <a:extLst>
              <a:ext uri="{FF2B5EF4-FFF2-40B4-BE49-F238E27FC236}">
                <a16:creationId xmlns:a16="http://schemas.microsoft.com/office/drawing/2014/main" id="{66DD21CA-924C-A751-3500-3C481B2958F8}"/>
              </a:ext>
            </a:extLst>
          </p:cNvPr>
          <p:cNvSpPr/>
          <p:nvPr/>
        </p:nvSpPr>
        <p:spPr>
          <a:xfrm>
            <a:off x="3644149" y="3916358"/>
            <a:ext cx="1291711" cy="121532"/>
          </a:xfrm>
          <a:prstGeom prst="roundRect">
            <a:avLst>
              <a:gd name="adj" fmla="val 14645"/>
            </a:avLst>
          </a:prstGeom>
          <a:solidFill>
            <a:schemeClr val="accent5">
              <a:lumMod val="40000"/>
              <a:lumOff val="6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ko-KR" sz="800">
                <a:solidFill>
                  <a:schemeClr val="tx1"/>
                </a:solidFill>
              </a:rPr>
              <a:t>istio.stats</a:t>
            </a:r>
          </a:p>
        </p:txBody>
      </p:sp>
      <p:sp>
        <p:nvSpPr>
          <p:cNvPr id="55" name="모서리가 둥근 직사각형 54">
            <a:extLst>
              <a:ext uri="{FF2B5EF4-FFF2-40B4-BE49-F238E27FC236}">
                <a16:creationId xmlns:a16="http://schemas.microsoft.com/office/drawing/2014/main" id="{48535441-B53A-CBD1-F6EA-7BED5C77456A}"/>
              </a:ext>
            </a:extLst>
          </p:cNvPr>
          <p:cNvSpPr/>
          <p:nvPr/>
        </p:nvSpPr>
        <p:spPr>
          <a:xfrm>
            <a:off x="3644149" y="4034621"/>
            <a:ext cx="1291711" cy="121532"/>
          </a:xfrm>
          <a:prstGeom prst="roundRect">
            <a:avLst>
              <a:gd name="adj" fmla="val 14645"/>
            </a:avLst>
          </a:prstGeom>
          <a:solidFill>
            <a:schemeClr val="accent5">
              <a:lumMod val="40000"/>
              <a:lumOff val="6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ko-KR" sz="800">
                <a:solidFill>
                  <a:schemeClr val="tx1"/>
                </a:solidFill>
              </a:rPr>
              <a:t>envoy.filters.http.router</a:t>
            </a:r>
          </a:p>
        </p:txBody>
      </p:sp>
      <p:cxnSp>
        <p:nvCxnSpPr>
          <p:cNvPr id="59" name="직선 화살표 연결선 58">
            <a:extLst>
              <a:ext uri="{FF2B5EF4-FFF2-40B4-BE49-F238E27FC236}">
                <a16:creationId xmlns:a16="http://schemas.microsoft.com/office/drawing/2014/main" id="{3B409051-E37B-7AE0-01EA-BE79B8772F79}"/>
              </a:ext>
            </a:extLst>
          </p:cNvPr>
          <p:cNvCxnSpPr>
            <a:cxnSpLocks/>
            <a:stCxn id="41" idx="2"/>
            <a:endCxn id="42" idx="0"/>
          </p:cNvCxnSpPr>
          <p:nvPr/>
        </p:nvCxnSpPr>
        <p:spPr>
          <a:xfrm>
            <a:off x="3423244" y="2405442"/>
            <a:ext cx="1" cy="113494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직선 화살표 연결선 73">
            <a:extLst>
              <a:ext uri="{FF2B5EF4-FFF2-40B4-BE49-F238E27FC236}">
                <a16:creationId xmlns:a16="http://schemas.microsoft.com/office/drawing/2014/main" id="{B19143BD-E366-3705-346F-5EE3CC9D57CF}"/>
              </a:ext>
            </a:extLst>
          </p:cNvPr>
          <p:cNvCxnSpPr>
            <a:cxnSpLocks/>
            <a:stCxn id="52" idx="3"/>
            <a:endCxn id="53" idx="1"/>
          </p:cNvCxnSpPr>
          <p:nvPr/>
        </p:nvCxnSpPr>
        <p:spPr>
          <a:xfrm flipV="1">
            <a:off x="3445605" y="3858442"/>
            <a:ext cx="198544" cy="358779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직선 화살표 연결선 76">
            <a:extLst>
              <a:ext uri="{FF2B5EF4-FFF2-40B4-BE49-F238E27FC236}">
                <a16:creationId xmlns:a16="http://schemas.microsoft.com/office/drawing/2014/main" id="{6B102192-6EAA-E21A-0EB1-63A12CA965DF}"/>
              </a:ext>
            </a:extLst>
          </p:cNvPr>
          <p:cNvCxnSpPr>
            <a:cxnSpLocks/>
            <a:stCxn id="55" idx="3"/>
            <a:endCxn id="26" idx="1"/>
          </p:cNvCxnSpPr>
          <p:nvPr/>
        </p:nvCxnSpPr>
        <p:spPr>
          <a:xfrm flipV="1">
            <a:off x="4935860" y="3112488"/>
            <a:ext cx="482804" cy="982900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직선 화살표 연결선 80">
            <a:extLst>
              <a:ext uri="{FF2B5EF4-FFF2-40B4-BE49-F238E27FC236}">
                <a16:creationId xmlns:a16="http://schemas.microsoft.com/office/drawing/2014/main" id="{7EFB73C6-64E8-9BE6-EB25-C89514000CF6}"/>
              </a:ext>
            </a:extLst>
          </p:cNvPr>
          <p:cNvCxnSpPr>
            <a:cxnSpLocks/>
            <a:endCxn id="23" idx="1"/>
          </p:cNvCxnSpPr>
          <p:nvPr/>
        </p:nvCxnSpPr>
        <p:spPr>
          <a:xfrm flipV="1">
            <a:off x="6093346" y="2731873"/>
            <a:ext cx="157681" cy="413374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직선 화살표 연결선 83">
            <a:extLst>
              <a:ext uri="{FF2B5EF4-FFF2-40B4-BE49-F238E27FC236}">
                <a16:creationId xmlns:a16="http://schemas.microsoft.com/office/drawing/2014/main" id="{6D42F277-EF42-CF4A-3540-0AECD4B8F304}"/>
              </a:ext>
            </a:extLst>
          </p:cNvPr>
          <p:cNvCxnSpPr>
            <a:cxnSpLocks/>
            <a:endCxn id="20" idx="1"/>
          </p:cNvCxnSpPr>
          <p:nvPr/>
        </p:nvCxnSpPr>
        <p:spPr>
          <a:xfrm>
            <a:off x="6093346" y="3145246"/>
            <a:ext cx="157681" cy="0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직선 화살표 연결선 100">
            <a:extLst>
              <a:ext uri="{FF2B5EF4-FFF2-40B4-BE49-F238E27FC236}">
                <a16:creationId xmlns:a16="http://schemas.microsoft.com/office/drawing/2014/main" id="{10B9A335-2124-9864-AC49-D841DFDF9F20}"/>
              </a:ext>
            </a:extLst>
          </p:cNvPr>
          <p:cNvCxnSpPr>
            <a:cxnSpLocks/>
            <a:endCxn id="11" idx="0"/>
          </p:cNvCxnSpPr>
          <p:nvPr/>
        </p:nvCxnSpPr>
        <p:spPr>
          <a:xfrm>
            <a:off x="1505811" y="1410549"/>
            <a:ext cx="1917050" cy="150239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직선 화살표 연결선 103">
            <a:extLst>
              <a:ext uri="{FF2B5EF4-FFF2-40B4-BE49-F238E27FC236}">
                <a16:creationId xmlns:a16="http://schemas.microsoft.com/office/drawing/2014/main" id="{E5C9AE06-CF35-2BD0-4138-14BE8AE20567}"/>
              </a:ext>
            </a:extLst>
          </p:cNvPr>
          <p:cNvCxnSpPr>
            <a:cxnSpLocks/>
            <a:stCxn id="46" idx="3"/>
            <a:endCxn id="29" idx="1"/>
          </p:cNvCxnSpPr>
          <p:nvPr/>
        </p:nvCxnSpPr>
        <p:spPr>
          <a:xfrm flipV="1">
            <a:off x="5004049" y="1563042"/>
            <a:ext cx="921735" cy="1636175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7" name="모서리가 둥근 직사각형 126">
            <a:extLst>
              <a:ext uri="{FF2B5EF4-FFF2-40B4-BE49-F238E27FC236}">
                <a16:creationId xmlns:a16="http://schemas.microsoft.com/office/drawing/2014/main" id="{FE50A920-5C0F-501E-4F3C-BA5E360ED094}"/>
              </a:ext>
            </a:extLst>
          </p:cNvPr>
          <p:cNvSpPr/>
          <p:nvPr/>
        </p:nvSpPr>
        <p:spPr>
          <a:xfrm>
            <a:off x="1619671" y="4633772"/>
            <a:ext cx="3606379" cy="187236"/>
          </a:xfrm>
          <a:prstGeom prst="roundRect">
            <a:avLst>
              <a:gd name="adj" fmla="val 24593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kumimoji="1" lang="en-US" altLang="ko-KR" sz="800" b="1">
                <a:solidFill>
                  <a:schemeClr val="tx1"/>
                </a:solidFill>
              </a:rPr>
              <a:t>0.0.0.0_9090 </a:t>
            </a:r>
            <a:r>
              <a:rPr kumimoji="1" lang="en-US" altLang="ko-KR" sz="800">
                <a:solidFill>
                  <a:schemeClr val="tx1"/>
                </a:solidFill>
              </a:rPr>
              <a:t>Listener …</a:t>
            </a:r>
          </a:p>
        </p:txBody>
      </p:sp>
      <p:cxnSp>
        <p:nvCxnSpPr>
          <p:cNvPr id="129" name="직선 화살표 연결선 128">
            <a:extLst>
              <a:ext uri="{FF2B5EF4-FFF2-40B4-BE49-F238E27FC236}">
                <a16:creationId xmlns:a16="http://schemas.microsoft.com/office/drawing/2014/main" id="{407B6F6D-66D5-A147-EBBF-C5EE3F660C49}"/>
              </a:ext>
            </a:extLst>
          </p:cNvPr>
          <p:cNvCxnSpPr>
            <a:cxnSpLocks/>
            <a:endCxn id="127" idx="1"/>
          </p:cNvCxnSpPr>
          <p:nvPr/>
        </p:nvCxnSpPr>
        <p:spPr>
          <a:xfrm>
            <a:off x="1505340" y="1410549"/>
            <a:ext cx="114331" cy="3316841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7" name="직선 화살표 연결선 146">
            <a:extLst>
              <a:ext uri="{FF2B5EF4-FFF2-40B4-BE49-F238E27FC236}">
                <a16:creationId xmlns:a16="http://schemas.microsoft.com/office/drawing/2014/main" id="{B6436C55-0C5B-FFDD-A433-C9E8A87EB4C1}"/>
              </a:ext>
            </a:extLst>
          </p:cNvPr>
          <p:cNvCxnSpPr>
            <a:cxnSpLocks/>
            <a:endCxn id="40" idx="1"/>
          </p:cNvCxnSpPr>
          <p:nvPr/>
        </p:nvCxnSpPr>
        <p:spPr>
          <a:xfrm>
            <a:off x="6093346" y="4267499"/>
            <a:ext cx="157681" cy="0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0" name="직선 화살표 연결선 149">
            <a:extLst>
              <a:ext uri="{FF2B5EF4-FFF2-40B4-BE49-F238E27FC236}">
                <a16:creationId xmlns:a16="http://schemas.microsoft.com/office/drawing/2014/main" id="{49D80FA1-5E96-CA97-8D9A-80E637CFC859}"/>
              </a:ext>
            </a:extLst>
          </p:cNvPr>
          <p:cNvCxnSpPr>
            <a:cxnSpLocks/>
            <a:stCxn id="127" idx="3"/>
            <a:endCxn id="27" idx="1"/>
          </p:cNvCxnSpPr>
          <p:nvPr/>
        </p:nvCxnSpPr>
        <p:spPr>
          <a:xfrm flipV="1">
            <a:off x="5226050" y="4234741"/>
            <a:ext cx="192614" cy="492649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4" name="직선 화살표 연결선 153">
            <a:extLst>
              <a:ext uri="{FF2B5EF4-FFF2-40B4-BE49-F238E27FC236}">
                <a16:creationId xmlns:a16="http://schemas.microsoft.com/office/drawing/2014/main" id="{0E75AFB4-BD43-0AAC-853C-2FCE8BF1A886}"/>
              </a:ext>
            </a:extLst>
          </p:cNvPr>
          <p:cNvCxnSpPr>
            <a:cxnSpLocks/>
            <a:stCxn id="127" idx="3"/>
            <a:endCxn id="29" idx="1"/>
          </p:cNvCxnSpPr>
          <p:nvPr/>
        </p:nvCxnSpPr>
        <p:spPr>
          <a:xfrm flipV="1">
            <a:off x="5226050" y="1563042"/>
            <a:ext cx="699734" cy="3164348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5" name="모서리가 둥근 직사각형 174">
            <a:extLst>
              <a:ext uri="{FF2B5EF4-FFF2-40B4-BE49-F238E27FC236}">
                <a16:creationId xmlns:a16="http://schemas.microsoft.com/office/drawing/2014/main" id="{46B1B96D-C61A-F257-7F46-4E4C4293F787}"/>
              </a:ext>
            </a:extLst>
          </p:cNvPr>
          <p:cNvSpPr/>
          <p:nvPr/>
        </p:nvSpPr>
        <p:spPr>
          <a:xfrm>
            <a:off x="6878454" y="2172759"/>
            <a:ext cx="2016223" cy="277654"/>
          </a:xfrm>
          <a:prstGeom prst="roundRect">
            <a:avLst>
              <a:gd name="adj" fmla="val 14645"/>
            </a:avLst>
          </a:prstGeom>
          <a:solidFill>
            <a:schemeClr val="accent4">
              <a:lumMod val="20000"/>
              <a:lumOff val="8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 b="1">
                <a:solidFill>
                  <a:schemeClr val="tx1"/>
                </a:solidFill>
              </a:rPr>
              <a:t>outbound|8080||server-a</a:t>
            </a:r>
            <a:br>
              <a:rPr kumimoji="1" lang="en-US" altLang="ko-KR" sz="800" b="1">
                <a:solidFill>
                  <a:schemeClr val="tx1"/>
                </a:solidFill>
              </a:rPr>
            </a:br>
            <a:r>
              <a:rPr kumimoji="1" lang="en-US" altLang="ko-KR" sz="800" b="1">
                <a:solidFill>
                  <a:schemeClr val="tx1"/>
                </a:solidFill>
              </a:rPr>
              <a:t>.default.svc.cluster.local </a:t>
            </a:r>
            <a:r>
              <a:rPr kumimoji="1" lang="en-US" altLang="ko-KR" sz="800">
                <a:solidFill>
                  <a:schemeClr val="tx1"/>
                </a:solidFill>
              </a:rPr>
              <a:t>Endpoint</a:t>
            </a:r>
          </a:p>
        </p:txBody>
      </p:sp>
      <p:sp>
        <p:nvSpPr>
          <p:cNvPr id="176" name="모서리가 둥근 직사각형 175">
            <a:extLst>
              <a:ext uri="{FF2B5EF4-FFF2-40B4-BE49-F238E27FC236}">
                <a16:creationId xmlns:a16="http://schemas.microsoft.com/office/drawing/2014/main" id="{1E83AA06-43D4-37A6-775D-115E0E6EFC3B}"/>
              </a:ext>
            </a:extLst>
          </p:cNvPr>
          <p:cNvSpPr/>
          <p:nvPr/>
        </p:nvSpPr>
        <p:spPr>
          <a:xfrm>
            <a:off x="6878454" y="3429373"/>
            <a:ext cx="2016223" cy="277654"/>
          </a:xfrm>
          <a:prstGeom prst="roundRect">
            <a:avLst>
              <a:gd name="adj" fmla="val 14645"/>
            </a:avLst>
          </a:prstGeom>
          <a:solidFill>
            <a:schemeClr val="accent4">
              <a:lumMod val="20000"/>
              <a:lumOff val="8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 b="1">
                <a:solidFill>
                  <a:schemeClr val="tx1"/>
                </a:solidFill>
              </a:rPr>
              <a:t>outbound|8080||server-b</a:t>
            </a:r>
            <a:br>
              <a:rPr kumimoji="1" lang="en-US" altLang="ko-KR" sz="800" b="1">
                <a:solidFill>
                  <a:schemeClr val="tx1"/>
                </a:solidFill>
              </a:rPr>
            </a:br>
            <a:r>
              <a:rPr kumimoji="1" lang="en-US" altLang="ko-KR" sz="800" b="1">
                <a:solidFill>
                  <a:schemeClr val="tx1"/>
                </a:solidFill>
              </a:rPr>
              <a:t>.default.svc.cluster.local </a:t>
            </a:r>
            <a:r>
              <a:rPr kumimoji="1" lang="en-US" altLang="ko-KR" sz="800">
                <a:solidFill>
                  <a:schemeClr val="tx1"/>
                </a:solidFill>
              </a:rPr>
              <a:t>Endpoint</a:t>
            </a:r>
          </a:p>
        </p:txBody>
      </p:sp>
      <p:sp>
        <p:nvSpPr>
          <p:cNvPr id="177" name="모서리가 둥근 직사각형 176">
            <a:extLst>
              <a:ext uri="{FF2B5EF4-FFF2-40B4-BE49-F238E27FC236}">
                <a16:creationId xmlns:a16="http://schemas.microsoft.com/office/drawing/2014/main" id="{1EC2B0D8-FE9C-C698-C342-98FFE5672641}"/>
              </a:ext>
            </a:extLst>
          </p:cNvPr>
          <p:cNvSpPr/>
          <p:nvPr/>
        </p:nvSpPr>
        <p:spPr>
          <a:xfrm>
            <a:off x="6878454" y="4543354"/>
            <a:ext cx="2016223" cy="277654"/>
          </a:xfrm>
          <a:prstGeom prst="roundRect">
            <a:avLst>
              <a:gd name="adj" fmla="val 14645"/>
            </a:avLst>
          </a:prstGeom>
          <a:solidFill>
            <a:schemeClr val="accent4">
              <a:lumMod val="20000"/>
              <a:lumOff val="8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 b="1">
                <a:solidFill>
                  <a:schemeClr val="tx1"/>
                </a:solidFill>
              </a:rPr>
              <a:t>outbound|8080||server-a</a:t>
            </a:r>
            <a:br>
              <a:rPr kumimoji="1" lang="en-US" altLang="ko-KR" sz="800" b="1">
                <a:solidFill>
                  <a:schemeClr val="tx1"/>
                </a:solidFill>
              </a:rPr>
            </a:br>
            <a:r>
              <a:rPr kumimoji="1" lang="en-US" altLang="ko-KR" sz="800" b="1">
                <a:solidFill>
                  <a:schemeClr val="tx1"/>
                </a:solidFill>
              </a:rPr>
              <a:t>.default.svc.cluster.local </a:t>
            </a:r>
            <a:r>
              <a:rPr kumimoji="1" lang="en-US" altLang="ko-KR" sz="800">
                <a:solidFill>
                  <a:schemeClr val="tx1"/>
                </a:solidFill>
              </a:rPr>
              <a:t>Endpoint</a:t>
            </a:r>
          </a:p>
        </p:txBody>
      </p:sp>
      <p:cxnSp>
        <p:nvCxnSpPr>
          <p:cNvPr id="178" name="직선 화살표 연결선 177">
            <a:extLst>
              <a:ext uri="{FF2B5EF4-FFF2-40B4-BE49-F238E27FC236}">
                <a16:creationId xmlns:a16="http://schemas.microsoft.com/office/drawing/2014/main" id="{1A043BAE-2CB1-CEB8-BDC5-5CD28B71D9D2}"/>
              </a:ext>
            </a:extLst>
          </p:cNvPr>
          <p:cNvCxnSpPr>
            <a:cxnSpLocks/>
            <a:stCxn id="20" idx="2"/>
            <a:endCxn id="176" idx="0"/>
          </p:cNvCxnSpPr>
          <p:nvPr/>
        </p:nvCxnSpPr>
        <p:spPr>
          <a:xfrm>
            <a:off x="7259139" y="3284073"/>
            <a:ext cx="627427" cy="145300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1" name="직선 화살표 연결선 180">
            <a:extLst>
              <a:ext uri="{FF2B5EF4-FFF2-40B4-BE49-F238E27FC236}">
                <a16:creationId xmlns:a16="http://schemas.microsoft.com/office/drawing/2014/main" id="{C3DCCD7A-049A-799F-5789-76FE002A88FF}"/>
              </a:ext>
            </a:extLst>
          </p:cNvPr>
          <p:cNvCxnSpPr>
            <a:cxnSpLocks/>
            <a:stCxn id="23" idx="0"/>
            <a:endCxn id="175" idx="2"/>
          </p:cNvCxnSpPr>
          <p:nvPr/>
        </p:nvCxnSpPr>
        <p:spPr>
          <a:xfrm flipV="1">
            <a:off x="7259139" y="2450413"/>
            <a:ext cx="627427" cy="142632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4" name="직선 화살표 연결선 183">
            <a:extLst>
              <a:ext uri="{FF2B5EF4-FFF2-40B4-BE49-F238E27FC236}">
                <a16:creationId xmlns:a16="http://schemas.microsoft.com/office/drawing/2014/main" id="{CB8A0BE4-2B0D-BFEC-4143-387A393F0F7F}"/>
              </a:ext>
            </a:extLst>
          </p:cNvPr>
          <p:cNvCxnSpPr>
            <a:cxnSpLocks/>
            <a:stCxn id="40" idx="2"/>
            <a:endCxn id="177" idx="0"/>
          </p:cNvCxnSpPr>
          <p:nvPr/>
        </p:nvCxnSpPr>
        <p:spPr>
          <a:xfrm>
            <a:off x="7259139" y="4406326"/>
            <a:ext cx="627427" cy="137028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8" name="모서리가 둥근 직사각형 237">
            <a:extLst>
              <a:ext uri="{FF2B5EF4-FFF2-40B4-BE49-F238E27FC236}">
                <a16:creationId xmlns:a16="http://schemas.microsoft.com/office/drawing/2014/main" id="{0066F203-7248-1FF7-4F4A-706E7E0FFD3E}"/>
              </a:ext>
            </a:extLst>
          </p:cNvPr>
          <p:cNvSpPr/>
          <p:nvPr/>
        </p:nvSpPr>
        <p:spPr>
          <a:xfrm>
            <a:off x="1456566" y="625781"/>
            <a:ext cx="4124174" cy="721351"/>
          </a:xfrm>
          <a:prstGeom prst="roundRect">
            <a:avLst>
              <a:gd name="adj" fmla="val 8136"/>
            </a:avLst>
          </a:prstGeom>
          <a:solidFill>
            <a:schemeClr val="accent6">
              <a:lumMod val="20000"/>
              <a:lumOff val="8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kumimoji="1" lang="en-US" altLang="ko-KR" sz="800">
                <a:solidFill>
                  <a:schemeClr val="tx1"/>
                </a:solidFill>
              </a:rPr>
              <a:t>Network Filters</a:t>
            </a:r>
          </a:p>
        </p:txBody>
      </p:sp>
      <p:sp>
        <p:nvSpPr>
          <p:cNvPr id="239" name="모서리가 둥근 직사각형 238">
            <a:extLst>
              <a:ext uri="{FF2B5EF4-FFF2-40B4-BE49-F238E27FC236}">
                <a16:creationId xmlns:a16="http://schemas.microsoft.com/office/drawing/2014/main" id="{3EBE3119-ADE8-1067-535A-052E9E77BBDD}"/>
              </a:ext>
            </a:extLst>
          </p:cNvPr>
          <p:cNvSpPr/>
          <p:nvPr/>
        </p:nvSpPr>
        <p:spPr>
          <a:xfrm>
            <a:off x="1537426" y="832108"/>
            <a:ext cx="1955826" cy="457874"/>
          </a:xfrm>
          <a:prstGeom prst="roundRect">
            <a:avLst>
              <a:gd name="adj" fmla="val 7799"/>
            </a:avLst>
          </a:prstGeom>
          <a:solidFill>
            <a:schemeClr val="accent6">
              <a:lumMod val="40000"/>
              <a:lumOff val="6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kumimoji="1" lang="en-US" altLang="ko-KR" sz="800" b="1">
                <a:solidFill>
                  <a:schemeClr val="tx1"/>
                </a:solidFill>
              </a:rPr>
              <a:t>virtualOutbound-blackhole</a:t>
            </a:r>
            <a:r>
              <a:rPr kumimoji="1" lang="en-US" altLang="ko-KR" sz="800">
                <a:solidFill>
                  <a:schemeClr val="tx1"/>
                </a:solidFill>
              </a:rPr>
              <a:t> Chain</a:t>
            </a:r>
            <a:endParaRPr kumimoji="1" lang="en-US" altLang="ko-KR" sz="800" b="1">
              <a:solidFill>
                <a:schemeClr val="tx1"/>
              </a:solidFill>
            </a:endParaRPr>
          </a:p>
        </p:txBody>
      </p:sp>
      <p:sp>
        <p:nvSpPr>
          <p:cNvPr id="241" name="모서리가 둥근 직사각형 240">
            <a:extLst>
              <a:ext uri="{FF2B5EF4-FFF2-40B4-BE49-F238E27FC236}">
                <a16:creationId xmlns:a16="http://schemas.microsoft.com/office/drawing/2014/main" id="{BFB834DD-DCAE-B176-2C0A-326D29E68A7E}"/>
              </a:ext>
            </a:extLst>
          </p:cNvPr>
          <p:cNvSpPr/>
          <p:nvPr/>
        </p:nvSpPr>
        <p:spPr>
          <a:xfrm>
            <a:off x="1610712" y="1068422"/>
            <a:ext cx="1809254" cy="163277"/>
          </a:xfrm>
          <a:prstGeom prst="roundRect">
            <a:avLst>
              <a:gd name="adj" fmla="val 14645"/>
            </a:avLst>
          </a:prstGeom>
          <a:solidFill>
            <a:schemeClr val="accent5">
              <a:lumMod val="20000"/>
              <a:lumOff val="8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ko-KR" sz="800">
                <a:solidFill>
                  <a:schemeClr val="tx1"/>
                </a:solidFill>
              </a:rPr>
              <a:t>envoy.filters.network.tcp_proxy</a:t>
            </a:r>
          </a:p>
        </p:txBody>
      </p:sp>
      <p:sp>
        <p:nvSpPr>
          <p:cNvPr id="257" name="모서리가 둥근 직사각형 256">
            <a:extLst>
              <a:ext uri="{FF2B5EF4-FFF2-40B4-BE49-F238E27FC236}">
                <a16:creationId xmlns:a16="http://schemas.microsoft.com/office/drawing/2014/main" id="{C0257538-4A31-1233-1F8E-061BCE8D83D9}"/>
              </a:ext>
            </a:extLst>
          </p:cNvPr>
          <p:cNvSpPr/>
          <p:nvPr/>
        </p:nvSpPr>
        <p:spPr>
          <a:xfrm>
            <a:off x="3565260" y="832108"/>
            <a:ext cx="1955826" cy="457874"/>
          </a:xfrm>
          <a:prstGeom prst="roundRect">
            <a:avLst>
              <a:gd name="adj" fmla="val 7799"/>
            </a:avLst>
          </a:prstGeom>
          <a:solidFill>
            <a:schemeClr val="accent6">
              <a:lumMod val="40000"/>
              <a:lumOff val="6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kumimoji="1" lang="en-US" altLang="ko-KR" sz="800" b="1">
                <a:solidFill>
                  <a:schemeClr val="tx1"/>
                </a:solidFill>
              </a:rPr>
              <a:t>virtualOutbound-catchall-tcp</a:t>
            </a:r>
            <a:r>
              <a:rPr kumimoji="1" lang="en-US" altLang="ko-KR" sz="800">
                <a:solidFill>
                  <a:schemeClr val="tx1"/>
                </a:solidFill>
              </a:rPr>
              <a:t> Chain</a:t>
            </a:r>
            <a:endParaRPr kumimoji="1" lang="en-US" altLang="ko-KR" sz="800" b="1">
              <a:solidFill>
                <a:schemeClr val="tx1"/>
              </a:solidFill>
            </a:endParaRPr>
          </a:p>
        </p:txBody>
      </p:sp>
      <p:sp>
        <p:nvSpPr>
          <p:cNvPr id="258" name="모서리가 둥근 직사각형 257">
            <a:extLst>
              <a:ext uri="{FF2B5EF4-FFF2-40B4-BE49-F238E27FC236}">
                <a16:creationId xmlns:a16="http://schemas.microsoft.com/office/drawing/2014/main" id="{3DD52F2F-D28E-F0EE-F91B-5403746EBE61}"/>
              </a:ext>
            </a:extLst>
          </p:cNvPr>
          <p:cNvSpPr/>
          <p:nvPr/>
        </p:nvSpPr>
        <p:spPr>
          <a:xfrm>
            <a:off x="3639824" y="1068422"/>
            <a:ext cx="1809254" cy="163277"/>
          </a:xfrm>
          <a:prstGeom prst="roundRect">
            <a:avLst>
              <a:gd name="adj" fmla="val 14645"/>
            </a:avLst>
          </a:prstGeom>
          <a:solidFill>
            <a:schemeClr val="accent5">
              <a:lumMod val="20000"/>
              <a:lumOff val="8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ko-KR" sz="800">
                <a:solidFill>
                  <a:schemeClr val="tx1"/>
                </a:solidFill>
              </a:rPr>
              <a:t>envoy.filters.network.tcp_proxy</a:t>
            </a:r>
          </a:p>
        </p:txBody>
      </p:sp>
      <p:cxnSp>
        <p:nvCxnSpPr>
          <p:cNvPr id="373" name="직선 화살표 연결선 372">
            <a:extLst>
              <a:ext uri="{FF2B5EF4-FFF2-40B4-BE49-F238E27FC236}">
                <a16:creationId xmlns:a16="http://schemas.microsoft.com/office/drawing/2014/main" id="{A7C89617-66E3-96C5-CA41-1F005282CC6C}"/>
              </a:ext>
            </a:extLst>
          </p:cNvPr>
          <p:cNvCxnSpPr>
            <a:cxnSpLocks/>
            <a:stCxn id="241" idx="3"/>
            <a:endCxn id="21" idx="1"/>
          </p:cNvCxnSpPr>
          <p:nvPr/>
        </p:nvCxnSpPr>
        <p:spPr>
          <a:xfrm flipV="1">
            <a:off x="3419966" y="1048040"/>
            <a:ext cx="2505818" cy="102021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9" name="직선 화살표 연결선 378">
            <a:extLst>
              <a:ext uri="{FF2B5EF4-FFF2-40B4-BE49-F238E27FC236}">
                <a16:creationId xmlns:a16="http://schemas.microsoft.com/office/drawing/2014/main" id="{B635F87D-DB17-360B-C90F-3B4508C290B0}"/>
              </a:ext>
            </a:extLst>
          </p:cNvPr>
          <p:cNvCxnSpPr>
            <a:cxnSpLocks/>
            <a:stCxn id="258" idx="3"/>
            <a:endCxn id="29" idx="1"/>
          </p:cNvCxnSpPr>
          <p:nvPr/>
        </p:nvCxnSpPr>
        <p:spPr>
          <a:xfrm>
            <a:off x="5449078" y="1150061"/>
            <a:ext cx="476706" cy="412981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458062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D2EA5C-AD84-F5B7-B59A-528D3F70B2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모서리가 둥근 직사각형 5">
            <a:extLst>
              <a:ext uri="{FF2B5EF4-FFF2-40B4-BE49-F238E27FC236}">
                <a16:creationId xmlns:a16="http://schemas.microsoft.com/office/drawing/2014/main" id="{E5219E71-5073-501C-C502-7446B0874808}"/>
              </a:ext>
            </a:extLst>
          </p:cNvPr>
          <p:cNvSpPr/>
          <p:nvPr/>
        </p:nvSpPr>
        <p:spPr>
          <a:xfrm>
            <a:off x="107504" y="133350"/>
            <a:ext cx="9001000" cy="4817404"/>
          </a:xfrm>
          <a:prstGeom prst="roundRect">
            <a:avLst>
              <a:gd name="adj" fmla="val 1960"/>
            </a:avLst>
          </a:prstGeom>
          <a:solidFill>
            <a:schemeClr val="bg1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r"/>
            <a:r>
              <a:rPr kumimoji="1" lang="en-US" altLang="ko-KR" sz="800" b="1">
                <a:solidFill>
                  <a:schemeClr val="tx1"/>
                </a:solidFill>
              </a:rPr>
              <a:t>server-a</a:t>
            </a:r>
            <a:r>
              <a:rPr kumimoji="1" lang="ko-KR" altLang="en-US" sz="800" b="1">
                <a:solidFill>
                  <a:schemeClr val="tx1"/>
                </a:solidFill>
              </a:rPr>
              <a:t> </a:t>
            </a:r>
            <a:r>
              <a:rPr kumimoji="1" lang="en-US" altLang="ko-KR" sz="800">
                <a:solidFill>
                  <a:schemeClr val="tx1"/>
                </a:solidFill>
              </a:rPr>
              <a:t>Pod</a:t>
            </a:r>
          </a:p>
        </p:txBody>
      </p:sp>
      <p:sp>
        <p:nvSpPr>
          <p:cNvPr id="7" name="모서리가 둥근 직사각형 6">
            <a:extLst>
              <a:ext uri="{FF2B5EF4-FFF2-40B4-BE49-F238E27FC236}">
                <a16:creationId xmlns:a16="http://schemas.microsoft.com/office/drawing/2014/main" id="{20D89916-1D7C-0E34-3450-ED17702ED28A}"/>
              </a:ext>
            </a:extLst>
          </p:cNvPr>
          <p:cNvSpPr/>
          <p:nvPr/>
        </p:nvSpPr>
        <p:spPr>
          <a:xfrm>
            <a:off x="8109223" y="937291"/>
            <a:ext cx="936103" cy="286351"/>
          </a:xfrm>
          <a:prstGeom prst="roundRect">
            <a:avLst>
              <a:gd name="adj" fmla="val 14645"/>
            </a:avLst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 b="1">
                <a:solidFill>
                  <a:schemeClr val="tx1"/>
                </a:solidFill>
              </a:rPr>
              <a:t>server-a</a:t>
            </a:r>
            <a:endParaRPr kumimoji="1" lang="en-US" altLang="ko-KR" sz="800">
              <a:solidFill>
                <a:schemeClr val="tx1"/>
              </a:solidFill>
            </a:endParaRPr>
          </a:p>
        </p:txBody>
      </p:sp>
      <p:sp>
        <p:nvSpPr>
          <p:cNvPr id="9" name="모서리가 둥근 직사각형 8">
            <a:extLst>
              <a:ext uri="{FF2B5EF4-FFF2-40B4-BE49-F238E27FC236}">
                <a16:creationId xmlns:a16="http://schemas.microsoft.com/office/drawing/2014/main" id="{D9DEA768-3C32-4436-9D81-E09B6D46A0CD}"/>
              </a:ext>
            </a:extLst>
          </p:cNvPr>
          <p:cNvSpPr/>
          <p:nvPr/>
        </p:nvSpPr>
        <p:spPr>
          <a:xfrm>
            <a:off x="179512" y="203199"/>
            <a:ext cx="7776863" cy="4687063"/>
          </a:xfrm>
          <a:prstGeom prst="roundRect">
            <a:avLst>
              <a:gd name="adj" fmla="val 2107"/>
            </a:avLst>
          </a:prstGeom>
          <a:solidFill>
            <a:schemeClr val="bg1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kumimoji="1" lang="en-US" altLang="ko-KR" sz="800" b="1">
                <a:solidFill>
                  <a:schemeClr val="tx1"/>
                </a:solidFill>
              </a:rPr>
              <a:t>Sidecar Envoy</a:t>
            </a:r>
            <a:endParaRPr kumimoji="1" lang="en-US" altLang="ko-KR" sz="800">
              <a:solidFill>
                <a:schemeClr val="tx1"/>
              </a:solidFill>
            </a:endParaRPr>
          </a:p>
        </p:txBody>
      </p:sp>
      <p:sp>
        <p:nvSpPr>
          <p:cNvPr id="11" name="모서리가 둥근 직사각형 10">
            <a:extLst>
              <a:ext uri="{FF2B5EF4-FFF2-40B4-BE49-F238E27FC236}">
                <a16:creationId xmlns:a16="http://schemas.microsoft.com/office/drawing/2014/main" id="{A28C3C1B-16F8-69F0-10CA-DEAC57D14385}"/>
              </a:ext>
            </a:extLst>
          </p:cNvPr>
          <p:cNvSpPr/>
          <p:nvPr/>
        </p:nvSpPr>
        <p:spPr>
          <a:xfrm>
            <a:off x="318295" y="425450"/>
            <a:ext cx="5765874" cy="4361334"/>
          </a:xfrm>
          <a:prstGeom prst="roundRect">
            <a:avLst>
              <a:gd name="adj" fmla="val 1872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kumimoji="1" lang="en-US" altLang="ko-KR" sz="800" b="1">
                <a:solidFill>
                  <a:schemeClr val="tx1"/>
                </a:solidFill>
              </a:rPr>
              <a:t>virtualInbound </a:t>
            </a:r>
            <a:r>
              <a:rPr kumimoji="1" lang="en-US" altLang="ko-KR" sz="800">
                <a:solidFill>
                  <a:schemeClr val="tx1"/>
                </a:solidFill>
              </a:rPr>
              <a:t>Listener (:15006)</a:t>
            </a:r>
          </a:p>
        </p:txBody>
      </p:sp>
      <p:sp>
        <p:nvSpPr>
          <p:cNvPr id="21" name="모서리가 둥근 직사각형 20">
            <a:extLst>
              <a:ext uri="{FF2B5EF4-FFF2-40B4-BE49-F238E27FC236}">
                <a16:creationId xmlns:a16="http://schemas.microsoft.com/office/drawing/2014/main" id="{9462F580-67E9-1911-E9D5-49EA4B702C4E}"/>
              </a:ext>
            </a:extLst>
          </p:cNvPr>
          <p:cNvSpPr/>
          <p:nvPr/>
        </p:nvSpPr>
        <p:spPr>
          <a:xfrm>
            <a:off x="6228184" y="937292"/>
            <a:ext cx="1584176" cy="286351"/>
          </a:xfrm>
          <a:prstGeom prst="roundRect">
            <a:avLst>
              <a:gd name="adj" fmla="val 14645"/>
            </a:avLst>
          </a:prstGeom>
          <a:solidFill>
            <a:schemeClr val="tx2">
              <a:lumMod val="20000"/>
              <a:lumOff val="8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 b="1">
                <a:solidFill>
                  <a:schemeClr val="tx1"/>
                </a:solidFill>
              </a:rPr>
              <a:t>inbound|8080||</a:t>
            </a:r>
            <a:br>
              <a:rPr kumimoji="1" lang="en-US" altLang="ko-KR" sz="800" b="1">
                <a:solidFill>
                  <a:schemeClr val="tx1"/>
                </a:solidFill>
              </a:rPr>
            </a:br>
            <a:r>
              <a:rPr kumimoji="1" lang="en-US" altLang="ko-KR" sz="800">
                <a:solidFill>
                  <a:schemeClr val="tx1"/>
                </a:solidFill>
              </a:rPr>
              <a:t>Cluster</a:t>
            </a:r>
          </a:p>
        </p:txBody>
      </p:sp>
      <p:sp>
        <p:nvSpPr>
          <p:cNvPr id="29" name="모서리가 둥근 직사각형 28">
            <a:extLst>
              <a:ext uri="{FF2B5EF4-FFF2-40B4-BE49-F238E27FC236}">
                <a16:creationId xmlns:a16="http://schemas.microsoft.com/office/drawing/2014/main" id="{8F725FAB-A3C0-F49F-85B5-265EF84AEEC9}"/>
              </a:ext>
            </a:extLst>
          </p:cNvPr>
          <p:cNvSpPr/>
          <p:nvPr/>
        </p:nvSpPr>
        <p:spPr>
          <a:xfrm>
            <a:off x="6228184" y="1456209"/>
            <a:ext cx="1584176" cy="286351"/>
          </a:xfrm>
          <a:prstGeom prst="roundRect">
            <a:avLst>
              <a:gd name="adj" fmla="val 14645"/>
            </a:avLst>
          </a:prstGeom>
          <a:solidFill>
            <a:schemeClr val="tx2">
              <a:lumMod val="20000"/>
              <a:lumOff val="8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 b="1">
                <a:solidFill>
                  <a:schemeClr val="tx1"/>
                </a:solidFill>
              </a:rPr>
              <a:t>InboundPassthroughCluster</a:t>
            </a:r>
            <a:br>
              <a:rPr kumimoji="1" lang="en-US" altLang="ko-KR" sz="800" b="1">
                <a:solidFill>
                  <a:schemeClr val="tx1"/>
                </a:solidFill>
              </a:rPr>
            </a:br>
            <a:r>
              <a:rPr kumimoji="1" lang="en-US" altLang="ko-KR" sz="800">
                <a:solidFill>
                  <a:schemeClr val="tx1"/>
                </a:solidFill>
              </a:rPr>
              <a:t>Cluster</a:t>
            </a:r>
          </a:p>
        </p:txBody>
      </p:sp>
      <p:sp>
        <p:nvSpPr>
          <p:cNvPr id="41" name="모서리가 둥근 직사각형 40">
            <a:extLst>
              <a:ext uri="{FF2B5EF4-FFF2-40B4-BE49-F238E27FC236}">
                <a16:creationId xmlns:a16="http://schemas.microsoft.com/office/drawing/2014/main" id="{2F557859-287C-8278-2C81-638B8D4DBD8A}"/>
              </a:ext>
            </a:extLst>
          </p:cNvPr>
          <p:cNvSpPr/>
          <p:nvPr/>
        </p:nvSpPr>
        <p:spPr>
          <a:xfrm>
            <a:off x="397049" y="659595"/>
            <a:ext cx="3449637" cy="766415"/>
          </a:xfrm>
          <a:prstGeom prst="roundRect">
            <a:avLst>
              <a:gd name="adj" fmla="val 7526"/>
            </a:avLst>
          </a:prstGeom>
          <a:solidFill>
            <a:schemeClr val="accent3">
              <a:lumMod val="20000"/>
              <a:lumOff val="8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kumimoji="1" lang="en-US" altLang="ko-KR" sz="800">
                <a:solidFill>
                  <a:schemeClr val="tx1"/>
                </a:solidFill>
              </a:rPr>
              <a:t>Listener Filters</a:t>
            </a:r>
          </a:p>
        </p:txBody>
      </p:sp>
      <p:sp>
        <p:nvSpPr>
          <p:cNvPr id="37" name="모서리가 둥근 직사각형 36">
            <a:extLst>
              <a:ext uri="{FF2B5EF4-FFF2-40B4-BE49-F238E27FC236}">
                <a16:creationId xmlns:a16="http://schemas.microsoft.com/office/drawing/2014/main" id="{55E75B7F-B8F9-AC43-1AFA-28B0B3989A5A}"/>
              </a:ext>
            </a:extLst>
          </p:cNvPr>
          <p:cNvSpPr/>
          <p:nvPr/>
        </p:nvSpPr>
        <p:spPr>
          <a:xfrm>
            <a:off x="482899" y="879598"/>
            <a:ext cx="3291780" cy="163148"/>
          </a:xfrm>
          <a:prstGeom prst="roundRect">
            <a:avLst>
              <a:gd name="adj" fmla="val 14645"/>
            </a:avLst>
          </a:prstGeom>
          <a:solidFill>
            <a:schemeClr val="accent3">
              <a:lumMod val="40000"/>
              <a:lumOff val="6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ko-KR" sz="800">
                <a:solidFill>
                  <a:schemeClr val="tx1"/>
                </a:solidFill>
              </a:rPr>
              <a:t>envoy.filters.listener.original_dst</a:t>
            </a:r>
          </a:p>
        </p:txBody>
      </p:sp>
      <p:sp>
        <p:nvSpPr>
          <p:cNvPr id="38" name="모서리가 둥근 직사각형 37">
            <a:extLst>
              <a:ext uri="{FF2B5EF4-FFF2-40B4-BE49-F238E27FC236}">
                <a16:creationId xmlns:a16="http://schemas.microsoft.com/office/drawing/2014/main" id="{86774787-D2D0-735F-0369-95B89E2F3A3C}"/>
              </a:ext>
            </a:extLst>
          </p:cNvPr>
          <p:cNvSpPr/>
          <p:nvPr/>
        </p:nvSpPr>
        <p:spPr>
          <a:xfrm>
            <a:off x="482899" y="1042431"/>
            <a:ext cx="3291780" cy="163148"/>
          </a:xfrm>
          <a:prstGeom prst="roundRect">
            <a:avLst>
              <a:gd name="adj" fmla="val 14645"/>
            </a:avLst>
          </a:prstGeom>
          <a:solidFill>
            <a:schemeClr val="accent3">
              <a:lumMod val="40000"/>
              <a:lumOff val="6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ko-KR" sz="800">
                <a:solidFill>
                  <a:schemeClr val="tx1"/>
                </a:solidFill>
              </a:rPr>
              <a:t>envoy.filters.listener.tls_inspector</a:t>
            </a:r>
          </a:p>
        </p:txBody>
      </p:sp>
      <p:sp>
        <p:nvSpPr>
          <p:cNvPr id="42" name="모서리가 둥근 직사각형 41">
            <a:extLst>
              <a:ext uri="{FF2B5EF4-FFF2-40B4-BE49-F238E27FC236}">
                <a16:creationId xmlns:a16="http://schemas.microsoft.com/office/drawing/2014/main" id="{E007BDA6-8D6C-85FD-1AB3-BA6B71E47EBA}"/>
              </a:ext>
            </a:extLst>
          </p:cNvPr>
          <p:cNvSpPr/>
          <p:nvPr/>
        </p:nvSpPr>
        <p:spPr>
          <a:xfrm>
            <a:off x="397049" y="1504337"/>
            <a:ext cx="5499485" cy="3224166"/>
          </a:xfrm>
          <a:prstGeom prst="roundRect">
            <a:avLst>
              <a:gd name="adj" fmla="val 2943"/>
            </a:avLst>
          </a:prstGeom>
          <a:solidFill>
            <a:schemeClr val="accent6">
              <a:lumMod val="20000"/>
              <a:lumOff val="8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kumimoji="1" lang="en-US" altLang="ko-KR" sz="800">
                <a:solidFill>
                  <a:schemeClr val="tx1"/>
                </a:solidFill>
              </a:rPr>
              <a:t>Network Filters</a:t>
            </a:r>
          </a:p>
        </p:txBody>
      </p:sp>
      <p:sp>
        <p:nvSpPr>
          <p:cNvPr id="43" name="모서리가 둥근 직사각형 42">
            <a:extLst>
              <a:ext uri="{FF2B5EF4-FFF2-40B4-BE49-F238E27FC236}">
                <a16:creationId xmlns:a16="http://schemas.microsoft.com/office/drawing/2014/main" id="{9DA37304-019C-E068-6797-90588D9AAECD}"/>
              </a:ext>
            </a:extLst>
          </p:cNvPr>
          <p:cNvSpPr/>
          <p:nvPr/>
        </p:nvSpPr>
        <p:spPr>
          <a:xfrm>
            <a:off x="482899" y="1835044"/>
            <a:ext cx="2598315" cy="782041"/>
          </a:xfrm>
          <a:prstGeom prst="roundRect">
            <a:avLst>
              <a:gd name="adj" fmla="val 7799"/>
            </a:avLst>
          </a:prstGeom>
          <a:solidFill>
            <a:schemeClr val="accent6">
              <a:lumMod val="40000"/>
              <a:lumOff val="6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kumimoji="1" lang="en-US" altLang="ko-KR" sz="800" b="1">
                <a:solidFill>
                  <a:schemeClr val="tx1"/>
                </a:solidFill>
              </a:rPr>
              <a:t>virtualInbound-blackhole</a:t>
            </a:r>
            <a:r>
              <a:rPr kumimoji="1" lang="en-US" altLang="ko-KR" sz="800">
                <a:solidFill>
                  <a:schemeClr val="tx1"/>
                </a:solidFill>
              </a:rPr>
              <a:t> Chain</a:t>
            </a:r>
            <a:endParaRPr kumimoji="1" lang="en-US" altLang="ko-KR" sz="800" b="1">
              <a:solidFill>
                <a:schemeClr val="tx1"/>
              </a:solidFill>
            </a:endParaRPr>
          </a:p>
        </p:txBody>
      </p:sp>
      <p:sp>
        <p:nvSpPr>
          <p:cNvPr id="45" name="모서리가 둥근 직사각형 44">
            <a:extLst>
              <a:ext uri="{FF2B5EF4-FFF2-40B4-BE49-F238E27FC236}">
                <a16:creationId xmlns:a16="http://schemas.microsoft.com/office/drawing/2014/main" id="{AA909B93-8961-F2C7-8DBC-7ED8438C7050}"/>
              </a:ext>
            </a:extLst>
          </p:cNvPr>
          <p:cNvSpPr/>
          <p:nvPr/>
        </p:nvSpPr>
        <p:spPr>
          <a:xfrm>
            <a:off x="560052" y="2059437"/>
            <a:ext cx="2427770" cy="163148"/>
          </a:xfrm>
          <a:prstGeom prst="roundRect">
            <a:avLst>
              <a:gd name="adj" fmla="val 14645"/>
            </a:avLst>
          </a:prstGeom>
          <a:solidFill>
            <a:schemeClr val="accent5">
              <a:lumMod val="20000"/>
              <a:lumOff val="8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ko-KR" sz="800">
                <a:solidFill>
                  <a:schemeClr val="tx1"/>
                </a:solidFill>
              </a:rPr>
              <a:t>istio.metadata_exchange (shared)</a:t>
            </a:r>
          </a:p>
        </p:txBody>
      </p:sp>
      <p:sp>
        <p:nvSpPr>
          <p:cNvPr id="46" name="모서리가 둥근 직사각형 45">
            <a:extLst>
              <a:ext uri="{FF2B5EF4-FFF2-40B4-BE49-F238E27FC236}">
                <a16:creationId xmlns:a16="http://schemas.microsoft.com/office/drawing/2014/main" id="{9CCF4EDD-49B0-BA01-0404-E1D229BB4F6E}"/>
              </a:ext>
            </a:extLst>
          </p:cNvPr>
          <p:cNvSpPr/>
          <p:nvPr/>
        </p:nvSpPr>
        <p:spPr>
          <a:xfrm>
            <a:off x="560052" y="2221712"/>
            <a:ext cx="2427771" cy="163148"/>
          </a:xfrm>
          <a:prstGeom prst="roundRect">
            <a:avLst>
              <a:gd name="adj" fmla="val 14645"/>
            </a:avLst>
          </a:prstGeom>
          <a:solidFill>
            <a:schemeClr val="accent5">
              <a:lumMod val="20000"/>
              <a:lumOff val="8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ko-KR" sz="800">
                <a:solidFill>
                  <a:schemeClr val="tx1"/>
                </a:solidFill>
              </a:rPr>
              <a:t>istio.stats</a:t>
            </a:r>
          </a:p>
        </p:txBody>
      </p:sp>
      <p:sp>
        <p:nvSpPr>
          <p:cNvPr id="2" name="모서리가 둥근 직사각형 1">
            <a:extLst>
              <a:ext uri="{FF2B5EF4-FFF2-40B4-BE49-F238E27FC236}">
                <a16:creationId xmlns:a16="http://schemas.microsoft.com/office/drawing/2014/main" id="{90BA9723-C582-B511-57BC-D0EDFC96CAB7}"/>
              </a:ext>
            </a:extLst>
          </p:cNvPr>
          <p:cNvSpPr/>
          <p:nvPr/>
        </p:nvSpPr>
        <p:spPr>
          <a:xfrm>
            <a:off x="482899" y="1204265"/>
            <a:ext cx="3291780" cy="163148"/>
          </a:xfrm>
          <a:prstGeom prst="roundRect">
            <a:avLst>
              <a:gd name="adj" fmla="val 14645"/>
            </a:avLst>
          </a:prstGeom>
          <a:solidFill>
            <a:schemeClr val="accent3">
              <a:lumMod val="40000"/>
              <a:lumOff val="6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ko-KR" sz="800">
                <a:solidFill>
                  <a:schemeClr val="tx1"/>
                </a:solidFill>
              </a:rPr>
              <a:t>envoy.filters.listener.http_inspector</a:t>
            </a:r>
          </a:p>
        </p:txBody>
      </p:sp>
      <p:cxnSp>
        <p:nvCxnSpPr>
          <p:cNvPr id="3" name="직선 화살표 연결선 2">
            <a:extLst>
              <a:ext uri="{FF2B5EF4-FFF2-40B4-BE49-F238E27FC236}">
                <a16:creationId xmlns:a16="http://schemas.microsoft.com/office/drawing/2014/main" id="{B5F936EF-F5B1-C31F-E9FB-8A3A826032E3}"/>
              </a:ext>
            </a:extLst>
          </p:cNvPr>
          <p:cNvCxnSpPr>
            <a:cxnSpLocks/>
            <a:stCxn id="29" idx="3"/>
            <a:endCxn id="7" idx="1"/>
          </p:cNvCxnSpPr>
          <p:nvPr/>
        </p:nvCxnSpPr>
        <p:spPr>
          <a:xfrm flipV="1">
            <a:off x="7812360" y="1080467"/>
            <a:ext cx="296863" cy="518918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화살표 연결선 12">
            <a:extLst>
              <a:ext uri="{FF2B5EF4-FFF2-40B4-BE49-F238E27FC236}">
                <a16:creationId xmlns:a16="http://schemas.microsoft.com/office/drawing/2014/main" id="{1FC7AC8A-C2D2-A173-04E0-716B1A4E176D}"/>
              </a:ext>
            </a:extLst>
          </p:cNvPr>
          <p:cNvCxnSpPr>
            <a:cxnSpLocks/>
            <a:stCxn id="21" idx="3"/>
            <a:endCxn id="7" idx="1"/>
          </p:cNvCxnSpPr>
          <p:nvPr/>
        </p:nvCxnSpPr>
        <p:spPr>
          <a:xfrm flipV="1">
            <a:off x="7812360" y="1080467"/>
            <a:ext cx="296863" cy="1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모서리가 둥근 직사각형 16">
            <a:extLst>
              <a:ext uri="{FF2B5EF4-FFF2-40B4-BE49-F238E27FC236}">
                <a16:creationId xmlns:a16="http://schemas.microsoft.com/office/drawing/2014/main" id="{08B4366D-BCA2-F5E5-E892-03DE6418DF10}"/>
              </a:ext>
            </a:extLst>
          </p:cNvPr>
          <p:cNvSpPr/>
          <p:nvPr/>
        </p:nvSpPr>
        <p:spPr>
          <a:xfrm>
            <a:off x="560052" y="2383987"/>
            <a:ext cx="2427771" cy="163148"/>
          </a:xfrm>
          <a:prstGeom prst="roundRect">
            <a:avLst>
              <a:gd name="adj" fmla="val 14645"/>
            </a:avLst>
          </a:prstGeom>
          <a:solidFill>
            <a:schemeClr val="accent5">
              <a:lumMod val="20000"/>
              <a:lumOff val="8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ko-KR" sz="800">
                <a:solidFill>
                  <a:schemeClr val="tx1"/>
                </a:solidFill>
              </a:rPr>
              <a:t>envoy.filters.network.tcp_proxy</a:t>
            </a:r>
          </a:p>
        </p:txBody>
      </p:sp>
      <p:sp>
        <p:nvSpPr>
          <p:cNvPr id="19" name="모서리가 둥근 직사각형 18">
            <a:extLst>
              <a:ext uri="{FF2B5EF4-FFF2-40B4-BE49-F238E27FC236}">
                <a16:creationId xmlns:a16="http://schemas.microsoft.com/office/drawing/2014/main" id="{2D331851-352D-0DA6-D15C-B013938B3983}"/>
              </a:ext>
            </a:extLst>
          </p:cNvPr>
          <p:cNvSpPr/>
          <p:nvPr/>
        </p:nvSpPr>
        <p:spPr>
          <a:xfrm>
            <a:off x="482899" y="2685240"/>
            <a:ext cx="2598315" cy="613221"/>
          </a:xfrm>
          <a:prstGeom prst="roundRect">
            <a:avLst>
              <a:gd name="adj" fmla="val 7799"/>
            </a:avLst>
          </a:prstGeom>
          <a:solidFill>
            <a:schemeClr val="accent6">
              <a:lumMod val="40000"/>
              <a:lumOff val="6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kumimoji="1" lang="en-US" altLang="ko-KR" sz="800" b="1">
                <a:solidFill>
                  <a:schemeClr val="tx1"/>
                </a:solidFill>
              </a:rPr>
              <a:t>0.0.0.0_8080 </a:t>
            </a:r>
            <a:r>
              <a:rPr kumimoji="1" lang="en-US" altLang="ko-KR" sz="800">
                <a:solidFill>
                  <a:schemeClr val="tx1"/>
                </a:solidFill>
              </a:rPr>
              <a:t>Chain</a:t>
            </a:r>
            <a:endParaRPr kumimoji="1" lang="en-US" altLang="ko-KR" sz="800" b="1">
              <a:solidFill>
                <a:schemeClr val="tx1"/>
              </a:solidFill>
            </a:endParaRPr>
          </a:p>
        </p:txBody>
      </p:sp>
      <p:sp>
        <p:nvSpPr>
          <p:cNvPr id="22" name="모서리가 둥근 직사각형 21">
            <a:extLst>
              <a:ext uri="{FF2B5EF4-FFF2-40B4-BE49-F238E27FC236}">
                <a16:creationId xmlns:a16="http://schemas.microsoft.com/office/drawing/2014/main" id="{2569CB69-2385-DA17-EF80-9342327E44BA}"/>
              </a:ext>
            </a:extLst>
          </p:cNvPr>
          <p:cNvSpPr/>
          <p:nvPr/>
        </p:nvSpPr>
        <p:spPr>
          <a:xfrm>
            <a:off x="560052" y="2921095"/>
            <a:ext cx="2427772" cy="163148"/>
          </a:xfrm>
          <a:prstGeom prst="roundRect">
            <a:avLst>
              <a:gd name="adj" fmla="val 14645"/>
            </a:avLst>
          </a:prstGeom>
          <a:solidFill>
            <a:schemeClr val="accent5">
              <a:lumMod val="20000"/>
              <a:lumOff val="8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ko-KR" sz="800">
                <a:solidFill>
                  <a:schemeClr val="tx1"/>
                </a:solidFill>
              </a:rPr>
              <a:t>istio.metadata_exchange</a:t>
            </a:r>
          </a:p>
        </p:txBody>
      </p:sp>
      <p:sp>
        <p:nvSpPr>
          <p:cNvPr id="25" name="모서리가 둥근 직사각형 24">
            <a:extLst>
              <a:ext uri="{FF2B5EF4-FFF2-40B4-BE49-F238E27FC236}">
                <a16:creationId xmlns:a16="http://schemas.microsoft.com/office/drawing/2014/main" id="{11871556-65AB-B4B9-83C0-4F737BBE1E7F}"/>
              </a:ext>
            </a:extLst>
          </p:cNvPr>
          <p:cNvSpPr/>
          <p:nvPr/>
        </p:nvSpPr>
        <p:spPr>
          <a:xfrm>
            <a:off x="560053" y="3083370"/>
            <a:ext cx="2427772" cy="163148"/>
          </a:xfrm>
          <a:prstGeom prst="roundRect">
            <a:avLst>
              <a:gd name="adj" fmla="val 14645"/>
            </a:avLst>
          </a:prstGeom>
          <a:solidFill>
            <a:schemeClr val="accent5">
              <a:lumMod val="20000"/>
              <a:lumOff val="8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ko-KR" sz="800">
                <a:solidFill>
                  <a:schemeClr val="tx1"/>
                </a:solidFill>
              </a:rPr>
              <a:t>envoy.filters.network.http_connection_manager</a:t>
            </a:r>
          </a:p>
        </p:txBody>
      </p:sp>
      <p:sp>
        <p:nvSpPr>
          <p:cNvPr id="28" name="모서리가 둥근 직사각형 27">
            <a:extLst>
              <a:ext uri="{FF2B5EF4-FFF2-40B4-BE49-F238E27FC236}">
                <a16:creationId xmlns:a16="http://schemas.microsoft.com/office/drawing/2014/main" id="{17C43698-4326-53B4-6A11-22EC6AADC50F}"/>
              </a:ext>
            </a:extLst>
          </p:cNvPr>
          <p:cNvSpPr/>
          <p:nvPr/>
        </p:nvSpPr>
        <p:spPr>
          <a:xfrm>
            <a:off x="485018" y="3370232"/>
            <a:ext cx="2598315" cy="613221"/>
          </a:xfrm>
          <a:prstGeom prst="roundRect">
            <a:avLst>
              <a:gd name="adj" fmla="val 7799"/>
            </a:avLst>
          </a:prstGeom>
          <a:solidFill>
            <a:schemeClr val="accent6">
              <a:lumMod val="40000"/>
              <a:lumOff val="6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kumimoji="1" lang="en-US" altLang="ko-KR" sz="800" b="1">
                <a:solidFill>
                  <a:schemeClr val="tx1"/>
                </a:solidFill>
              </a:rPr>
              <a:t>raw_buffer </a:t>
            </a:r>
            <a:r>
              <a:rPr kumimoji="1" lang="en-US" altLang="ko-KR" sz="800">
                <a:solidFill>
                  <a:schemeClr val="tx1"/>
                </a:solidFill>
              </a:rPr>
              <a:t>Chain</a:t>
            </a:r>
            <a:endParaRPr kumimoji="1" lang="en-US" altLang="ko-KR" sz="800" b="1">
              <a:solidFill>
                <a:schemeClr val="tx1"/>
              </a:solidFill>
            </a:endParaRPr>
          </a:p>
        </p:txBody>
      </p:sp>
      <p:sp>
        <p:nvSpPr>
          <p:cNvPr id="31" name="모서리가 둥근 직사각형 30">
            <a:extLst>
              <a:ext uri="{FF2B5EF4-FFF2-40B4-BE49-F238E27FC236}">
                <a16:creationId xmlns:a16="http://schemas.microsoft.com/office/drawing/2014/main" id="{C740831C-C52B-5A72-5EB0-A7E0EB6D3F4A}"/>
              </a:ext>
            </a:extLst>
          </p:cNvPr>
          <p:cNvSpPr/>
          <p:nvPr/>
        </p:nvSpPr>
        <p:spPr>
          <a:xfrm>
            <a:off x="562171" y="3592463"/>
            <a:ext cx="2427772" cy="163148"/>
          </a:xfrm>
          <a:prstGeom prst="roundRect">
            <a:avLst>
              <a:gd name="adj" fmla="val 14645"/>
            </a:avLst>
          </a:prstGeom>
          <a:solidFill>
            <a:schemeClr val="accent5">
              <a:lumMod val="20000"/>
              <a:lumOff val="8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ko-KR" sz="800">
                <a:solidFill>
                  <a:schemeClr val="tx1"/>
                </a:solidFill>
              </a:rPr>
              <a:t>istio.metadata_exchange</a:t>
            </a:r>
          </a:p>
        </p:txBody>
      </p:sp>
      <p:sp>
        <p:nvSpPr>
          <p:cNvPr id="32" name="모서리가 둥근 직사각형 31">
            <a:extLst>
              <a:ext uri="{FF2B5EF4-FFF2-40B4-BE49-F238E27FC236}">
                <a16:creationId xmlns:a16="http://schemas.microsoft.com/office/drawing/2014/main" id="{12FA53EF-BEA0-F7A0-586F-92797F33BA6B}"/>
              </a:ext>
            </a:extLst>
          </p:cNvPr>
          <p:cNvSpPr/>
          <p:nvPr/>
        </p:nvSpPr>
        <p:spPr>
          <a:xfrm>
            <a:off x="562172" y="3754738"/>
            <a:ext cx="2427772" cy="163148"/>
          </a:xfrm>
          <a:prstGeom prst="roundRect">
            <a:avLst>
              <a:gd name="adj" fmla="val 14645"/>
            </a:avLst>
          </a:prstGeom>
          <a:solidFill>
            <a:schemeClr val="accent5">
              <a:lumMod val="20000"/>
              <a:lumOff val="8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ko-KR" sz="800">
                <a:solidFill>
                  <a:schemeClr val="tx1"/>
                </a:solidFill>
              </a:rPr>
              <a:t>envoy.filters.network.http_connection_manager</a:t>
            </a:r>
          </a:p>
        </p:txBody>
      </p:sp>
      <p:sp>
        <p:nvSpPr>
          <p:cNvPr id="33" name="모서리가 둥근 직사각형 32">
            <a:extLst>
              <a:ext uri="{FF2B5EF4-FFF2-40B4-BE49-F238E27FC236}">
                <a16:creationId xmlns:a16="http://schemas.microsoft.com/office/drawing/2014/main" id="{65DEECFD-4C06-45EC-B873-21E91379F657}"/>
              </a:ext>
            </a:extLst>
          </p:cNvPr>
          <p:cNvSpPr/>
          <p:nvPr/>
        </p:nvSpPr>
        <p:spPr>
          <a:xfrm>
            <a:off x="3219996" y="1588019"/>
            <a:ext cx="2598315" cy="782041"/>
          </a:xfrm>
          <a:prstGeom prst="roundRect">
            <a:avLst>
              <a:gd name="adj" fmla="val 7799"/>
            </a:avLst>
          </a:prstGeom>
          <a:solidFill>
            <a:schemeClr val="accent6">
              <a:lumMod val="40000"/>
              <a:lumOff val="6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kumimoji="1" lang="en-US" altLang="ko-KR" sz="800" b="1">
                <a:solidFill>
                  <a:schemeClr val="tx1"/>
                </a:solidFill>
              </a:rPr>
              <a:t>virtualInbound Sidecar mTLS</a:t>
            </a:r>
            <a:r>
              <a:rPr kumimoji="1" lang="en-US" altLang="ko-KR" sz="800">
                <a:solidFill>
                  <a:schemeClr val="tx1"/>
                </a:solidFill>
              </a:rPr>
              <a:t> Chain</a:t>
            </a:r>
            <a:endParaRPr kumimoji="1" lang="en-US" altLang="ko-KR" sz="800" b="1">
              <a:solidFill>
                <a:schemeClr val="tx1"/>
              </a:solidFill>
            </a:endParaRPr>
          </a:p>
        </p:txBody>
      </p:sp>
      <p:sp>
        <p:nvSpPr>
          <p:cNvPr id="34" name="모서리가 둥근 직사각형 33">
            <a:extLst>
              <a:ext uri="{FF2B5EF4-FFF2-40B4-BE49-F238E27FC236}">
                <a16:creationId xmlns:a16="http://schemas.microsoft.com/office/drawing/2014/main" id="{681E6A55-1153-C157-03FA-3F0435C4F13A}"/>
              </a:ext>
            </a:extLst>
          </p:cNvPr>
          <p:cNvSpPr/>
          <p:nvPr/>
        </p:nvSpPr>
        <p:spPr>
          <a:xfrm>
            <a:off x="3303608" y="1812413"/>
            <a:ext cx="2421536" cy="163148"/>
          </a:xfrm>
          <a:prstGeom prst="roundRect">
            <a:avLst>
              <a:gd name="adj" fmla="val 14645"/>
            </a:avLst>
          </a:prstGeom>
          <a:solidFill>
            <a:schemeClr val="accent5">
              <a:lumMod val="20000"/>
              <a:lumOff val="8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ko-KR" sz="800">
                <a:solidFill>
                  <a:schemeClr val="tx1"/>
                </a:solidFill>
              </a:rPr>
              <a:t>istio.metadata_exchange</a:t>
            </a:r>
          </a:p>
        </p:txBody>
      </p:sp>
      <p:sp>
        <p:nvSpPr>
          <p:cNvPr id="35" name="모서리가 둥근 직사각형 34">
            <a:extLst>
              <a:ext uri="{FF2B5EF4-FFF2-40B4-BE49-F238E27FC236}">
                <a16:creationId xmlns:a16="http://schemas.microsoft.com/office/drawing/2014/main" id="{F3D0A73F-DB58-FDD6-1F3C-FFD80A97D2B1}"/>
              </a:ext>
            </a:extLst>
          </p:cNvPr>
          <p:cNvSpPr/>
          <p:nvPr/>
        </p:nvSpPr>
        <p:spPr>
          <a:xfrm>
            <a:off x="3303608" y="1974688"/>
            <a:ext cx="2421537" cy="163148"/>
          </a:xfrm>
          <a:prstGeom prst="roundRect">
            <a:avLst>
              <a:gd name="adj" fmla="val 14645"/>
            </a:avLst>
          </a:prstGeom>
          <a:solidFill>
            <a:schemeClr val="accent5">
              <a:lumMod val="20000"/>
              <a:lumOff val="8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ko-KR" sz="800">
                <a:solidFill>
                  <a:schemeClr val="tx1"/>
                </a:solidFill>
              </a:rPr>
              <a:t>istio.stats</a:t>
            </a:r>
          </a:p>
        </p:txBody>
      </p:sp>
      <p:sp>
        <p:nvSpPr>
          <p:cNvPr id="36" name="모서리가 둥근 직사각형 35">
            <a:extLst>
              <a:ext uri="{FF2B5EF4-FFF2-40B4-BE49-F238E27FC236}">
                <a16:creationId xmlns:a16="http://schemas.microsoft.com/office/drawing/2014/main" id="{131F0FFF-A002-8954-3039-ED136A347BE2}"/>
              </a:ext>
            </a:extLst>
          </p:cNvPr>
          <p:cNvSpPr/>
          <p:nvPr/>
        </p:nvSpPr>
        <p:spPr>
          <a:xfrm>
            <a:off x="3303608" y="2136963"/>
            <a:ext cx="2421537" cy="163148"/>
          </a:xfrm>
          <a:prstGeom prst="roundRect">
            <a:avLst>
              <a:gd name="adj" fmla="val 14645"/>
            </a:avLst>
          </a:prstGeom>
          <a:solidFill>
            <a:schemeClr val="accent5">
              <a:lumMod val="20000"/>
              <a:lumOff val="8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ko-KR" sz="800">
                <a:solidFill>
                  <a:schemeClr val="tx1"/>
                </a:solidFill>
              </a:rPr>
              <a:t>envoy.filters.network.tcp_proxy</a:t>
            </a:r>
          </a:p>
        </p:txBody>
      </p:sp>
      <p:sp>
        <p:nvSpPr>
          <p:cNvPr id="39" name="모서리가 둥근 직사각형 38">
            <a:extLst>
              <a:ext uri="{FF2B5EF4-FFF2-40B4-BE49-F238E27FC236}">
                <a16:creationId xmlns:a16="http://schemas.microsoft.com/office/drawing/2014/main" id="{6B0F0185-D2DF-7EFB-F194-7B7FDEAB98AB}"/>
              </a:ext>
            </a:extLst>
          </p:cNvPr>
          <p:cNvSpPr/>
          <p:nvPr/>
        </p:nvSpPr>
        <p:spPr>
          <a:xfrm>
            <a:off x="3219997" y="2416137"/>
            <a:ext cx="2598314" cy="782041"/>
          </a:xfrm>
          <a:prstGeom prst="roundRect">
            <a:avLst>
              <a:gd name="adj" fmla="val 7799"/>
            </a:avLst>
          </a:prstGeom>
          <a:solidFill>
            <a:schemeClr val="accent6">
              <a:lumMod val="40000"/>
              <a:lumOff val="6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kumimoji="1" lang="en-US" altLang="ko-KR" sz="800" b="1">
                <a:solidFill>
                  <a:schemeClr val="tx1"/>
                </a:solidFill>
              </a:rPr>
              <a:t>virtualInbound Sidecar Plaintext</a:t>
            </a:r>
            <a:r>
              <a:rPr kumimoji="1" lang="en-US" altLang="ko-KR" sz="800">
                <a:solidFill>
                  <a:schemeClr val="tx1"/>
                </a:solidFill>
              </a:rPr>
              <a:t> Chain</a:t>
            </a:r>
            <a:endParaRPr kumimoji="1" lang="en-US" altLang="ko-KR" sz="800" b="1">
              <a:solidFill>
                <a:schemeClr val="tx1"/>
              </a:solidFill>
            </a:endParaRPr>
          </a:p>
        </p:txBody>
      </p:sp>
      <p:sp>
        <p:nvSpPr>
          <p:cNvPr id="51" name="모서리가 둥근 직사각형 50">
            <a:extLst>
              <a:ext uri="{FF2B5EF4-FFF2-40B4-BE49-F238E27FC236}">
                <a16:creationId xmlns:a16="http://schemas.microsoft.com/office/drawing/2014/main" id="{9B5D4410-91A1-B94A-6DE6-50B842A78755}"/>
              </a:ext>
            </a:extLst>
          </p:cNvPr>
          <p:cNvSpPr/>
          <p:nvPr/>
        </p:nvSpPr>
        <p:spPr>
          <a:xfrm>
            <a:off x="3303608" y="2640531"/>
            <a:ext cx="2421536" cy="163148"/>
          </a:xfrm>
          <a:prstGeom prst="roundRect">
            <a:avLst>
              <a:gd name="adj" fmla="val 14645"/>
            </a:avLst>
          </a:prstGeom>
          <a:solidFill>
            <a:schemeClr val="accent5">
              <a:lumMod val="20000"/>
              <a:lumOff val="8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ko-KR" sz="800">
                <a:solidFill>
                  <a:schemeClr val="tx1"/>
                </a:solidFill>
              </a:rPr>
              <a:t>istio.metadata_exchange</a:t>
            </a:r>
          </a:p>
        </p:txBody>
      </p:sp>
      <p:sp>
        <p:nvSpPr>
          <p:cNvPr id="56" name="모서리가 둥근 직사각형 55">
            <a:extLst>
              <a:ext uri="{FF2B5EF4-FFF2-40B4-BE49-F238E27FC236}">
                <a16:creationId xmlns:a16="http://schemas.microsoft.com/office/drawing/2014/main" id="{BA90AF85-EC23-AAC3-39ED-D33A09C40E11}"/>
              </a:ext>
            </a:extLst>
          </p:cNvPr>
          <p:cNvSpPr/>
          <p:nvPr/>
        </p:nvSpPr>
        <p:spPr>
          <a:xfrm>
            <a:off x="3303608" y="2802806"/>
            <a:ext cx="2421537" cy="163148"/>
          </a:xfrm>
          <a:prstGeom prst="roundRect">
            <a:avLst>
              <a:gd name="adj" fmla="val 14645"/>
            </a:avLst>
          </a:prstGeom>
          <a:solidFill>
            <a:schemeClr val="accent5">
              <a:lumMod val="20000"/>
              <a:lumOff val="8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ko-KR" sz="800">
                <a:solidFill>
                  <a:schemeClr val="tx1"/>
                </a:solidFill>
              </a:rPr>
              <a:t>istio.stats</a:t>
            </a:r>
          </a:p>
        </p:txBody>
      </p:sp>
      <p:sp>
        <p:nvSpPr>
          <p:cNvPr id="57" name="모서리가 둥근 직사각형 56">
            <a:extLst>
              <a:ext uri="{FF2B5EF4-FFF2-40B4-BE49-F238E27FC236}">
                <a16:creationId xmlns:a16="http://schemas.microsoft.com/office/drawing/2014/main" id="{6AF8BA02-7E77-E5B0-DF89-2BC9D0F19F18}"/>
              </a:ext>
            </a:extLst>
          </p:cNvPr>
          <p:cNvSpPr/>
          <p:nvPr/>
        </p:nvSpPr>
        <p:spPr>
          <a:xfrm>
            <a:off x="3303608" y="2965081"/>
            <a:ext cx="2421537" cy="163148"/>
          </a:xfrm>
          <a:prstGeom prst="roundRect">
            <a:avLst>
              <a:gd name="adj" fmla="val 14645"/>
            </a:avLst>
          </a:prstGeom>
          <a:solidFill>
            <a:schemeClr val="accent5">
              <a:lumMod val="20000"/>
              <a:lumOff val="8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ko-KR" sz="800">
                <a:solidFill>
                  <a:schemeClr val="tx1"/>
                </a:solidFill>
              </a:rPr>
              <a:t>envoy.filters.network.tcp_proxy</a:t>
            </a:r>
          </a:p>
        </p:txBody>
      </p:sp>
      <p:sp>
        <p:nvSpPr>
          <p:cNvPr id="58" name="모서리가 둥근 직사각형 57">
            <a:extLst>
              <a:ext uri="{FF2B5EF4-FFF2-40B4-BE49-F238E27FC236}">
                <a16:creationId xmlns:a16="http://schemas.microsoft.com/office/drawing/2014/main" id="{E9ED5A18-D0EC-A931-1A40-75166BB8C1C5}"/>
              </a:ext>
            </a:extLst>
          </p:cNvPr>
          <p:cNvSpPr/>
          <p:nvPr/>
        </p:nvSpPr>
        <p:spPr>
          <a:xfrm>
            <a:off x="3219996" y="3246496"/>
            <a:ext cx="2598313" cy="782041"/>
          </a:xfrm>
          <a:prstGeom prst="roundRect">
            <a:avLst>
              <a:gd name="adj" fmla="val 7799"/>
            </a:avLst>
          </a:prstGeom>
          <a:solidFill>
            <a:schemeClr val="accent6">
              <a:lumMod val="40000"/>
              <a:lumOff val="6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kumimoji="1" lang="en-US" altLang="ko-KR" sz="800" b="1">
                <a:solidFill>
                  <a:schemeClr val="tx1"/>
                </a:solidFill>
              </a:rPr>
              <a:t>virtualInbound Other mTLS </a:t>
            </a:r>
            <a:r>
              <a:rPr kumimoji="1" lang="en-US" altLang="ko-KR" sz="800">
                <a:solidFill>
                  <a:schemeClr val="tx1"/>
                </a:solidFill>
              </a:rPr>
              <a:t>Chain</a:t>
            </a:r>
            <a:endParaRPr kumimoji="1" lang="en-US" altLang="ko-KR" sz="800" b="1">
              <a:solidFill>
                <a:schemeClr val="tx1"/>
              </a:solidFill>
            </a:endParaRPr>
          </a:p>
        </p:txBody>
      </p:sp>
      <p:sp>
        <p:nvSpPr>
          <p:cNvPr id="60" name="모서리가 둥근 직사각형 59">
            <a:extLst>
              <a:ext uri="{FF2B5EF4-FFF2-40B4-BE49-F238E27FC236}">
                <a16:creationId xmlns:a16="http://schemas.microsoft.com/office/drawing/2014/main" id="{A583BC61-5945-B103-B8DE-DF6E1658904D}"/>
              </a:ext>
            </a:extLst>
          </p:cNvPr>
          <p:cNvSpPr/>
          <p:nvPr/>
        </p:nvSpPr>
        <p:spPr>
          <a:xfrm>
            <a:off x="3303608" y="3470890"/>
            <a:ext cx="2421536" cy="163148"/>
          </a:xfrm>
          <a:prstGeom prst="roundRect">
            <a:avLst>
              <a:gd name="adj" fmla="val 14645"/>
            </a:avLst>
          </a:prstGeom>
          <a:solidFill>
            <a:schemeClr val="accent5">
              <a:lumMod val="20000"/>
              <a:lumOff val="8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ko-KR" sz="800">
                <a:solidFill>
                  <a:schemeClr val="tx1"/>
                </a:solidFill>
              </a:rPr>
              <a:t>istio.metadata_exchange</a:t>
            </a:r>
          </a:p>
        </p:txBody>
      </p:sp>
      <p:sp>
        <p:nvSpPr>
          <p:cNvPr id="61" name="모서리가 둥근 직사각형 60">
            <a:extLst>
              <a:ext uri="{FF2B5EF4-FFF2-40B4-BE49-F238E27FC236}">
                <a16:creationId xmlns:a16="http://schemas.microsoft.com/office/drawing/2014/main" id="{0BE849B0-716D-9913-F001-022111C44D96}"/>
              </a:ext>
            </a:extLst>
          </p:cNvPr>
          <p:cNvSpPr/>
          <p:nvPr/>
        </p:nvSpPr>
        <p:spPr>
          <a:xfrm>
            <a:off x="3303608" y="3633165"/>
            <a:ext cx="2421537" cy="163148"/>
          </a:xfrm>
          <a:prstGeom prst="roundRect">
            <a:avLst>
              <a:gd name="adj" fmla="val 14645"/>
            </a:avLst>
          </a:prstGeom>
          <a:solidFill>
            <a:schemeClr val="accent5">
              <a:lumMod val="20000"/>
              <a:lumOff val="8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ko-KR" sz="800">
                <a:solidFill>
                  <a:schemeClr val="tx1"/>
                </a:solidFill>
              </a:rPr>
              <a:t>istio.stats</a:t>
            </a:r>
          </a:p>
        </p:txBody>
      </p:sp>
      <p:sp>
        <p:nvSpPr>
          <p:cNvPr id="62" name="모서리가 둥근 직사각형 61">
            <a:extLst>
              <a:ext uri="{FF2B5EF4-FFF2-40B4-BE49-F238E27FC236}">
                <a16:creationId xmlns:a16="http://schemas.microsoft.com/office/drawing/2014/main" id="{FFB75192-754A-756A-A6F0-0264B3B9F975}"/>
              </a:ext>
            </a:extLst>
          </p:cNvPr>
          <p:cNvSpPr/>
          <p:nvPr/>
        </p:nvSpPr>
        <p:spPr>
          <a:xfrm>
            <a:off x="3303608" y="3795440"/>
            <a:ext cx="2421537" cy="163148"/>
          </a:xfrm>
          <a:prstGeom prst="roundRect">
            <a:avLst>
              <a:gd name="adj" fmla="val 14645"/>
            </a:avLst>
          </a:prstGeom>
          <a:solidFill>
            <a:schemeClr val="accent5">
              <a:lumMod val="20000"/>
              <a:lumOff val="8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ko-KR" sz="800">
                <a:solidFill>
                  <a:schemeClr val="tx1"/>
                </a:solidFill>
              </a:rPr>
              <a:t>envoy.filters.network.tcp_proxy</a:t>
            </a:r>
          </a:p>
        </p:txBody>
      </p:sp>
      <p:sp>
        <p:nvSpPr>
          <p:cNvPr id="66" name="모서리가 둥근 직사각형 65">
            <a:extLst>
              <a:ext uri="{FF2B5EF4-FFF2-40B4-BE49-F238E27FC236}">
                <a16:creationId xmlns:a16="http://schemas.microsoft.com/office/drawing/2014/main" id="{BD4E5515-AE41-663B-3B3C-C1C476357EF6}"/>
              </a:ext>
            </a:extLst>
          </p:cNvPr>
          <p:cNvSpPr/>
          <p:nvPr/>
        </p:nvSpPr>
        <p:spPr>
          <a:xfrm>
            <a:off x="482899" y="4046761"/>
            <a:ext cx="2598315" cy="613221"/>
          </a:xfrm>
          <a:prstGeom prst="roundRect">
            <a:avLst>
              <a:gd name="adj" fmla="val 7799"/>
            </a:avLst>
          </a:prstGeom>
          <a:solidFill>
            <a:schemeClr val="accent6">
              <a:lumMod val="40000"/>
              <a:lumOff val="6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kumimoji="1" lang="en-US" altLang="ko-KR" sz="800" b="1">
                <a:solidFill>
                  <a:schemeClr val="tx1"/>
                </a:solidFill>
              </a:rPr>
              <a:t>virtualInbound-catchall-http Sidecar mTLS</a:t>
            </a:r>
            <a:r>
              <a:rPr kumimoji="1" lang="en-US" altLang="ko-KR" sz="800">
                <a:solidFill>
                  <a:schemeClr val="tx1"/>
                </a:solidFill>
              </a:rPr>
              <a:t> Chain</a:t>
            </a:r>
            <a:endParaRPr kumimoji="1" lang="en-US" altLang="ko-KR" sz="800" b="1">
              <a:solidFill>
                <a:schemeClr val="tx1"/>
              </a:solidFill>
            </a:endParaRPr>
          </a:p>
        </p:txBody>
      </p:sp>
      <p:sp>
        <p:nvSpPr>
          <p:cNvPr id="67" name="모서리가 둥근 직사각형 66">
            <a:extLst>
              <a:ext uri="{FF2B5EF4-FFF2-40B4-BE49-F238E27FC236}">
                <a16:creationId xmlns:a16="http://schemas.microsoft.com/office/drawing/2014/main" id="{256A49DF-7871-655A-33F1-9B2BB1FEE528}"/>
              </a:ext>
            </a:extLst>
          </p:cNvPr>
          <p:cNvSpPr/>
          <p:nvPr/>
        </p:nvSpPr>
        <p:spPr>
          <a:xfrm>
            <a:off x="560052" y="4268992"/>
            <a:ext cx="2427772" cy="163148"/>
          </a:xfrm>
          <a:prstGeom prst="roundRect">
            <a:avLst>
              <a:gd name="adj" fmla="val 14645"/>
            </a:avLst>
          </a:prstGeom>
          <a:solidFill>
            <a:schemeClr val="accent5">
              <a:lumMod val="20000"/>
              <a:lumOff val="8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ko-KR" sz="800">
                <a:solidFill>
                  <a:schemeClr val="tx1"/>
                </a:solidFill>
              </a:rPr>
              <a:t>istio.metadata_exchange</a:t>
            </a:r>
          </a:p>
        </p:txBody>
      </p:sp>
      <p:sp>
        <p:nvSpPr>
          <p:cNvPr id="68" name="모서리가 둥근 직사각형 67">
            <a:extLst>
              <a:ext uri="{FF2B5EF4-FFF2-40B4-BE49-F238E27FC236}">
                <a16:creationId xmlns:a16="http://schemas.microsoft.com/office/drawing/2014/main" id="{9A26E87B-9699-3440-5E2A-EE1FC15E5EA2}"/>
              </a:ext>
            </a:extLst>
          </p:cNvPr>
          <p:cNvSpPr/>
          <p:nvPr/>
        </p:nvSpPr>
        <p:spPr>
          <a:xfrm>
            <a:off x="560053" y="4431267"/>
            <a:ext cx="2427772" cy="163148"/>
          </a:xfrm>
          <a:prstGeom prst="roundRect">
            <a:avLst>
              <a:gd name="adj" fmla="val 14645"/>
            </a:avLst>
          </a:prstGeom>
          <a:solidFill>
            <a:schemeClr val="accent5">
              <a:lumMod val="20000"/>
              <a:lumOff val="8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ko-KR" sz="800">
                <a:solidFill>
                  <a:schemeClr val="tx1"/>
                </a:solidFill>
              </a:rPr>
              <a:t>envoy.filters.network.http_connection_manager</a:t>
            </a:r>
          </a:p>
        </p:txBody>
      </p:sp>
      <p:cxnSp>
        <p:nvCxnSpPr>
          <p:cNvPr id="92" name="직선 화살표 연결선 91">
            <a:extLst>
              <a:ext uri="{FF2B5EF4-FFF2-40B4-BE49-F238E27FC236}">
                <a16:creationId xmlns:a16="http://schemas.microsoft.com/office/drawing/2014/main" id="{A31FE6F8-9AC2-DD54-2C17-B528FD0A0FCF}"/>
              </a:ext>
            </a:extLst>
          </p:cNvPr>
          <p:cNvCxnSpPr>
            <a:cxnSpLocks/>
            <a:stCxn id="17" idx="3"/>
            <a:endCxn id="93" idx="1"/>
          </p:cNvCxnSpPr>
          <p:nvPr/>
        </p:nvCxnSpPr>
        <p:spPr>
          <a:xfrm flipV="1">
            <a:off x="2987823" y="562776"/>
            <a:ext cx="3235129" cy="1902785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" name="모서리가 둥근 직사각형 92">
            <a:extLst>
              <a:ext uri="{FF2B5EF4-FFF2-40B4-BE49-F238E27FC236}">
                <a16:creationId xmlns:a16="http://schemas.microsoft.com/office/drawing/2014/main" id="{B2B4B8E8-7582-44CE-1723-6B68D4ECA9E8}"/>
              </a:ext>
            </a:extLst>
          </p:cNvPr>
          <p:cNvSpPr/>
          <p:nvPr/>
        </p:nvSpPr>
        <p:spPr>
          <a:xfrm>
            <a:off x="6222952" y="423949"/>
            <a:ext cx="1584175" cy="277654"/>
          </a:xfrm>
          <a:prstGeom prst="roundRect">
            <a:avLst>
              <a:gd name="adj" fmla="val 14645"/>
            </a:avLst>
          </a:prstGeom>
          <a:solidFill>
            <a:schemeClr val="tx2">
              <a:lumMod val="20000"/>
              <a:lumOff val="8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 b="1">
                <a:solidFill>
                  <a:schemeClr val="tx1"/>
                </a:solidFill>
              </a:rPr>
              <a:t>BlackHoleCluster </a:t>
            </a:r>
            <a:r>
              <a:rPr kumimoji="1" lang="en-US" altLang="ko-KR" sz="800">
                <a:solidFill>
                  <a:schemeClr val="tx1"/>
                </a:solidFill>
              </a:rPr>
              <a:t>Cluster</a:t>
            </a:r>
          </a:p>
        </p:txBody>
      </p:sp>
      <p:cxnSp>
        <p:nvCxnSpPr>
          <p:cNvPr id="99" name="직선 화살표 연결선 98">
            <a:extLst>
              <a:ext uri="{FF2B5EF4-FFF2-40B4-BE49-F238E27FC236}">
                <a16:creationId xmlns:a16="http://schemas.microsoft.com/office/drawing/2014/main" id="{7A20896D-8F21-7B49-1112-C23E9F21CC71}"/>
              </a:ext>
            </a:extLst>
          </p:cNvPr>
          <p:cNvCxnSpPr>
            <a:cxnSpLocks/>
            <a:stCxn id="41" idx="2"/>
            <a:endCxn id="42" idx="0"/>
          </p:cNvCxnSpPr>
          <p:nvPr/>
        </p:nvCxnSpPr>
        <p:spPr>
          <a:xfrm>
            <a:off x="2121868" y="1426010"/>
            <a:ext cx="1024924" cy="78327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직선 화살표 연결선 112">
            <a:extLst>
              <a:ext uri="{FF2B5EF4-FFF2-40B4-BE49-F238E27FC236}">
                <a16:creationId xmlns:a16="http://schemas.microsoft.com/office/drawing/2014/main" id="{965B106E-4251-FB83-5E47-78D71A419B82}"/>
              </a:ext>
            </a:extLst>
          </p:cNvPr>
          <p:cNvCxnSpPr>
            <a:cxnSpLocks/>
            <a:stCxn id="36" idx="3"/>
            <a:endCxn id="29" idx="1"/>
          </p:cNvCxnSpPr>
          <p:nvPr/>
        </p:nvCxnSpPr>
        <p:spPr>
          <a:xfrm flipV="1">
            <a:off x="5725145" y="1599385"/>
            <a:ext cx="503039" cy="619152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직선 화살표 연결선 115">
            <a:extLst>
              <a:ext uri="{FF2B5EF4-FFF2-40B4-BE49-F238E27FC236}">
                <a16:creationId xmlns:a16="http://schemas.microsoft.com/office/drawing/2014/main" id="{646ED625-76C6-56A9-FB15-8C3D68865B29}"/>
              </a:ext>
            </a:extLst>
          </p:cNvPr>
          <p:cNvCxnSpPr>
            <a:cxnSpLocks/>
            <a:stCxn id="57" idx="3"/>
            <a:endCxn id="29" idx="1"/>
          </p:cNvCxnSpPr>
          <p:nvPr/>
        </p:nvCxnSpPr>
        <p:spPr>
          <a:xfrm flipV="1">
            <a:off x="5725145" y="1599385"/>
            <a:ext cx="503039" cy="1447270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직선 화살표 연결선 118">
            <a:extLst>
              <a:ext uri="{FF2B5EF4-FFF2-40B4-BE49-F238E27FC236}">
                <a16:creationId xmlns:a16="http://schemas.microsoft.com/office/drawing/2014/main" id="{5DA75BD0-992F-C531-EF6B-7A5892934BA1}"/>
              </a:ext>
            </a:extLst>
          </p:cNvPr>
          <p:cNvCxnSpPr>
            <a:cxnSpLocks/>
            <a:stCxn id="62" idx="3"/>
            <a:endCxn id="29" idx="1"/>
          </p:cNvCxnSpPr>
          <p:nvPr/>
        </p:nvCxnSpPr>
        <p:spPr>
          <a:xfrm flipV="1">
            <a:off x="5725145" y="1599385"/>
            <a:ext cx="503039" cy="2277629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직선 화살표 연결선 121">
            <a:extLst>
              <a:ext uri="{FF2B5EF4-FFF2-40B4-BE49-F238E27FC236}">
                <a16:creationId xmlns:a16="http://schemas.microsoft.com/office/drawing/2014/main" id="{DBBA1D7E-003B-6CD0-E30C-D52C9C1EB286}"/>
              </a:ext>
            </a:extLst>
          </p:cNvPr>
          <p:cNvCxnSpPr>
            <a:cxnSpLocks/>
            <a:stCxn id="25" idx="3"/>
            <a:endCxn id="21" idx="1"/>
          </p:cNvCxnSpPr>
          <p:nvPr/>
        </p:nvCxnSpPr>
        <p:spPr>
          <a:xfrm flipV="1">
            <a:off x="2987825" y="1080468"/>
            <a:ext cx="3240359" cy="2084476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직선 화살표 연결선 124">
            <a:extLst>
              <a:ext uri="{FF2B5EF4-FFF2-40B4-BE49-F238E27FC236}">
                <a16:creationId xmlns:a16="http://schemas.microsoft.com/office/drawing/2014/main" id="{AEE01246-CE97-57A1-4E94-D565F1A7AA2B}"/>
              </a:ext>
            </a:extLst>
          </p:cNvPr>
          <p:cNvCxnSpPr>
            <a:cxnSpLocks/>
            <a:stCxn id="32" idx="3"/>
            <a:endCxn id="21" idx="1"/>
          </p:cNvCxnSpPr>
          <p:nvPr/>
        </p:nvCxnSpPr>
        <p:spPr>
          <a:xfrm flipV="1">
            <a:off x="2989944" y="1080468"/>
            <a:ext cx="3238240" cy="2755844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1" name="모서리가 둥근 직사각형 140">
            <a:extLst>
              <a:ext uri="{FF2B5EF4-FFF2-40B4-BE49-F238E27FC236}">
                <a16:creationId xmlns:a16="http://schemas.microsoft.com/office/drawing/2014/main" id="{935E01E0-791E-B78A-EF68-A9336D45CEBD}"/>
              </a:ext>
            </a:extLst>
          </p:cNvPr>
          <p:cNvSpPr/>
          <p:nvPr/>
        </p:nvSpPr>
        <p:spPr>
          <a:xfrm>
            <a:off x="3219996" y="4075481"/>
            <a:ext cx="2598315" cy="613221"/>
          </a:xfrm>
          <a:prstGeom prst="roundRect">
            <a:avLst>
              <a:gd name="adj" fmla="val 7799"/>
            </a:avLst>
          </a:prstGeom>
          <a:solidFill>
            <a:schemeClr val="accent6">
              <a:lumMod val="40000"/>
              <a:lumOff val="6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kumimoji="1" lang="en-US" altLang="ko-KR" sz="800" b="1">
                <a:solidFill>
                  <a:schemeClr val="tx1"/>
                </a:solidFill>
              </a:rPr>
              <a:t>virtualInbound-catchall-http Plaintext</a:t>
            </a:r>
            <a:r>
              <a:rPr kumimoji="1" lang="en-US" altLang="ko-KR" sz="800">
                <a:solidFill>
                  <a:schemeClr val="tx1"/>
                </a:solidFill>
              </a:rPr>
              <a:t> Chain</a:t>
            </a:r>
            <a:endParaRPr kumimoji="1" lang="en-US" altLang="ko-KR" sz="800" b="1">
              <a:solidFill>
                <a:schemeClr val="tx1"/>
              </a:solidFill>
            </a:endParaRPr>
          </a:p>
        </p:txBody>
      </p:sp>
      <p:sp>
        <p:nvSpPr>
          <p:cNvPr id="142" name="모서리가 둥근 직사각형 141">
            <a:extLst>
              <a:ext uri="{FF2B5EF4-FFF2-40B4-BE49-F238E27FC236}">
                <a16:creationId xmlns:a16="http://schemas.microsoft.com/office/drawing/2014/main" id="{031729DA-59F6-8D3C-053C-5003308B3B74}"/>
              </a:ext>
            </a:extLst>
          </p:cNvPr>
          <p:cNvSpPr/>
          <p:nvPr/>
        </p:nvSpPr>
        <p:spPr>
          <a:xfrm>
            <a:off x="3297149" y="4297712"/>
            <a:ext cx="2427772" cy="163148"/>
          </a:xfrm>
          <a:prstGeom prst="roundRect">
            <a:avLst>
              <a:gd name="adj" fmla="val 14645"/>
            </a:avLst>
          </a:prstGeom>
          <a:solidFill>
            <a:schemeClr val="accent5">
              <a:lumMod val="20000"/>
              <a:lumOff val="8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ko-KR" sz="800">
                <a:solidFill>
                  <a:schemeClr val="tx1"/>
                </a:solidFill>
              </a:rPr>
              <a:t>istio.metadata_exchange</a:t>
            </a:r>
          </a:p>
        </p:txBody>
      </p:sp>
      <p:sp>
        <p:nvSpPr>
          <p:cNvPr id="143" name="모서리가 둥근 직사각형 142">
            <a:extLst>
              <a:ext uri="{FF2B5EF4-FFF2-40B4-BE49-F238E27FC236}">
                <a16:creationId xmlns:a16="http://schemas.microsoft.com/office/drawing/2014/main" id="{7BBA8DDD-73A9-2AE5-F5E6-7A849B1D4DF3}"/>
              </a:ext>
            </a:extLst>
          </p:cNvPr>
          <p:cNvSpPr/>
          <p:nvPr/>
        </p:nvSpPr>
        <p:spPr>
          <a:xfrm>
            <a:off x="3297150" y="4459987"/>
            <a:ext cx="2427772" cy="163148"/>
          </a:xfrm>
          <a:prstGeom prst="roundRect">
            <a:avLst>
              <a:gd name="adj" fmla="val 14645"/>
            </a:avLst>
          </a:prstGeom>
          <a:solidFill>
            <a:schemeClr val="accent5">
              <a:lumMod val="20000"/>
              <a:lumOff val="8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ko-KR" sz="800">
                <a:solidFill>
                  <a:schemeClr val="tx1"/>
                </a:solidFill>
              </a:rPr>
              <a:t>envoy.filters.network.http_connection_manager</a:t>
            </a:r>
          </a:p>
        </p:txBody>
      </p:sp>
      <p:sp>
        <p:nvSpPr>
          <p:cNvPr id="70" name="모서리가 둥근 직사각형 69">
            <a:extLst>
              <a:ext uri="{FF2B5EF4-FFF2-40B4-BE49-F238E27FC236}">
                <a16:creationId xmlns:a16="http://schemas.microsoft.com/office/drawing/2014/main" id="{9BBD9AAC-343F-D419-BA0A-C3E856596022}"/>
              </a:ext>
            </a:extLst>
          </p:cNvPr>
          <p:cNvSpPr/>
          <p:nvPr/>
        </p:nvSpPr>
        <p:spPr>
          <a:xfrm>
            <a:off x="5925084" y="3651870"/>
            <a:ext cx="3142622" cy="782042"/>
          </a:xfrm>
          <a:prstGeom prst="roundRect">
            <a:avLst>
              <a:gd name="adj" fmla="val 5504"/>
            </a:avLst>
          </a:prstGeom>
          <a:solidFill>
            <a:schemeClr val="accent5">
              <a:lumMod val="20000"/>
              <a:lumOff val="8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kumimoji="1" lang="en-US" altLang="ko-KR" sz="800">
                <a:solidFill>
                  <a:schemeClr val="tx1"/>
                </a:solidFill>
              </a:rPr>
              <a:t>envoy.filters.network.http_connection_manager</a:t>
            </a:r>
          </a:p>
        </p:txBody>
      </p:sp>
      <p:sp>
        <p:nvSpPr>
          <p:cNvPr id="72" name="모서리가 둥근 직사각형 71">
            <a:extLst>
              <a:ext uri="{FF2B5EF4-FFF2-40B4-BE49-F238E27FC236}">
                <a16:creationId xmlns:a16="http://schemas.microsoft.com/office/drawing/2014/main" id="{108D364F-7C47-E7BE-9094-3ACE437357D8}"/>
              </a:ext>
            </a:extLst>
          </p:cNvPr>
          <p:cNvSpPr/>
          <p:nvPr/>
        </p:nvSpPr>
        <p:spPr>
          <a:xfrm>
            <a:off x="6007384" y="3880870"/>
            <a:ext cx="1501878" cy="152233"/>
          </a:xfrm>
          <a:prstGeom prst="roundRect">
            <a:avLst>
              <a:gd name="adj" fmla="val 14645"/>
            </a:avLst>
          </a:prstGeom>
          <a:solidFill>
            <a:schemeClr val="accent5">
              <a:lumMod val="40000"/>
              <a:lumOff val="6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ko-KR" sz="800">
                <a:solidFill>
                  <a:schemeClr val="tx1"/>
                </a:solidFill>
              </a:rPr>
              <a:t>istio.metadata_exchange</a:t>
            </a:r>
          </a:p>
        </p:txBody>
      </p:sp>
      <p:sp>
        <p:nvSpPr>
          <p:cNvPr id="73" name="모서리가 둥근 직사각형 72">
            <a:extLst>
              <a:ext uri="{FF2B5EF4-FFF2-40B4-BE49-F238E27FC236}">
                <a16:creationId xmlns:a16="http://schemas.microsoft.com/office/drawing/2014/main" id="{060B1743-2509-07D0-3EFD-51A5DFAD757F}"/>
              </a:ext>
            </a:extLst>
          </p:cNvPr>
          <p:cNvSpPr/>
          <p:nvPr/>
        </p:nvSpPr>
        <p:spPr>
          <a:xfrm>
            <a:off x="6007384" y="4033103"/>
            <a:ext cx="1501878" cy="152233"/>
          </a:xfrm>
          <a:prstGeom prst="roundRect">
            <a:avLst>
              <a:gd name="adj" fmla="val 14645"/>
            </a:avLst>
          </a:prstGeom>
          <a:solidFill>
            <a:schemeClr val="accent5">
              <a:lumMod val="40000"/>
              <a:lumOff val="6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ko-KR" sz="800">
                <a:solidFill>
                  <a:schemeClr val="tx1"/>
                </a:solidFill>
              </a:rPr>
              <a:t>envoy.filters.http.grpc_stats</a:t>
            </a:r>
          </a:p>
        </p:txBody>
      </p:sp>
      <p:sp>
        <p:nvSpPr>
          <p:cNvPr id="75" name="모서리가 둥근 직사각형 74">
            <a:extLst>
              <a:ext uri="{FF2B5EF4-FFF2-40B4-BE49-F238E27FC236}">
                <a16:creationId xmlns:a16="http://schemas.microsoft.com/office/drawing/2014/main" id="{E44E33DF-540E-6C70-8BEF-0B3C0A2A31EB}"/>
              </a:ext>
            </a:extLst>
          </p:cNvPr>
          <p:cNvSpPr/>
          <p:nvPr/>
        </p:nvSpPr>
        <p:spPr>
          <a:xfrm>
            <a:off x="6007384" y="4184959"/>
            <a:ext cx="1501878" cy="152233"/>
          </a:xfrm>
          <a:prstGeom prst="roundRect">
            <a:avLst>
              <a:gd name="adj" fmla="val 14645"/>
            </a:avLst>
          </a:prstGeom>
          <a:solidFill>
            <a:schemeClr val="accent5">
              <a:lumMod val="40000"/>
              <a:lumOff val="6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ko-KR" sz="800">
                <a:solidFill>
                  <a:schemeClr val="tx1"/>
                </a:solidFill>
              </a:rPr>
              <a:t>envoy.filters.http.fault</a:t>
            </a:r>
          </a:p>
        </p:txBody>
      </p:sp>
      <p:sp>
        <p:nvSpPr>
          <p:cNvPr id="76" name="모서리가 둥근 직사각형 75">
            <a:extLst>
              <a:ext uri="{FF2B5EF4-FFF2-40B4-BE49-F238E27FC236}">
                <a16:creationId xmlns:a16="http://schemas.microsoft.com/office/drawing/2014/main" id="{BBE45F82-56A2-9D76-E336-97F65424C869}"/>
              </a:ext>
            </a:extLst>
          </p:cNvPr>
          <p:cNvSpPr/>
          <p:nvPr/>
        </p:nvSpPr>
        <p:spPr>
          <a:xfrm>
            <a:off x="7707806" y="3888157"/>
            <a:ext cx="1291711" cy="152233"/>
          </a:xfrm>
          <a:prstGeom prst="roundRect">
            <a:avLst>
              <a:gd name="adj" fmla="val 14645"/>
            </a:avLst>
          </a:prstGeom>
          <a:solidFill>
            <a:schemeClr val="accent5">
              <a:lumMod val="40000"/>
              <a:lumOff val="6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ko-KR" sz="800">
                <a:solidFill>
                  <a:schemeClr val="tx1"/>
                </a:solidFill>
              </a:rPr>
              <a:t>envoy.filters.http.cors</a:t>
            </a:r>
          </a:p>
        </p:txBody>
      </p:sp>
      <p:sp>
        <p:nvSpPr>
          <p:cNvPr id="78" name="모서리가 둥근 직사각형 77">
            <a:extLst>
              <a:ext uri="{FF2B5EF4-FFF2-40B4-BE49-F238E27FC236}">
                <a16:creationId xmlns:a16="http://schemas.microsoft.com/office/drawing/2014/main" id="{A9CF0F33-7A6C-22E7-A7DE-2BD9A7B2E9E9}"/>
              </a:ext>
            </a:extLst>
          </p:cNvPr>
          <p:cNvSpPr/>
          <p:nvPr/>
        </p:nvSpPr>
        <p:spPr>
          <a:xfrm>
            <a:off x="7707806" y="4036821"/>
            <a:ext cx="1291711" cy="152233"/>
          </a:xfrm>
          <a:prstGeom prst="roundRect">
            <a:avLst>
              <a:gd name="adj" fmla="val 14645"/>
            </a:avLst>
          </a:prstGeom>
          <a:solidFill>
            <a:schemeClr val="accent5">
              <a:lumMod val="40000"/>
              <a:lumOff val="6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ko-KR" sz="800">
                <a:solidFill>
                  <a:schemeClr val="tx1"/>
                </a:solidFill>
              </a:rPr>
              <a:t>istio.stats</a:t>
            </a:r>
          </a:p>
        </p:txBody>
      </p:sp>
      <p:sp>
        <p:nvSpPr>
          <p:cNvPr id="79" name="모서리가 둥근 직사각형 78">
            <a:extLst>
              <a:ext uri="{FF2B5EF4-FFF2-40B4-BE49-F238E27FC236}">
                <a16:creationId xmlns:a16="http://schemas.microsoft.com/office/drawing/2014/main" id="{BB172EDB-C9A1-66C5-5BAF-560889D0B869}"/>
              </a:ext>
            </a:extLst>
          </p:cNvPr>
          <p:cNvSpPr/>
          <p:nvPr/>
        </p:nvSpPr>
        <p:spPr>
          <a:xfrm>
            <a:off x="7707806" y="4184959"/>
            <a:ext cx="1291711" cy="152233"/>
          </a:xfrm>
          <a:prstGeom prst="roundRect">
            <a:avLst>
              <a:gd name="adj" fmla="val 14645"/>
            </a:avLst>
          </a:prstGeom>
          <a:solidFill>
            <a:schemeClr val="accent5">
              <a:lumMod val="40000"/>
              <a:lumOff val="6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ko-KR" sz="800">
                <a:solidFill>
                  <a:schemeClr val="tx1"/>
                </a:solidFill>
              </a:rPr>
              <a:t>envoy.filters.http.router</a:t>
            </a:r>
          </a:p>
        </p:txBody>
      </p:sp>
      <p:cxnSp>
        <p:nvCxnSpPr>
          <p:cNvPr id="80" name="직선 화살표 연결선 79">
            <a:extLst>
              <a:ext uri="{FF2B5EF4-FFF2-40B4-BE49-F238E27FC236}">
                <a16:creationId xmlns:a16="http://schemas.microsoft.com/office/drawing/2014/main" id="{37C0EC54-D59E-4530-64BB-06F026F3D72D}"/>
              </a:ext>
            </a:extLst>
          </p:cNvPr>
          <p:cNvCxnSpPr>
            <a:cxnSpLocks/>
            <a:stCxn id="75" idx="3"/>
            <a:endCxn id="76" idx="1"/>
          </p:cNvCxnSpPr>
          <p:nvPr/>
        </p:nvCxnSpPr>
        <p:spPr>
          <a:xfrm flipV="1">
            <a:off x="7509262" y="3964274"/>
            <a:ext cx="198544" cy="296802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7" name="직선 화살표 연결선 156">
            <a:extLst>
              <a:ext uri="{FF2B5EF4-FFF2-40B4-BE49-F238E27FC236}">
                <a16:creationId xmlns:a16="http://schemas.microsoft.com/office/drawing/2014/main" id="{BBFA9E8D-F1AE-C86C-7768-C35A39D5ED1B}"/>
              </a:ext>
            </a:extLst>
          </p:cNvPr>
          <p:cNvCxnSpPr>
            <a:cxnSpLocks/>
          </p:cNvCxnSpPr>
          <p:nvPr/>
        </p:nvCxnSpPr>
        <p:spPr>
          <a:xfrm flipV="1">
            <a:off x="2987825" y="1599385"/>
            <a:ext cx="3240359" cy="2913456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0" name="직선 화살표 연결선 169">
            <a:extLst>
              <a:ext uri="{FF2B5EF4-FFF2-40B4-BE49-F238E27FC236}">
                <a16:creationId xmlns:a16="http://schemas.microsoft.com/office/drawing/2014/main" id="{6008BE5D-733B-BE4C-8AE2-8D5A38DD1F59}"/>
              </a:ext>
            </a:extLst>
          </p:cNvPr>
          <p:cNvCxnSpPr>
            <a:cxnSpLocks/>
            <a:endCxn id="29" idx="1"/>
          </p:cNvCxnSpPr>
          <p:nvPr/>
        </p:nvCxnSpPr>
        <p:spPr>
          <a:xfrm flipV="1">
            <a:off x="5724921" y="1599385"/>
            <a:ext cx="503263" cy="2981339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833939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04180F-0F05-0553-DC40-5765154F74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모서리가 둥근 직사각형 23">
            <a:extLst>
              <a:ext uri="{FF2B5EF4-FFF2-40B4-BE49-F238E27FC236}">
                <a16:creationId xmlns:a16="http://schemas.microsoft.com/office/drawing/2014/main" id="{163C75E7-0F92-4FB4-45A9-BF9D2F97AF52}"/>
              </a:ext>
            </a:extLst>
          </p:cNvPr>
          <p:cNvSpPr/>
          <p:nvPr/>
        </p:nvSpPr>
        <p:spPr>
          <a:xfrm>
            <a:off x="2051720" y="5803318"/>
            <a:ext cx="1296144" cy="387034"/>
          </a:xfrm>
          <a:prstGeom prst="roundRect">
            <a:avLst>
              <a:gd name="adj" fmla="val 14645"/>
            </a:avLst>
          </a:prstGeom>
          <a:solidFill>
            <a:schemeClr val="bg1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 b="1">
                <a:solidFill>
                  <a:schemeClr val="tx1"/>
                </a:solidFill>
              </a:rPr>
              <a:t>0.0.0.0_9090 </a:t>
            </a:r>
            <a:br>
              <a:rPr kumimoji="1" lang="en-US" altLang="ko-KR" sz="800" b="1">
                <a:solidFill>
                  <a:schemeClr val="tx1"/>
                </a:solidFill>
              </a:rPr>
            </a:br>
            <a:r>
              <a:rPr kumimoji="1" lang="en-US" altLang="ko-KR" sz="800">
                <a:solidFill>
                  <a:schemeClr val="tx1"/>
                </a:solidFill>
              </a:rPr>
              <a:t>Listener</a:t>
            </a:r>
          </a:p>
        </p:txBody>
      </p:sp>
      <p:sp>
        <p:nvSpPr>
          <p:cNvPr id="6" name="모서리가 둥근 직사각형 5">
            <a:extLst>
              <a:ext uri="{FF2B5EF4-FFF2-40B4-BE49-F238E27FC236}">
                <a16:creationId xmlns:a16="http://schemas.microsoft.com/office/drawing/2014/main" id="{A7D3563A-F1E0-48ED-35B1-88926677C3C2}"/>
              </a:ext>
            </a:extLst>
          </p:cNvPr>
          <p:cNvSpPr/>
          <p:nvPr/>
        </p:nvSpPr>
        <p:spPr>
          <a:xfrm>
            <a:off x="107504" y="174972"/>
            <a:ext cx="9001000" cy="4845050"/>
          </a:xfrm>
          <a:prstGeom prst="roundRect">
            <a:avLst>
              <a:gd name="adj" fmla="val 1452"/>
            </a:avLst>
          </a:prstGeom>
          <a:solidFill>
            <a:schemeClr val="bg1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kumimoji="1" lang="en-US" altLang="ko-KR" sz="800" b="1">
                <a:solidFill>
                  <a:schemeClr val="tx1"/>
                </a:solidFill>
              </a:rPr>
              <a:t>client</a:t>
            </a:r>
            <a:r>
              <a:rPr kumimoji="1" lang="ko-KR" altLang="en-US" sz="800" b="1">
                <a:solidFill>
                  <a:schemeClr val="tx1"/>
                </a:solidFill>
              </a:rPr>
              <a:t> </a:t>
            </a:r>
            <a:r>
              <a:rPr kumimoji="1" lang="en-US" altLang="ko-KR" sz="800">
                <a:solidFill>
                  <a:schemeClr val="tx1"/>
                </a:solidFill>
              </a:rPr>
              <a:t>Pod</a:t>
            </a:r>
          </a:p>
        </p:txBody>
      </p:sp>
      <p:sp>
        <p:nvSpPr>
          <p:cNvPr id="7" name="모서리가 둥근 직사각형 6">
            <a:extLst>
              <a:ext uri="{FF2B5EF4-FFF2-40B4-BE49-F238E27FC236}">
                <a16:creationId xmlns:a16="http://schemas.microsoft.com/office/drawing/2014/main" id="{417CA982-7E5B-6A7E-931C-33BC6FAB4269}"/>
              </a:ext>
            </a:extLst>
          </p:cNvPr>
          <p:cNvSpPr/>
          <p:nvPr/>
        </p:nvSpPr>
        <p:spPr>
          <a:xfrm>
            <a:off x="179513" y="758709"/>
            <a:ext cx="936103" cy="277654"/>
          </a:xfrm>
          <a:prstGeom prst="roundRect">
            <a:avLst>
              <a:gd name="adj" fmla="val 14645"/>
            </a:avLst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 b="1">
                <a:solidFill>
                  <a:schemeClr val="tx1"/>
                </a:solidFill>
              </a:rPr>
              <a:t>shell (Client)</a:t>
            </a:r>
            <a:endParaRPr kumimoji="1" lang="en-US" altLang="ko-KR" sz="800">
              <a:solidFill>
                <a:schemeClr val="tx1"/>
              </a:solidFill>
            </a:endParaRPr>
          </a:p>
        </p:txBody>
      </p:sp>
      <p:sp>
        <p:nvSpPr>
          <p:cNvPr id="9" name="모서리가 둥근 직사각형 8">
            <a:extLst>
              <a:ext uri="{FF2B5EF4-FFF2-40B4-BE49-F238E27FC236}">
                <a16:creationId xmlns:a16="http://schemas.microsoft.com/office/drawing/2014/main" id="{8406C1D6-49E7-DEAA-8474-C2047731DFD7}"/>
              </a:ext>
            </a:extLst>
          </p:cNvPr>
          <p:cNvSpPr/>
          <p:nvPr/>
        </p:nvSpPr>
        <p:spPr>
          <a:xfrm>
            <a:off x="1259633" y="251172"/>
            <a:ext cx="7776863" cy="4699000"/>
          </a:xfrm>
          <a:prstGeom prst="roundRect">
            <a:avLst>
              <a:gd name="adj" fmla="val 2107"/>
            </a:avLst>
          </a:prstGeom>
          <a:solidFill>
            <a:schemeClr val="bg1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r"/>
            <a:r>
              <a:rPr kumimoji="1" lang="en-US" altLang="ko-KR" sz="800" b="1">
                <a:solidFill>
                  <a:schemeClr val="tx1"/>
                </a:solidFill>
              </a:rPr>
              <a:t>Sidecar Envoy</a:t>
            </a:r>
            <a:endParaRPr kumimoji="1" lang="en-US" altLang="ko-KR" sz="800">
              <a:solidFill>
                <a:schemeClr val="tx1"/>
              </a:solidFill>
            </a:endParaRPr>
          </a:p>
        </p:txBody>
      </p:sp>
      <p:sp>
        <p:nvSpPr>
          <p:cNvPr id="10" name="모서리가 둥근 직사각형 9">
            <a:extLst>
              <a:ext uri="{FF2B5EF4-FFF2-40B4-BE49-F238E27FC236}">
                <a16:creationId xmlns:a16="http://schemas.microsoft.com/office/drawing/2014/main" id="{93073A23-F0A3-1947-9105-386071AFD1B2}"/>
              </a:ext>
            </a:extLst>
          </p:cNvPr>
          <p:cNvSpPr/>
          <p:nvPr/>
        </p:nvSpPr>
        <p:spPr>
          <a:xfrm>
            <a:off x="1390650" y="384522"/>
            <a:ext cx="4260100" cy="1026027"/>
          </a:xfrm>
          <a:prstGeom prst="roundRect">
            <a:avLst>
              <a:gd name="adj" fmla="val 6946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kumimoji="1" lang="en-US" altLang="ko-KR" sz="800" b="1">
                <a:solidFill>
                  <a:schemeClr val="tx1"/>
                </a:solidFill>
              </a:rPr>
              <a:t>virtualOutbound </a:t>
            </a:r>
            <a:r>
              <a:rPr kumimoji="1" lang="en-US" altLang="ko-KR" sz="800">
                <a:solidFill>
                  <a:schemeClr val="tx1"/>
                </a:solidFill>
              </a:rPr>
              <a:t>Listener (:15001)</a:t>
            </a:r>
          </a:p>
        </p:txBody>
      </p:sp>
      <p:sp>
        <p:nvSpPr>
          <p:cNvPr id="11" name="모서리가 둥근 직사각형 10">
            <a:extLst>
              <a:ext uri="{FF2B5EF4-FFF2-40B4-BE49-F238E27FC236}">
                <a16:creationId xmlns:a16="http://schemas.microsoft.com/office/drawing/2014/main" id="{AD456065-BF7C-5D92-1B2C-EDABF41D64B6}"/>
              </a:ext>
            </a:extLst>
          </p:cNvPr>
          <p:cNvSpPr/>
          <p:nvPr/>
        </p:nvSpPr>
        <p:spPr>
          <a:xfrm>
            <a:off x="1619671" y="1560788"/>
            <a:ext cx="3606379" cy="2960058"/>
          </a:xfrm>
          <a:prstGeom prst="roundRect">
            <a:avLst>
              <a:gd name="adj" fmla="val 1872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kumimoji="1" lang="en-US" altLang="ko-KR" sz="800" b="1">
                <a:solidFill>
                  <a:schemeClr val="tx1"/>
                </a:solidFill>
              </a:rPr>
              <a:t>0.0.0.0_8080 </a:t>
            </a:r>
            <a:r>
              <a:rPr kumimoji="1" lang="en-US" altLang="ko-KR" sz="800">
                <a:solidFill>
                  <a:schemeClr val="tx1"/>
                </a:solidFill>
              </a:rPr>
              <a:t>Listener</a:t>
            </a:r>
          </a:p>
        </p:txBody>
      </p:sp>
      <p:cxnSp>
        <p:nvCxnSpPr>
          <p:cNvPr id="12" name="직선 화살표 연결선 11">
            <a:extLst>
              <a:ext uri="{FF2B5EF4-FFF2-40B4-BE49-F238E27FC236}">
                <a16:creationId xmlns:a16="http://schemas.microsoft.com/office/drawing/2014/main" id="{179A620F-36DD-94B0-DF5A-E6BE521936D9}"/>
              </a:ext>
            </a:extLst>
          </p:cNvPr>
          <p:cNvCxnSpPr>
            <a:cxnSpLocks/>
            <a:stCxn id="7" idx="3"/>
            <a:endCxn id="10" idx="1"/>
          </p:cNvCxnSpPr>
          <p:nvPr/>
        </p:nvCxnSpPr>
        <p:spPr>
          <a:xfrm>
            <a:off x="1115616" y="897536"/>
            <a:ext cx="275034" cy="0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모서리가 둥근 직사각형 19">
            <a:extLst>
              <a:ext uri="{FF2B5EF4-FFF2-40B4-BE49-F238E27FC236}">
                <a16:creationId xmlns:a16="http://schemas.microsoft.com/office/drawing/2014/main" id="{DA7352DF-2062-A455-B2A1-7B756F0EE5DB}"/>
              </a:ext>
            </a:extLst>
          </p:cNvPr>
          <p:cNvSpPr/>
          <p:nvPr/>
        </p:nvSpPr>
        <p:spPr>
          <a:xfrm>
            <a:off x="6251027" y="3006419"/>
            <a:ext cx="2016223" cy="277654"/>
          </a:xfrm>
          <a:prstGeom prst="roundRect">
            <a:avLst>
              <a:gd name="adj" fmla="val 14645"/>
            </a:avLst>
          </a:prstGeom>
          <a:solidFill>
            <a:schemeClr val="tx2">
              <a:lumMod val="20000"/>
              <a:lumOff val="8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 b="1">
                <a:solidFill>
                  <a:schemeClr val="tx1"/>
                </a:solidFill>
              </a:rPr>
              <a:t>outbound|8080||server-b</a:t>
            </a:r>
            <a:br>
              <a:rPr kumimoji="1" lang="en-US" altLang="ko-KR" sz="800" b="1">
                <a:solidFill>
                  <a:schemeClr val="tx1"/>
                </a:solidFill>
              </a:rPr>
            </a:br>
            <a:r>
              <a:rPr kumimoji="1" lang="en-US" altLang="ko-KR" sz="800" b="1">
                <a:solidFill>
                  <a:schemeClr val="tx1"/>
                </a:solidFill>
              </a:rPr>
              <a:t>.default.svc.cluster.local </a:t>
            </a:r>
            <a:r>
              <a:rPr kumimoji="1" lang="en-US" altLang="ko-KR" sz="800">
                <a:solidFill>
                  <a:schemeClr val="tx1"/>
                </a:solidFill>
              </a:rPr>
              <a:t>Cluster</a:t>
            </a:r>
          </a:p>
        </p:txBody>
      </p:sp>
      <p:sp>
        <p:nvSpPr>
          <p:cNvPr id="21" name="모서리가 둥근 직사각형 20">
            <a:extLst>
              <a:ext uri="{FF2B5EF4-FFF2-40B4-BE49-F238E27FC236}">
                <a16:creationId xmlns:a16="http://schemas.microsoft.com/office/drawing/2014/main" id="{76FB76BB-E7D5-C6E2-AAE2-B5B9A812516B}"/>
              </a:ext>
            </a:extLst>
          </p:cNvPr>
          <p:cNvSpPr/>
          <p:nvPr/>
        </p:nvSpPr>
        <p:spPr>
          <a:xfrm>
            <a:off x="5925784" y="1003652"/>
            <a:ext cx="2016223" cy="277654"/>
          </a:xfrm>
          <a:prstGeom prst="roundRect">
            <a:avLst>
              <a:gd name="adj" fmla="val 14645"/>
            </a:avLst>
          </a:prstGeom>
          <a:solidFill>
            <a:schemeClr val="tx2">
              <a:lumMod val="20000"/>
              <a:lumOff val="8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 b="1">
                <a:solidFill>
                  <a:schemeClr val="tx1"/>
                </a:solidFill>
              </a:rPr>
              <a:t>BlackHoleCluster </a:t>
            </a:r>
            <a:r>
              <a:rPr kumimoji="1" lang="en-US" altLang="ko-KR" sz="800">
                <a:solidFill>
                  <a:schemeClr val="tx1"/>
                </a:solidFill>
              </a:rPr>
              <a:t>Cluster</a:t>
            </a:r>
          </a:p>
        </p:txBody>
      </p:sp>
      <p:sp>
        <p:nvSpPr>
          <p:cNvPr id="23" name="모서리가 둥근 직사각형 22">
            <a:extLst>
              <a:ext uri="{FF2B5EF4-FFF2-40B4-BE49-F238E27FC236}">
                <a16:creationId xmlns:a16="http://schemas.microsoft.com/office/drawing/2014/main" id="{EDBA8A76-8E17-0CED-BD7B-1FE1F0E870EE}"/>
              </a:ext>
            </a:extLst>
          </p:cNvPr>
          <p:cNvSpPr/>
          <p:nvPr/>
        </p:nvSpPr>
        <p:spPr>
          <a:xfrm>
            <a:off x="6251027" y="2593045"/>
            <a:ext cx="2016223" cy="277654"/>
          </a:xfrm>
          <a:prstGeom prst="roundRect">
            <a:avLst>
              <a:gd name="adj" fmla="val 14645"/>
            </a:avLst>
          </a:prstGeom>
          <a:solidFill>
            <a:schemeClr val="tx2">
              <a:lumMod val="20000"/>
              <a:lumOff val="8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 b="1">
                <a:solidFill>
                  <a:schemeClr val="tx1"/>
                </a:solidFill>
              </a:rPr>
              <a:t>outbound|8080||server-a</a:t>
            </a:r>
            <a:br>
              <a:rPr kumimoji="1" lang="en-US" altLang="ko-KR" sz="800" b="1">
                <a:solidFill>
                  <a:schemeClr val="tx1"/>
                </a:solidFill>
              </a:rPr>
            </a:br>
            <a:r>
              <a:rPr kumimoji="1" lang="en-US" altLang="ko-KR" sz="800" b="1">
                <a:solidFill>
                  <a:schemeClr val="tx1"/>
                </a:solidFill>
              </a:rPr>
              <a:t>.default.svc.cluster.local </a:t>
            </a:r>
            <a:r>
              <a:rPr kumimoji="1" lang="en-US" altLang="ko-KR" sz="800">
                <a:solidFill>
                  <a:schemeClr val="tx1"/>
                </a:solidFill>
              </a:rPr>
              <a:t>Cluster</a:t>
            </a:r>
          </a:p>
        </p:txBody>
      </p:sp>
      <p:sp>
        <p:nvSpPr>
          <p:cNvPr id="26" name="모서리가 둥근 직사각형 25">
            <a:extLst>
              <a:ext uri="{FF2B5EF4-FFF2-40B4-BE49-F238E27FC236}">
                <a16:creationId xmlns:a16="http://schemas.microsoft.com/office/drawing/2014/main" id="{0CFC9810-DB7C-42C6-D69B-4E5B89FDF281}"/>
              </a:ext>
            </a:extLst>
          </p:cNvPr>
          <p:cNvSpPr/>
          <p:nvPr/>
        </p:nvSpPr>
        <p:spPr>
          <a:xfrm>
            <a:off x="5418664" y="2973661"/>
            <a:ext cx="674682" cy="277654"/>
          </a:xfrm>
          <a:prstGeom prst="roundRect">
            <a:avLst>
              <a:gd name="adj" fmla="val 14645"/>
            </a:avLst>
          </a:prstGeom>
          <a:solidFill>
            <a:schemeClr val="bg2">
              <a:lumMod val="9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 b="1">
                <a:solidFill>
                  <a:schemeClr val="tx1"/>
                </a:solidFill>
              </a:rPr>
              <a:t>8080 </a:t>
            </a:r>
            <a:br>
              <a:rPr kumimoji="1" lang="en-US" altLang="ko-KR" sz="800" b="1">
                <a:solidFill>
                  <a:schemeClr val="tx1"/>
                </a:solidFill>
              </a:rPr>
            </a:br>
            <a:r>
              <a:rPr kumimoji="1" lang="en-US" altLang="ko-KR" sz="800">
                <a:solidFill>
                  <a:schemeClr val="tx1"/>
                </a:solidFill>
              </a:rPr>
              <a:t>Router</a:t>
            </a:r>
          </a:p>
        </p:txBody>
      </p:sp>
      <p:sp>
        <p:nvSpPr>
          <p:cNvPr id="27" name="모서리가 둥근 직사각형 26">
            <a:extLst>
              <a:ext uri="{FF2B5EF4-FFF2-40B4-BE49-F238E27FC236}">
                <a16:creationId xmlns:a16="http://schemas.microsoft.com/office/drawing/2014/main" id="{465C4088-B503-DD2A-ACC3-A456EF45995D}"/>
              </a:ext>
            </a:extLst>
          </p:cNvPr>
          <p:cNvSpPr/>
          <p:nvPr/>
        </p:nvSpPr>
        <p:spPr>
          <a:xfrm>
            <a:off x="5418664" y="4095914"/>
            <a:ext cx="674682" cy="277654"/>
          </a:xfrm>
          <a:prstGeom prst="roundRect">
            <a:avLst>
              <a:gd name="adj" fmla="val 14645"/>
            </a:avLst>
          </a:prstGeom>
          <a:solidFill>
            <a:schemeClr val="bg2">
              <a:lumMod val="9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 b="1">
                <a:solidFill>
                  <a:schemeClr val="tx1"/>
                </a:solidFill>
              </a:rPr>
              <a:t>9090 </a:t>
            </a:r>
            <a:br>
              <a:rPr kumimoji="1" lang="en-US" altLang="ko-KR" sz="800" b="1">
                <a:solidFill>
                  <a:schemeClr val="tx1"/>
                </a:solidFill>
              </a:rPr>
            </a:br>
            <a:r>
              <a:rPr kumimoji="1" lang="en-US" altLang="ko-KR" sz="800">
                <a:solidFill>
                  <a:schemeClr val="tx1"/>
                </a:solidFill>
              </a:rPr>
              <a:t>Router</a:t>
            </a:r>
          </a:p>
        </p:txBody>
      </p:sp>
      <p:sp>
        <p:nvSpPr>
          <p:cNvPr id="29" name="모서리가 둥근 직사각형 28">
            <a:extLst>
              <a:ext uri="{FF2B5EF4-FFF2-40B4-BE49-F238E27FC236}">
                <a16:creationId xmlns:a16="http://schemas.microsoft.com/office/drawing/2014/main" id="{A924E9A7-627C-9A53-F852-554B8DF2A641}"/>
              </a:ext>
            </a:extLst>
          </p:cNvPr>
          <p:cNvSpPr/>
          <p:nvPr/>
        </p:nvSpPr>
        <p:spPr>
          <a:xfrm>
            <a:off x="5925784" y="1424215"/>
            <a:ext cx="2016223" cy="277654"/>
          </a:xfrm>
          <a:prstGeom prst="roundRect">
            <a:avLst>
              <a:gd name="adj" fmla="val 14645"/>
            </a:avLst>
          </a:prstGeom>
          <a:solidFill>
            <a:schemeClr val="tx2">
              <a:lumMod val="20000"/>
              <a:lumOff val="8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 b="1">
                <a:solidFill>
                  <a:schemeClr val="tx1"/>
                </a:solidFill>
              </a:rPr>
              <a:t>PassthroughCluster </a:t>
            </a:r>
            <a:r>
              <a:rPr kumimoji="1" lang="en-US" altLang="ko-KR" sz="800">
                <a:solidFill>
                  <a:schemeClr val="tx1"/>
                </a:solidFill>
              </a:rPr>
              <a:t>Cluster</a:t>
            </a:r>
          </a:p>
        </p:txBody>
      </p:sp>
      <p:cxnSp>
        <p:nvCxnSpPr>
          <p:cNvPr id="30" name="직선 화살표 연결선 29">
            <a:extLst>
              <a:ext uri="{FF2B5EF4-FFF2-40B4-BE49-F238E27FC236}">
                <a16:creationId xmlns:a16="http://schemas.microsoft.com/office/drawing/2014/main" id="{682E3F9D-04E2-B42C-8FFC-388296B07E7C}"/>
              </a:ext>
            </a:extLst>
          </p:cNvPr>
          <p:cNvCxnSpPr>
            <a:cxnSpLocks/>
            <a:stCxn id="10" idx="3"/>
            <a:endCxn id="21" idx="1"/>
          </p:cNvCxnSpPr>
          <p:nvPr/>
        </p:nvCxnSpPr>
        <p:spPr>
          <a:xfrm>
            <a:off x="5650750" y="897536"/>
            <a:ext cx="275034" cy="244943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모서리가 둥근 직사각형 39">
            <a:extLst>
              <a:ext uri="{FF2B5EF4-FFF2-40B4-BE49-F238E27FC236}">
                <a16:creationId xmlns:a16="http://schemas.microsoft.com/office/drawing/2014/main" id="{9D304FFF-59E8-34A4-E6FC-74A146C8542D}"/>
              </a:ext>
            </a:extLst>
          </p:cNvPr>
          <p:cNvSpPr/>
          <p:nvPr/>
        </p:nvSpPr>
        <p:spPr>
          <a:xfrm>
            <a:off x="6251027" y="4128672"/>
            <a:ext cx="2016223" cy="277654"/>
          </a:xfrm>
          <a:prstGeom prst="roundRect">
            <a:avLst>
              <a:gd name="adj" fmla="val 14645"/>
            </a:avLst>
          </a:prstGeom>
          <a:solidFill>
            <a:schemeClr val="tx2">
              <a:lumMod val="20000"/>
              <a:lumOff val="8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 b="1">
                <a:solidFill>
                  <a:schemeClr val="tx1"/>
                </a:solidFill>
              </a:rPr>
              <a:t>outbound|9090||server-c</a:t>
            </a:r>
            <a:br>
              <a:rPr kumimoji="1" lang="en-US" altLang="ko-KR" sz="800" b="1">
                <a:solidFill>
                  <a:schemeClr val="tx1"/>
                </a:solidFill>
              </a:rPr>
            </a:br>
            <a:r>
              <a:rPr kumimoji="1" lang="en-US" altLang="ko-KR" sz="800" b="1">
                <a:solidFill>
                  <a:schemeClr val="tx1"/>
                </a:solidFill>
              </a:rPr>
              <a:t>.default.svc.cluster.local </a:t>
            </a:r>
            <a:r>
              <a:rPr kumimoji="1" lang="en-US" altLang="ko-KR" sz="800">
                <a:solidFill>
                  <a:schemeClr val="tx1"/>
                </a:solidFill>
              </a:rPr>
              <a:t>Cluster</a:t>
            </a:r>
          </a:p>
        </p:txBody>
      </p:sp>
      <p:sp>
        <p:nvSpPr>
          <p:cNvPr id="41" name="모서리가 둥근 직사각형 40">
            <a:extLst>
              <a:ext uri="{FF2B5EF4-FFF2-40B4-BE49-F238E27FC236}">
                <a16:creationId xmlns:a16="http://schemas.microsoft.com/office/drawing/2014/main" id="{B983177A-9B02-B4ED-BB7F-7B3CF6916CC2}"/>
              </a:ext>
            </a:extLst>
          </p:cNvPr>
          <p:cNvSpPr/>
          <p:nvPr/>
        </p:nvSpPr>
        <p:spPr>
          <a:xfrm>
            <a:off x="1698425" y="1829528"/>
            <a:ext cx="3449637" cy="575914"/>
          </a:xfrm>
          <a:prstGeom prst="roundRect">
            <a:avLst>
              <a:gd name="adj" fmla="val 7526"/>
            </a:avLst>
          </a:prstGeom>
          <a:solidFill>
            <a:schemeClr val="accent3">
              <a:lumMod val="20000"/>
              <a:lumOff val="8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kumimoji="1" lang="en-US" altLang="ko-KR" sz="800">
                <a:solidFill>
                  <a:schemeClr val="tx1"/>
                </a:solidFill>
              </a:rPr>
              <a:t>Listener Filters</a:t>
            </a:r>
          </a:p>
        </p:txBody>
      </p:sp>
      <p:sp>
        <p:nvSpPr>
          <p:cNvPr id="37" name="모서리가 둥근 직사각형 36">
            <a:extLst>
              <a:ext uri="{FF2B5EF4-FFF2-40B4-BE49-F238E27FC236}">
                <a16:creationId xmlns:a16="http://schemas.microsoft.com/office/drawing/2014/main" id="{C008B0EA-DA6B-A1EC-7AB2-83EA1F5DC784}"/>
              </a:ext>
            </a:extLst>
          </p:cNvPr>
          <p:cNvSpPr/>
          <p:nvPr/>
        </p:nvSpPr>
        <p:spPr>
          <a:xfrm>
            <a:off x="1784275" y="2013485"/>
            <a:ext cx="3291780" cy="158193"/>
          </a:xfrm>
          <a:prstGeom prst="roundRect">
            <a:avLst>
              <a:gd name="adj" fmla="val 14645"/>
            </a:avLst>
          </a:prstGeom>
          <a:solidFill>
            <a:schemeClr val="accent3">
              <a:lumMod val="40000"/>
              <a:lumOff val="6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ko-KR" sz="800">
                <a:solidFill>
                  <a:schemeClr val="tx1"/>
                </a:solidFill>
              </a:rPr>
              <a:t>envoy.filters.listener.tls_inspector</a:t>
            </a:r>
          </a:p>
        </p:txBody>
      </p:sp>
      <p:sp>
        <p:nvSpPr>
          <p:cNvPr id="38" name="모서리가 둥근 직사각형 37">
            <a:extLst>
              <a:ext uri="{FF2B5EF4-FFF2-40B4-BE49-F238E27FC236}">
                <a16:creationId xmlns:a16="http://schemas.microsoft.com/office/drawing/2014/main" id="{B8C56CF7-4F74-5897-B1F3-E714AC450217}"/>
              </a:ext>
            </a:extLst>
          </p:cNvPr>
          <p:cNvSpPr/>
          <p:nvPr/>
        </p:nvSpPr>
        <p:spPr>
          <a:xfrm>
            <a:off x="1784275" y="2171373"/>
            <a:ext cx="3291780" cy="158193"/>
          </a:xfrm>
          <a:prstGeom prst="roundRect">
            <a:avLst>
              <a:gd name="adj" fmla="val 14645"/>
            </a:avLst>
          </a:prstGeom>
          <a:solidFill>
            <a:schemeClr val="accent3">
              <a:lumMod val="40000"/>
              <a:lumOff val="6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ko-KR" sz="800">
                <a:solidFill>
                  <a:schemeClr val="tx1"/>
                </a:solidFill>
              </a:rPr>
              <a:t>envoy.filters.listener.http_inspector</a:t>
            </a:r>
          </a:p>
        </p:txBody>
      </p:sp>
      <p:sp>
        <p:nvSpPr>
          <p:cNvPr id="42" name="모서리가 둥근 직사각형 41">
            <a:extLst>
              <a:ext uri="{FF2B5EF4-FFF2-40B4-BE49-F238E27FC236}">
                <a16:creationId xmlns:a16="http://schemas.microsoft.com/office/drawing/2014/main" id="{FDD6C622-52FD-D303-E407-DFCD1FF1004F}"/>
              </a:ext>
            </a:extLst>
          </p:cNvPr>
          <p:cNvSpPr/>
          <p:nvPr/>
        </p:nvSpPr>
        <p:spPr>
          <a:xfrm>
            <a:off x="1698426" y="2518936"/>
            <a:ext cx="3449638" cy="1938623"/>
          </a:xfrm>
          <a:prstGeom prst="roundRect">
            <a:avLst>
              <a:gd name="adj" fmla="val 2943"/>
            </a:avLst>
          </a:prstGeom>
          <a:solidFill>
            <a:schemeClr val="accent6">
              <a:lumMod val="20000"/>
              <a:lumOff val="8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kumimoji="1" lang="en-US" altLang="ko-KR" sz="800">
                <a:solidFill>
                  <a:schemeClr val="tx1"/>
                </a:solidFill>
              </a:rPr>
              <a:t>Network Filters</a:t>
            </a:r>
          </a:p>
        </p:txBody>
      </p:sp>
      <p:sp>
        <p:nvSpPr>
          <p:cNvPr id="43" name="모서리가 둥근 직사각형 42">
            <a:extLst>
              <a:ext uri="{FF2B5EF4-FFF2-40B4-BE49-F238E27FC236}">
                <a16:creationId xmlns:a16="http://schemas.microsoft.com/office/drawing/2014/main" id="{FE7F1573-194B-06E3-01B4-BCC7A9066EB6}"/>
              </a:ext>
            </a:extLst>
          </p:cNvPr>
          <p:cNvSpPr/>
          <p:nvPr/>
        </p:nvSpPr>
        <p:spPr>
          <a:xfrm>
            <a:off x="1784275" y="2745924"/>
            <a:ext cx="3291780" cy="600039"/>
          </a:xfrm>
          <a:prstGeom prst="roundRect">
            <a:avLst>
              <a:gd name="adj" fmla="val 7799"/>
            </a:avLst>
          </a:prstGeom>
          <a:solidFill>
            <a:schemeClr val="accent6">
              <a:lumMod val="40000"/>
              <a:lumOff val="6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kumimoji="1" lang="en-US" altLang="ko-KR" sz="800" b="1">
                <a:solidFill>
                  <a:schemeClr val="tx1"/>
                </a:solidFill>
              </a:rPr>
              <a:t>PassthroughFilterChain</a:t>
            </a:r>
            <a:r>
              <a:rPr kumimoji="1" lang="en-US" altLang="ko-KR" sz="800">
                <a:solidFill>
                  <a:schemeClr val="tx1"/>
                </a:solidFill>
              </a:rPr>
              <a:t> Chain</a:t>
            </a:r>
            <a:endParaRPr kumimoji="1" lang="en-US" altLang="ko-KR" sz="800" b="1">
              <a:solidFill>
                <a:schemeClr val="tx1"/>
              </a:solidFill>
            </a:endParaRPr>
          </a:p>
        </p:txBody>
      </p:sp>
      <p:sp>
        <p:nvSpPr>
          <p:cNvPr id="44" name="모서리가 둥근 직사각형 43">
            <a:extLst>
              <a:ext uri="{FF2B5EF4-FFF2-40B4-BE49-F238E27FC236}">
                <a16:creationId xmlns:a16="http://schemas.microsoft.com/office/drawing/2014/main" id="{9A68EA32-4CAB-C11C-C1A5-B28BA3D9F047}"/>
              </a:ext>
            </a:extLst>
          </p:cNvPr>
          <p:cNvSpPr/>
          <p:nvPr/>
        </p:nvSpPr>
        <p:spPr>
          <a:xfrm>
            <a:off x="1784275" y="3407488"/>
            <a:ext cx="3291780" cy="990851"/>
          </a:xfrm>
          <a:prstGeom prst="roundRect">
            <a:avLst>
              <a:gd name="adj" fmla="val 5394"/>
            </a:avLst>
          </a:prstGeom>
          <a:solidFill>
            <a:schemeClr val="accent6">
              <a:lumMod val="40000"/>
              <a:lumOff val="6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kumimoji="1" lang="en-US" altLang="ko-KR" sz="800" b="1">
                <a:solidFill>
                  <a:schemeClr val="tx1"/>
                </a:solidFill>
              </a:rPr>
              <a:t>HTTP/HTTP2</a:t>
            </a:r>
            <a:r>
              <a:rPr kumimoji="1" lang="en-US" altLang="ko-KR" sz="800">
                <a:solidFill>
                  <a:schemeClr val="tx1"/>
                </a:solidFill>
              </a:rPr>
              <a:t> Chain</a:t>
            </a:r>
            <a:endParaRPr kumimoji="1" lang="en-US" altLang="ko-KR" sz="800" b="1">
              <a:solidFill>
                <a:schemeClr val="tx1"/>
              </a:solidFill>
            </a:endParaRPr>
          </a:p>
        </p:txBody>
      </p:sp>
      <p:sp>
        <p:nvSpPr>
          <p:cNvPr id="45" name="모서리가 둥근 직사각형 44">
            <a:extLst>
              <a:ext uri="{FF2B5EF4-FFF2-40B4-BE49-F238E27FC236}">
                <a16:creationId xmlns:a16="http://schemas.microsoft.com/office/drawing/2014/main" id="{DE01E1A0-9C75-C577-B820-1C16B5C4A4EC}"/>
              </a:ext>
            </a:extLst>
          </p:cNvPr>
          <p:cNvSpPr/>
          <p:nvPr/>
        </p:nvSpPr>
        <p:spPr>
          <a:xfrm>
            <a:off x="1861428" y="2962773"/>
            <a:ext cx="3142619" cy="158193"/>
          </a:xfrm>
          <a:prstGeom prst="roundRect">
            <a:avLst>
              <a:gd name="adj" fmla="val 14645"/>
            </a:avLst>
          </a:prstGeom>
          <a:solidFill>
            <a:schemeClr val="accent5">
              <a:lumMod val="20000"/>
              <a:lumOff val="8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ko-KR" sz="800">
                <a:solidFill>
                  <a:schemeClr val="tx1"/>
                </a:solidFill>
              </a:rPr>
              <a:t>istio.stats</a:t>
            </a:r>
          </a:p>
        </p:txBody>
      </p:sp>
      <p:sp>
        <p:nvSpPr>
          <p:cNvPr id="46" name="모서리가 둥근 직사각형 45">
            <a:extLst>
              <a:ext uri="{FF2B5EF4-FFF2-40B4-BE49-F238E27FC236}">
                <a16:creationId xmlns:a16="http://schemas.microsoft.com/office/drawing/2014/main" id="{6AE9AD86-D7A5-D8B0-A0E2-36B00E534E89}"/>
              </a:ext>
            </a:extLst>
          </p:cNvPr>
          <p:cNvSpPr/>
          <p:nvPr/>
        </p:nvSpPr>
        <p:spPr>
          <a:xfrm>
            <a:off x="1861429" y="3120120"/>
            <a:ext cx="3142620" cy="158193"/>
          </a:xfrm>
          <a:prstGeom prst="roundRect">
            <a:avLst>
              <a:gd name="adj" fmla="val 14645"/>
            </a:avLst>
          </a:prstGeom>
          <a:solidFill>
            <a:schemeClr val="accent2">
              <a:lumMod val="20000"/>
              <a:lumOff val="8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ko-KR" sz="800">
                <a:solidFill>
                  <a:schemeClr val="tx1"/>
                </a:solidFill>
              </a:rPr>
              <a:t>envoy.filters.network.tcp_proxy</a:t>
            </a:r>
          </a:p>
        </p:txBody>
      </p:sp>
      <p:sp>
        <p:nvSpPr>
          <p:cNvPr id="47" name="모서리가 둥근 직사각형 46">
            <a:extLst>
              <a:ext uri="{FF2B5EF4-FFF2-40B4-BE49-F238E27FC236}">
                <a16:creationId xmlns:a16="http://schemas.microsoft.com/office/drawing/2014/main" id="{9EEEAD45-1AAF-AE9B-C884-073B9950E65F}"/>
              </a:ext>
            </a:extLst>
          </p:cNvPr>
          <p:cNvSpPr/>
          <p:nvPr/>
        </p:nvSpPr>
        <p:spPr>
          <a:xfrm>
            <a:off x="1861427" y="3609039"/>
            <a:ext cx="3142622" cy="734635"/>
          </a:xfrm>
          <a:prstGeom prst="roundRect">
            <a:avLst>
              <a:gd name="adj" fmla="val 5504"/>
            </a:avLst>
          </a:prstGeom>
          <a:solidFill>
            <a:schemeClr val="accent5">
              <a:lumMod val="20000"/>
              <a:lumOff val="8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kumimoji="1" lang="en-US" altLang="ko-KR" sz="800">
                <a:solidFill>
                  <a:schemeClr val="tx1"/>
                </a:solidFill>
              </a:rPr>
              <a:t>envoy.filters.network.http_connection_manager</a:t>
            </a:r>
          </a:p>
        </p:txBody>
      </p:sp>
      <p:sp>
        <p:nvSpPr>
          <p:cNvPr id="48" name="모서리가 둥근 직사각형 47">
            <a:extLst>
              <a:ext uri="{FF2B5EF4-FFF2-40B4-BE49-F238E27FC236}">
                <a16:creationId xmlns:a16="http://schemas.microsoft.com/office/drawing/2014/main" id="{1F01661A-DF72-DD83-06D0-BF8416B4E301}"/>
              </a:ext>
            </a:extLst>
          </p:cNvPr>
          <p:cNvSpPr/>
          <p:nvPr/>
        </p:nvSpPr>
        <p:spPr>
          <a:xfrm>
            <a:off x="1943727" y="3791857"/>
            <a:ext cx="1501878" cy="121532"/>
          </a:xfrm>
          <a:prstGeom prst="roundRect">
            <a:avLst>
              <a:gd name="adj" fmla="val 14645"/>
            </a:avLst>
          </a:prstGeom>
          <a:solidFill>
            <a:schemeClr val="accent5">
              <a:lumMod val="40000"/>
              <a:lumOff val="6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ko-KR" sz="800">
                <a:solidFill>
                  <a:schemeClr val="tx1"/>
                </a:solidFill>
              </a:rPr>
              <a:t>istio.metadata_exchange</a:t>
            </a:r>
          </a:p>
        </p:txBody>
      </p:sp>
      <p:sp>
        <p:nvSpPr>
          <p:cNvPr id="49" name="모서리가 둥근 직사각형 48">
            <a:extLst>
              <a:ext uri="{FF2B5EF4-FFF2-40B4-BE49-F238E27FC236}">
                <a16:creationId xmlns:a16="http://schemas.microsoft.com/office/drawing/2014/main" id="{B41E4FBA-D5D7-90C7-6533-0F1708493672}"/>
              </a:ext>
            </a:extLst>
          </p:cNvPr>
          <p:cNvSpPr/>
          <p:nvPr/>
        </p:nvSpPr>
        <p:spPr>
          <a:xfrm>
            <a:off x="1943727" y="3913390"/>
            <a:ext cx="1501878" cy="121532"/>
          </a:xfrm>
          <a:prstGeom prst="roundRect">
            <a:avLst>
              <a:gd name="adj" fmla="val 14645"/>
            </a:avLst>
          </a:prstGeom>
          <a:solidFill>
            <a:schemeClr val="accent5">
              <a:lumMod val="40000"/>
              <a:lumOff val="6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ko-KR" sz="800">
                <a:solidFill>
                  <a:schemeClr val="tx1"/>
                </a:solidFill>
              </a:rPr>
              <a:t>envoy.filters.http.grpc_stats</a:t>
            </a:r>
          </a:p>
        </p:txBody>
      </p:sp>
      <p:sp>
        <p:nvSpPr>
          <p:cNvPr id="50" name="모서리가 둥근 직사각형 49">
            <a:extLst>
              <a:ext uri="{FF2B5EF4-FFF2-40B4-BE49-F238E27FC236}">
                <a16:creationId xmlns:a16="http://schemas.microsoft.com/office/drawing/2014/main" id="{B2275289-3C9C-7774-1141-16516306C584}"/>
              </a:ext>
            </a:extLst>
          </p:cNvPr>
          <p:cNvSpPr/>
          <p:nvPr/>
        </p:nvSpPr>
        <p:spPr>
          <a:xfrm>
            <a:off x="1943727" y="4034621"/>
            <a:ext cx="1501878" cy="121532"/>
          </a:xfrm>
          <a:prstGeom prst="roundRect">
            <a:avLst>
              <a:gd name="adj" fmla="val 14645"/>
            </a:avLst>
          </a:prstGeom>
          <a:solidFill>
            <a:schemeClr val="accent5">
              <a:lumMod val="40000"/>
              <a:lumOff val="6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ko-KR" sz="800">
                <a:solidFill>
                  <a:schemeClr val="tx1"/>
                </a:solidFill>
              </a:rPr>
              <a:t>istio.alpn</a:t>
            </a:r>
          </a:p>
        </p:txBody>
      </p:sp>
      <p:sp>
        <p:nvSpPr>
          <p:cNvPr id="52" name="모서리가 둥근 직사각형 51">
            <a:extLst>
              <a:ext uri="{FF2B5EF4-FFF2-40B4-BE49-F238E27FC236}">
                <a16:creationId xmlns:a16="http://schemas.microsoft.com/office/drawing/2014/main" id="{CAE8F9CA-69CB-EC9A-E362-D199B2E5C3A8}"/>
              </a:ext>
            </a:extLst>
          </p:cNvPr>
          <p:cNvSpPr/>
          <p:nvPr/>
        </p:nvSpPr>
        <p:spPr>
          <a:xfrm>
            <a:off x="1943727" y="4156454"/>
            <a:ext cx="1501878" cy="121532"/>
          </a:xfrm>
          <a:prstGeom prst="roundRect">
            <a:avLst>
              <a:gd name="adj" fmla="val 14645"/>
            </a:avLst>
          </a:prstGeom>
          <a:solidFill>
            <a:schemeClr val="accent5">
              <a:lumMod val="40000"/>
              <a:lumOff val="6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ko-KR" sz="800">
                <a:solidFill>
                  <a:schemeClr val="tx1"/>
                </a:solidFill>
              </a:rPr>
              <a:t>envoy.filters.http.fault</a:t>
            </a:r>
          </a:p>
        </p:txBody>
      </p:sp>
      <p:sp>
        <p:nvSpPr>
          <p:cNvPr id="53" name="모서리가 둥근 직사각형 52">
            <a:extLst>
              <a:ext uri="{FF2B5EF4-FFF2-40B4-BE49-F238E27FC236}">
                <a16:creationId xmlns:a16="http://schemas.microsoft.com/office/drawing/2014/main" id="{2729F00C-7E89-D62C-800A-D4F11DB3D4B7}"/>
              </a:ext>
            </a:extLst>
          </p:cNvPr>
          <p:cNvSpPr/>
          <p:nvPr/>
        </p:nvSpPr>
        <p:spPr>
          <a:xfrm>
            <a:off x="3644149" y="3797675"/>
            <a:ext cx="1291711" cy="121532"/>
          </a:xfrm>
          <a:prstGeom prst="roundRect">
            <a:avLst>
              <a:gd name="adj" fmla="val 14645"/>
            </a:avLst>
          </a:prstGeom>
          <a:solidFill>
            <a:schemeClr val="accent5">
              <a:lumMod val="40000"/>
              <a:lumOff val="6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ko-KR" sz="800">
                <a:solidFill>
                  <a:schemeClr val="tx1"/>
                </a:solidFill>
              </a:rPr>
              <a:t>envoy.filters.http.cors</a:t>
            </a:r>
          </a:p>
        </p:txBody>
      </p:sp>
      <p:sp>
        <p:nvSpPr>
          <p:cNvPr id="54" name="모서리가 둥근 직사각형 53">
            <a:extLst>
              <a:ext uri="{FF2B5EF4-FFF2-40B4-BE49-F238E27FC236}">
                <a16:creationId xmlns:a16="http://schemas.microsoft.com/office/drawing/2014/main" id="{D5231F80-8218-C09D-D871-F939F44062A6}"/>
              </a:ext>
            </a:extLst>
          </p:cNvPr>
          <p:cNvSpPr/>
          <p:nvPr/>
        </p:nvSpPr>
        <p:spPr>
          <a:xfrm>
            <a:off x="3644149" y="3916358"/>
            <a:ext cx="1291711" cy="121532"/>
          </a:xfrm>
          <a:prstGeom prst="roundRect">
            <a:avLst>
              <a:gd name="adj" fmla="val 14645"/>
            </a:avLst>
          </a:prstGeom>
          <a:solidFill>
            <a:schemeClr val="accent5">
              <a:lumMod val="40000"/>
              <a:lumOff val="6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ko-KR" sz="800">
                <a:solidFill>
                  <a:schemeClr val="tx1"/>
                </a:solidFill>
              </a:rPr>
              <a:t>istio.stats</a:t>
            </a:r>
          </a:p>
        </p:txBody>
      </p:sp>
      <p:sp>
        <p:nvSpPr>
          <p:cNvPr id="55" name="모서리가 둥근 직사각형 54">
            <a:extLst>
              <a:ext uri="{FF2B5EF4-FFF2-40B4-BE49-F238E27FC236}">
                <a16:creationId xmlns:a16="http://schemas.microsoft.com/office/drawing/2014/main" id="{7DA360A1-6E81-F805-F8EC-5F56721F6399}"/>
              </a:ext>
            </a:extLst>
          </p:cNvPr>
          <p:cNvSpPr/>
          <p:nvPr/>
        </p:nvSpPr>
        <p:spPr>
          <a:xfrm>
            <a:off x="3644149" y="4034621"/>
            <a:ext cx="1291711" cy="121532"/>
          </a:xfrm>
          <a:prstGeom prst="roundRect">
            <a:avLst>
              <a:gd name="adj" fmla="val 14645"/>
            </a:avLst>
          </a:prstGeom>
          <a:solidFill>
            <a:schemeClr val="accent2">
              <a:lumMod val="20000"/>
              <a:lumOff val="8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ko-KR" sz="800">
                <a:solidFill>
                  <a:schemeClr val="tx1"/>
                </a:solidFill>
              </a:rPr>
              <a:t>envoy.filters.http.router</a:t>
            </a:r>
          </a:p>
        </p:txBody>
      </p:sp>
      <p:cxnSp>
        <p:nvCxnSpPr>
          <p:cNvPr id="59" name="직선 화살표 연결선 58">
            <a:extLst>
              <a:ext uri="{FF2B5EF4-FFF2-40B4-BE49-F238E27FC236}">
                <a16:creationId xmlns:a16="http://schemas.microsoft.com/office/drawing/2014/main" id="{77D19093-DE2C-2C73-B045-D525AE8A8909}"/>
              </a:ext>
            </a:extLst>
          </p:cNvPr>
          <p:cNvCxnSpPr>
            <a:cxnSpLocks/>
            <a:stCxn id="41" idx="2"/>
            <a:endCxn id="42" idx="0"/>
          </p:cNvCxnSpPr>
          <p:nvPr/>
        </p:nvCxnSpPr>
        <p:spPr>
          <a:xfrm>
            <a:off x="3423244" y="2405442"/>
            <a:ext cx="1" cy="113494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직선 화살표 연결선 70">
            <a:extLst>
              <a:ext uri="{FF2B5EF4-FFF2-40B4-BE49-F238E27FC236}">
                <a16:creationId xmlns:a16="http://schemas.microsoft.com/office/drawing/2014/main" id="{9599794A-56DF-1F97-BC92-67BB98EFAB98}"/>
              </a:ext>
            </a:extLst>
          </p:cNvPr>
          <p:cNvCxnSpPr>
            <a:cxnSpLocks/>
            <a:stCxn id="10" idx="3"/>
            <a:endCxn id="29" idx="1"/>
          </p:cNvCxnSpPr>
          <p:nvPr/>
        </p:nvCxnSpPr>
        <p:spPr>
          <a:xfrm>
            <a:off x="5650750" y="897536"/>
            <a:ext cx="275034" cy="665506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직선 화살표 연결선 73">
            <a:extLst>
              <a:ext uri="{FF2B5EF4-FFF2-40B4-BE49-F238E27FC236}">
                <a16:creationId xmlns:a16="http://schemas.microsoft.com/office/drawing/2014/main" id="{2044D70F-6571-03A3-E231-D9A4309CA634}"/>
              </a:ext>
            </a:extLst>
          </p:cNvPr>
          <p:cNvCxnSpPr>
            <a:cxnSpLocks/>
            <a:stCxn id="52" idx="3"/>
            <a:endCxn id="53" idx="1"/>
          </p:cNvCxnSpPr>
          <p:nvPr/>
        </p:nvCxnSpPr>
        <p:spPr>
          <a:xfrm flipV="1">
            <a:off x="3445605" y="3858442"/>
            <a:ext cx="198544" cy="358779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직선 화살표 연결선 76">
            <a:extLst>
              <a:ext uri="{FF2B5EF4-FFF2-40B4-BE49-F238E27FC236}">
                <a16:creationId xmlns:a16="http://schemas.microsoft.com/office/drawing/2014/main" id="{FC025A41-C4DA-6171-67CA-4A3EE88E019B}"/>
              </a:ext>
            </a:extLst>
          </p:cNvPr>
          <p:cNvCxnSpPr>
            <a:cxnSpLocks/>
            <a:stCxn id="55" idx="3"/>
            <a:endCxn id="26" idx="1"/>
          </p:cNvCxnSpPr>
          <p:nvPr/>
        </p:nvCxnSpPr>
        <p:spPr>
          <a:xfrm flipV="1">
            <a:off x="4935860" y="3112488"/>
            <a:ext cx="482804" cy="982900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직선 화살표 연결선 80">
            <a:extLst>
              <a:ext uri="{FF2B5EF4-FFF2-40B4-BE49-F238E27FC236}">
                <a16:creationId xmlns:a16="http://schemas.microsoft.com/office/drawing/2014/main" id="{4B4F1B00-0C38-7A0A-4F7E-BC807237BD5C}"/>
              </a:ext>
            </a:extLst>
          </p:cNvPr>
          <p:cNvCxnSpPr>
            <a:cxnSpLocks/>
            <a:endCxn id="23" idx="1"/>
          </p:cNvCxnSpPr>
          <p:nvPr/>
        </p:nvCxnSpPr>
        <p:spPr>
          <a:xfrm flipV="1">
            <a:off x="6093346" y="2731873"/>
            <a:ext cx="157681" cy="413374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직선 화살표 연결선 83">
            <a:extLst>
              <a:ext uri="{FF2B5EF4-FFF2-40B4-BE49-F238E27FC236}">
                <a16:creationId xmlns:a16="http://schemas.microsoft.com/office/drawing/2014/main" id="{CA265F28-4008-847B-A877-961B96F195A4}"/>
              </a:ext>
            </a:extLst>
          </p:cNvPr>
          <p:cNvCxnSpPr>
            <a:cxnSpLocks/>
            <a:endCxn id="20" idx="1"/>
          </p:cNvCxnSpPr>
          <p:nvPr/>
        </p:nvCxnSpPr>
        <p:spPr>
          <a:xfrm>
            <a:off x="6093346" y="3145246"/>
            <a:ext cx="157681" cy="0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직선 화살표 연결선 100">
            <a:extLst>
              <a:ext uri="{FF2B5EF4-FFF2-40B4-BE49-F238E27FC236}">
                <a16:creationId xmlns:a16="http://schemas.microsoft.com/office/drawing/2014/main" id="{322E6634-8DB4-0A96-9F89-1CD289B681F4}"/>
              </a:ext>
            </a:extLst>
          </p:cNvPr>
          <p:cNvCxnSpPr>
            <a:cxnSpLocks/>
            <a:endCxn id="11" idx="0"/>
          </p:cNvCxnSpPr>
          <p:nvPr/>
        </p:nvCxnSpPr>
        <p:spPr>
          <a:xfrm>
            <a:off x="1505811" y="1410549"/>
            <a:ext cx="1917050" cy="150239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직선 화살표 연결선 103">
            <a:extLst>
              <a:ext uri="{FF2B5EF4-FFF2-40B4-BE49-F238E27FC236}">
                <a16:creationId xmlns:a16="http://schemas.microsoft.com/office/drawing/2014/main" id="{6CB88BE4-819D-1258-FF52-CC3A8B323AAC}"/>
              </a:ext>
            </a:extLst>
          </p:cNvPr>
          <p:cNvCxnSpPr>
            <a:cxnSpLocks/>
            <a:stCxn id="46" idx="3"/>
            <a:endCxn id="29" idx="1"/>
          </p:cNvCxnSpPr>
          <p:nvPr/>
        </p:nvCxnSpPr>
        <p:spPr>
          <a:xfrm flipV="1">
            <a:off x="5004049" y="1563042"/>
            <a:ext cx="921735" cy="1636175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7" name="모서리가 둥근 직사각형 126">
            <a:extLst>
              <a:ext uri="{FF2B5EF4-FFF2-40B4-BE49-F238E27FC236}">
                <a16:creationId xmlns:a16="http://schemas.microsoft.com/office/drawing/2014/main" id="{A02DB4C3-85F6-8247-F1BB-1A34777B21C5}"/>
              </a:ext>
            </a:extLst>
          </p:cNvPr>
          <p:cNvSpPr/>
          <p:nvPr/>
        </p:nvSpPr>
        <p:spPr>
          <a:xfrm>
            <a:off x="1619671" y="4633772"/>
            <a:ext cx="3606379" cy="187236"/>
          </a:xfrm>
          <a:prstGeom prst="roundRect">
            <a:avLst>
              <a:gd name="adj" fmla="val 24593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kumimoji="1" lang="en-US" altLang="ko-KR" sz="800" b="1">
                <a:solidFill>
                  <a:schemeClr val="tx1"/>
                </a:solidFill>
              </a:rPr>
              <a:t>0.0.0.0_9090 </a:t>
            </a:r>
            <a:r>
              <a:rPr kumimoji="1" lang="en-US" altLang="ko-KR" sz="800">
                <a:solidFill>
                  <a:schemeClr val="tx1"/>
                </a:solidFill>
              </a:rPr>
              <a:t>Listener …</a:t>
            </a:r>
          </a:p>
        </p:txBody>
      </p:sp>
      <p:cxnSp>
        <p:nvCxnSpPr>
          <p:cNvPr id="129" name="직선 화살표 연결선 128">
            <a:extLst>
              <a:ext uri="{FF2B5EF4-FFF2-40B4-BE49-F238E27FC236}">
                <a16:creationId xmlns:a16="http://schemas.microsoft.com/office/drawing/2014/main" id="{F9EAC069-DB61-51A4-9991-06F0C97AD80C}"/>
              </a:ext>
            </a:extLst>
          </p:cNvPr>
          <p:cNvCxnSpPr>
            <a:cxnSpLocks/>
            <a:endCxn id="127" idx="1"/>
          </p:cNvCxnSpPr>
          <p:nvPr/>
        </p:nvCxnSpPr>
        <p:spPr>
          <a:xfrm>
            <a:off x="1505340" y="1410549"/>
            <a:ext cx="114331" cy="3316841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7" name="직선 화살표 연결선 146">
            <a:extLst>
              <a:ext uri="{FF2B5EF4-FFF2-40B4-BE49-F238E27FC236}">
                <a16:creationId xmlns:a16="http://schemas.microsoft.com/office/drawing/2014/main" id="{398D70E5-243B-D426-C2E1-87AEA32A2DD5}"/>
              </a:ext>
            </a:extLst>
          </p:cNvPr>
          <p:cNvCxnSpPr>
            <a:cxnSpLocks/>
            <a:endCxn id="40" idx="1"/>
          </p:cNvCxnSpPr>
          <p:nvPr/>
        </p:nvCxnSpPr>
        <p:spPr>
          <a:xfrm>
            <a:off x="6093346" y="4267499"/>
            <a:ext cx="157681" cy="0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0" name="직선 화살표 연결선 149">
            <a:extLst>
              <a:ext uri="{FF2B5EF4-FFF2-40B4-BE49-F238E27FC236}">
                <a16:creationId xmlns:a16="http://schemas.microsoft.com/office/drawing/2014/main" id="{0DAA56E4-251A-B9B0-93B1-CCB2B5B9DECE}"/>
              </a:ext>
            </a:extLst>
          </p:cNvPr>
          <p:cNvCxnSpPr>
            <a:cxnSpLocks/>
            <a:stCxn id="127" idx="3"/>
            <a:endCxn id="27" idx="1"/>
          </p:cNvCxnSpPr>
          <p:nvPr/>
        </p:nvCxnSpPr>
        <p:spPr>
          <a:xfrm flipV="1">
            <a:off x="5226050" y="4234741"/>
            <a:ext cx="192614" cy="492649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4" name="직선 화살표 연결선 153">
            <a:extLst>
              <a:ext uri="{FF2B5EF4-FFF2-40B4-BE49-F238E27FC236}">
                <a16:creationId xmlns:a16="http://schemas.microsoft.com/office/drawing/2014/main" id="{E33FF6D1-3A27-E5A1-B0C3-9B69DB541284}"/>
              </a:ext>
            </a:extLst>
          </p:cNvPr>
          <p:cNvCxnSpPr>
            <a:cxnSpLocks/>
            <a:stCxn id="127" idx="3"/>
            <a:endCxn id="29" idx="1"/>
          </p:cNvCxnSpPr>
          <p:nvPr/>
        </p:nvCxnSpPr>
        <p:spPr>
          <a:xfrm flipV="1">
            <a:off x="5226050" y="1563042"/>
            <a:ext cx="699734" cy="3164348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5" name="모서리가 둥근 직사각형 174">
            <a:extLst>
              <a:ext uri="{FF2B5EF4-FFF2-40B4-BE49-F238E27FC236}">
                <a16:creationId xmlns:a16="http://schemas.microsoft.com/office/drawing/2014/main" id="{27B04467-0763-D5EA-3868-FDBA5F61CCEA}"/>
              </a:ext>
            </a:extLst>
          </p:cNvPr>
          <p:cNvSpPr/>
          <p:nvPr/>
        </p:nvSpPr>
        <p:spPr>
          <a:xfrm>
            <a:off x="6878454" y="2172759"/>
            <a:ext cx="2016223" cy="277654"/>
          </a:xfrm>
          <a:prstGeom prst="roundRect">
            <a:avLst>
              <a:gd name="adj" fmla="val 14645"/>
            </a:avLst>
          </a:prstGeom>
          <a:solidFill>
            <a:schemeClr val="accent4">
              <a:lumMod val="20000"/>
              <a:lumOff val="8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 b="1">
                <a:solidFill>
                  <a:schemeClr val="tx1"/>
                </a:solidFill>
              </a:rPr>
              <a:t>outbound|8080||server-a</a:t>
            </a:r>
            <a:br>
              <a:rPr kumimoji="1" lang="en-US" altLang="ko-KR" sz="800" b="1">
                <a:solidFill>
                  <a:schemeClr val="tx1"/>
                </a:solidFill>
              </a:rPr>
            </a:br>
            <a:r>
              <a:rPr kumimoji="1" lang="en-US" altLang="ko-KR" sz="800" b="1">
                <a:solidFill>
                  <a:schemeClr val="tx1"/>
                </a:solidFill>
              </a:rPr>
              <a:t>.default.svc.cluster.local </a:t>
            </a:r>
            <a:r>
              <a:rPr kumimoji="1" lang="en-US" altLang="ko-KR" sz="800">
                <a:solidFill>
                  <a:schemeClr val="tx1"/>
                </a:solidFill>
              </a:rPr>
              <a:t>Endpoint</a:t>
            </a:r>
          </a:p>
        </p:txBody>
      </p:sp>
      <p:sp>
        <p:nvSpPr>
          <p:cNvPr id="176" name="모서리가 둥근 직사각형 175">
            <a:extLst>
              <a:ext uri="{FF2B5EF4-FFF2-40B4-BE49-F238E27FC236}">
                <a16:creationId xmlns:a16="http://schemas.microsoft.com/office/drawing/2014/main" id="{43B557CC-1D59-5660-94DD-D486F822F85C}"/>
              </a:ext>
            </a:extLst>
          </p:cNvPr>
          <p:cNvSpPr/>
          <p:nvPr/>
        </p:nvSpPr>
        <p:spPr>
          <a:xfrm>
            <a:off x="6878454" y="3429373"/>
            <a:ext cx="2016223" cy="277654"/>
          </a:xfrm>
          <a:prstGeom prst="roundRect">
            <a:avLst>
              <a:gd name="adj" fmla="val 14645"/>
            </a:avLst>
          </a:prstGeom>
          <a:solidFill>
            <a:schemeClr val="accent4">
              <a:lumMod val="20000"/>
              <a:lumOff val="8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 b="1">
                <a:solidFill>
                  <a:schemeClr val="tx1"/>
                </a:solidFill>
              </a:rPr>
              <a:t>outbound|8080||server-b</a:t>
            </a:r>
            <a:br>
              <a:rPr kumimoji="1" lang="en-US" altLang="ko-KR" sz="800" b="1">
                <a:solidFill>
                  <a:schemeClr val="tx1"/>
                </a:solidFill>
              </a:rPr>
            </a:br>
            <a:r>
              <a:rPr kumimoji="1" lang="en-US" altLang="ko-KR" sz="800" b="1">
                <a:solidFill>
                  <a:schemeClr val="tx1"/>
                </a:solidFill>
              </a:rPr>
              <a:t>.default.svc.cluster.local </a:t>
            </a:r>
            <a:r>
              <a:rPr kumimoji="1" lang="en-US" altLang="ko-KR" sz="800">
                <a:solidFill>
                  <a:schemeClr val="tx1"/>
                </a:solidFill>
              </a:rPr>
              <a:t>Endpoint</a:t>
            </a:r>
          </a:p>
        </p:txBody>
      </p:sp>
      <p:sp>
        <p:nvSpPr>
          <p:cNvPr id="177" name="모서리가 둥근 직사각형 176">
            <a:extLst>
              <a:ext uri="{FF2B5EF4-FFF2-40B4-BE49-F238E27FC236}">
                <a16:creationId xmlns:a16="http://schemas.microsoft.com/office/drawing/2014/main" id="{1BC516EC-1061-37FF-AF0E-0EC35C44BE6F}"/>
              </a:ext>
            </a:extLst>
          </p:cNvPr>
          <p:cNvSpPr/>
          <p:nvPr/>
        </p:nvSpPr>
        <p:spPr>
          <a:xfrm>
            <a:off x="6878454" y="4543354"/>
            <a:ext cx="2016223" cy="277654"/>
          </a:xfrm>
          <a:prstGeom prst="roundRect">
            <a:avLst>
              <a:gd name="adj" fmla="val 14645"/>
            </a:avLst>
          </a:prstGeom>
          <a:solidFill>
            <a:schemeClr val="accent4">
              <a:lumMod val="20000"/>
              <a:lumOff val="8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 b="1">
                <a:solidFill>
                  <a:schemeClr val="tx1"/>
                </a:solidFill>
              </a:rPr>
              <a:t>outbound|8080||server-a</a:t>
            </a:r>
            <a:br>
              <a:rPr kumimoji="1" lang="en-US" altLang="ko-KR" sz="800" b="1">
                <a:solidFill>
                  <a:schemeClr val="tx1"/>
                </a:solidFill>
              </a:rPr>
            </a:br>
            <a:r>
              <a:rPr kumimoji="1" lang="en-US" altLang="ko-KR" sz="800" b="1">
                <a:solidFill>
                  <a:schemeClr val="tx1"/>
                </a:solidFill>
              </a:rPr>
              <a:t>.default.svc.cluster.local </a:t>
            </a:r>
            <a:r>
              <a:rPr kumimoji="1" lang="en-US" altLang="ko-KR" sz="800">
                <a:solidFill>
                  <a:schemeClr val="tx1"/>
                </a:solidFill>
              </a:rPr>
              <a:t>Endpoint</a:t>
            </a:r>
          </a:p>
        </p:txBody>
      </p:sp>
      <p:cxnSp>
        <p:nvCxnSpPr>
          <p:cNvPr id="178" name="직선 화살표 연결선 177">
            <a:extLst>
              <a:ext uri="{FF2B5EF4-FFF2-40B4-BE49-F238E27FC236}">
                <a16:creationId xmlns:a16="http://schemas.microsoft.com/office/drawing/2014/main" id="{A243A3D4-C509-C19C-BDA7-DE801B1504A7}"/>
              </a:ext>
            </a:extLst>
          </p:cNvPr>
          <p:cNvCxnSpPr>
            <a:cxnSpLocks/>
            <a:stCxn id="20" idx="2"/>
            <a:endCxn id="176" idx="0"/>
          </p:cNvCxnSpPr>
          <p:nvPr/>
        </p:nvCxnSpPr>
        <p:spPr>
          <a:xfrm>
            <a:off x="7259139" y="3284073"/>
            <a:ext cx="627427" cy="145300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1" name="직선 화살표 연결선 180">
            <a:extLst>
              <a:ext uri="{FF2B5EF4-FFF2-40B4-BE49-F238E27FC236}">
                <a16:creationId xmlns:a16="http://schemas.microsoft.com/office/drawing/2014/main" id="{40B73F58-F39E-95CA-C9AB-02382E3BBD54}"/>
              </a:ext>
            </a:extLst>
          </p:cNvPr>
          <p:cNvCxnSpPr>
            <a:cxnSpLocks/>
            <a:stCxn id="23" idx="0"/>
            <a:endCxn id="175" idx="2"/>
          </p:cNvCxnSpPr>
          <p:nvPr/>
        </p:nvCxnSpPr>
        <p:spPr>
          <a:xfrm flipV="1">
            <a:off x="7259139" y="2450413"/>
            <a:ext cx="627427" cy="142632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4" name="직선 화살표 연결선 183">
            <a:extLst>
              <a:ext uri="{FF2B5EF4-FFF2-40B4-BE49-F238E27FC236}">
                <a16:creationId xmlns:a16="http://schemas.microsoft.com/office/drawing/2014/main" id="{8EC8D33C-5544-3E8D-69F4-391244167694}"/>
              </a:ext>
            </a:extLst>
          </p:cNvPr>
          <p:cNvCxnSpPr>
            <a:cxnSpLocks/>
            <a:stCxn id="40" idx="2"/>
            <a:endCxn id="177" idx="0"/>
          </p:cNvCxnSpPr>
          <p:nvPr/>
        </p:nvCxnSpPr>
        <p:spPr>
          <a:xfrm>
            <a:off x="7259139" y="4406326"/>
            <a:ext cx="627427" cy="137028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8" name="모서리가 둥근 직사각형 237">
            <a:extLst>
              <a:ext uri="{FF2B5EF4-FFF2-40B4-BE49-F238E27FC236}">
                <a16:creationId xmlns:a16="http://schemas.microsoft.com/office/drawing/2014/main" id="{1B12450D-3FD2-E9C7-C3C9-AE8AEB0392F0}"/>
              </a:ext>
            </a:extLst>
          </p:cNvPr>
          <p:cNvSpPr/>
          <p:nvPr/>
        </p:nvSpPr>
        <p:spPr>
          <a:xfrm>
            <a:off x="1456566" y="625781"/>
            <a:ext cx="4124174" cy="721351"/>
          </a:xfrm>
          <a:prstGeom prst="roundRect">
            <a:avLst>
              <a:gd name="adj" fmla="val 8136"/>
            </a:avLst>
          </a:prstGeom>
          <a:solidFill>
            <a:schemeClr val="accent6">
              <a:lumMod val="20000"/>
              <a:lumOff val="8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kumimoji="1" lang="en-US" altLang="ko-KR" sz="800">
                <a:solidFill>
                  <a:schemeClr val="tx1"/>
                </a:solidFill>
              </a:rPr>
              <a:t>Network Filters</a:t>
            </a:r>
          </a:p>
        </p:txBody>
      </p:sp>
      <p:sp>
        <p:nvSpPr>
          <p:cNvPr id="239" name="모서리가 둥근 직사각형 238">
            <a:extLst>
              <a:ext uri="{FF2B5EF4-FFF2-40B4-BE49-F238E27FC236}">
                <a16:creationId xmlns:a16="http://schemas.microsoft.com/office/drawing/2014/main" id="{78AAC20D-B7B5-E01E-1AE1-A651DF08EBA2}"/>
              </a:ext>
            </a:extLst>
          </p:cNvPr>
          <p:cNvSpPr/>
          <p:nvPr/>
        </p:nvSpPr>
        <p:spPr>
          <a:xfrm>
            <a:off x="1537426" y="832108"/>
            <a:ext cx="1955826" cy="457874"/>
          </a:xfrm>
          <a:prstGeom prst="roundRect">
            <a:avLst>
              <a:gd name="adj" fmla="val 7799"/>
            </a:avLst>
          </a:prstGeom>
          <a:solidFill>
            <a:schemeClr val="accent6">
              <a:lumMod val="40000"/>
              <a:lumOff val="6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kumimoji="1" lang="en-US" altLang="ko-KR" sz="800" b="1">
                <a:solidFill>
                  <a:schemeClr val="tx1"/>
                </a:solidFill>
              </a:rPr>
              <a:t>virtualOutbound-blackhole</a:t>
            </a:r>
            <a:r>
              <a:rPr kumimoji="1" lang="en-US" altLang="ko-KR" sz="800">
                <a:solidFill>
                  <a:schemeClr val="tx1"/>
                </a:solidFill>
              </a:rPr>
              <a:t> Chain</a:t>
            </a:r>
            <a:endParaRPr kumimoji="1" lang="en-US" altLang="ko-KR" sz="800" b="1">
              <a:solidFill>
                <a:schemeClr val="tx1"/>
              </a:solidFill>
            </a:endParaRPr>
          </a:p>
        </p:txBody>
      </p:sp>
      <p:sp>
        <p:nvSpPr>
          <p:cNvPr id="241" name="모서리가 둥근 직사각형 240">
            <a:extLst>
              <a:ext uri="{FF2B5EF4-FFF2-40B4-BE49-F238E27FC236}">
                <a16:creationId xmlns:a16="http://schemas.microsoft.com/office/drawing/2014/main" id="{B385AE11-4226-D445-ED75-31EFDDE69230}"/>
              </a:ext>
            </a:extLst>
          </p:cNvPr>
          <p:cNvSpPr/>
          <p:nvPr/>
        </p:nvSpPr>
        <p:spPr>
          <a:xfrm>
            <a:off x="1610712" y="1068422"/>
            <a:ext cx="1809254" cy="163277"/>
          </a:xfrm>
          <a:prstGeom prst="roundRect">
            <a:avLst>
              <a:gd name="adj" fmla="val 14645"/>
            </a:avLst>
          </a:prstGeom>
          <a:solidFill>
            <a:schemeClr val="accent2">
              <a:lumMod val="20000"/>
              <a:lumOff val="8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ko-KR" sz="800">
                <a:solidFill>
                  <a:schemeClr val="tx1"/>
                </a:solidFill>
              </a:rPr>
              <a:t>envoy.filters.network.tcp_proxy</a:t>
            </a:r>
          </a:p>
        </p:txBody>
      </p:sp>
      <p:sp>
        <p:nvSpPr>
          <p:cNvPr id="257" name="모서리가 둥근 직사각형 256">
            <a:extLst>
              <a:ext uri="{FF2B5EF4-FFF2-40B4-BE49-F238E27FC236}">
                <a16:creationId xmlns:a16="http://schemas.microsoft.com/office/drawing/2014/main" id="{D6A33C09-835E-D12C-50F7-9CF9AA813ACF}"/>
              </a:ext>
            </a:extLst>
          </p:cNvPr>
          <p:cNvSpPr/>
          <p:nvPr/>
        </p:nvSpPr>
        <p:spPr>
          <a:xfrm>
            <a:off x="3565260" y="832108"/>
            <a:ext cx="1955826" cy="457874"/>
          </a:xfrm>
          <a:prstGeom prst="roundRect">
            <a:avLst>
              <a:gd name="adj" fmla="val 7799"/>
            </a:avLst>
          </a:prstGeom>
          <a:solidFill>
            <a:schemeClr val="accent6">
              <a:lumMod val="40000"/>
              <a:lumOff val="6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kumimoji="1" lang="en-US" altLang="ko-KR" sz="800" b="1">
                <a:solidFill>
                  <a:schemeClr val="tx1"/>
                </a:solidFill>
              </a:rPr>
              <a:t>virtualOutbound-catchall-tcp</a:t>
            </a:r>
            <a:r>
              <a:rPr kumimoji="1" lang="en-US" altLang="ko-KR" sz="800">
                <a:solidFill>
                  <a:schemeClr val="tx1"/>
                </a:solidFill>
              </a:rPr>
              <a:t> Chain</a:t>
            </a:r>
            <a:endParaRPr kumimoji="1" lang="en-US" altLang="ko-KR" sz="800" b="1">
              <a:solidFill>
                <a:schemeClr val="tx1"/>
              </a:solidFill>
            </a:endParaRPr>
          </a:p>
        </p:txBody>
      </p:sp>
      <p:sp>
        <p:nvSpPr>
          <p:cNvPr id="258" name="모서리가 둥근 직사각형 257">
            <a:extLst>
              <a:ext uri="{FF2B5EF4-FFF2-40B4-BE49-F238E27FC236}">
                <a16:creationId xmlns:a16="http://schemas.microsoft.com/office/drawing/2014/main" id="{2C0E0EF7-2A2D-E6F5-828A-CAE5D9E5B257}"/>
              </a:ext>
            </a:extLst>
          </p:cNvPr>
          <p:cNvSpPr/>
          <p:nvPr/>
        </p:nvSpPr>
        <p:spPr>
          <a:xfrm>
            <a:off x="3639824" y="1068422"/>
            <a:ext cx="1809254" cy="163277"/>
          </a:xfrm>
          <a:prstGeom prst="roundRect">
            <a:avLst>
              <a:gd name="adj" fmla="val 14645"/>
            </a:avLst>
          </a:prstGeom>
          <a:solidFill>
            <a:schemeClr val="accent2">
              <a:lumMod val="20000"/>
              <a:lumOff val="8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ko-KR" sz="800">
                <a:solidFill>
                  <a:schemeClr val="tx1"/>
                </a:solidFill>
              </a:rPr>
              <a:t>envoy.filters.network.tcp_proxy</a:t>
            </a:r>
          </a:p>
        </p:txBody>
      </p:sp>
    </p:spTree>
    <p:extLst>
      <p:ext uri="{BB962C8B-B14F-4D97-AF65-F5344CB8AC3E}">
        <p14:creationId xmlns:p14="http://schemas.microsoft.com/office/powerpoint/2010/main" val="1106664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16F6D9-B444-82AE-9AAB-9902C1E445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모서리가 둥근 직사각형 23">
            <a:extLst>
              <a:ext uri="{FF2B5EF4-FFF2-40B4-BE49-F238E27FC236}">
                <a16:creationId xmlns:a16="http://schemas.microsoft.com/office/drawing/2014/main" id="{5CFF3F47-A443-13A0-D4D9-4F576447E030}"/>
              </a:ext>
            </a:extLst>
          </p:cNvPr>
          <p:cNvSpPr/>
          <p:nvPr/>
        </p:nvSpPr>
        <p:spPr>
          <a:xfrm>
            <a:off x="5564757" y="-322418"/>
            <a:ext cx="1296144" cy="387034"/>
          </a:xfrm>
          <a:prstGeom prst="roundRect">
            <a:avLst>
              <a:gd name="adj" fmla="val 14645"/>
            </a:avLst>
          </a:prstGeom>
          <a:solidFill>
            <a:schemeClr val="bg1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 b="1">
                <a:solidFill>
                  <a:schemeClr val="tx1"/>
                </a:solidFill>
              </a:rPr>
              <a:t>0.0.0.0_9090 </a:t>
            </a:r>
            <a:br>
              <a:rPr kumimoji="1" lang="en-US" altLang="ko-KR" sz="800" b="1">
                <a:solidFill>
                  <a:schemeClr val="tx1"/>
                </a:solidFill>
              </a:rPr>
            </a:br>
            <a:r>
              <a:rPr kumimoji="1" lang="en-US" altLang="ko-KR" sz="800">
                <a:solidFill>
                  <a:schemeClr val="tx1"/>
                </a:solidFill>
              </a:rPr>
              <a:t>Listener</a:t>
            </a:r>
          </a:p>
        </p:txBody>
      </p:sp>
      <p:sp>
        <p:nvSpPr>
          <p:cNvPr id="6" name="모서리가 둥근 직사각형 5">
            <a:extLst>
              <a:ext uri="{FF2B5EF4-FFF2-40B4-BE49-F238E27FC236}">
                <a16:creationId xmlns:a16="http://schemas.microsoft.com/office/drawing/2014/main" id="{9AFAC3CD-EE2E-CC3A-31F3-E955DA443F60}"/>
              </a:ext>
            </a:extLst>
          </p:cNvPr>
          <p:cNvSpPr/>
          <p:nvPr/>
        </p:nvSpPr>
        <p:spPr>
          <a:xfrm>
            <a:off x="107504" y="129906"/>
            <a:ext cx="9001000" cy="4854844"/>
          </a:xfrm>
          <a:prstGeom prst="roundRect">
            <a:avLst>
              <a:gd name="adj" fmla="val 1960"/>
            </a:avLst>
          </a:prstGeom>
          <a:solidFill>
            <a:schemeClr val="bg1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r"/>
            <a:r>
              <a:rPr kumimoji="1" lang="en-US" altLang="ko-KR" sz="800" b="1">
                <a:solidFill>
                  <a:schemeClr val="tx1"/>
                </a:solidFill>
              </a:rPr>
              <a:t>server-a</a:t>
            </a:r>
            <a:r>
              <a:rPr kumimoji="1" lang="ko-KR" altLang="en-US" sz="800" b="1">
                <a:solidFill>
                  <a:schemeClr val="tx1"/>
                </a:solidFill>
              </a:rPr>
              <a:t> </a:t>
            </a:r>
            <a:r>
              <a:rPr kumimoji="1" lang="en-US" altLang="ko-KR" sz="800">
                <a:solidFill>
                  <a:schemeClr val="tx1"/>
                </a:solidFill>
              </a:rPr>
              <a:t>Pod</a:t>
            </a:r>
          </a:p>
        </p:txBody>
      </p:sp>
      <p:sp>
        <p:nvSpPr>
          <p:cNvPr id="7" name="모서리가 둥근 직사각형 6">
            <a:extLst>
              <a:ext uri="{FF2B5EF4-FFF2-40B4-BE49-F238E27FC236}">
                <a16:creationId xmlns:a16="http://schemas.microsoft.com/office/drawing/2014/main" id="{74EE5765-9ABC-FEAE-2E6D-C8C45C0606F9}"/>
              </a:ext>
            </a:extLst>
          </p:cNvPr>
          <p:cNvSpPr/>
          <p:nvPr/>
        </p:nvSpPr>
        <p:spPr>
          <a:xfrm>
            <a:off x="8109223" y="450635"/>
            <a:ext cx="936103" cy="347793"/>
          </a:xfrm>
          <a:prstGeom prst="roundRect">
            <a:avLst>
              <a:gd name="adj" fmla="val 14645"/>
            </a:avLst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 b="1">
                <a:solidFill>
                  <a:schemeClr val="tx1"/>
                </a:solidFill>
              </a:rPr>
              <a:t>server-a</a:t>
            </a:r>
            <a:endParaRPr kumimoji="1" lang="en-US" altLang="ko-KR" sz="800">
              <a:solidFill>
                <a:schemeClr val="tx1"/>
              </a:solidFill>
            </a:endParaRPr>
          </a:p>
        </p:txBody>
      </p:sp>
      <p:sp>
        <p:nvSpPr>
          <p:cNvPr id="9" name="모서리가 둥근 직사각형 8">
            <a:extLst>
              <a:ext uri="{FF2B5EF4-FFF2-40B4-BE49-F238E27FC236}">
                <a16:creationId xmlns:a16="http://schemas.microsoft.com/office/drawing/2014/main" id="{4C702696-A054-7C6C-BF9D-8DBA5392EF39}"/>
              </a:ext>
            </a:extLst>
          </p:cNvPr>
          <p:cNvSpPr/>
          <p:nvPr/>
        </p:nvSpPr>
        <p:spPr>
          <a:xfrm>
            <a:off x="179512" y="194613"/>
            <a:ext cx="7776863" cy="4720287"/>
          </a:xfrm>
          <a:prstGeom prst="roundRect">
            <a:avLst>
              <a:gd name="adj" fmla="val 2107"/>
            </a:avLst>
          </a:prstGeom>
          <a:solidFill>
            <a:schemeClr val="bg1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kumimoji="1" lang="en-US" altLang="ko-KR" sz="800" b="1">
                <a:solidFill>
                  <a:schemeClr val="tx1"/>
                </a:solidFill>
              </a:rPr>
              <a:t>Sidecar Envoy</a:t>
            </a:r>
            <a:endParaRPr kumimoji="1" lang="en-US" altLang="ko-KR" sz="800">
              <a:solidFill>
                <a:schemeClr val="tx1"/>
              </a:solidFill>
            </a:endParaRPr>
          </a:p>
        </p:txBody>
      </p:sp>
      <p:sp>
        <p:nvSpPr>
          <p:cNvPr id="11" name="모서리가 둥근 직사각형 10">
            <a:extLst>
              <a:ext uri="{FF2B5EF4-FFF2-40B4-BE49-F238E27FC236}">
                <a16:creationId xmlns:a16="http://schemas.microsoft.com/office/drawing/2014/main" id="{416C1324-A487-5BCA-B0E2-5FED6FE995FB}"/>
              </a:ext>
            </a:extLst>
          </p:cNvPr>
          <p:cNvSpPr/>
          <p:nvPr/>
        </p:nvSpPr>
        <p:spPr>
          <a:xfrm>
            <a:off x="318295" y="450634"/>
            <a:ext cx="7566073" cy="4311866"/>
          </a:xfrm>
          <a:prstGeom prst="roundRect">
            <a:avLst>
              <a:gd name="adj" fmla="val 1872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kumimoji="1" lang="en-US" altLang="ko-KR" sz="800" b="1">
                <a:solidFill>
                  <a:schemeClr val="tx1"/>
                </a:solidFill>
              </a:rPr>
              <a:t>virtualInbound </a:t>
            </a:r>
            <a:r>
              <a:rPr kumimoji="1" lang="en-US" altLang="ko-KR" sz="800">
                <a:solidFill>
                  <a:schemeClr val="tx1"/>
                </a:solidFill>
              </a:rPr>
              <a:t>Listener (:15006)</a:t>
            </a:r>
          </a:p>
        </p:txBody>
      </p:sp>
      <p:sp>
        <p:nvSpPr>
          <p:cNvPr id="21" name="모서리가 둥근 직사각형 20">
            <a:extLst>
              <a:ext uri="{FF2B5EF4-FFF2-40B4-BE49-F238E27FC236}">
                <a16:creationId xmlns:a16="http://schemas.microsoft.com/office/drawing/2014/main" id="{E264C91D-2265-AF13-C6D0-1EC20BD2934F}"/>
              </a:ext>
            </a:extLst>
          </p:cNvPr>
          <p:cNvSpPr/>
          <p:nvPr/>
        </p:nvSpPr>
        <p:spPr>
          <a:xfrm>
            <a:off x="6228184" y="1024401"/>
            <a:ext cx="1584176" cy="347793"/>
          </a:xfrm>
          <a:prstGeom prst="roundRect">
            <a:avLst>
              <a:gd name="adj" fmla="val 14645"/>
            </a:avLst>
          </a:prstGeom>
          <a:solidFill>
            <a:schemeClr val="tx2">
              <a:lumMod val="20000"/>
              <a:lumOff val="8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 b="1">
                <a:solidFill>
                  <a:schemeClr val="tx1"/>
                </a:solidFill>
              </a:rPr>
              <a:t>inbound|8080||</a:t>
            </a:r>
            <a:br>
              <a:rPr kumimoji="1" lang="en-US" altLang="ko-KR" sz="800" b="1">
                <a:solidFill>
                  <a:schemeClr val="tx1"/>
                </a:solidFill>
              </a:rPr>
            </a:br>
            <a:r>
              <a:rPr kumimoji="1" lang="en-US" altLang="ko-KR" sz="800">
                <a:solidFill>
                  <a:schemeClr val="tx1"/>
                </a:solidFill>
              </a:rPr>
              <a:t>Cluster</a:t>
            </a:r>
          </a:p>
        </p:txBody>
      </p:sp>
      <p:sp>
        <p:nvSpPr>
          <p:cNvPr id="29" name="모서리가 둥근 직사각형 28">
            <a:extLst>
              <a:ext uri="{FF2B5EF4-FFF2-40B4-BE49-F238E27FC236}">
                <a16:creationId xmlns:a16="http://schemas.microsoft.com/office/drawing/2014/main" id="{B193CDB0-ED4F-4ED9-2027-A6F812C13BA0}"/>
              </a:ext>
            </a:extLst>
          </p:cNvPr>
          <p:cNvSpPr/>
          <p:nvPr/>
        </p:nvSpPr>
        <p:spPr>
          <a:xfrm>
            <a:off x="6228184" y="450634"/>
            <a:ext cx="1584176" cy="347793"/>
          </a:xfrm>
          <a:prstGeom prst="roundRect">
            <a:avLst>
              <a:gd name="adj" fmla="val 14645"/>
            </a:avLst>
          </a:prstGeom>
          <a:solidFill>
            <a:schemeClr val="tx2">
              <a:lumMod val="20000"/>
              <a:lumOff val="8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 b="1">
                <a:solidFill>
                  <a:schemeClr val="tx1"/>
                </a:solidFill>
              </a:rPr>
              <a:t>InboundPassthroughCluster</a:t>
            </a:r>
            <a:br>
              <a:rPr kumimoji="1" lang="en-US" altLang="ko-KR" sz="800" b="1">
                <a:solidFill>
                  <a:schemeClr val="tx1"/>
                </a:solidFill>
              </a:rPr>
            </a:br>
            <a:r>
              <a:rPr kumimoji="1" lang="en-US" altLang="ko-KR" sz="800">
                <a:solidFill>
                  <a:schemeClr val="tx1"/>
                </a:solidFill>
              </a:rPr>
              <a:t>Cluster</a:t>
            </a:r>
          </a:p>
        </p:txBody>
      </p:sp>
      <p:sp>
        <p:nvSpPr>
          <p:cNvPr id="41" name="모서리가 둥근 직사각형 40">
            <a:extLst>
              <a:ext uri="{FF2B5EF4-FFF2-40B4-BE49-F238E27FC236}">
                <a16:creationId xmlns:a16="http://schemas.microsoft.com/office/drawing/2014/main" id="{A91437FB-2088-5612-F2B8-1D9CA83C9E6E}"/>
              </a:ext>
            </a:extLst>
          </p:cNvPr>
          <p:cNvSpPr/>
          <p:nvPr/>
        </p:nvSpPr>
        <p:spPr>
          <a:xfrm>
            <a:off x="397049" y="700507"/>
            <a:ext cx="3449637" cy="894083"/>
          </a:xfrm>
          <a:prstGeom prst="roundRect">
            <a:avLst>
              <a:gd name="adj" fmla="val 7526"/>
            </a:avLst>
          </a:prstGeom>
          <a:solidFill>
            <a:schemeClr val="accent3">
              <a:lumMod val="20000"/>
              <a:lumOff val="8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kumimoji="1" lang="en-US" altLang="ko-KR" sz="800">
                <a:solidFill>
                  <a:schemeClr val="tx1"/>
                </a:solidFill>
              </a:rPr>
              <a:t>Listener Filters</a:t>
            </a:r>
          </a:p>
        </p:txBody>
      </p:sp>
      <p:sp>
        <p:nvSpPr>
          <p:cNvPr id="37" name="모서리가 둥근 직사각형 36">
            <a:extLst>
              <a:ext uri="{FF2B5EF4-FFF2-40B4-BE49-F238E27FC236}">
                <a16:creationId xmlns:a16="http://schemas.microsoft.com/office/drawing/2014/main" id="{1B91D7B6-ED8C-2E3F-6811-79A19ABBB67B}"/>
              </a:ext>
            </a:extLst>
          </p:cNvPr>
          <p:cNvSpPr/>
          <p:nvPr/>
        </p:nvSpPr>
        <p:spPr>
          <a:xfrm>
            <a:off x="482899" y="930934"/>
            <a:ext cx="3291780" cy="198154"/>
          </a:xfrm>
          <a:prstGeom prst="roundRect">
            <a:avLst>
              <a:gd name="adj" fmla="val 14645"/>
            </a:avLst>
          </a:prstGeom>
          <a:solidFill>
            <a:schemeClr val="accent3">
              <a:lumMod val="40000"/>
              <a:lumOff val="6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ko-KR" sz="800">
                <a:solidFill>
                  <a:schemeClr val="tx1"/>
                </a:solidFill>
              </a:rPr>
              <a:t>envoy.filters.listener.original_dst</a:t>
            </a:r>
          </a:p>
        </p:txBody>
      </p:sp>
      <p:sp>
        <p:nvSpPr>
          <p:cNvPr id="38" name="모서리가 둥근 직사각형 37">
            <a:extLst>
              <a:ext uri="{FF2B5EF4-FFF2-40B4-BE49-F238E27FC236}">
                <a16:creationId xmlns:a16="http://schemas.microsoft.com/office/drawing/2014/main" id="{C1EDC7A2-7AFA-4905-91CF-F9A1BAC1F0C4}"/>
              </a:ext>
            </a:extLst>
          </p:cNvPr>
          <p:cNvSpPr/>
          <p:nvPr/>
        </p:nvSpPr>
        <p:spPr>
          <a:xfrm>
            <a:off x="482899" y="1128706"/>
            <a:ext cx="3291780" cy="198154"/>
          </a:xfrm>
          <a:prstGeom prst="roundRect">
            <a:avLst>
              <a:gd name="adj" fmla="val 14645"/>
            </a:avLst>
          </a:prstGeom>
          <a:solidFill>
            <a:schemeClr val="accent3">
              <a:lumMod val="40000"/>
              <a:lumOff val="6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ko-KR" sz="800">
                <a:solidFill>
                  <a:schemeClr val="tx1"/>
                </a:solidFill>
              </a:rPr>
              <a:t>envoy.filters.listener.tls_inspector</a:t>
            </a:r>
          </a:p>
        </p:txBody>
      </p:sp>
      <p:sp>
        <p:nvSpPr>
          <p:cNvPr id="42" name="모서리가 둥근 직사각형 41">
            <a:extLst>
              <a:ext uri="{FF2B5EF4-FFF2-40B4-BE49-F238E27FC236}">
                <a16:creationId xmlns:a16="http://schemas.microsoft.com/office/drawing/2014/main" id="{7974FAA2-54AE-9199-0FDE-45419B6D1F4A}"/>
              </a:ext>
            </a:extLst>
          </p:cNvPr>
          <p:cNvSpPr/>
          <p:nvPr/>
        </p:nvSpPr>
        <p:spPr>
          <a:xfrm>
            <a:off x="397050" y="1719596"/>
            <a:ext cx="7680150" cy="3055604"/>
          </a:xfrm>
          <a:prstGeom prst="roundRect">
            <a:avLst>
              <a:gd name="adj" fmla="val 2943"/>
            </a:avLst>
          </a:prstGeom>
          <a:solidFill>
            <a:schemeClr val="accent6">
              <a:lumMod val="20000"/>
              <a:lumOff val="8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kumimoji="1" lang="en-US" altLang="ko-KR" sz="800">
                <a:solidFill>
                  <a:schemeClr val="tx1"/>
                </a:solidFill>
              </a:rPr>
              <a:t>Network Filters</a:t>
            </a:r>
          </a:p>
        </p:txBody>
      </p:sp>
      <p:sp>
        <p:nvSpPr>
          <p:cNvPr id="43" name="모서리가 둥근 직사각형 42">
            <a:extLst>
              <a:ext uri="{FF2B5EF4-FFF2-40B4-BE49-F238E27FC236}">
                <a16:creationId xmlns:a16="http://schemas.microsoft.com/office/drawing/2014/main" id="{110D324F-C03E-A5CC-6EBA-D3E501D1505F}"/>
              </a:ext>
            </a:extLst>
          </p:cNvPr>
          <p:cNvSpPr/>
          <p:nvPr/>
        </p:nvSpPr>
        <p:spPr>
          <a:xfrm>
            <a:off x="482899" y="2097316"/>
            <a:ext cx="2598315" cy="901483"/>
          </a:xfrm>
          <a:prstGeom prst="roundRect">
            <a:avLst>
              <a:gd name="adj" fmla="val 7799"/>
            </a:avLst>
          </a:prstGeom>
          <a:solidFill>
            <a:schemeClr val="accent6">
              <a:lumMod val="40000"/>
              <a:lumOff val="6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kumimoji="1" lang="en-US" altLang="ko-KR" sz="800" b="1">
                <a:solidFill>
                  <a:schemeClr val="tx1"/>
                </a:solidFill>
              </a:rPr>
              <a:t>virtualInbound-blackhole</a:t>
            </a:r>
            <a:r>
              <a:rPr kumimoji="1" lang="en-US" altLang="ko-KR" sz="800">
                <a:solidFill>
                  <a:schemeClr val="tx1"/>
                </a:solidFill>
              </a:rPr>
              <a:t> Chain</a:t>
            </a:r>
            <a:endParaRPr kumimoji="1" lang="en-US" altLang="ko-KR" sz="800" b="1">
              <a:solidFill>
                <a:schemeClr val="tx1"/>
              </a:solidFill>
            </a:endParaRPr>
          </a:p>
        </p:txBody>
      </p:sp>
      <p:sp>
        <p:nvSpPr>
          <p:cNvPr id="44" name="모서리가 둥근 직사각형 43">
            <a:extLst>
              <a:ext uri="{FF2B5EF4-FFF2-40B4-BE49-F238E27FC236}">
                <a16:creationId xmlns:a16="http://schemas.microsoft.com/office/drawing/2014/main" id="{6C9D7492-04B1-80FC-0E9A-BE9DAAC11551}"/>
              </a:ext>
            </a:extLst>
          </p:cNvPr>
          <p:cNvSpPr/>
          <p:nvPr/>
        </p:nvSpPr>
        <p:spPr>
          <a:xfrm>
            <a:off x="3995936" y="-1475563"/>
            <a:ext cx="3291780" cy="1209415"/>
          </a:xfrm>
          <a:prstGeom prst="roundRect">
            <a:avLst>
              <a:gd name="adj" fmla="val 5394"/>
            </a:avLst>
          </a:prstGeom>
          <a:solidFill>
            <a:schemeClr val="accent6">
              <a:lumMod val="40000"/>
              <a:lumOff val="6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kumimoji="1" lang="en-US" altLang="ko-KR" sz="800" b="1">
                <a:solidFill>
                  <a:schemeClr val="tx1"/>
                </a:solidFill>
              </a:rPr>
              <a:t>HTTP/HTTP2</a:t>
            </a:r>
            <a:r>
              <a:rPr kumimoji="1" lang="en-US" altLang="ko-KR" sz="800">
                <a:solidFill>
                  <a:schemeClr val="tx1"/>
                </a:solidFill>
              </a:rPr>
              <a:t> Chain</a:t>
            </a:r>
            <a:endParaRPr kumimoji="1" lang="en-US" altLang="ko-KR" sz="800" b="1">
              <a:solidFill>
                <a:schemeClr val="tx1"/>
              </a:solidFill>
            </a:endParaRPr>
          </a:p>
        </p:txBody>
      </p:sp>
      <p:sp>
        <p:nvSpPr>
          <p:cNvPr id="45" name="모서리가 둥근 직사각형 44">
            <a:extLst>
              <a:ext uri="{FF2B5EF4-FFF2-40B4-BE49-F238E27FC236}">
                <a16:creationId xmlns:a16="http://schemas.microsoft.com/office/drawing/2014/main" id="{3B4DAC21-BCA9-DA1A-5421-7F2A2990E599}"/>
              </a:ext>
            </a:extLst>
          </p:cNvPr>
          <p:cNvSpPr/>
          <p:nvPr/>
        </p:nvSpPr>
        <p:spPr>
          <a:xfrm>
            <a:off x="560052" y="2321498"/>
            <a:ext cx="2427770" cy="198154"/>
          </a:xfrm>
          <a:prstGeom prst="roundRect">
            <a:avLst>
              <a:gd name="adj" fmla="val 14645"/>
            </a:avLst>
          </a:prstGeom>
          <a:solidFill>
            <a:schemeClr val="accent5">
              <a:lumMod val="20000"/>
              <a:lumOff val="8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ko-KR" sz="800">
                <a:solidFill>
                  <a:schemeClr val="tx1"/>
                </a:solidFill>
              </a:rPr>
              <a:t>istio.metadata_exchange</a:t>
            </a:r>
          </a:p>
        </p:txBody>
      </p:sp>
      <p:sp>
        <p:nvSpPr>
          <p:cNvPr id="46" name="모서리가 둥근 직사각형 45">
            <a:extLst>
              <a:ext uri="{FF2B5EF4-FFF2-40B4-BE49-F238E27FC236}">
                <a16:creationId xmlns:a16="http://schemas.microsoft.com/office/drawing/2014/main" id="{16B840AC-3B1D-C2D4-A2D6-1B0531A2DD3C}"/>
              </a:ext>
            </a:extLst>
          </p:cNvPr>
          <p:cNvSpPr/>
          <p:nvPr/>
        </p:nvSpPr>
        <p:spPr>
          <a:xfrm>
            <a:off x="560052" y="2518592"/>
            <a:ext cx="2427771" cy="198154"/>
          </a:xfrm>
          <a:prstGeom prst="roundRect">
            <a:avLst>
              <a:gd name="adj" fmla="val 14645"/>
            </a:avLst>
          </a:prstGeom>
          <a:solidFill>
            <a:schemeClr val="accent5">
              <a:lumMod val="20000"/>
              <a:lumOff val="8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ko-KR" sz="800">
                <a:solidFill>
                  <a:schemeClr val="tx1"/>
                </a:solidFill>
              </a:rPr>
              <a:t>istio.stats</a:t>
            </a:r>
          </a:p>
        </p:txBody>
      </p:sp>
      <p:sp>
        <p:nvSpPr>
          <p:cNvPr id="47" name="모서리가 둥근 직사각형 46">
            <a:extLst>
              <a:ext uri="{FF2B5EF4-FFF2-40B4-BE49-F238E27FC236}">
                <a16:creationId xmlns:a16="http://schemas.microsoft.com/office/drawing/2014/main" id="{F3421341-5860-83C0-AB05-524AB324406B}"/>
              </a:ext>
            </a:extLst>
          </p:cNvPr>
          <p:cNvSpPr/>
          <p:nvPr/>
        </p:nvSpPr>
        <p:spPr>
          <a:xfrm>
            <a:off x="4073088" y="-1254836"/>
            <a:ext cx="3142622" cy="920213"/>
          </a:xfrm>
          <a:prstGeom prst="roundRect">
            <a:avLst>
              <a:gd name="adj" fmla="val 5504"/>
            </a:avLst>
          </a:prstGeom>
          <a:solidFill>
            <a:schemeClr val="accent5">
              <a:lumMod val="20000"/>
              <a:lumOff val="8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kumimoji="1" lang="en-US" altLang="ko-KR" sz="800">
                <a:solidFill>
                  <a:schemeClr val="tx1"/>
                </a:solidFill>
              </a:rPr>
              <a:t>envoy.filters.network.http_connection_manager</a:t>
            </a:r>
          </a:p>
        </p:txBody>
      </p:sp>
      <p:sp>
        <p:nvSpPr>
          <p:cNvPr id="48" name="모서리가 둥근 직사각형 47">
            <a:extLst>
              <a:ext uri="{FF2B5EF4-FFF2-40B4-BE49-F238E27FC236}">
                <a16:creationId xmlns:a16="http://schemas.microsoft.com/office/drawing/2014/main" id="{CFF4C30A-0780-4AB5-1CA3-EA6A31A9B9CA}"/>
              </a:ext>
            </a:extLst>
          </p:cNvPr>
          <p:cNvSpPr/>
          <p:nvPr/>
        </p:nvSpPr>
        <p:spPr>
          <a:xfrm>
            <a:off x="4155388" y="-1025835"/>
            <a:ext cx="1501878" cy="152233"/>
          </a:xfrm>
          <a:prstGeom prst="roundRect">
            <a:avLst>
              <a:gd name="adj" fmla="val 14645"/>
            </a:avLst>
          </a:prstGeom>
          <a:solidFill>
            <a:schemeClr val="accent5">
              <a:lumMod val="40000"/>
              <a:lumOff val="6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ko-KR" sz="800">
                <a:solidFill>
                  <a:schemeClr val="tx1"/>
                </a:solidFill>
              </a:rPr>
              <a:t>istio.metadata_exchange</a:t>
            </a:r>
          </a:p>
        </p:txBody>
      </p:sp>
      <p:sp>
        <p:nvSpPr>
          <p:cNvPr id="49" name="모서리가 둥근 직사각형 48">
            <a:extLst>
              <a:ext uri="{FF2B5EF4-FFF2-40B4-BE49-F238E27FC236}">
                <a16:creationId xmlns:a16="http://schemas.microsoft.com/office/drawing/2014/main" id="{28779D55-D9BF-81DB-AD9F-1D0DD8C4360B}"/>
              </a:ext>
            </a:extLst>
          </p:cNvPr>
          <p:cNvSpPr/>
          <p:nvPr/>
        </p:nvSpPr>
        <p:spPr>
          <a:xfrm>
            <a:off x="4155388" y="-873602"/>
            <a:ext cx="1501878" cy="152233"/>
          </a:xfrm>
          <a:prstGeom prst="roundRect">
            <a:avLst>
              <a:gd name="adj" fmla="val 14645"/>
            </a:avLst>
          </a:prstGeom>
          <a:solidFill>
            <a:schemeClr val="accent5">
              <a:lumMod val="40000"/>
              <a:lumOff val="6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ko-KR" sz="800">
                <a:solidFill>
                  <a:schemeClr val="tx1"/>
                </a:solidFill>
              </a:rPr>
              <a:t>envoy.filters.http.grpc_stats</a:t>
            </a:r>
          </a:p>
        </p:txBody>
      </p:sp>
      <p:sp>
        <p:nvSpPr>
          <p:cNvPr id="52" name="모서리가 둥근 직사각형 51">
            <a:extLst>
              <a:ext uri="{FF2B5EF4-FFF2-40B4-BE49-F238E27FC236}">
                <a16:creationId xmlns:a16="http://schemas.microsoft.com/office/drawing/2014/main" id="{9D9AC94F-CB1D-9B42-2ADC-93C6ED7011BA}"/>
              </a:ext>
            </a:extLst>
          </p:cNvPr>
          <p:cNvSpPr/>
          <p:nvPr/>
        </p:nvSpPr>
        <p:spPr>
          <a:xfrm>
            <a:off x="4155388" y="-721746"/>
            <a:ext cx="1501878" cy="152233"/>
          </a:xfrm>
          <a:prstGeom prst="roundRect">
            <a:avLst>
              <a:gd name="adj" fmla="val 14645"/>
            </a:avLst>
          </a:prstGeom>
          <a:solidFill>
            <a:schemeClr val="accent5">
              <a:lumMod val="40000"/>
              <a:lumOff val="6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ko-KR" sz="800">
                <a:solidFill>
                  <a:schemeClr val="tx1"/>
                </a:solidFill>
              </a:rPr>
              <a:t>envoy.filters.http.fault</a:t>
            </a:r>
          </a:p>
        </p:txBody>
      </p:sp>
      <p:sp>
        <p:nvSpPr>
          <p:cNvPr id="53" name="모서리가 둥근 직사각형 52">
            <a:extLst>
              <a:ext uri="{FF2B5EF4-FFF2-40B4-BE49-F238E27FC236}">
                <a16:creationId xmlns:a16="http://schemas.microsoft.com/office/drawing/2014/main" id="{CE9603CD-6B78-B48C-1102-0E810BE34428}"/>
              </a:ext>
            </a:extLst>
          </p:cNvPr>
          <p:cNvSpPr/>
          <p:nvPr/>
        </p:nvSpPr>
        <p:spPr>
          <a:xfrm>
            <a:off x="5855810" y="-1018548"/>
            <a:ext cx="1291711" cy="152233"/>
          </a:xfrm>
          <a:prstGeom prst="roundRect">
            <a:avLst>
              <a:gd name="adj" fmla="val 14645"/>
            </a:avLst>
          </a:prstGeom>
          <a:solidFill>
            <a:schemeClr val="accent5">
              <a:lumMod val="40000"/>
              <a:lumOff val="6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ko-KR" sz="800">
                <a:solidFill>
                  <a:schemeClr val="tx1"/>
                </a:solidFill>
              </a:rPr>
              <a:t>envoy.filters.http.cors</a:t>
            </a:r>
          </a:p>
        </p:txBody>
      </p:sp>
      <p:sp>
        <p:nvSpPr>
          <p:cNvPr id="54" name="모서리가 둥근 직사각형 53">
            <a:extLst>
              <a:ext uri="{FF2B5EF4-FFF2-40B4-BE49-F238E27FC236}">
                <a16:creationId xmlns:a16="http://schemas.microsoft.com/office/drawing/2014/main" id="{DEC7A75E-768A-8425-DA23-D39A4E5E75D9}"/>
              </a:ext>
            </a:extLst>
          </p:cNvPr>
          <p:cNvSpPr/>
          <p:nvPr/>
        </p:nvSpPr>
        <p:spPr>
          <a:xfrm>
            <a:off x="5855810" y="-869884"/>
            <a:ext cx="1291711" cy="152233"/>
          </a:xfrm>
          <a:prstGeom prst="roundRect">
            <a:avLst>
              <a:gd name="adj" fmla="val 14645"/>
            </a:avLst>
          </a:prstGeom>
          <a:solidFill>
            <a:schemeClr val="accent5">
              <a:lumMod val="40000"/>
              <a:lumOff val="6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ko-KR" sz="800">
                <a:solidFill>
                  <a:schemeClr val="tx1"/>
                </a:solidFill>
              </a:rPr>
              <a:t>istio.stats</a:t>
            </a:r>
          </a:p>
        </p:txBody>
      </p:sp>
      <p:sp>
        <p:nvSpPr>
          <p:cNvPr id="55" name="모서리가 둥근 직사각형 54">
            <a:extLst>
              <a:ext uri="{FF2B5EF4-FFF2-40B4-BE49-F238E27FC236}">
                <a16:creationId xmlns:a16="http://schemas.microsoft.com/office/drawing/2014/main" id="{F982C0B4-F59D-C51B-D41C-34A495F09B8D}"/>
              </a:ext>
            </a:extLst>
          </p:cNvPr>
          <p:cNvSpPr/>
          <p:nvPr/>
        </p:nvSpPr>
        <p:spPr>
          <a:xfrm>
            <a:off x="5855810" y="-721746"/>
            <a:ext cx="1291711" cy="152233"/>
          </a:xfrm>
          <a:prstGeom prst="roundRect">
            <a:avLst>
              <a:gd name="adj" fmla="val 14645"/>
            </a:avLst>
          </a:prstGeom>
          <a:solidFill>
            <a:schemeClr val="accent5">
              <a:lumMod val="40000"/>
              <a:lumOff val="6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ko-KR" sz="800">
                <a:solidFill>
                  <a:schemeClr val="tx1"/>
                </a:solidFill>
              </a:rPr>
              <a:t>envoy.filters.http.router</a:t>
            </a:r>
          </a:p>
        </p:txBody>
      </p:sp>
      <p:cxnSp>
        <p:nvCxnSpPr>
          <p:cNvPr id="74" name="직선 화살표 연결선 73">
            <a:extLst>
              <a:ext uri="{FF2B5EF4-FFF2-40B4-BE49-F238E27FC236}">
                <a16:creationId xmlns:a16="http://schemas.microsoft.com/office/drawing/2014/main" id="{99150314-4B23-48D9-E77D-96535D302295}"/>
              </a:ext>
            </a:extLst>
          </p:cNvPr>
          <p:cNvCxnSpPr>
            <a:cxnSpLocks/>
            <a:stCxn id="52" idx="3"/>
            <a:endCxn id="53" idx="1"/>
          </p:cNvCxnSpPr>
          <p:nvPr/>
        </p:nvCxnSpPr>
        <p:spPr>
          <a:xfrm flipV="1">
            <a:off x="5657266" y="-942431"/>
            <a:ext cx="198544" cy="296802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모서리가 둥근 직사각형 1">
            <a:extLst>
              <a:ext uri="{FF2B5EF4-FFF2-40B4-BE49-F238E27FC236}">
                <a16:creationId xmlns:a16="http://schemas.microsoft.com/office/drawing/2014/main" id="{06A5678A-5F08-B48E-B391-338AAE973EC7}"/>
              </a:ext>
            </a:extLst>
          </p:cNvPr>
          <p:cNvSpPr/>
          <p:nvPr/>
        </p:nvSpPr>
        <p:spPr>
          <a:xfrm>
            <a:off x="482899" y="1325265"/>
            <a:ext cx="3291780" cy="198154"/>
          </a:xfrm>
          <a:prstGeom prst="roundRect">
            <a:avLst>
              <a:gd name="adj" fmla="val 14645"/>
            </a:avLst>
          </a:prstGeom>
          <a:solidFill>
            <a:schemeClr val="accent3">
              <a:lumMod val="40000"/>
              <a:lumOff val="6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ko-KR" sz="800">
                <a:solidFill>
                  <a:schemeClr val="tx1"/>
                </a:solidFill>
              </a:rPr>
              <a:t>envoy.filters.listener.http_inspector</a:t>
            </a:r>
          </a:p>
        </p:txBody>
      </p:sp>
      <p:cxnSp>
        <p:nvCxnSpPr>
          <p:cNvPr id="3" name="직선 화살표 연결선 2">
            <a:extLst>
              <a:ext uri="{FF2B5EF4-FFF2-40B4-BE49-F238E27FC236}">
                <a16:creationId xmlns:a16="http://schemas.microsoft.com/office/drawing/2014/main" id="{D8993BA6-78AD-245D-468A-62C64A607244}"/>
              </a:ext>
            </a:extLst>
          </p:cNvPr>
          <p:cNvCxnSpPr>
            <a:cxnSpLocks/>
            <a:stCxn id="29" idx="3"/>
            <a:endCxn id="7" idx="1"/>
          </p:cNvCxnSpPr>
          <p:nvPr/>
        </p:nvCxnSpPr>
        <p:spPr>
          <a:xfrm>
            <a:off x="7812360" y="624531"/>
            <a:ext cx="296863" cy="1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화살표 연결선 12">
            <a:extLst>
              <a:ext uri="{FF2B5EF4-FFF2-40B4-BE49-F238E27FC236}">
                <a16:creationId xmlns:a16="http://schemas.microsoft.com/office/drawing/2014/main" id="{C7785BEB-DD43-8BFB-F59E-7A29F7368261}"/>
              </a:ext>
            </a:extLst>
          </p:cNvPr>
          <p:cNvCxnSpPr>
            <a:cxnSpLocks/>
            <a:stCxn id="21" idx="3"/>
            <a:endCxn id="7" idx="1"/>
          </p:cNvCxnSpPr>
          <p:nvPr/>
        </p:nvCxnSpPr>
        <p:spPr>
          <a:xfrm flipV="1">
            <a:off x="7812360" y="624532"/>
            <a:ext cx="296863" cy="573766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모서리가 둥근 직사각형 16">
            <a:extLst>
              <a:ext uri="{FF2B5EF4-FFF2-40B4-BE49-F238E27FC236}">
                <a16:creationId xmlns:a16="http://schemas.microsoft.com/office/drawing/2014/main" id="{8701F70A-29F6-330A-B103-2E62BA207B02}"/>
              </a:ext>
            </a:extLst>
          </p:cNvPr>
          <p:cNvSpPr/>
          <p:nvPr/>
        </p:nvSpPr>
        <p:spPr>
          <a:xfrm>
            <a:off x="560052" y="2715686"/>
            <a:ext cx="2427771" cy="198154"/>
          </a:xfrm>
          <a:prstGeom prst="roundRect">
            <a:avLst>
              <a:gd name="adj" fmla="val 14645"/>
            </a:avLst>
          </a:prstGeom>
          <a:solidFill>
            <a:schemeClr val="bg2">
              <a:lumMod val="9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ko-KR" sz="800">
                <a:solidFill>
                  <a:schemeClr val="tx1"/>
                </a:solidFill>
              </a:rPr>
              <a:t>envoy.filters.network.tcp_proxy</a:t>
            </a:r>
          </a:p>
        </p:txBody>
      </p:sp>
      <p:sp>
        <p:nvSpPr>
          <p:cNvPr id="19" name="모서리가 둥근 직사각형 18">
            <a:extLst>
              <a:ext uri="{FF2B5EF4-FFF2-40B4-BE49-F238E27FC236}">
                <a16:creationId xmlns:a16="http://schemas.microsoft.com/office/drawing/2014/main" id="{074205ED-EBD9-8177-A41C-0804370CD467}"/>
              </a:ext>
            </a:extLst>
          </p:cNvPr>
          <p:cNvSpPr/>
          <p:nvPr/>
        </p:nvSpPr>
        <p:spPr>
          <a:xfrm>
            <a:off x="3167063" y="2097316"/>
            <a:ext cx="2598315" cy="706879"/>
          </a:xfrm>
          <a:prstGeom prst="roundRect">
            <a:avLst>
              <a:gd name="adj" fmla="val 7799"/>
            </a:avLst>
          </a:prstGeom>
          <a:solidFill>
            <a:schemeClr val="accent6">
              <a:lumMod val="40000"/>
              <a:lumOff val="6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kumimoji="1" lang="en-US" altLang="ko-KR" sz="800" b="1">
                <a:solidFill>
                  <a:schemeClr val="tx1"/>
                </a:solidFill>
              </a:rPr>
              <a:t>virtualInbound-catchall-http Sidecar mTLS</a:t>
            </a:r>
            <a:r>
              <a:rPr kumimoji="1" lang="en-US" altLang="ko-KR" sz="800">
                <a:solidFill>
                  <a:schemeClr val="tx1"/>
                </a:solidFill>
              </a:rPr>
              <a:t> Chain</a:t>
            </a:r>
            <a:endParaRPr kumimoji="1" lang="en-US" altLang="ko-KR" sz="800" b="1">
              <a:solidFill>
                <a:schemeClr val="tx1"/>
              </a:solidFill>
            </a:endParaRPr>
          </a:p>
        </p:txBody>
      </p:sp>
      <p:sp>
        <p:nvSpPr>
          <p:cNvPr id="22" name="모서리가 둥근 직사각형 21">
            <a:extLst>
              <a:ext uri="{FF2B5EF4-FFF2-40B4-BE49-F238E27FC236}">
                <a16:creationId xmlns:a16="http://schemas.microsoft.com/office/drawing/2014/main" id="{9224E646-DD80-1249-132C-BECAB74122C5}"/>
              </a:ext>
            </a:extLst>
          </p:cNvPr>
          <p:cNvSpPr/>
          <p:nvPr/>
        </p:nvSpPr>
        <p:spPr>
          <a:xfrm>
            <a:off x="3244216" y="2329311"/>
            <a:ext cx="2427772" cy="198154"/>
          </a:xfrm>
          <a:prstGeom prst="roundRect">
            <a:avLst>
              <a:gd name="adj" fmla="val 14645"/>
            </a:avLst>
          </a:prstGeom>
          <a:solidFill>
            <a:schemeClr val="accent5">
              <a:lumMod val="20000"/>
              <a:lumOff val="8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ko-KR" sz="800">
                <a:solidFill>
                  <a:schemeClr val="tx1"/>
                </a:solidFill>
              </a:rPr>
              <a:t>istio.metadata_exchange</a:t>
            </a:r>
          </a:p>
        </p:txBody>
      </p:sp>
      <p:sp>
        <p:nvSpPr>
          <p:cNvPr id="25" name="모서리가 둥근 직사각형 24">
            <a:extLst>
              <a:ext uri="{FF2B5EF4-FFF2-40B4-BE49-F238E27FC236}">
                <a16:creationId xmlns:a16="http://schemas.microsoft.com/office/drawing/2014/main" id="{DA4A8CE2-2ACF-95DD-A876-3FD146FD93CA}"/>
              </a:ext>
            </a:extLst>
          </p:cNvPr>
          <p:cNvSpPr/>
          <p:nvPr/>
        </p:nvSpPr>
        <p:spPr>
          <a:xfrm>
            <a:off x="3244217" y="2526405"/>
            <a:ext cx="2427772" cy="198154"/>
          </a:xfrm>
          <a:prstGeom prst="roundRect">
            <a:avLst>
              <a:gd name="adj" fmla="val 14645"/>
            </a:avLst>
          </a:prstGeom>
          <a:solidFill>
            <a:schemeClr val="accent5">
              <a:lumMod val="20000"/>
              <a:lumOff val="8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ko-KR" sz="800">
                <a:solidFill>
                  <a:schemeClr val="tx1"/>
                </a:solidFill>
              </a:rPr>
              <a:t>envoy.filters.network.http_connection_manager</a:t>
            </a:r>
          </a:p>
        </p:txBody>
      </p:sp>
      <p:sp>
        <p:nvSpPr>
          <p:cNvPr id="28" name="모서리가 둥근 직사각형 27">
            <a:extLst>
              <a:ext uri="{FF2B5EF4-FFF2-40B4-BE49-F238E27FC236}">
                <a16:creationId xmlns:a16="http://schemas.microsoft.com/office/drawing/2014/main" id="{54744C4A-A75B-FF16-C68B-EE8270E306A9}"/>
              </a:ext>
            </a:extLst>
          </p:cNvPr>
          <p:cNvSpPr/>
          <p:nvPr/>
        </p:nvSpPr>
        <p:spPr>
          <a:xfrm>
            <a:off x="3169182" y="2912739"/>
            <a:ext cx="2598315" cy="706879"/>
          </a:xfrm>
          <a:prstGeom prst="roundRect">
            <a:avLst>
              <a:gd name="adj" fmla="val 7799"/>
            </a:avLst>
          </a:prstGeom>
          <a:solidFill>
            <a:schemeClr val="accent6">
              <a:lumMod val="40000"/>
              <a:lumOff val="6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kumimoji="1" lang="en-US" altLang="ko-KR" sz="800" b="1">
                <a:solidFill>
                  <a:schemeClr val="tx1"/>
                </a:solidFill>
              </a:rPr>
              <a:t>virtualInbound-catchall-http Plaintext</a:t>
            </a:r>
            <a:r>
              <a:rPr kumimoji="1" lang="en-US" altLang="ko-KR" sz="800">
                <a:solidFill>
                  <a:schemeClr val="tx1"/>
                </a:solidFill>
              </a:rPr>
              <a:t> Chain</a:t>
            </a:r>
            <a:endParaRPr kumimoji="1" lang="en-US" altLang="ko-KR" sz="800" b="1">
              <a:solidFill>
                <a:schemeClr val="tx1"/>
              </a:solidFill>
            </a:endParaRPr>
          </a:p>
        </p:txBody>
      </p:sp>
      <p:sp>
        <p:nvSpPr>
          <p:cNvPr id="31" name="모서리가 둥근 직사각형 30">
            <a:extLst>
              <a:ext uri="{FF2B5EF4-FFF2-40B4-BE49-F238E27FC236}">
                <a16:creationId xmlns:a16="http://schemas.microsoft.com/office/drawing/2014/main" id="{BF7F0DFB-1A6E-612C-86D5-D9B1EBDB6D50}"/>
              </a:ext>
            </a:extLst>
          </p:cNvPr>
          <p:cNvSpPr/>
          <p:nvPr/>
        </p:nvSpPr>
        <p:spPr>
          <a:xfrm>
            <a:off x="3246335" y="3144734"/>
            <a:ext cx="2427772" cy="198154"/>
          </a:xfrm>
          <a:prstGeom prst="roundRect">
            <a:avLst>
              <a:gd name="adj" fmla="val 14645"/>
            </a:avLst>
          </a:prstGeom>
          <a:solidFill>
            <a:schemeClr val="accent5">
              <a:lumMod val="20000"/>
              <a:lumOff val="8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ko-KR" sz="800">
                <a:solidFill>
                  <a:schemeClr val="tx1"/>
                </a:solidFill>
              </a:rPr>
              <a:t>istio.metadata_exchange</a:t>
            </a:r>
          </a:p>
        </p:txBody>
      </p:sp>
      <p:sp>
        <p:nvSpPr>
          <p:cNvPr id="32" name="모서리가 둥근 직사각형 31">
            <a:extLst>
              <a:ext uri="{FF2B5EF4-FFF2-40B4-BE49-F238E27FC236}">
                <a16:creationId xmlns:a16="http://schemas.microsoft.com/office/drawing/2014/main" id="{B7ECAF70-51D5-C79D-4BD2-ED67C91606B3}"/>
              </a:ext>
            </a:extLst>
          </p:cNvPr>
          <p:cNvSpPr/>
          <p:nvPr/>
        </p:nvSpPr>
        <p:spPr>
          <a:xfrm>
            <a:off x="3246336" y="3341828"/>
            <a:ext cx="2427772" cy="198154"/>
          </a:xfrm>
          <a:prstGeom prst="roundRect">
            <a:avLst>
              <a:gd name="adj" fmla="val 14645"/>
            </a:avLst>
          </a:prstGeom>
          <a:solidFill>
            <a:schemeClr val="accent5">
              <a:lumMod val="20000"/>
              <a:lumOff val="8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ko-KR" sz="800">
                <a:solidFill>
                  <a:schemeClr val="tx1"/>
                </a:solidFill>
              </a:rPr>
              <a:t>envoy.filters.network.http_connection_manager</a:t>
            </a:r>
          </a:p>
        </p:txBody>
      </p:sp>
      <p:sp>
        <p:nvSpPr>
          <p:cNvPr id="33" name="모서리가 둥근 직사각형 32">
            <a:extLst>
              <a:ext uri="{FF2B5EF4-FFF2-40B4-BE49-F238E27FC236}">
                <a16:creationId xmlns:a16="http://schemas.microsoft.com/office/drawing/2014/main" id="{32EB7D2D-5A56-6A06-DB9A-27AC9518D4E2}"/>
              </a:ext>
            </a:extLst>
          </p:cNvPr>
          <p:cNvSpPr/>
          <p:nvPr/>
        </p:nvSpPr>
        <p:spPr>
          <a:xfrm>
            <a:off x="5852691" y="1797287"/>
            <a:ext cx="2148086" cy="901483"/>
          </a:xfrm>
          <a:prstGeom prst="roundRect">
            <a:avLst>
              <a:gd name="adj" fmla="val 7799"/>
            </a:avLst>
          </a:prstGeom>
          <a:solidFill>
            <a:schemeClr val="accent6">
              <a:lumMod val="40000"/>
              <a:lumOff val="6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kumimoji="1" lang="en-US" altLang="ko-KR" sz="800" b="1">
                <a:solidFill>
                  <a:schemeClr val="tx1"/>
                </a:solidFill>
              </a:rPr>
              <a:t>virtualInbound Sidecar mTLS</a:t>
            </a:r>
            <a:r>
              <a:rPr kumimoji="1" lang="en-US" altLang="ko-KR" sz="800">
                <a:solidFill>
                  <a:schemeClr val="tx1"/>
                </a:solidFill>
              </a:rPr>
              <a:t> Chain</a:t>
            </a:r>
            <a:endParaRPr kumimoji="1" lang="en-US" altLang="ko-KR" sz="800" b="1">
              <a:solidFill>
                <a:schemeClr val="tx1"/>
              </a:solidFill>
            </a:endParaRPr>
          </a:p>
        </p:txBody>
      </p:sp>
      <p:sp>
        <p:nvSpPr>
          <p:cNvPr id="34" name="모서리가 둥근 직사각형 33">
            <a:extLst>
              <a:ext uri="{FF2B5EF4-FFF2-40B4-BE49-F238E27FC236}">
                <a16:creationId xmlns:a16="http://schemas.microsoft.com/office/drawing/2014/main" id="{3349D618-6B96-227F-B289-76C8CCF47160}"/>
              </a:ext>
            </a:extLst>
          </p:cNvPr>
          <p:cNvSpPr/>
          <p:nvPr/>
        </p:nvSpPr>
        <p:spPr>
          <a:xfrm>
            <a:off x="5936302" y="2021470"/>
            <a:ext cx="1984033" cy="198154"/>
          </a:xfrm>
          <a:prstGeom prst="roundRect">
            <a:avLst>
              <a:gd name="adj" fmla="val 14645"/>
            </a:avLst>
          </a:prstGeom>
          <a:solidFill>
            <a:schemeClr val="accent5">
              <a:lumMod val="20000"/>
              <a:lumOff val="8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ko-KR" sz="800">
                <a:solidFill>
                  <a:schemeClr val="tx1"/>
                </a:solidFill>
              </a:rPr>
              <a:t>istio.metadata_exchange</a:t>
            </a:r>
          </a:p>
        </p:txBody>
      </p:sp>
      <p:sp>
        <p:nvSpPr>
          <p:cNvPr id="35" name="모서리가 둥근 직사각형 34">
            <a:extLst>
              <a:ext uri="{FF2B5EF4-FFF2-40B4-BE49-F238E27FC236}">
                <a16:creationId xmlns:a16="http://schemas.microsoft.com/office/drawing/2014/main" id="{F39C3159-85D7-03B4-E5DD-234271713B0B}"/>
              </a:ext>
            </a:extLst>
          </p:cNvPr>
          <p:cNvSpPr/>
          <p:nvPr/>
        </p:nvSpPr>
        <p:spPr>
          <a:xfrm>
            <a:off x="5936303" y="2218564"/>
            <a:ext cx="1984034" cy="198154"/>
          </a:xfrm>
          <a:prstGeom prst="roundRect">
            <a:avLst>
              <a:gd name="adj" fmla="val 14645"/>
            </a:avLst>
          </a:prstGeom>
          <a:solidFill>
            <a:schemeClr val="accent5">
              <a:lumMod val="20000"/>
              <a:lumOff val="8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ko-KR" sz="800">
                <a:solidFill>
                  <a:schemeClr val="tx1"/>
                </a:solidFill>
              </a:rPr>
              <a:t>istio.stats</a:t>
            </a:r>
          </a:p>
        </p:txBody>
      </p:sp>
      <p:sp>
        <p:nvSpPr>
          <p:cNvPr id="36" name="모서리가 둥근 직사각형 35">
            <a:extLst>
              <a:ext uri="{FF2B5EF4-FFF2-40B4-BE49-F238E27FC236}">
                <a16:creationId xmlns:a16="http://schemas.microsoft.com/office/drawing/2014/main" id="{0B181CD1-0BC8-B7FA-01CF-F63FE3A29713}"/>
              </a:ext>
            </a:extLst>
          </p:cNvPr>
          <p:cNvSpPr/>
          <p:nvPr/>
        </p:nvSpPr>
        <p:spPr>
          <a:xfrm>
            <a:off x="5936303" y="2415658"/>
            <a:ext cx="1984034" cy="198154"/>
          </a:xfrm>
          <a:prstGeom prst="roundRect">
            <a:avLst>
              <a:gd name="adj" fmla="val 14645"/>
            </a:avLst>
          </a:prstGeom>
          <a:solidFill>
            <a:schemeClr val="accent5">
              <a:lumMod val="20000"/>
              <a:lumOff val="8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ko-KR" sz="800">
                <a:solidFill>
                  <a:schemeClr val="tx1"/>
                </a:solidFill>
              </a:rPr>
              <a:t>envoy.filters.network.tcp_proxy</a:t>
            </a:r>
          </a:p>
        </p:txBody>
      </p:sp>
      <p:sp>
        <p:nvSpPr>
          <p:cNvPr id="39" name="모서리가 둥근 직사각형 38">
            <a:extLst>
              <a:ext uri="{FF2B5EF4-FFF2-40B4-BE49-F238E27FC236}">
                <a16:creationId xmlns:a16="http://schemas.microsoft.com/office/drawing/2014/main" id="{4FC46941-2AF6-3802-FE8D-2840DC27616A}"/>
              </a:ext>
            </a:extLst>
          </p:cNvPr>
          <p:cNvSpPr/>
          <p:nvPr/>
        </p:nvSpPr>
        <p:spPr>
          <a:xfrm>
            <a:off x="5852691" y="2803093"/>
            <a:ext cx="2148086" cy="901483"/>
          </a:xfrm>
          <a:prstGeom prst="roundRect">
            <a:avLst>
              <a:gd name="adj" fmla="val 7799"/>
            </a:avLst>
          </a:prstGeom>
          <a:solidFill>
            <a:schemeClr val="accent6">
              <a:lumMod val="40000"/>
              <a:lumOff val="6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kumimoji="1" lang="en-US" altLang="ko-KR" sz="800" b="1">
                <a:solidFill>
                  <a:schemeClr val="tx1"/>
                </a:solidFill>
              </a:rPr>
              <a:t>virtualInbound Sidecar Plaintext</a:t>
            </a:r>
            <a:r>
              <a:rPr kumimoji="1" lang="en-US" altLang="ko-KR" sz="800">
                <a:solidFill>
                  <a:schemeClr val="tx1"/>
                </a:solidFill>
              </a:rPr>
              <a:t> Chain</a:t>
            </a:r>
            <a:endParaRPr kumimoji="1" lang="en-US" altLang="ko-KR" sz="800" b="1">
              <a:solidFill>
                <a:schemeClr val="tx1"/>
              </a:solidFill>
            </a:endParaRPr>
          </a:p>
        </p:txBody>
      </p:sp>
      <p:sp>
        <p:nvSpPr>
          <p:cNvPr id="51" name="모서리가 둥근 직사각형 50">
            <a:extLst>
              <a:ext uri="{FF2B5EF4-FFF2-40B4-BE49-F238E27FC236}">
                <a16:creationId xmlns:a16="http://schemas.microsoft.com/office/drawing/2014/main" id="{2E586AEB-5256-60D8-3ED0-2E9EBC0B28B0}"/>
              </a:ext>
            </a:extLst>
          </p:cNvPr>
          <p:cNvSpPr/>
          <p:nvPr/>
        </p:nvSpPr>
        <p:spPr>
          <a:xfrm>
            <a:off x="5936302" y="3027276"/>
            <a:ext cx="1984033" cy="198154"/>
          </a:xfrm>
          <a:prstGeom prst="roundRect">
            <a:avLst>
              <a:gd name="adj" fmla="val 14645"/>
            </a:avLst>
          </a:prstGeom>
          <a:solidFill>
            <a:schemeClr val="accent5">
              <a:lumMod val="20000"/>
              <a:lumOff val="8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ko-KR" sz="800">
                <a:solidFill>
                  <a:schemeClr val="tx1"/>
                </a:solidFill>
              </a:rPr>
              <a:t>istio.metadata_exchange</a:t>
            </a:r>
          </a:p>
        </p:txBody>
      </p:sp>
      <p:sp>
        <p:nvSpPr>
          <p:cNvPr id="56" name="모서리가 둥근 직사각형 55">
            <a:extLst>
              <a:ext uri="{FF2B5EF4-FFF2-40B4-BE49-F238E27FC236}">
                <a16:creationId xmlns:a16="http://schemas.microsoft.com/office/drawing/2014/main" id="{FB9F224F-009D-1200-1987-C9547CC387F9}"/>
              </a:ext>
            </a:extLst>
          </p:cNvPr>
          <p:cNvSpPr/>
          <p:nvPr/>
        </p:nvSpPr>
        <p:spPr>
          <a:xfrm>
            <a:off x="5936303" y="3224370"/>
            <a:ext cx="1984034" cy="198154"/>
          </a:xfrm>
          <a:prstGeom prst="roundRect">
            <a:avLst>
              <a:gd name="adj" fmla="val 14645"/>
            </a:avLst>
          </a:prstGeom>
          <a:solidFill>
            <a:schemeClr val="accent5">
              <a:lumMod val="20000"/>
              <a:lumOff val="8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ko-KR" sz="800">
                <a:solidFill>
                  <a:schemeClr val="tx1"/>
                </a:solidFill>
              </a:rPr>
              <a:t>istio.stats</a:t>
            </a:r>
          </a:p>
        </p:txBody>
      </p:sp>
      <p:sp>
        <p:nvSpPr>
          <p:cNvPr id="57" name="모서리가 둥근 직사각형 56">
            <a:extLst>
              <a:ext uri="{FF2B5EF4-FFF2-40B4-BE49-F238E27FC236}">
                <a16:creationId xmlns:a16="http://schemas.microsoft.com/office/drawing/2014/main" id="{EDB2F01C-F1A7-B5E5-5BEA-B4DC93EE70F9}"/>
              </a:ext>
            </a:extLst>
          </p:cNvPr>
          <p:cNvSpPr/>
          <p:nvPr/>
        </p:nvSpPr>
        <p:spPr>
          <a:xfrm>
            <a:off x="5936303" y="3421464"/>
            <a:ext cx="1984034" cy="198154"/>
          </a:xfrm>
          <a:prstGeom prst="roundRect">
            <a:avLst>
              <a:gd name="adj" fmla="val 14645"/>
            </a:avLst>
          </a:prstGeom>
          <a:solidFill>
            <a:schemeClr val="accent5">
              <a:lumMod val="20000"/>
              <a:lumOff val="8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ko-KR" sz="800">
                <a:solidFill>
                  <a:schemeClr val="tx1"/>
                </a:solidFill>
              </a:rPr>
              <a:t>envoy.filters.network.tcp_proxy</a:t>
            </a:r>
          </a:p>
        </p:txBody>
      </p:sp>
      <p:sp>
        <p:nvSpPr>
          <p:cNvPr id="58" name="모서리가 둥근 직사각형 57">
            <a:extLst>
              <a:ext uri="{FF2B5EF4-FFF2-40B4-BE49-F238E27FC236}">
                <a16:creationId xmlns:a16="http://schemas.microsoft.com/office/drawing/2014/main" id="{48D7D2BE-A037-C5F3-C507-B8C2BC40E9A5}"/>
              </a:ext>
            </a:extLst>
          </p:cNvPr>
          <p:cNvSpPr/>
          <p:nvPr/>
        </p:nvSpPr>
        <p:spPr>
          <a:xfrm>
            <a:off x="5852691" y="3811621"/>
            <a:ext cx="2148086" cy="901483"/>
          </a:xfrm>
          <a:prstGeom prst="roundRect">
            <a:avLst>
              <a:gd name="adj" fmla="val 7799"/>
            </a:avLst>
          </a:prstGeom>
          <a:solidFill>
            <a:schemeClr val="accent6">
              <a:lumMod val="40000"/>
              <a:lumOff val="6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kumimoji="1" lang="en-US" altLang="ko-KR" sz="800" b="1">
                <a:solidFill>
                  <a:schemeClr val="tx1"/>
                </a:solidFill>
              </a:rPr>
              <a:t>virtualInbound Other mTLS </a:t>
            </a:r>
            <a:r>
              <a:rPr kumimoji="1" lang="en-US" altLang="ko-KR" sz="800">
                <a:solidFill>
                  <a:schemeClr val="tx1"/>
                </a:solidFill>
              </a:rPr>
              <a:t>Chain</a:t>
            </a:r>
            <a:endParaRPr kumimoji="1" lang="en-US" altLang="ko-KR" sz="800" b="1">
              <a:solidFill>
                <a:schemeClr val="tx1"/>
              </a:solidFill>
            </a:endParaRPr>
          </a:p>
        </p:txBody>
      </p:sp>
      <p:sp>
        <p:nvSpPr>
          <p:cNvPr id="60" name="모서리가 둥근 직사각형 59">
            <a:extLst>
              <a:ext uri="{FF2B5EF4-FFF2-40B4-BE49-F238E27FC236}">
                <a16:creationId xmlns:a16="http://schemas.microsoft.com/office/drawing/2014/main" id="{DC8EF0AB-F2F6-80FB-588E-976CEA72A58E}"/>
              </a:ext>
            </a:extLst>
          </p:cNvPr>
          <p:cNvSpPr/>
          <p:nvPr/>
        </p:nvSpPr>
        <p:spPr>
          <a:xfrm>
            <a:off x="5936302" y="4035804"/>
            <a:ext cx="1984033" cy="198154"/>
          </a:xfrm>
          <a:prstGeom prst="roundRect">
            <a:avLst>
              <a:gd name="adj" fmla="val 14645"/>
            </a:avLst>
          </a:prstGeom>
          <a:solidFill>
            <a:schemeClr val="accent5">
              <a:lumMod val="20000"/>
              <a:lumOff val="8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ko-KR" sz="800">
                <a:solidFill>
                  <a:schemeClr val="tx1"/>
                </a:solidFill>
              </a:rPr>
              <a:t>istio.metadata_exchange</a:t>
            </a:r>
          </a:p>
        </p:txBody>
      </p:sp>
      <p:sp>
        <p:nvSpPr>
          <p:cNvPr id="61" name="모서리가 둥근 직사각형 60">
            <a:extLst>
              <a:ext uri="{FF2B5EF4-FFF2-40B4-BE49-F238E27FC236}">
                <a16:creationId xmlns:a16="http://schemas.microsoft.com/office/drawing/2014/main" id="{1137A744-05A8-AA29-BDD1-2B55BFCE16CD}"/>
              </a:ext>
            </a:extLst>
          </p:cNvPr>
          <p:cNvSpPr/>
          <p:nvPr/>
        </p:nvSpPr>
        <p:spPr>
          <a:xfrm>
            <a:off x="5936303" y="4232898"/>
            <a:ext cx="1984034" cy="198154"/>
          </a:xfrm>
          <a:prstGeom prst="roundRect">
            <a:avLst>
              <a:gd name="adj" fmla="val 14645"/>
            </a:avLst>
          </a:prstGeom>
          <a:solidFill>
            <a:schemeClr val="accent5">
              <a:lumMod val="20000"/>
              <a:lumOff val="8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ko-KR" sz="800">
                <a:solidFill>
                  <a:schemeClr val="tx1"/>
                </a:solidFill>
              </a:rPr>
              <a:t>istio.stats</a:t>
            </a:r>
          </a:p>
        </p:txBody>
      </p:sp>
      <p:sp>
        <p:nvSpPr>
          <p:cNvPr id="62" name="모서리가 둥근 직사각형 61">
            <a:extLst>
              <a:ext uri="{FF2B5EF4-FFF2-40B4-BE49-F238E27FC236}">
                <a16:creationId xmlns:a16="http://schemas.microsoft.com/office/drawing/2014/main" id="{7BB6F652-4F54-45CA-6852-9B5BEEBBFC55}"/>
              </a:ext>
            </a:extLst>
          </p:cNvPr>
          <p:cNvSpPr/>
          <p:nvPr/>
        </p:nvSpPr>
        <p:spPr>
          <a:xfrm>
            <a:off x="5936303" y="4429992"/>
            <a:ext cx="1984034" cy="198154"/>
          </a:xfrm>
          <a:prstGeom prst="roundRect">
            <a:avLst>
              <a:gd name="adj" fmla="val 14645"/>
            </a:avLst>
          </a:prstGeom>
          <a:solidFill>
            <a:schemeClr val="accent5">
              <a:lumMod val="20000"/>
              <a:lumOff val="8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ko-KR" sz="800">
                <a:solidFill>
                  <a:schemeClr val="tx1"/>
                </a:solidFill>
              </a:rPr>
              <a:t>envoy.filters.network.tcp_proxy</a:t>
            </a:r>
          </a:p>
        </p:txBody>
      </p:sp>
    </p:spTree>
    <p:extLst>
      <p:ext uri="{BB962C8B-B14F-4D97-AF65-F5344CB8AC3E}">
        <p14:creationId xmlns:p14="http://schemas.microsoft.com/office/powerpoint/2010/main" val="21219870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7B6917-988B-F935-7665-A0A12561A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모서리가 둥근 직사각형 23">
            <a:extLst>
              <a:ext uri="{FF2B5EF4-FFF2-40B4-BE49-F238E27FC236}">
                <a16:creationId xmlns:a16="http://schemas.microsoft.com/office/drawing/2014/main" id="{E89100FA-B695-9FDD-B550-61049AECF18A}"/>
              </a:ext>
            </a:extLst>
          </p:cNvPr>
          <p:cNvSpPr/>
          <p:nvPr/>
        </p:nvSpPr>
        <p:spPr>
          <a:xfrm>
            <a:off x="2051720" y="5803318"/>
            <a:ext cx="1296144" cy="387034"/>
          </a:xfrm>
          <a:prstGeom prst="roundRect">
            <a:avLst>
              <a:gd name="adj" fmla="val 14645"/>
            </a:avLst>
          </a:prstGeom>
          <a:solidFill>
            <a:schemeClr val="bg1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 b="1">
                <a:solidFill>
                  <a:schemeClr val="tx1"/>
                </a:solidFill>
              </a:rPr>
              <a:t>0.0.0.0_9090 </a:t>
            </a:r>
            <a:br>
              <a:rPr kumimoji="1" lang="en-US" altLang="ko-KR" sz="800" b="1">
                <a:solidFill>
                  <a:schemeClr val="tx1"/>
                </a:solidFill>
              </a:rPr>
            </a:br>
            <a:r>
              <a:rPr kumimoji="1" lang="en-US" altLang="ko-KR" sz="800">
                <a:solidFill>
                  <a:schemeClr val="tx1"/>
                </a:solidFill>
              </a:rPr>
              <a:t>Listener</a:t>
            </a:r>
          </a:p>
        </p:txBody>
      </p:sp>
      <p:sp>
        <p:nvSpPr>
          <p:cNvPr id="6" name="모서리가 둥근 직사각형 5">
            <a:extLst>
              <a:ext uri="{FF2B5EF4-FFF2-40B4-BE49-F238E27FC236}">
                <a16:creationId xmlns:a16="http://schemas.microsoft.com/office/drawing/2014/main" id="{DCA87108-F4CA-8CAC-536B-C2800A940EC1}"/>
              </a:ext>
            </a:extLst>
          </p:cNvPr>
          <p:cNvSpPr/>
          <p:nvPr/>
        </p:nvSpPr>
        <p:spPr>
          <a:xfrm>
            <a:off x="107504" y="129906"/>
            <a:ext cx="9001000" cy="4854844"/>
          </a:xfrm>
          <a:prstGeom prst="roundRect">
            <a:avLst>
              <a:gd name="adj" fmla="val 1960"/>
            </a:avLst>
          </a:prstGeom>
          <a:solidFill>
            <a:schemeClr val="bg1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kumimoji="1" lang="en-US" altLang="ko-KR" sz="800" b="1">
                <a:solidFill>
                  <a:schemeClr val="tx1"/>
                </a:solidFill>
              </a:rPr>
              <a:t>client</a:t>
            </a:r>
            <a:r>
              <a:rPr kumimoji="1" lang="ko-KR" altLang="en-US" sz="800" b="1">
                <a:solidFill>
                  <a:schemeClr val="tx1"/>
                </a:solidFill>
              </a:rPr>
              <a:t> </a:t>
            </a:r>
            <a:r>
              <a:rPr kumimoji="1" lang="en-US" altLang="ko-KR" sz="800">
                <a:solidFill>
                  <a:schemeClr val="tx1"/>
                </a:solidFill>
              </a:rPr>
              <a:t>Pod</a:t>
            </a:r>
          </a:p>
        </p:txBody>
      </p:sp>
      <p:sp>
        <p:nvSpPr>
          <p:cNvPr id="7" name="모서리가 둥근 직사각형 6">
            <a:extLst>
              <a:ext uri="{FF2B5EF4-FFF2-40B4-BE49-F238E27FC236}">
                <a16:creationId xmlns:a16="http://schemas.microsoft.com/office/drawing/2014/main" id="{E6921198-19C2-163B-E2F3-7EC3C701B564}"/>
              </a:ext>
            </a:extLst>
          </p:cNvPr>
          <p:cNvSpPr/>
          <p:nvPr/>
        </p:nvSpPr>
        <p:spPr>
          <a:xfrm>
            <a:off x="179513" y="450635"/>
            <a:ext cx="936103" cy="347793"/>
          </a:xfrm>
          <a:prstGeom prst="roundRect">
            <a:avLst>
              <a:gd name="adj" fmla="val 14645"/>
            </a:avLst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 b="1">
                <a:solidFill>
                  <a:schemeClr val="tx1"/>
                </a:solidFill>
              </a:rPr>
              <a:t>shell (Client)</a:t>
            </a:r>
            <a:endParaRPr kumimoji="1" lang="en-US" altLang="ko-KR" sz="800">
              <a:solidFill>
                <a:schemeClr val="tx1"/>
              </a:solidFill>
            </a:endParaRPr>
          </a:p>
        </p:txBody>
      </p:sp>
      <p:sp>
        <p:nvSpPr>
          <p:cNvPr id="9" name="모서리가 둥근 직사각형 8">
            <a:extLst>
              <a:ext uri="{FF2B5EF4-FFF2-40B4-BE49-F238E27FC236}">
                <a16:creationId xmlns:a16="http://schemas.microsoft.com/office/drawing/2014/main" id="{446C424C-3925-BB58-392A-3F48ECE999CB}"/>
              </a:ext>
            </a:extLst>
          </p:cNvPr>
          <p:cNvSpPr/>
          <p:nvPr/>
        </p:nvSpPr>
        <p:spPr>
          <a:xfrm>
            <a:off x="1259633" y="194613"/>
            <a:ext cx="7776863" cy="4720287"/>
          </a:xfrm>
          <a:prstGeom prst="roundRect">
            <a:avLst>
              <a:gd name="adj" fmla="val 2107"/>
            </a:avLst>
          </a:prstGeom>
          <a:solidFill>
            <a:schemeClr val="bg1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kumimoji="1" lang="en-US" altLang="ko-KR" sz="800" b="1">
                <a:solidFill>
                  <a:schemeClr val="tx1"/>
                </a:solidFill>
              </a:rPr>
              <a:t>Sidecar Envoy</a:t>
            </a:r>
            <a:endParaRPr kumimoji="1" lang="en-US" altLang="ko-KR" sz="800">
              <a:solidFill>
                <a:schemeClr val="tx1"/>
              </a:solidFill>
            </a:endParaRPr>
          </a:p>
        </p:txBody>
      </p:sp>
      <p:sp>
        <p:nvSpPr>
          <p:cNvPr id="10" name="모서리가 둥근 직사각형 9">
            <a:extLst>
              <a:ext uri="{FF2B5EF4-FFF2-40B4-BE49-F238E27FC236}">
                <a16:creationId xmlns:a16="http://schemas.microsoft.com/office/drawing/2014/main" id="{EF95DC27-07F0-8373-630F-5E041E0C4B2D}"/>
              </a:ext>
            </a:extLst>
          </p:cNvPr>
          <p:cNvSpPr/>
          <p:nvPr/>
        </p:nvSpPr>
        <p:spPr>
          <a:xfrm>
            <a:off x="1403648" y="450635"/>
            <a:ext cx="1296144" cy="347793"/>
          </a:xfrm>
          <a:prstGeom prst="roundRect">
            <a:avLst>
              <a:gd name="adj" fmla="val 14645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 b="1">
                <a:solidFill>
                  <a:schemeClr val="tx1"/>
                </a:solidFill>
              </a:rPr>
              <a:t>virtualOutbound </a:t>
            </a:r>
            <a:br>
              <a:rPr kumimoji="1" lang="en-US" altLang="ko-KR" sz="800" b="1">
                <a:solidFill>
                  <a:schemeClr val="tx1"/>
                </a:solidFill>
              </a:rPr>
            </a:br>
            <a:r>
              <a:rPr kumimoji="1" lang="en-US" altLang="ko-KR" sz="800">
                <a:solidFill>
                  <a:schemeClr val="tx1"/>
                </a:solidFill>
              </a:rPr>
              <a:t>Listener (:15001)</a:t>
            </a:r>
          </a:p>
        </p:txBody>
      </p:sp>
      <p:sp>
        <p:nvSpPr>
          <p:cNvPr id="11" name="모서리가 둥근 직사각형 10">
            <a:extLst>
              <a:ext uri="{FF2B5EF4-FFF2-40B4-BE49-F238E27FC236}">
                <a16:creationId xmlns:a16="http://schemas.microsoft.com/office/drawing/2014/main" id="{C12A2E7D-02FA-6D8B-E4D9-1112C1C567B2}"/>
              </a:ext>
            </a:extLst>
          </p:cNvPr>
          <p:cNvSpPr/>
          <p:nvPr/>
        </p:nvSpPr>
        <p:spPr>
          <a:xfrm>
            <a:off x="1619671" y="917397"/>
            <a:ext cx="3606379" cy="3508554"/>
          </a:xfrm>
          <a:prstGeom prst="roundRect">
            <a:avLst>
              <a:gd name="adj" fmla="val 1872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kumimoji="1" lang="en-US" altLang="ko-KR" sz="800" b="1">
                <a:solidFill>
                  <a:schemeClr val="tx1"/>
                </a:solidFill>
              </a:rPr>
              <a:t>0.0.0.0_8080 </a:t>
            </a:r>
            <a:r>
              <a:rPr kumimoji="1" lang="en-US" altLang="ko-KR" sz="800">
                <a:solidFill>
                  <a:schemeClr val="tx1"/>
                </a:solidFill>
              </a:rPr>
              <a:t>Listener</a:t>
            </a:r>
          </a:p>
        </p:txBody>
      </p:sp>
      <p:cxnSp>
        <p:nvCxnSpPr>
          <p:cNvPr id="12" name="직선 화살표 연결선 11">
            <a:extLst>
              <a:ext uri="{FF2B5EF4-FFF2-40B4-BE49-F238E27FC236}">
                <a16:creationId xmlns:a16="http://schemas.microsoft.com/office/drawing/2014/main" id="{66B35C9F-25EB-5E67-699B-F876DC15C630}"/>
              </a:ext>
            </a:extLst>
          </p:cNvPr>
          <p:cNvCxnSpPr>
            <a:cxnSpLocks/>
            <a:stCxn id="7" idx="3"/>
            <a:endCxn id="10" idx="1"/>
          </p:cNvCxnSpPr>
          <p:nvPr/>
        </p:nvCxnSpPr>
        <p:spPr>
          <a:xfrm>
            <a:off x="1115616" y="624531"/>
            <a:ext cx="288032" cy="0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모서리가 둥근 직사각형 19">
            <a:extLst>
              <a:ext uri="{FF2B5EF4-FFF2-40B4-BE49-F238E27FC236}">
                <a16:creationId xmlns:a16="http://schemas.microsoft.com/office/drawing/2014/main" id="{DB99DAD0-4046-8CDE-3223-DDEB75FDF813}"/>
              </a:ext>
            </a:extLst>
          </p:cNvPr>
          <p:cNvSpPr/>
          <p:nvPr/>
        </p:nvSpPr>
        <p:spPr>
          <a:xfrm>
            <a:off x="6251027" y="2528961"/>
            <a:ext cx="1584176" cy="347793"/>
          </a:xfrm>
          <a:prstGeom prst="roundRect">
            <a:avLst>
              <a:gd name="adj" fmla="val 14645"/>
            </a:avLst>
          </a:prstGeom>
          <a:solidFill>
            <a:schemeClr val="tx2">
              <a:lumMod val="20000"/>
              <a:lumOff val="8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 b="1">
                <a:solidFill>
                  <a:schemeClr val="tx1"/>
                </a:solidFill>
              </a:rPr>
              <a:t>outbound|8080||server-b</a:t>
            </a:r>
            <a:br>
              <a:rPr kumimoji="1" lang="en-US" altLang="ko-KR" sz="800" b="1">
                <a:solidFill>
                  <a:schemeClr val="tx1"/>
                </a:solidFill>
              </a:rPr>
            </a:br>
            <a:r>
              <a:rPr kumimoji="1" lang="en-US" altLang="ko-KR" sz="800" b="1">
                <a:solidFill>
                  <a:schemeClr val="tx1"/>
                </a:solidFill>
              </a:rPr>
              <a:t>.default.svc.cluster.local</a:t>
            </a:r>
            <a:br>
              <a:rPr kumimoji="1" lang="en-US" altLang="ko-KR" sz="800" b="1">
                <a:solidFill>
                  <a:schemeClr val="tx1"/>
                </a:solidFill>
              </a:rPr>
            </a:br>
            <a:r>
              <a:rPr kumimoji="1" lang="en-US" altLang="ko-KR" sz="800">
                <a:solidFill>
                  <a:schemeClr val="tx1"/>
                </a:solidFill>
              </a:rPr>
              <a:t>Cluster</a:t>
            </a:r>
          </a:p>
        </p:txBody>
      </p:sp>
      <p:sp>
        <p:nvSpPr>
          <p:cNvPr id="21" name="모서리가 둥근 직사각형 20">
            <a:extLst>
              <a:ext uri="{FF2B5EF4-FFF2-40B4-BE49-F238E27FC236}">
                <a16:creationId xmlns:a16="http://schemas.microsoft.com/office/drawing/2014/main" id="{B7529D27-A198-C967-C003-2D01EB255C26}"/>
              </a:ext>
            </a:extLst>
          </p:cNvPr>
          <p:cNvSpPr/>
          <p:nvPr/>
        </p:nvSpPr>
        <p:spPr>
          <a:xfrm>
            <a:off x="5726325" y="450635"/>
            <a:ext cx="1584176" cy="347793"/>
          </a:xfrm>
          <a:prstGeom prst="roundRect">
            <a:avLst>
              <a:gd name="adj" fmla="val 14645"/>
            </a:avLst>
          </a:prstGeom>
          <a:solidFill>
            <a:schemeClr val="tx2">
              <a:lumMod val="20000"/>
              <a:lumOff val="8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 b="1">
                <a:solidFill>
                  <a:schemeClr val="tx1"/>
                </a:solidFill>
              </a:rPr>
              <a:t>BlackHoleCluster</a:t>
            </a:r>
            <a:br>
              <a:rPr kumimoji="1" lang="en-US" altLang="ko-KR" sz="800" b="1">
                <a:solidFill>
                  <a:schemeClr val="tx1"/>
                </a:solidFill>
              </a:rPr>
            </a:br>
            <a:r>
              <a:rPr kumimoji="1" lang="en-US" altLang="ko-KR" sz="800">
                <a:solidFill>
                  <a:schemeClr val="tx1"/>
                </a:solidFill>
              </a:rPr>
              <a:t>Cluster</a:t>
            </a:r>
          </a:p>
        </p:txBody>
      </p:sp>
      <p:sp>
        <p:nvSpPr>
          <p:cNvPr id="23" name="모서리가 둥근 직사각형 22">
            <a:extLst>
              <a:ext uri="{FF2B5EF4-FFF2-40B4-BE49-F238E27FC236}">
                <a16:creationId xmlns:a16="http://schemas.microsoft.com/office/drawing/2014/main" id="{02CA37DB-21D8-1BDD-17CD-FCFF43600361}"/>
              </a:ext>
            </a:extLst>
          </p:cNvPr>
          <p:cNvSpPr/>
          <p:nvPr/>
        </p:nvSpPr>
        <p:spPr>
          <a:xfrm>
            <a:off x="6251027" y="2011164"/>
            <a:ext cx="1584176" cy="347793"/>
          </a:xfrm>
          <a:prstGeom prst="roundRect">
            <a:avLst>
              <a:gd name="adj" fmla="val 14645"/>
            </a:avLst>
          </a:prstGeom>
          <a:solidFill>
            <a:schemeClr val="tx2">
              <a:lumMod val="20000"/>
              <a:lumOff val="8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 b="1">
                <a:solidFill>
                  <a:schemeClr val="tx1"/>
                </a:solidFill>
              </a:rPr>
              <a:t>outbound|8080||server-a</a:t>
            </a:r>
            <a:br>
              <a:rPr kumimoji="1" lang="en-US" altLang="ko-KR" sz="800" b="1">
                <a:solidFill>
                  <a:schemeClr val="tx1"/>
                </a:solidFill>
              </a:rPr>
            </a:br>
            <a:r>
              <a:rPr kumimoji="1" lang="en-US" altLang="ko-KR" sz="800" b="1">
                <a:solidFill>
                  <a:schemeClr val="tx1"/>
                </a:solidFill>
              </a:rPr>
              <a:t>.default.svc.cluster.local</a:t>
            </a:r>
            <a:br>
              <a:rPr kumimoji="1" lang="en-US" altLang="ko-KR" sz="800" b="1">
                <a:solidFill>
                  <a:schemeClr val="tx1"/>
                </a:solidFill>
              </a:rPr>
            </a:br>
            <a:r>
              <a:rPr kumimoji="1" lang="en-US" altLang="ko-KR" sz="800">
                <a:solidFill>
                  <a:schemeClr val="tx1"/>
                </a:solidFill>
              </a:rPr>
              <a:t>Cluster</a:t>
            </a:r>
          </a:p>
        </p:txBody>
      </p:sp>
      <p:sp>
        <p:nvSpPr>
          <p:cNvPr id="26" name="모서리가 둥근 직사각형 25">
            <a:extLst>
              <a:ext uri="{FF2B5EF4-FFF2-40B4-BE49-F238E27FC236}">
                <a16:creationId xmlns:a16="http://schemas.microsoft.com/office/drawing/2014/main" id="{253D2C10-71EF-0AC7-84E9-B09FBBF6E392}"/>
              </a:ext>
            </a:extLst>
          </p:cNvPr>
          <p:cNvSpPr/>
          <p:nvPr/>
        </p:nvSpPr>
        <p:spPr>
          <a:xfrm>
            <a:off x="5418664" y="2528961"/>
            <a:ext cx="674682" cy="347793"/>
          </a:xfrm>
          <a:prstGeom prst="roundRect">
            <a:avLst>
              <a:gd name="adj" fmla="val 14645"/>
            </a:avLst>
          </a:prstGeom>
          <a:solidFill>
            <a:schemeClr val="accent2">
              <a:lumMod val="20000"/>
              <a:lumOff val="8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 b="1">
                <a:solidFill>
                  <a:schemeClr val="tx1"/>
                </a:solidFill>
              </a:rPr>
              <a:t>8080 </a:t>
            </a:r>
            <a:br>
              <a:rPr kumimoji="1" lang="en-US" altLang="ko-KR" sz="800" b="1">
                <a:solidFill>
                  <a:schemeClr val="tx1"/>
                </a:solidFill>
              </a:rPr>
            </a:br>
            <a:r>
              <a:rPr kumimoji="1" lang="en-US" altLang="ko-KR" sz="800">
                <a:solidFill>
                  <a:schemeClr val="tx1"/>
                </a:solidFill>
              </a:rPr>
              <a:t>Router</a:t>
            </a:r>
          </a:p>
        </p:txBody>
      </p:sp>
      <p:sp>
        <p:nvSpPr>
          <p:cNvPr id="27" name="모서리가 둥근 직사각형 26">
            <a:extLst>
              <a:ext uri="{FF2B5EF4-FFF2-40B4-BE49-F238E27FC236}">
                <a16:creationId xmlns:a16="http://schemas.microsoft.com/office/drawing/2014/main" id="{AB4F596B-C516-5322-D0F7-B630EB3EBFCF}"/>
              </a:ext>
            </a:extLst>
          </p:cNvPr>
          <p:cNvSpPr/>
          <p:nvPr/>
        </p:nvSpPr>
        <p:spPr>
          <a:xfrm>
            <a:off x="5418664" y="3832280"/>
            <a:ext cx="674682" cy="347793"/>
          </a:xfrm>
          <a:prstGeom prst="roundRect">
            <a:avLst>
              <a:gd name="adj" fmla="val 14645"/>
            </a:avLst>
          </a:prstGeom>
          <a:solidFill>
            <a:schemeClr val="accent2">
              <a:lumMod val="20000"/>
              <a:lumOff val="8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 b="1">
                <a:solidFill>
                  <a:schemeClr val="tx1"/>
                </a:solidFill>
              </a:rPr>
              <a:t>9090 </a:t>
            </a:r>
            <a:br>
              <a:rPr kumimoji="1" lang="en-US" altLang="ko-KR" sz="800" b="1">
                <a:solidFill>
                  <a:schemeClr val="tx1"/>
                </a:solidFill>
              </a:rPr>
            </a:br>
            <a:r>
              <a:rPr kumimoji="1" lang="en-US" altLang="ko-KR" sz="800">
                <a:solidFill>
                  <a:schemeClr val="tx1"/>
                </a:solidFill>
              </a:rPr>
              <a:t>Router</a:t>
            </a:r>
          </a:p>
        </p:txBody>
      </p:sp>
      <p:sp>
        <p:nvSpPr>
          <p:cNvPr id="29" name="모서리가 둥근 직사각형 28">
            <a:extLst>
              <a:ext uri="{FF2B5EF4-FFF2-40B4-BE49-F238E27FC236}">
                <a16:creationId xmlns:a16="http://schemas.microsoft.com/office/drawing/2014/main" id="{20CDF320-ADB8-7407-B1B5-821466FB6A02}"/>
              </a:ext>
            </a:extLst>
          </p:cNvPr>
          <p:cNvSpPr/>
          <p:nvPr/>
        </p:nvSpPr>
        <p:spPr>
          <a:xfrm>
            <a:off x="5726325" y="977438"/>
            <a:ext cx="1584176" cy="347793"/>
          </a:xfrm>
          <a:prstGeom prst="roundRect">
            <a:avLst>
              <a:gd name="adj" fmla="val 14645"/>
            </a:avLst>
          </a:prstGeom>
          <a:solidFill>
            <a:schemeClr val="tx2">
              <a:lumMod val="20000"/>
              <a:lumOff val="8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 b="1">
                <a:solidFill>
                  <a:schemeClr val="tx1"/>
                </a:solidFill>
              </a:rPr>
              <a:t>PassthroughCluster</a:t>
            </a:r>
            <a:br>
              <a:rPr kumimoji="1" lang="en-US" altLang="ko-KR" sz="800" b="1">
                <a:solidFill>
                  <a:schemeClr val="tx1"/>
                </a:solidFill>
              </a:rPr>
            </a:br>
            <a:r>
              <a:rPr kumimoji="1" lang="en-US" altLang="ko-KR" sz="800">
                <a:solidFill>
                  <a:schemeClr val="tx1"/>
                </a:solidFill>
              </a:rPr>
              <a:t>Cluster</a:t>
            </a:r>
          </a:p>
        </p:txBody>
      </p:sp>
      <p:cxnSp>
        <p:nvCxnSpPr>
          <p:cNvPr id="30" name="직선 화살표 연결선 29">
            <a:extLst>
              <a:ext uri="{FF2B5EF4-FFF2-40B4-BE49-F238E27FC236}">
                <a16:creationId xmlns:a16="http://schemas.microsoft.com/office/drawing/2014/main" id="{F6CDEB8D-F03E-F166-DE2F-2FF157AF647B}"/>
              </a:ext>
            </a:extLst>
          </p:cNvPr>
          <p:cNvCxnSpPr>
            <a:cxnSpLocks/>
            <a:stCxn id="10" idx="3"/>
            <a:endCxn id="21" idx="1"/>
          </p:cNvCxnSpPr>
          <p:nvPr/>
        </p:nvCxnSpPr>
        <p:spPr>
          <a:xfrm>
            <a:off x="2699792" y="624532"/>
            <a:ext cx="3026533" cy="0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모서리가 둥근 직사각형 39">
            <a:extLst>
              <a:ext uri="{FF2B5EF4-FFF2-40B4-BE49-F238E27FC236}">
                <a16:creationId xmlns:a16="http://schemas.microsoft.com/office/drawing/2014/main" id="{29CCA126-B816-EE8A-D4B9-02F84A248D18}"/>
              </a:ext>
            </a:extLst>
          </p:cNvPr>
          <p:cNvSpPr/>
          <p:nvPr/>
        </p:nvSpPr>
        <p:spPr>
          <a:xfrm>
            <a:off x="6251027" y="3832280"/>
            <a:ext cx="1584176" cy="347793"/>
          </a:xfrm>
          <a:prstGeom prst="roundRect">
            <a:avLst>
              <a:gd name="adj" fmla="val 14645"/>
            </a:avLst>
          </a:prstGeom>
          <a:solidFill>
            <a:schemeClr val="tx2">
              <a:lumMod val="20000"/>
              <a:lumOff val="8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 b="1">
                <a:solidFill>
                  <a:schemeClr val="tx1"/>
                </a:solidFill>
              </a:rPr>
              <a:t>outbound|9090||server-c</a:t>
            </a:r>
            <a:br>
              <a:rPr kumimoji="1" lang="en-US" altLang="ko-KR" sz="800" b="1">
                <a:solidFill>
                  <a:schemeClr val="tx1"/>
                </a:solidFill>
              </a:rPr>
            </a:br>
            <a:r>
              <a:rPr kumimoji="1" lang="en-US" altLang="ko-KR" sz="800" b="1">
                <a:solidFill>
                  <a:schemeClr val="tx1"/>
                </a:solidFill>
              </a:rPr>
              <a:t>.default.svc.cluster.local</a:t>
            </a:r>
            <a:br>
              <a:rPr kumimoji="1" lang="en-US" altLang="ko-KR" sz="800" b="1">
                <a:solidFill>
                  <a:schemeClr val="tx1"/>
                </a:solidFill>
              </a:rPr>
            </a:br>
            <a:r>
              <a:rPr kumimoji="1" lang="en-US" altLang="ko-KR" sz="800">
                <a:solidFill>
                  <a:schemeClr val="tx1"/>
                </a:solidFill>
              </a:rPr>
              <a:t>Cluster</a:t>
            </a:r>
          </a:p>
        </p:txBody>
      </p:sp>
      <p:sp>
        <p:nvSpPr>
          <p:cNvPr id="41" name="모서리가 둥근 직사각형 40">
            <a:extLst>
              <a:ext uri="{FF2B5EF4-FFF2-40B4-BE49-F238E27FC236}">
                <a16:creationId xmlns:a16="http://schemas.microsoft.com/office/drawing/2014/main" id="{C69FC2F2-0B01-B1A8-4440-79D9D4847632}"/>
              </a:ext>
            </a:extLst>
          </p:cNvPr>
          <p:cNvSpPr/>
          <p:nvPr/>
        </p:nvSpPr>
        <p:spPr>
          <a:xfrm>
            <a:off x="1698425" y="1167269"/>
            <a:ext cx="3449637" cy="721397"/>
          </a:xfrm>
          <a:prstGeom prst="roundRect">
            <a:avLst>
              <a:gd name="adj" fmla="val 7526"/>
            </a:avLst>
          </a:prstGeom>
          <a:solidFill>
            <a:schemeClr val="accent3">
              <a:lumMod val="20000"/>
              <a:lumOff val="8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kumimoji="1" lang="en-US" altLang="ko-KR" sz="800">
                <a:solidFill>
                  <a:schemeClr val="tx1"/>
                </a:solidFill>
              </a:rPr>
              <a:t>Listener Filters</a:t>
            </a:r>
          </a:p>
        </p:txBody>
      </p:sp>
      <p:sp>
        <p:nvSpPr>
          <p:cNvPr id="37" name="모서리가 둥근 직사각형 36">
            <a:extLst>
              <a:ext uri="{FF2B5EF4-FFF2-40B4-BE49-F238E27FC236}">
                <a16:creationId xmlns:a16="http://schemas.microsoft.com/office/drawing/2014/main" id="{233BFE00-78B0-D786-10BD-278ACCC0989F}"/>
              </a:ext>
            </a:extLst>
          </p:cNvPr>
          <p:cNvSpPr/>
          <p:nvPr/>
        </p:nvSpPr>
        <p:spPr>
          <a:xfrm>
            <a:off x="1784275" y="1397696"/>
            <a:ext cx="3291780" cy="198154"/>
          </a:xfrm>
          <a:prstGeom prst="roundRect">
            <a:avLst>
              <a:gd name="adj" fmla="val 14645"/>
            </a:avLst>
          </a:prstGeom>
          <a:solidFill>
            <a:schemeClr val="accent3">
              <a:lumMod val="40000"/>
              <a:lumOff val="6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ko-KR" sz="800">
                <a:solidFill>
                  <a:schemeClr val="tx1"/>
                </a:solidFill>
              </a:rPr>
              <a:t>envoy.filters.listener.tls_inspector</a:t>
            </a:r>
          </a:p>
        </p:txBody>
      </p:sp>
      <p:sp>
        <p:nvSpPr>
          <p:cNvPr id="38" name="모서리가 둥근 직사각형 37">
            <a:extLst>
              <a:ext uri="{FF2B5EF4-FFF2-40B4-BE49-F238E27FC236}">
                <a16:creationId xmlns:a16="http://schemas.microsoft.com/office/drawing/2014/main" id="{92191E4B-47B1-9764-D545-19227651AF17}"/>
              </a:ext>
            </a:extLst>
          </p:cNvPr>
          <p:cNvSpPr/>
          <p:nvPr/>
        </p:nvSpPr>
        <p:spPr>
          <a:xfrm>
            <a:off x="1784275" y="1595468"/>
            <a:ext cx="3291780" cy="198154"/>
          </a:xfrm>
          <a:prstGeom prst="roundRect">
            <a:avLst>
              <a:gd name="adj" fmla="val 14645"/>
            </a:avLst>
          </a:prstGeom>
          <a:solidFill>
            <a:schemeClr val="accent3">
              <a:lumMod val="40000"/>
              <a:lumOff val="6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ko-KR" sz="800">
                <a:solidFill>
                  <a:schemeClr val="tx1"/>
                </a:solidFill>
              </a:rPr>
              <a:t>envoy.filters.listener.http_inspector</a:t>
            </a:r>
          </a:p>
        </p:txBody>
      </p:sp>
      <p:sp>
        <p:nvSpPr>
          <p:cNvPr id="42" name="모서리가 둥근 직사각형 41">
            <a:extLst>
              <a:ext uri="{FF2B5EF4-FFF2-40B4-BE49-F238E27FC236}">
                <a16:creationId xmlns:a16="http://schemas.microsoft.com/office/drawing/2014/main" id="{D9320FD1-EDD2-07FA-88E7-1D18CEA8B7BC}"/>
              </a:ext>
            </a:extLst>
          </p:cNvPr>
          <p:cNvSpPr/>
          <p:nvPr/>
        </p:nvSpPr>
        <p:spPr>
          <a:xfrm>
            <a:off x="1698426" y="2007636"/>
            <a:ext cx="3449638" cy="2339041"/>
          </a:xfrm>
          <a:prstGeom prst="roundRect">
            <a:avLst>
              <a:gd name="adj" fmla="val 2943"/>
            </a:avLst>
          </a:prstGeom>
          <a:solidFill>
            <a:schemeClr val="accent6">
              <a:lumMod val="20000"/>
              <a:lumOff val="8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kumimoji="1" lang="en-US" altLang="ko-KR" sz="800">
                <a:solidFill>
                  <a:schemeClr val="tx1"/>
                </a:solidFill>
              </a:rPr>
              <a:t>Network Filters</a:t>
            </a:r>
          </a:p>
        </p:txBody>
      </p:sp>
      <p:sp>
        <p:nvSpPr>
          <p:cNvPr id="43" name="모서리가 둥근 직사각형 42">
            <a:extLst>
              <a:ext uri="{FF2B5EF4-FFF2-40B4-BE49-F238E27FC236}">
                <a16:creationId xmlns:a16="http://schemas.microsoft.com/office/drawing/2014/main" id="{EACD7129-F21D-706F-C5CF-171DE6547F88}"/>
              </a:ext>
            </a:extLst>
          </p:cNvPr>
          <p:cNvSpPr/>
          <p:nvPr/>
        </p:nvSpPr>
        <p:spPr>
          <a:xfrm>
            <a:off x="1784275" y="2250109"/>
            <a:ext cx="3291780" cy="704168"/>
          </a:xfrm>
          <a:prstGeom prst="roundRect">
            <a:avLst>
              <a:gd name="adj" fmla="val 7799"/>
            </a:avLst>
          </a:prstGeom>
          <a:solidFill>
            <a:schemeClr val="accent6">
              <a:lumMod val="40000"/>
              <a:lumOff val="6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kumimoji="1" lang="en-US" altLang="ko-KR" sz="800" b="1">
                <a:solidFill>
                  <a:schemeClr val="tx1"/>
                </a:solidFill>
              </a:rPr>
              <a:t>PassthroughFilterChain</a:t>
            </a:r>
            <a:r>
              <a:rPr kumimoji="1" lang="en-US" altLang="ko-KR" sz="800">
                <a:solidFill>
                  <a:schemeClr val="tx1"/>
                </a:solidFill>
              </a:rPr>
              <a:t> Chain</a:t>
            </a:r>
            <a:endParaRPr kumimoji="1" lang="en-US" altLang="ko-KR" sz="800" b="1">
              <a:solidFill>
                <a:schemeClr val="tx1"/>
              </a:solidFill>
            </a:endParaRPr>
          </a:p>
        </p:txBody>
      </p:sp>
      <p:sp>
        <p:nvSpPr>
          <p:cNvPr id="44" name="모서리가 둥근 직사각형 43">
            <a:extLst>
              <a:ext uri="{FF2B5EF4-FFF2-40B4-BE49-F238E27FC236}">
                <a16:creationId xmlns:a16="http://schemas.microsoft.com/office/drawing/2014/main" id="{77325F57-2D3D-7D76-416D-7793C29B66D2}"/>
              </a:ext>
            </a:extLst>
          </p:cNvPr>
          <p:cNvSpPr/>
          <p:nvPr/>
        </p:nvSpPr>
        <p:spPr>
          <a:xfrm>
            <a:off x="1784275" y="3063083"/>
            <a:ext cx="3291780" cy="1209415"/>
          </a:xfrm>
          <a:prstGeom prst="roundRect">
            <a:avLst>
              <a:gd name="adj" fmla="val 5394"/>
            </a:avLst>
          </a:prstGeom>
          <a:solidFill>
            <a:schemeClr val="accent6">
              <a:lumMod val="40000"/>
              <a:lumOff val="6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kumimoji="1" lang="en-US" altLang="ko-KR" sz="800" b="1">
                <a:solidFill>
                  <a:schemeClr val="tx1"/>
                </a:solidFill>
              </a:rPr>
              <a:t>HTTP/HTTP2</a:t>
            </a:r>
            <a:r>
              <a:rPr kumimoji="1" lang="en-US" altLang="ko-KR" sz="800">
                <a:solidFill>
                  <a:schemeClr val="tx1"/>
                </a:solidFill>
              </a:rPr>
              <a:t> Chain</a:t>
            </a:r>
            <a:endParaRPr kumimoji="1" lang="en-US" altLang="ko-KR" sz="800" b="1">
              <a:solidFill>
                <a:schemeClr val="tx1"/>
              </a:solidFill>
            </a:endParaRPr>
          </a:p>
        </p:txBody>
      </p:sp>
      <p:sp>
        <p:nvSpPr>
          <p:cNvPr id="45" name="모서리가 둥근 직사각형 44">
            <a:extLst>
              <a:ext uri="{FF2B5EF4-FFF2-40B4-BE49-F238E27FC236}">
                <a16:creationId xmlns:a16="http://schemas.microsoft.com/office/drawing/2014/main" id="{F5273FB1-6309-2D5A-32C0-DA2B682AAD5B}"/>
              </a:ext>
            </a:extLst>
          </p:cNvPr>
          <p:cNvSpPr/>
          <p:nvPr/>
        </p:nvSpPr>
        <p:spPr>
          <a:xfrm>
            <a:off x="1861428" y="2474290"/>
            <a:ext cx="3142619" cy="198154"/>
          </a:xfrm>
          <a:prstGeom prst="roundRect">
            <a:avLst>
              <a:gd name="adj" fmla="val 14645"/>
            </a:avLst>
          </a:prstGeom>
          <a:solidFill>
            <a:schemeClr val="accent5">
              <a:lumMod val="20000"/>
              <a:lumOff val="8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ko-KR" sz="800">
                <a:solidFill>
                  <a:schemeClr val="tx1"/>
                </a:solidFill>
              </a:rPr>
              <a:t>istio.stats</a:t>
            </a:r>
          </a:p>
        </p:txBody>
      </p:sp>
      <p:sp>
        <p:nvSpPr>
          <p:cNvPr id="46" name="모서리가 둥근 직사각형 45">
            <a:extLst>
              <a:ext uri="{FF2B5EF4-FFF2-40B4-BE49-F238E27FC236}">
                <a16:creationId xmlns:a16="http://schemas.microsoft.com/office/drawing/2014/main" id="{13E2907B-A293-D9D8-CAEB-DCEECF61CD94}"/>
              </a:ext>
            </a:extLst>
          </p:cNvPr>
          <p:cNvSpPr/>
          <p:nvPr/>
        </p:nvSpPr>
        <p:spPr>
          <a:xfrm>
            <a:off x="1861429" y="2671384"/>
            <a:ext cx="3142620" cy="198154"/>
          </a:xfrm>
          <a:prstGeom prst="roundRect">
            <a:avLst>
              <a:gd name="adj" fmla="val 14645"/>
            </a:avLst>
          </a:prstGeom>
          <a:solidFill>
            <a:schemeClr val="accent5">
              <a:lumMod val="20000"/>
              <a:lumOff val="8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ko-KR" sz="800">
                <a:solidFill>
                  <a:schemeClr val="tx1"/>
                </a:solidFill>
              </a:rPr>
              <a:t>envoy.filters.network.tcp_proxy</a:t>
            </a:r>
          </a:p>
        </p:txBody>
      </p:sp>
      <p:sp>
        <p:nvSpPr>
          <p:cNvPr id="47" name="모서리가 둥근 직사각형 46">
            <a:extLst>
              <a:ext uri="{FF2B5EF4-FFF2-40B4-BE49-F238E27FC236}">
                <a16:creationId xmlns:a16="http://schemas.microsoft.com/office/drawing/2014/main" id="{7EDE16DF-F868-C718-C33D-E08890F27502}"/>
              </a:ext>
            </a:extLst>
          </p:cNvPr>
          <p:cNvSpPr/>
          <p:nvPr/>
        </p:nvSpPr>
        <p:spPr>
          <a:xfrm>
            <a:off x="1861427" y="3283810"/>
            <a:ext cx="3142622" cy="920213"/>
          </a:xfrm>
          <a:prstGeom prst="roundRect">
            <a:avLst>
              <a:gd name="adj" fmla="val 5504"/>
            </a:avLst>
          </a:prstGeom>
          <a:solidFill>
            <a:schemeClr val="accent5">
              <a:lumMod val="20000"/>
              <a:lumOff val="8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kumimoji="1" lang="en-US" altLang="ko-KR" sz="800">
                <a:solidFill>
                  <a:schemeClr val="tx1"/>
                </a:solidFill>
              </a:rPr>
              <a:t>envoy.filters.network.http_connection_manager</a:t>
            </a:r>
          </a:p>
        </p:txBody>
      </p:sp>
      <p:sp>
        <p:nvSpPr>
          <p:cNvPr id="48" name="모서리가 둥근 직사각형 47">
            <a:extLst>
              <a:ext uri="{FF2B5EF4-FFF2-40B4-BE49-F238E27FC236}">
                <a16:creationId xmlns:a16="http://schemas.microsoft.com/office/drawing/2014/main" id="{0D5F2F5E-E152-AD75-E425-82AC09532787}"/>
              </a:ext>
            </a:extLst>
          </p:cNvPr>
          <p:cNvSpPr/>
          <p:nvPr/>
        </p:nvSpPr>
        <p:spPr>
          <a:xfrm>
            <a:off x="1943727" y="3512811"/>
            <a:ext cx="1501878" cy="152233"/>
          </a:xfrm>
          <a:prstGeom prst="roundRect">
            <a:avLst>
              <a:gd name="adj" fmla="val 14645"/>
            </a:avLst>
          </a:prstGeom>
          <a:solidFill>
            <a:schemeClr val="accent5">
              <a:lumMod val="40000"/>
              <a:lumOff val="6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ko-KR" sz="800">
                <a:solidFill>
                  <a:schemeClr val="tx1"/>
                </a:solidFill>
              </a:rPr>
              <a:t>istio.metadata_exchange</a:t>
            </a:r>
          </a:p>
        </p:txBody>
      </p:sp>
      <p:sp>
        <p:nvSpPr>
          <p:cNvPr id="49" name="모서리가 둥근 직사각형 48">
            <a:extLst>
              <a:ext uri="{FF2B5EF4-FFF2-40B4-BE49-F238E27FC236}">
                <a16:creationId xmlns:a16="http://schemas.microsoft.com/office/drawing/2014/main" id="{06AEF795-A083-7421-1B2B-BEC9C421ECEE}"/>
              </a:ext>
            </a:extLst>
          </p:cNvPr>
          <p:cNvSpPr/>
          <p:nvPr/>
        </p:nvSpPr>
        <p:spPr>
          <a:xfrm>
            <a:off x="1943727" y="3665044"/>
            <a:ext cx="1501878" cy="152233"/>
          </a:xfrm>
          <a:prstGeom prst="roundRect">
            <a:avLst>
              <a:gd name="adj" fmla="val 14645"/>
            </a:avLst>
          </a:prstGeom>
          <a:solidFill>
            <a:schemeClr val="accent5">
              <a:lumMod val="40000"/>
              <a:lumOff val="6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ko-KR" sz="800">
                <a:solidFill>
                  <a:schemeClr val="tx1"/>
                </a:solidFill>
              </a:rPr>
              <a:t>envoy.filters.http.grpc_stats</a:t>
            </a:r>
          </a:p>
        </p:txBody>
      </p:sp>
      <p:sp>
        <p:nvSpPr>
          <p:cNvPr id="50" name="모서리가 둥근 직사각형 49">
            <a:extLst>
              <a:ext uri="{FF2B5EF4-FFF2-40B4-BE49-F238E27FC236}">
                <a16:creationId xmlns:a16="http://schemas.microsoft.com/office/drawing/2014/main" id="{5469B666-B02D-1551-FA38-9BD0EA710F8A}"/>
              </a:ext>
            </a:extLst>
          </p:cNvPr>
          <p:cNvSpPr/>
          <p:nvPr/>
        </p:nvSpPr>
        <p:spPr>
          <a:xfrm>
            <a:off x="1943727" y="3816900"/>
            <a:ext cx="1501878" cy="152233"/>
          </a:xfrm>
          <a:prstGeom prst="roundRect">
            <a:avLst>
              <a:gd name="adj" fmla="val 14645"/>
            </a:avLst>
          </a:prstGeom>
          <a:solidFill>
            <a:schemeClr val="accent5">
              <a:lumMod val="40000"/>
              <a:lumOff val="6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ko-KR" sz="800">
                <a:solidFill>
                  <a:schemeClr val="tx1"/>
                </a:solidFill>
              </a:rPr>
              <a:t>istio.alpn</a:t>
            </a:r>
          </a:p>
        </p:txBody>
      </p:sp>
      <p:sp>
        <p:nvSpPr>
          <p:cNvPr id="52" name="모서리가 둥근 직사각형 51">
            <a:extLst>
              <a:ext uri="{FF2B5EF4-FFF2-40B4-BE49-F238E27FC236}">
                <a16:creationId xmlns:a16="http://schemas.microsoft.com/office/drawing/2014/main" id="{6E67E5F4-9726-DF4E-3EBB-96F7794DD99F}"/>
              </a:ext>
            </a:extLst>
          </p:cNvPr>
          <p:cNvSpPr/>
          <p:nvPr/>
        </p:nvSpPr>
        <p:spPr>
          <a:xfrm>
            <a:off x="1943727" y="3969509"/>
            <a:ext cx="1501878" cy="152233"/>
          </a:xfrm>
          <a:prstGeom prst="roundRect">
            <a:avLst>
              <a:gd name="adj" fmla="val 14645"/>
            </a:avLst>
          </a:prstGeom>
          <a:solidFill>
            <a:schemeClr val="accent5">
              <a:lumMod val="40000"/>
              <a:lumOff val="6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ko-KR" sz="800">
                <a:solidFill>
                  <a:schemeClr val="tx1"/>
                </a:solidFill>
              </a:rPr>
              <a:t>envoy.filters.http.fault</a:t>
            </a:r>
          </a:p>
        </p:txBody>
      </p:sp>
      <p:sp>
        <p:nvSpPr>
          <p:cNvPr id="53" name="모서리가 둥근 직사각형 52">
            <a:extLst>
              <a:ext uri="{FF2B5EF4-FFF2-40B4-BE49-F238E27FC236}">
                <a16:creationId xmlns:a16="http://schemas.microsoft.com/office/drawing/2014/main" id="{046E1EB8-177F-5F35-9F27-63BAA81C44D0}"/>
              </a:ext>
            </a:extLst>
          </p:cNvPr>
          <p:cNvSpPr/>
          <p:nvPr/>
        </p:nvSpPr>
        <p:spPr>
          <a:xfrm>
            <a:off x="3644149" y="3520098"/>
            <a:ext cx="1291711" cy="152233"/>
          </a:xfrm>
          <a:prstGeom prst="roundRect">
            <a:avLst>
              <a:gd name="adj" fmla="val 14645"/>
            </a:avLst>
          </a:prstGeom>
          <a:solidFill>
            <a:schemeClr val="accent5">
              <a:lumMod val="40000"/>
              <a:lumOff val="6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ko-KR" sz="800">
                <a:solidFill>
                  <a:schemeClr val="tx1"/>
                </a:solidFill>
              </a:rPr>
              <a:t>envoy.filters.http.cors</a:t>
            </a:r>
          </a:p>
        </p:txBody>
      </p:sp>
      <p:sp>
        <p:nvSpPr>
          <p:cNvPr id="54" name="모서리가 둥근 직사각형 53">
            <a:extLst>
              <a:ext uri="{FF2B5EF4-FFF2-40B4-BE49-F238E27FC236}">
                <a16:creationId xmlns:a16="http://schemas.microsoft.com/office/drawing/2014/main" id="{33A74316-63BD-D480-F8D7-C94112D23F4B}"/>
              </a:ext>
            </a:extLst>
          </p:cNvPr>
          <p:cNvSpPr/>
          <p:nvPr/>
        </p:nvSpPr>
        <p:spPr>
          <a:xfrm>
            <a:off x="3644149" y="3668762"/>
            <a:ext cx="1291711" cy="152233"/>
          </a:xfrm>
          <a:prstGeom prst="roundRect">
            <a:avLst>
              <a:gd name="adj" fmla="val 14645"/>
            </a:avLst>
          </a:prstGeom>
          <a:solidFill>
            <a:schemeClr val="accent5">
              <a:lumMod val="40000"/>
              <a:lumOff val="6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ko-KR" sz="800">
                <a:solidFill>
                  <a:schemeClr val="tx1"/>
                </a:solidFill>
              </a:rPr>
              <a:t>istio.stats</a:t>
            </a:r>
          </a:p>
        </p:txBody>
      </p:sp>
      <p:sp>
        <p:nvSpPr>
          <p:cNvPr id="55" name="모서리가 둥근 직사각형 54">
            <a:extLst>
              <a:ext uri="{FF2B5EF4-FFF2-40B4-BE49-F238E27FC236}">
                <a16:creationId xmlns:a16="http://schemas.microsoft.com/office/drawing/2014/main" id="{38525A92-8DC2-69E8-9B93-0CC012670DDF}"/>
              </a:ext>
            </a:extLst>
          </p:cNvPr>
          <p:cNvSpPr/>
          <p:nvPr/>
        </p:nvSpPr>
        <p:spPr>
          <a:xfrm>
            <a:off x="3644149" y="3816900"/>
            <a:ext cx="1291711" cy="152233"/>
          </a:xfrm>
          <a:prstGeom prst="roundRect">
            <a:avLst>
              <a:gd name="adj" fmla="val 14645"/>
            </a:avLst>
          </a:prstGeom>
          <a:solidFill>
            <a:schemeClr val="bg2">
              <a:lumMod val="9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ko-KR" sz="800">
                <a:solidFill>
                  <a:schemeClr val="tx1"/>
                </a:solidFill>
              </a:rPr>
              <a:t>envoy.filters.http.router</a:t>
            </a:r>
          </a:p>
        </p:txBody>
      </p:sp>
      <p:cxnSp>
        <p:nvCxnSpPr>
          <p:cNvPr id="59" name="직선 화살표 연결선 58">
            <a:extLst>
              <a:ext uri="{FF2B5EF4-FFF2-40B4-BE49-F238E27FC236}">
                <a16:creationId xmlns:a16="http://schemas.microsoft.com/office/drawing/2014/main" id="{8B3345B2-51B1-91E4-D17D-2CC2340971F0}"/>
              </a:ext>
            </a:extLst>
          </p:cNvPr>
          <p:cNvCxnSpPr>
            <a:cxnSpLocks/>
            <a:stCxn id="41" idx="2"/>
            <a:endCxn id="42" idx="0"/>
          </p:cNvCxnSpPr>
          <p:nvPr/>
        </p:nvCxnSpPr>
        <p:spPr>
          <a:xfrm>
            <a:off x="3423244" y="1888666"/>
            <a:ext cx="1" cy="118970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직선 화살표 연결선 70">
            <a:extLst>
              <a:ext uri="{FF2B5EF4-FFF2-40B4-BE49-F238E27FC236}">
                <a16:creationId xmlns:a16="http://schemas.microsoft.com/office/drawing/2014/main" id="{83026BAE-8209-A2E4-1048-989F853FDBED}"/>
              </a:ext>
            </a:extLst>
          </p:cNvPr>
          <p:cNvCxnSpPr>
            <a:cxnSpLocks/>
            <a:stCxn id="10" idx="3"/>
            <a:endCxn id="29" idx="1"/>
          </p:cNvCxnSpPr>
          <p:nvPr/>
        </p:nvCxnSpPr>
        <p:spPr>
          <a:xfrm>
            <a:off x="2699792" y="624532"/>
            <a:ext cx="3026533" cy="526803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직선 화살표 연결선 73">
            <a:extLst>
              <a:ext uri="{FF2B5EF4-FFF2-40B4-BE49-F238E27FC236}">
                <a16:creationId xmlns:a16="http://schemas.microsoft.com/office/drawing/2014/main" id="{4E0FCEEE-7349-FB6A-C8BF-3C4E9BB3A0B3}"/>
              </a:ext>
            </a:extLst>
          </p:cNvPr>
          <p:cNvCxnSpPr>
            <a:cxnSpLocks/>
            <a:stCxn id="52" idx="3"/>
            <a:endCxn id="53" idx="1"/>
          </p:cNvCxnSpPr>
          <p:nvPr/>
        </p:nvCxnSpPr>
        <p:spPr>
          <a:xfrm flipV="1">
            <a:off x="3445605" y="3596215"/>
            <a:ext cx="198544" cy="449411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직선 화살표 연결선 76">
            <a:extLst>
              <a:ext uri="{FF2B5EF4-FFF2-40B4-BE49-F238E27FC236}">
                <a16:creationId xmlns:a16="http://schemas.microsoft.com/office/drawing/2014/main" id="{A689E3FA-47F9-75BB-EF32-AD62B2A2F2B9}"/>
              </a:ext>
            </a:extLst>
          </p:cNvPr>
          <p:cNvCxnSpPr>
            <a:cxnSpLocks/>
            <a:stCxn id="55" idx="3"/>
            <a:endCxn id="26" idx="1"/>
          </p:cNvCxnSpPr>
          <p:nvPr/>
        </p:nvCxnSpPr>
        <p:spPr>
          <a:xfrm flipV="1">
            <a:off x="4935860" y="2702858"/>
            <a:ext cx="482804" cy="1190159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직선 화살표 연결선 80">
            <a:extLst>
              <a:ext uri="{FF2B5EF4-FFF2-40B4-BE49-F238E27FC236}">
                <a16:creationId xmlns:a16="http://schemas.microsoft.com/office/drawing/2014/main" id="{F1DE01C0-601E-8106-BBE2-B439A963E34D}"/>
              </a:ext>
            </a:extLst>
          </p:cNvPr>
          <p:cNvCxnSpPr>
            <a:cxnSpLocks/>
            <a:stCxn id="26" idx="3"/>
            <a:endCxn id="23" idx="1"/>
          </p:cNvCxnSpPr>
          <p:nvPr/>
        </p:nvCxnSpPr>
        <p:spPr>
          <a:xfrm flipV="1">
            <a:off x="6093346" y="2185061"/>
            <a:ext cx="157681" cy="517797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직선 화살표 연결선 83">
            <a:extLst>
              <a:ext uri="{FF2B5EF4-FFF2-40B4-BE49-F238E27FC236}">
                <a16:creationId xmlns:a16="http://schemas.microsoft.com/office/drawing/2014/main" id="{1967E95F-C138-FE68-4995-8039C6245E16}"/>
              </a:ext>
            </a:extLst>
          </p:cNvPr>
          <p:cNvCxnSpPr>
            <a:cxnSpLocks/>
            <a:stCxn id="26" idx="3"/>
            <a:endCxn id="20" idx="1"/>
          </p:cNvCxnSpPr>
          <p:nvPr/>
        </p:nvCxnSpPr>
        <p:spPr>
          <a:xfrm>
            <a:off x="6093346" y="2702858"/>
            <a:ext cx="157681" cy="0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직선 화살표 연결선 100">
            <a:extLst>
              <a:ext uri="{FF2B5EF4-FFF2-40B4-BE49-F238E27FC236}">
                <a16:creationId xmlns:a16="http://schemas.microsoft.com/office/drawing/2014/main" id="{506D7AA7-0BA4-F76B-A2E6-55DD4908B479}"/>
              </a:ext>
            </a:extLst>
          </p:cNvPr>
          <p:cNvCxnSpPr>
            <a:cxnSpLocks/>
            <a:endCxn id="11" idx="0"/>
          </p:cNvCxnSpPr>
          <p:nvPr/>
        </p:nvCxnSpPr>
        <p:spPr>
          <a:xfrm>
            <a:off x="1505811" y="793347"/>
            <a:ext cx="1917050" cy="124050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직선 화살표 연결선 103">
            <a:extLst>
              <a:ext uri="{FF2B5EF4-FFF2-40B4-BE49-F238E27FC236}">
                <a16:creationId xmlns:a16="http://schemas.microsoft.com/office/drawing/2014/main" id="{C714725D-8F8B-17EB-B321-C71B985D1C67}"/>
              </a:ext>
            </a:extLst>
          </p:cNvPr>
          <p:cNvCxnSpPr>
            <a:cxnSpLocks/>
            <a:stCxn id="46" idx="3"/>
            <a:endCxn id="29" idx="1"/>
          </p:cNvCxnSpPr>
          <p:nvPr/>
        </p:nvCxnSpPr>
        <p:spPr>
          <a:xfrm flipV="1">
            <a:off x="5004049" y="1151335"/>
            <a:ext cx="722276" cy="1619126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7" name="모서리가 둥근 직사각형 126">
            <a:extLst>
              <a:ext uri="{FF2B5EF4-FFF2-40B4-BE49-F238E27FC236}">
                <a16:creationId xmlns:a16="http://schemas.microsoft.com/office/drawing/2014/main" id="{3FDE94BB-D7F1-D1C9-56BB-B295DD08D208}"/>
              </a:ext>
            </a:extLst>
          </p:cNvPr>
          <p:cNvSpPr/>
          <p:nvPr/>
        </p:nvSpPr>
        <p:spPr>
          <a:xfrm>
            <a:off x="1619671" y="4567404"/>
            <a:ext cx="3606379" cy="234534"/>
          </a:xfrm>
          <a:prstGeom prst="roundRect">
            <a:avLst>
              <a:gd name="adj" fmla="val 24593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kumimoji="1" lang="en-US" altLang="ko-KR" sz="800" b="1">
                <a:solidFill>
                  <a:schemeClr val="tx1"/>
                </a:solidFill>
              </a:rPr>
              <a:t>0.0.0.0_9090 </a:t>
            </a:r>
            <a:r>
              <a:rPr kumimoji="1" lang="en-US" altLang="ko-KR" sz="800">
                <a:solidFill>
                  <a:schemeClr val="tx1"/>
                </a:solidFill>
              </a:rPr>
              <a:t>Listener …</a:t>
            </a:r>
          </a:p>
        </p:txBody>
      </p:sp>
      <p:cxnSp>
        <p:nvCxnSpPr>
          <p:cNvPr id="129" name="직선 화살표 연결선 128">
            <a:extLst>
              <a:ext uri="{FF2B5EF4-FFF2-40B4-BE49-F238E27FC236}">
                <a16:creationId xmlns:a16="http://schemas.microsoft.com/office/drawing/2014/main" id="{1696ADAC-56F3-82F1-0602-458C0321178E}"/>
              </a:ext>
            </a:extLst>
          </p:cNvPr>
          <p:cNvCxnSpPr>
            <a:cxnSpLocks/>
            <a:endCxn id="127" idx="1"/>
          </p:cNvCxnSpPr>
          <p:nvPr/>
        </p:nvCxnSpPr>
        <p:spPr>
          <a:xfrm>
            <a:off x="1505811" y="798428"/>
            <a:ext cx="113860" cy="3886243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7" name="직선 화살표 연결선 146">
            <a:extLst>
              <a:ext uri="{FF2B5EF4-FFF2-40B4-BE49-F238E27FC236}">
                <a16:creationId xmlns:a16="http://schemas.microsoft.com/office/drawing/2014/main" id="{195AA0EB-B5E5-355D-3A4A-FF5405B0A228}"/>
              </a:ext>
            </a:extLst>
          </p:cNvPr>
          <p:cNvCxnSpPr>
            <a:cxnSpLocks/>
            <a:stCxn id="27" idx="3"/>
            <a:endCxn id="40" idx="1"/>
          </p:cNvCxnSpPr>
          <p:nvPr/>
        </p:nvCxnSpPr>
        <p:spPr>
          <a:xfrm>
            <a:off x="6093346" y="4006177"/>
            <a:ext cx="157681" cy="0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0" name="직선 화살표 연결선 149">
            <a:extLst>
              <a:ext uri="{FF2B5EF4-FFF2-40B4-BE49-F238E27FC236}">
                <a16:creationId xmlns:a16="http://schemas.microsoft.com/office/drawing/2014/main" id="{D7C13358-DDE3-AE21-CD5A-51F81C9380B3}"/>
              </a:ext>
            </a:extLst>
          </p:cNvPr>
          <p:cNvCxnSpPr>
            <a:cxnSpLocks/>
            <a:stCxn id="127" idx="3"/>
            <a:endCxn id="27" idx="1"/>
          </p:cNvCxnSpPr>
          <p:nvPr/>
        </p:nvCxnSpPr>
        <p:spPr>
          <a:xfrm flipV="1">
            <a:off x="5226050" y="4006177"/>
            <a:ext cx="192614" cy="678494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4" name="직선 화살표 연결선 153">
            <a:extLst>
              <a:ext uri="{FF2B5EF4-FFF2-40B4-BE49-F238E27FC236}">
                <a16:creationId xmlns:a16="http://schemas.microsoft.com/office/drawing/2014/main" id="{B8754A88-9385-7DE8-5A5C-9470F2225F4A}"/>
              </a:ext>
            </a:extLst>
          </p:cNvPr>
          <p:cNvCxnSpPr>
            <a:cxnSpLocks/>
            <a:stCxn id="127" idx="3"/>
            <a:endCxn id="29" idx="1"/>
          </p:cNvCxnSpPr>
          <p:nvPr/>
        </p:nvCxnSpPr>
        <p:spPr>
          <a:xfrm flipV="1">
            <a:off x="5226050" y="1151335"/>
            <a:ext cx="500275" cy="3533336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5" name="모서리가 둥근 직사각형 174">
            <a:extLst>
              <a:ext uri="{FF2B5EF4-FFF2-40B4-BE49-F238E27FC236}">
                <a16:creationId xmlns:a16="http://schemas.microsoft.com/office/drawing/2014/main" id="{FE73BE67-5C00-1892-592A-31E3A215B653}"/>
              </a:ext>
            </a:extLst>
          </p:cNvPr>
          <p:cNvSpPr/>
          <p:nvPr/>
        </p:nvSpPr>
        <p:spPr>
          <a:xfrm>
            <a:off x="7310501" y="1484708"/>
            <a:ext cx="1584176" cy="347793"/>
          </a:xfrm>
          <a:prstGeom prst="roundRect">
            <a:avLst>
              <a:gd name="adj" fmla="val 14645"/>
            </a:avLst>
          </a:prstGeom>
          <a:solidFill>
            <a:schemeClr val="accent4">
              <a:lumMod val="20000"/>
              <a:lumOff val="8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 b="1">
                <a:solidFill>
                  <a:schemeClr val="tx1"/>
                </a:solidFill>
              </a:rPr>
              <a:t>outbound|8080||server-a</a:t>
            </a:r>
            <a:br>
              <a:rPr kumimoji="1" lang="en-US" altLang="ko-KR" sz="800" b="1">
                <a:solidFill>
                  <a:schemeClr val="tx1"/>
                </a:solidFill>
              </a:rPr>
            </a:br>
            <a:r>
              <a:rPr kumimoji="1" lang="en-US" altLang="ko-KR" sz="800" b="1">
                <a:solidFill>
                  <a:schemeClr val="tx1"/>
                </a:solidFill>
              </a:rPr>
              <a:t>.default.svc.cluster.local</a:t>
            </a:r>
            <a:br>
              <a:rPr kumimoji="1" lang="en-US" altLang="ko-KR" sz="800" b="1">
                <a:solidFill>
                  <a:schemeClr val="tx1"/>
                </a:solidFill>
              </a:rPr>
            </a:br>
            <a:r>
              <a:rPr kumimoji="1" lang="en-US" altLang="ko-KR" sz="800">
                <a:solidFill>
                  <a:schemeClr val="tx1"/>
                </a:solidFill>
              </a:rPr>
              <a:t>Endpoint</a:t>
            </a:r>
          </a:p>
        </p:txBody>
      </p:sp>
      <p:sp>
        <p:nvSpPr>
          <p:cNvPr id="176" name="모서리가 둥근 직사각형 175">
            <a:extLst>
              <a:ext uri="{FF2B5EF4-FFF2-40B4-BE49-F238E27FC236}">
                <a16:creationId xmlns:a16="http://schemas.microsoft.com/office/drawing/2014/main" id="{0CA44082-BD5C-3D13-AF07-FF340B51D0D4}"/>
              </a:ext>
            </a:extLst>
          </p:cNvPr>
          <p:cNvSpPr/>
          <p:nvPr/>
        </p:nvSpPr>
        <p:spPr>
          <a:xfrm>
            <a:off x="7310501" y="3058758"/>
            <a:ext cx="1584176" cy="347793"/>
          </a:xfrm>
          <a:prstGeom prst="roundRect">
            <a:avLst>
              <a:gd name="adj" fmla="val 14645"/>
            </a:avLst>
          </a:prstGeom>
          <a:solidFill>
            <a:schemeClr val="accent4">
              <a:lumMod val="20000"/>
              <a:lumOff val="8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 b="1">
                <a:solidFill>
                  <a:schemeClr val="tx1"/>
                </a:solidFill>
              </a:rPr>
              <a:t>outbound|8080||server-b</a:t>
            </a:r>
            <a:br>
              <a:rPr kumimoji="1" lang="en-US" altLang="ko-KR" sz="800" b="1">
                <a:solidFill>
                  <a:schemeClr val="tx1"/>
                </a:solidFill>
              </a:rPr>
            </a:br>
            <a:r>
              <a:rPr kumimoji="1" lang="en-US" altLang="ko-KR" sz="800" b="1">
                <a:solidFill>
                  <a:schemeClr val="tx1"/>
                </a:solidFill>
              </a:rPr>
              <a:t>.default.svc.cluster.local</a:t>
            </a:r>
            <a:br>
              <a:rPr kumimoji="1" lang="en-US" altLang="ko-KR" sz="800" b="1">
                <a:solidFill>
                  <a:schemeClr val="tx1"/>
                </a:solidFill>
              </a:rPr>
            </a:br>
            <a:r>
              <a:rPr kumimoji="1" lang="en-US" altLang="ko-KR" sz="800">
                <a:solidFill>
                  <a:schemeClr val="tx1"/>
                </a:solidFill>
              </a:rPr>
              <a:t>Endpoint</a:t>
            </a:r>
          </a:p>
        </p:txBody>
      </p:sp>
      <p:sp>
        <p:nvSpPr>
          <p:cNvPr id="177" name="모서리가 둥근 직사각형 176">
            <a:extLst>
              <a:ext uri="{FF2B5EF4-FFF2-40B4-BE49-F238E27FC236}">
                <a16:creationId xmlns:a16="http://schemas.microsoft.com/office/drawing/2014/main" id="{AD9FA528-D841-645E-0F8D-40AFAD51A253}"/>
              </a:ext>
            </a:extLst>
          </p:cNvPr>
          <p:cNvSpPr/>
          <p:nvPr/>
        </p:nvSpPr>
        <p:spPr>
          <a:xfrm>
            <a:off x="7310501" y="4454145"/>
            <a:ext cx="1584176" cy="347793"/>
          </a:xfrm>
          <a:prstGeom prst="roundRect">
            <a:avLst>
              <a:gd name="adj" fmla="val 14645"/>
            </a:avLst>
          </a:prstGeom>
          <a:solidFill>
            <a:schemeClr val="accent4">
              <a:lumMod val="20000"/>
              <a:lumOff val="8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 b="1">
                <a:solidFill>
                  <a:schemeClr val="tx1"/>
                </a:solidFill>
              </a:rPr>
              <a:t>outbound|8080||server-a</a:t>
            </a:r>
            <a:br>
              <a:rPr kumimoji="1" lang="en-US" altLang="ko-KR" sz="800" b="1">
                <a:solidFill>
                  <a:schemeClr val="tx1"/>
                </a:solidFill>
              </a:rPr>
            </a:br>
            <a:r>
              <a:rPr kumimoji="1" lang="en-US" altLang="ko-KR" sz="800" b="1">
                <a:solidFill>
                  <a:schemeClr val="tx1"/>
                </a:solidFill>
              </a:rPr>
              <a:t>.default.svc.cluster.local</a:t>
            </a:r>
            <a:br>
              <a:rPr kumimoji="1" lang="en-US" altLang="ko-KR" sz="800" b="1">
                <a:solidFill>
                  <a:schemeClr val="tx1"/>
                </a:solidFill>
              </a:rPr>
            </a:br>
            <a:r>
              <a:rPr kumimoji="1" lang="en-US" altLang="ko-KR" sz="800">
                <a:solidFill>
                  <a:schemeClr val="tx1"/>
                </a:solidFill>
              </a:rPr>
              <a:t>Endpoint</a:t>
            </a:r>
          </a:p>
        </p:txBody>
      </p:sp>
      <p:cxnSp>
        <p:nvCxnSpPr>
          <p:cNvPr id="178" name="직선 화살표 연결선 177">
            <a:extLst>
              <a:ext uri="{FF2B5EF4-FFF2-40B4-BE49-F238E27FC236}">
                <a16:creationId xmlns:a16="http://schemas.microsoft.com/office/drawing/2014/main" id="{EF404A13-354F-6035-3953-08544CC7289A}"/>
              </a:ext>
            </a:extLst>
          </p:cNvPr>
          <p:cNvCxnSpPr>
            <a:cxnSpLocks/>
            <a:stCxn id="20" idx="2"/>
            <a:endCxn id="176" idx="0"/>
          </p:cNvCxnSpPr>
          <p:nvPr/>
        </p:nvCxnSpPr>
        <p:spPr>
          <a:xfrm>
            <a:off x="7043115" y="2876754"/>
            <a:ext cx="1059474" cy="182004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1" name="직선 화살표 연결선 180">
            <a:extLst>
              <a:ext uri="{FF2B5EF4-FFF2-40B4-BE49-F238E27FC236}">
                <a16:creationId xmlns:a16="http://schemas.microsoft.com/office/drawing/2014/main" id="{7CB68A89-5EB3-9AE8-4309-A9CC3314B440}"/>
              </a:ext>
            </a:extLst>
          </p:cNvPr>
          <p:cNvCxnSpPr>
            <a:cxnSpLocks/>
            <a:stCxn id="23" idx="0"/>
            <a:endCxn id="175" idx="2"/>
          </p:cNvCxnSpPr>
          <p:nvPr/>
        </p:nvCxnSpPr>
        <p:spPr>
          <a:xfrm flipV="1">
            <a:off x="7043115" y="1832501"/>
            <a:ext cx="1059474" cy="178663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4" name="직선 화살표 연결선 183">
            <a:extLst>
              <a:ext uri="{FF2B5EF4-FFF2-40B4-BE49-F238E27FC236}">
                <a16:creationId xmlns:a16="http://schemas.microsoft.com/office/drawing/2014/main" id="{06ACAE1E-282D-F776-7C5D-8B3D1684CF5A}"/>
              </a:ext>
            </a:extLst>
          </p:cNvPr>
          <p:cNvCxnSpPr>
            <a:cxnSpLocks/>
            <a:stCxn id="40" idx="2"/>
            <a:endCxn id="177" idx="0"/>
          </p:cNvCxnSpPr>
          <p:nvPr/>
        </p:nvCxnSpPr>
        <p:spPr>
          <a:xfrm>
            <a:off x="7043115" y="4180073"/>
            <a:ext cx="1059474" cy="274072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659782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54539</TotalTime>
  <Words>1703</Words>
  <Application>Microsoft Macintosh PowerPoint</Application>
  <PresentationFormat>화면 슬라이드 쇼(16:9)</PresentationFormat>
  <Paragraphs>295</Paragraphs>
  <Slides>9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2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R&amp;D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Microsoft Corporation</dc:creator>
  <cp:lastModifiedBy>정섭 신</cp:lastModifiedBy>
  <cp:revision>5741</cp:revision>
  <dcterms:created xsi:type="dcterms:W3CDTF">2006-10-05T04:04:58Z</dcterms:created>
  <dcterms:modified xsi:type="dcterms:W3CDTF">2026-08-31T13:03:23Z</dcterms:modified>
</cp:coreProperties>
</file>